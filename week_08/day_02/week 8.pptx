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8" r:id="rId2"/>
    <p:sldId id="279" r:id="rId3"/>
    <p:sldId id="281" r:id="rId4"/>
    <p:sldId id="282" r:id="rId5"/>
    <p:sldId id="283" r:id="rId6"/>
    <p:sldId id="284" r:id="rId7"/>
    <p:sldId id="285" r:id="rId8"/>
    <p:sldId id="317" r:id="rId9"/>
    <p:sldId id="288" r:id="rId10"/>
    <p:sldId id="286" r:id="rId11"/>
    <p:sldId id="287" r:id="rId12"/>
    <p:sldId id="289" r:id="rId13"/>
    <p:sldId id="318" r:id="rId14"/>
    <p:sldId id="290" r:id="rId15"/>
    <p:sldId id="319" r:id="rId16"/>
    <p:sldId id="291" r:id="rId17"/>
    <p:sldId id="320" r:id="rId18"/>
    <p:sldId id="292" r:id="rId19"/>
    <p:sldId id="293" r:id="rId20"/>
    <p:sldId id="321" r:id="rId21"/>
    <p:sldId id="294" r:id="rId22"/>
    <p:sldId id="297" r:id="rId23"/>
    <p:sldId id="298" r:id="rId24"/>
    <p:sldId id="299" r:id="rId25"/>
    <p:sldId id="300" r:id="rId26"/>
    <p:sldId id="301" r:id="rId27"/>
    <p:sldId id="302" r:id="rId28"/>
    <p:sldId id="303" r:id="rId29"/>
    <p:sldId id="305" r:id="rId30"/>
    <p:sldId id="306" r:id="rId31"/>
    <p:sldId id="307" r:id="rId32"/>
    <p:sldId id="308" r:id="rId33"/>
    <p:sldId id="309" r:id="rId34"/>
    <p:sldId id="310" r:id="rId35"/>
    <p:sldId id="311" r:id="rId36"/>
    <p:sldId id="312" r:id="rId37"/>
    <p:sldId id="304" r:id="rId38"/>
    <p:sldId id="314" r:id="rId39"/>
    <p:sldId id="31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pic>
        <p:nvPicPr>
          <p:cNvPr id="2" name="Picture 1"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3/31/2026</a:t>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9723" y="2332404"/>
            <a:ext cx="8972745" cy="1268984"/>
          </a:xfrm>
        </p:spPr>
        <p:txBody>
          <a:bodyPr>
            <a:normAutofit fontScale="90000"/>
          </a:bodyPr>
          <a:lstStyle/>
          <a:p>
            <a:pPr algn="ctr">
              <a:defRPr sz="4800" b="1">
                <a:solidFill>
                  <a:srgbClr val="FFFFFF"/>
                </a:solidFill>
              </a:defRPr>
            </a:pPr>
            <a:r>
              <a:rPr lang="en-US" dirty="0">
                <a:solidFill>
                  <a:schemeClr val="tx1">
                    <a:lumMod val="85000"/>
                    <a:lumOff val="15000"/>
                  </a:schemeClr>
                </a:solidFill>
              </a:rPr>
              <a:t>Recurrent Neural Networks</a:t>
            </a:r>
            <a:br>
              <a:rPr lang="en-US" dirty="0">
                <a:solidFill>
                  <a:schemeClr val="tx1">
                    <a:lumMod val="85000"/>
                    <a:lumOff val="15000"/>
                  </a:schemeClr>
                </a:solidFill>
              </a:rPr>
            </a:br>
            <a:r>
              <a:rPr lang="en-US" dirty="0">
                <a:solidFill>
                  <a:schemeClr val="tx1">
                    <a:lumMod val="85000"/>
                    <a:lumOff val="15000"/>
                  </a:schemeClr>
                </a:solidFill>
              </a:rPr>
              <a:t>for NLP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338505" cy="1268984"/>
          </a:xfrm>
        </p:spPr>
        <p:txBody>
          <a:bodyPr/>
          <a:lstStyle/>
          <a:p>
            <a:pPr>
              <a:defRPr sz="2600" b="1">
                <a:solidFill>
                  <a:srgbClr val="2980B9"/>
                </a:solidFill>
              </a:defRPr>
            </a:pPr>
            <a:r>
              <a:rPr lang="en-US" dirty="0">
                <a:solidFill>
                  <a:schemeClr val="tx1">
                    <a:lumMod val="85000"/>
                    <a:lumOff val="15000"/>
                  </a:schemeClr>
                </a:solidFill>
              </a:rPr>
              <a:t>Learning Objectives</a:t>
            </a:r>
          </a:p>
        </p:txBody>
      </p:sp>
      <p:sp>
        <p:nvSpPr>
          <p:cNvPr id="4" name="Oval 3"/>
          <p:cNvSpPr/>
          <p:nvPr/>
        </p:nvSpPr>
        <p:spPr>
          <a:xfrm>
            <a:off x="1765495" y="2293034"/>
            <a:ext cx="320040" cy="320040"/>
          </a:xfrm>
          <a:prstGeom prst="ellipse">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65495" y="2293034"/>
            <a:ext cx="320040" cy="320040"/>
          </a:xfrm>
          <a:prstGeom prst="rect">
            <a:avLst/>
          </a:prstGeom>
          <a:noFill/>
        </p:spPr>
        <p:txBody>
          <a:bodyPr wrap="square" anchor="ctr">
            <a:spAutoFit/>
          </a:bodyPr>
          <a:lstStyle/>
          <a:p>
            <a:pPr algn="ctr">
              <a:lnSpc>
                <a:spcPct val="120000"/>
              </a:lnSpc>
              <a:defRPr sz="1400" b="1">
                <a:solidFill>
                  <a:srgbClr val="FFFFFF"/>
                </a:solidFill>
              </a:defRPr>
            </a:pPr>
            <a:r>
              <a:t>1</a:t>
            </a:r>
          </a:p>
        </p:txBody>
      </p:sp>
      <p:sp>
        <p:nvSpPr>
          <p:cNvPr id="6" name="TextBox 5"/>
          <p:cNvSpPr txBox="1"/>
          <p:nvPr/>
        </p:nvSpPr>
        <p:spPr>
          <a:xfrm>
            <a:off x="2222695" y="2293034"/>
            <a:ext cx="6400800" cy="274320"/>
          </a:xfrm>
          <a:prstGeom prst="rect">
            <a:avLst/>
          </a:prstGeom>
          <a:noFill/>
        </p:spPr>
        <p:txBody>
          <a:bodyPr wrap="square">
            <a:spAutoFit/>
          </a:bodyPr>
          <a:lstStyle/>
          <a:p>
            <a:pPr>
              <a:lnSpc>
                <a:spcPct val="120000"/>
              </a:lnSpc>
              <a:defRPr sz="1200">
                <a:solidFill>
                  <a:srgbClr val="2C3E50"/>
                </a:solidFill>
              </a:defRPr>
            </a:pPr>
            <a:r>
              <a:rPr dirty="0"/>
              <a:t>Understand RNN architecture</a:t>
            </a:r>
          </a:p>
        </p:txBody>
      </p:sp>
      <p:sp>
        <p:nvSpPr>
          <p:cNvPr id="7" name="Oval 6"/>
          <p:cNvSpPr/>
          <p:nvPr/>
        </p:nvSpPr>
        <p:spPr>
          <a:xfrm>
            <a:off x="1765495" y="2841674"/>
            <a:ext cx="320040" cy="320040"/>
          </a:xfrm>
          <a:prstGeom prst="ellipse">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65495" y="2841674"/>
            <a:ext cx="320040" cy="320040"/>
          </a:xfrm>
          <a:prstGeom prst="rect">
            <a:avLst/>
          </a:prstGeom>
          <a:noFill/>
        </p:spPr>
        <p:txBody>
          <a:bodyPr wrap="square" anchor="ctr">
            <a:spAutoFit/>
          </a:bodyPr>
          <a:lstStyle/>
          <a:p>
            <a:pPr algn="ctr">
              <a:lnSpc>
                <a:spcPct val="120000"/>
              </a:lnSpc>
              <a:defRPr sz="1400" b="1">
                <a:solidFill>
                  <a:srgbClr val="FFFFFF"/>
                </a:solidFill>
              </a:defRPr>
            </a:pPr>
            <a:r>
              <a:t>2</a:t>
            </a:r>
          </a:p>
        </p:txBody>
      </p:sp>
      <p:sp>
        <p:nvSpPr>
          <p:cNvPr id="9" name="TextBox 8"/>
          <p:cNvSpPr txBox="1"/>
          <p:nvPr/>
        </p:nvSpPr>
        <p:spPr>
          <a:xfrm>
            <a:off x="2222695" y="2841674"/>
            <a:ext cx="6400800" cy="274320"/>
          </a:xfrm>
          <a:prstGeom prst="rect">
            <a:avLst/>
          </a:prstGeom>
          <a:noFill/>
        </p:spPr>
        <p:txBody>
          <a:bodyPr wrap="square">
            <a:spAutoFit/>
          </a:bodyPr>
          <a:lstStyle/>
          <a:p>
            <a:pPr>
              <a:lnSpc>
                <a:spcPct val="120000"/>
              </a:lnSpc>
              <a:defRPr sz="1200">
                <a:solidFill>
                  <a:srgbClr val="2C3E50"/>
                </a:solidFill>
              </a:defRPr>
            </a:pPr>
            <a:r>
              <a:t>Master LSTM &amp; GRU</a:t>
            </a:r>
          </a:p>
        </p:txBody>
      </p:sp>
      <p:sp>
        <p:nvSpPr>
          <p:cNvPr id="10" name="Oval 9"/>
          <p:cNvSpPr/>
          <p:nvPr/>
        </p:nvSpPr>
        <p:spPr>
          <a:xfrm>
            <a:off x="1765495" y="3390314"/>
            <a:ext cx="320040" cy="320040"/>
          </a:xfrm>
          <a:prstGeom prst="ellipse">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65495" y="3390314"/>
            <a:ext cx="320040" cy="320040"/>
          </a:xfrm>
          <a:prstGeom prst="rect">
            <a:avLst/>
          </a:prstGeom>
          <a:noFill/>
        </p:spPr>
        <p:txBody>
          <a:bodyPr wrap="square" anchor="ctr">
            <a:spAutoFit/>
          </a:bodyPr>
          <a:lstStyle/>
          <a:p>
            <a:pPr algn="ctr">
              <a:lnSpc>
                <a:spcPct val="120000"/>
              </a:lnSpc>
              <a:defRPr sz="1400" b="1">
                <a:solidFill>
                  <a:srgbClr val="FFFFFF"/>
                </a:solidFill>
              </a:defRPr>
            </a:pPr>
            <a:r>
              <a:t>3</a:t>
            </a:r>
          </a:p>
        </p:txBody>
      </p:sp>
      <p:sp>
        <p:nvSpPr>
          <p:cNvPr id="12" name="TextBox 11"/>
          <p:cNvSpPr txBox="1"/>
          <p:nvPr/>
        </p:nvSpPr>
        <p:spPr>
          <a:xfrm>
            <a:off x="2222695" y="3390314"/>
            <a:ext cx="6400800" cy="274320"/>
          </a:xfrm>
          <a:prstGeom prst="rect">
            <a:avLst/>
          </a:prstGeom>
          <a:noFill/>
        </p:spPr>
        <p:txBody>
          <a:bodyPr wrap="square">
            <a:spAutoFit/>
          </a:bodyPr>
          <a:lstStyle/>
          <a:p>
            <a:pPr>
              <a:lnSpc>
                <a:spcPct val="120000"/>
              </a:lnSpc>
              <a:defRPr sz="1200">
                <a:solidFill>
                  <a:srgbClr val="2C3E50"/>
                </a:solidFill>
              </a:defRPr>
            </a:pPr>
            <a:r>
              <a:t>Implement with Keras</a:t>
            </a:r>
          </a:p>
        </p:txBody>
      </p:sp>
      <p:sp>
        <p:nvSpPr>
          <p:cNvPr id="13" name="Oval 12"/>
          <p:cNvSpPr/>
          <p:nvPr/>
        </p:nvSpPr>
        <p:spPr>
          <a:xfrm>
            <a:off x="1765495" y="3938954"/>
            <a:ext cx="320040" cy="320040"/>
          </a:xfrm>
          <a:prstGeom prst="ellipse">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65495" y="3938954"/>
            <a:ext cx="320040" cy="320040"/>
          </a:xfrm>
          <a:prstGeom prst="rect">
            <a:avLst/>
          </a:prstGeom>
          <a:noFill/>
        </p:spPr>
        <p:txBody>
          <a:bodyPr wrap="square" anchor="ctr">
            <a:spAutoFit/>
          </a:bodyPr>
          <a:lstStyle/>
          <a:p>
            <a:pPr algn="ctr">
              <a:lnSpc>
                <a:spcPct val="120000"/>
              </a:lnSpc>
              <a:defRPr sz="1400" b="1">
                <a:solidFill>
                  <a:srgbClr val="FFFFFF"/>
                </a:solidFill>
              </a:defRPr>
            </a:pPr>
            <a:r>
              <a:t>4</a:t>
            </a:r>
          </a:p>
        </p:txBody>
      </p:sp>
      <p:sp>
        <p:nvSpPr>
          <p:cNvPr id="15" name="TextBox 14"/>
          <p:cNvSpPr txBox="1"/>
          <p:nvPr/>
        </p:nvSpPr>
        <p:spPr>
          <a:xfrm>
            <a:off x="2222695" y="3938954"/>
            <a:ext cx="6400800" cy="274320"/>
          </a:xfrm>
          <a:prstGeom prst="rect">
            <a:avLst/>
          </a:prstGeom>
          <a:noFill/>
        </p:spPr>
        <p:txBody>
          <a:bodyPr wrap="square">
            <a:spAutoFit/>
          </a:bodyPr>
          <a:lstStyle/>
          <a:p>
            <a:pPr>
              <a:lnSpc>
                <a:spcPct val="120000"/>
              </a:lnSpc>
              <a:defRPr sz="1200">
                <a:solidFill>
                  <a:srgbClr val="2C3E50"/>
                </a:solidFill>
              </a:defRPr>
            </a:pPr>
            <a:r>
              <a:t>Apply to NLP tasks</a:t>
            </a:r>
          </a:p>
        </p:txBody>
      </p:sp>
      <p:sp>
        <p:nvSpPr>
          <p:cNvPr id="16" name="Oval 15"/>
          <p:cNvSpPr/>
          <p:nvPr/>
        </p:nvSpPr>
        <p:spPr>
          <a:xfrm>
            <a:off x="1765495" y="4487594"/>
            <a:ext cx="320040" cy="320040"/>
          </a:xfrm>
          <a:prstGeom prst="ellipse">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765495" y="4487594"/>
            <a:ext cx="320040" cy="320040"/>
          </a:xfrm>
          <a:prstGeom prst="rect">
            <a:avLst/>
          </a:prstGeom>
          <a:noFill/>
        </p:spPr>
        <p:txBody>
          <a:bodyPr wrap="square" anchor="ctr">
            <a:spAutoFit/>
          </a:bodyPr>
          <a:lstStyle/>
          <a:p>
            <a:pPr algn="ctr">
              <a:lnSpc>
                <a:spcPct val="120000"/>
              </a:lnSpc>
              <a:defRPr sz="1400" b="1">
                <a:solidFill>
                  <a:srgbClr val="FFFFFF"/>
                </a:solidFill>
              </a:defRPr>
            </a:pPr>
            <a:r>
              <a:t>5</a:t>
            </a:r>
          </a:p>
        </p:txBody>
      </p:sp>
      <p:sp>
        <p:nvSpPr>
          <p:cNvPr id="18" name="TextBox 17"/>
          <p:cNvSpPr txBox="1"/>
          <p:nvPr/>
        </p:nvSpPr>
        <p:spPr>
          <a:xfrm>
            <a:off x="2222695" y="4487594"/>
            <a:ext cx="6400800" cy="274320"/>
          </a:xfrm>
          <a:prstGeom prst="rect">
            <a:avLst/>
          </a:prstGeom>
          <a:noFill/>
        </p:spPr>
        <p:txBody>
          <a:bodyPr wrap="square">
            <a:spAutoFit/>
          </a:bodyPr>
          <a:lstStyle/>
          <a:p>
            <a:pPr>
              <a:lnSpc>
                <a:spcPct val="120000"/>
              </a:lnSpc>
              <a:defRPr sz="1200">
                <a:solidFill>
                  <a:srgbClr val="2C3E50"/>
                </a:solidFill>
              </a:defRPr>
            </a:pPr>
            <a:r>
              <a:t>Build sentiment classifiers</a:t>
            </a:r>
          </a:p>
        </p:txBody>
      </p:sp>
    </p:spTree>
    <p:extLst>
      <p:ext uri="{BB962C8B-B14F-4D97-AF65-F5344CB8AC3E}">
        <p14:creationId xmlns:p14="http://schemas.microsoft.com/office/powerpoint/2010/main" val="3944863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1760" y="422942"/>
            <a:ext cx="9155625" cy="610497"/>
          </a:xfrm>
        </p:spPr>
        <p:txBody>
          <a:bodyPr/>
          <a:lstStyle/>
          <a:p>
            <a:pPr>
              <a:defRPr sz="2600" b="1">
                <a:solidFill>
                  <a:srgbClr val="2980B9"/>
                </a:solidFill>
              </a:defRPr>
            </a:pPr>
            <a:r>
              <a:rPr lang="en-US" dirty="0">
                <a:solidFill>
                  <a:schemeClr val="tx1">
                    <a:lumMod val="85000"/>
                    <a:lumOff val="15000"/>
                  </a:schemeClr>
                </a:solidFill>
              </a:rPr>
              <a:t>What is Sequential Data?</a:t>
            </a:r>
          </a:p>
        </p:txBody>
      </p:sp>
      <p:sp>
        <p:nvSpPr>
          <p:cNvPr id="4" name="Rounded Rectangle 3"/>
          <p:cNvSpPr/>
          <p:nvPr/>
        </p:nvSpPr>
        <p:spPr>
          <a:xfrm>
            <a:off x="691760" y="1353398"/>
            <a:ext cx="8426548" cy="1543929"/>
          </a:xfrm>
          <a:prstGeom prst="roundRect">
            <a:avLst/>
          </a:prstGeom>
          <a:solidFill>
            <a:srgbClr val="E6F5FF"/>
          </a:solidFill>
          <a:ln w="254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rPr>
              <a:t>Sequential data consists of elements arranged in a specific order, where each item depends on the previous ones. The order carries meaning, so changing it alters the interpretation. This dependency makes it different from regular tabular data, requiring specialized models to capture patterns over time or position.</a:t>
            </a:r>
            <a:endParaRPr dirty="0">
              <a:solidFill>
                <a:schemeClr val="tx1"/>
              </a:solidFill>
            </a:endParaRPr>
          </a:p>
        </p:txBody>
      </p:sp>
      <p:sp>
        <p:nvSpPr>
          <p:cNvPr id="7" name="TextBox 6"/>
          <p:cNvSpPr txBox="1"/>
          <p:nvPr/>
        </p:nvSpPr>
        <p:spPr>
          <a:xfrm>
            <a:off x="1420837" y="3091322"/>
            <a:ext cx="8426548" cy="313932"/>
          </a:xfrm>
          <a:prstGeom prst="rect">
            <a:avLst/>
          </a:prstGeom>
          <a:noFill/>
        </p:spPr>
        <p:txBody>
          <a:bodyPr wrap="square">
            <a:spAutoFit/>
          </a:bodyPr>
          <a:lstStyle/>
          <a:p>
            <a:pPr>
              <a:lnSpc>
                <a:spcPct val="120000"/>
              </a:lnSpc>
              <a:defRPr sz="1200" b="1">
                <a:solidFill>
                  <a:srgbClr val="16A085"/>
                </a:solidFill>
              </a:defRPr>
            </a:pPr>
            <a:r>
              <a:rPr dirty="0"/>
              <a:t>EXAMPLES:</a:t>
            </a:r>
          </a:p>
        </p:txBody>
      </p:sp>
      <p:sp>
        <p:nvSpPr>
          <p:cNvPr id="8" name="TextBox 7"/>
          <p:cNvSpPr txBox="1"/>
          <p:nvPr/>
        </p:nvSpPr>
        <p:spPr>
          <a:xfrm>
            <a:off x="1695156" y="3567569"/>
            <a:ext cx="7899889" cy="295466"/>
          </a:xfrm>
          <a:prstGeom prst="rect">
            <a:avLst/>
          </a:prstGeom>
          <a:noFill/>
        </p:spPr>
        <p:txBody>
          <a:bodyPr wrap="square">
            <a:spAutoFit/>
          </a:bodyPr>
          <a:lstStyle/>
          <a:p>
            <a:pPr>
              <a:lnSpc>
                <a:spcPct val="120000"/>
              </a:lnSpc>
              <a:defRPr sz="1100">
                <a:solidFill>
                  <a:srgbClr val="2C3E50"/>
                </a:solidFill>
              </a:defRPr>
            </a:pPr>
            <a:r>
              <a:t>• Text: 'cat sat' ≠ 'sat cat'</a:t>
            </a:r>
          </a:p>
        </p:txBody>
      </p:sp>
      <p:sp>
        <p:nvSpPr>
          <p:cNvPr id="9" name="TextBox 8"/>
          <p:cNvSpPr txBox="1"/>
          <p:nvPr/>
        </p:nvSpPr>
        <p:spPr>
          <a:xfrm>
            <a:off x="1695156" y="3933329"/>
            <a:ext cx="7899889" cy="295466"/>
          </a:xfrm>
          <a:prstGeom prst="rect">
            <a:avLst/>
          </a:prstGeom>
          <a:noFill/>
        </p:spPr>
        <p:txBody>
          <a:bodyPr wrap="square">
            <a:spAutoFit/>
          </a:bodyPr>
          <a:lstStyle/>
          <a:p>
            <a:pPr>
              <a:lnSpc>
                <a:spcPct val="120000"/>
              </a:lnSpc>
              <a:defRPr sz="1100">
                <a:solidFill>
                  <a:srgbClr val="2C3E50"/>
                </a:solidFill>
              </a:defRPr>
            </a:pPr>
            <a:r>
              <a:t>• Speech: sound waves over time</a:t>
            </a:r>
          </a:p>
        </p:txBody>
      </p:sp>
      <p:sp>
        <p:nvSpPr>
          <p:cNvPr id="10" name="TextBox 9"/>
          <p:cNvSpPr txBox="1"/>
          <p:nvPr/>
        </p:nvSpPr>
        <p:spPr>
          <a:xfrm>
            <a:off x="1695156" y="4299088"/>
            <a:ext cx="7899889" cy="295466"/>
          </a:xfrm>
          <a:prstGeom prst="rect">
            <a:avLst/>
          </a:prstGeom>
          <a:noFill/>
        </p:spPr>
        <p:txBody>
          <a:bodyPr wrap="square">
            <a:spAutoFit/>
          </a:bodyPr>
          <a:lstStyle/>
          <a:p>
            <a:pPr>
              <a:lnSpc>
                <a:spcPct val="120000"/>
              </a:lnSpc>
              <a:defRPr sz="1100">
                <a:solidFill>
                  <a:srgbClr val="2C3E50"/>
                </a:solidFill>
              </a:defRPr>
            </a:pPr>
            <a:r>
              <a:t>• Stock prices: today depends on yesterday</a:t>
            </a:r>
          </a:p>
        </p:txBody>
      </p:sp>
      <p:sp>
        <p:nvSpPr>
          <p:cNvPr id="11" name="TextBox 10"/>
          <p:cNvSpPr txBox="1"/>
          <p:nvPr/>
        </p:nvSpPr>
        <p:spPr>
          <a:xfrm>
            <a:off x="1878037" y="4894365"/>
            <a:ext cx="7373230" cy="295466"/>
          </a:xfrm>
          <a:prstGeom prst="rect">
            <a:avLst/>
          </a:prstGeom>
          <a:noFill/>
        </p:spPr>
        <p:txBody>
          <a:bodyPr wrap="square" anchor="ctr">
            <a:spAutoFit/>
          </a:bodyPr>
          <a:lstStyle/>
          <a:p>
            <a:pPr algn="ctr">
              <a:lnSpc>
                <a:spcPct val="120000"/>
              </a:lnSpc>
              <a:defRPr sz="1100" b="1">
                <a:solidFill>
                  <a:srgbClr val="E74C3C"/>
                </a:solidFill>
              </a:defRPr>
            </a:pPr>
            <a:r>
              <a:t>KEY INSIGHT: Traditional networks can't handle this!</a:t>
            </a:r>
          </a:p>
        </p:txBody>
      </p:sp>
    </p:spTree>
    <p:extLst>
      <p:ext uri="{BB962C8B-B14F-4D97-AF65-F5344CB8AC3E}">
        <p14:creationId xmlns:p14="http://schemas.microsoft.com/office/powerpoint/2010/main" val="1192687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69693" cy="565541"/>
          </a:xfrm>
        </p:spPr>
        <p:txBody>
          <a:bodyPr/>
          <a:lstStyle/>
          <a:p>
            <a:pPr>
              <a:defRPr sz="2600" b="1">
                <a:solidFill>
                  <a:srgbClr val="2980B9"/>
                </a:solidFill>
              </a:defRPr>
            </a:pPr>
            <a:r>
              <a:rPr lang="en-US" dirty="0">
                <a:solidFill>
                  <a:schemeClr val="tx1">
                    <a:lumMod val="85000"/>
                    <a:lumOff val="15000"/>
                  </a:schemeClr>
                </a:solidFill>
              </a:rPr>
              <a:t>Feedforward Network Limitations</a:t>
            </a:r>
          </a:p>
        </p:txBody>
      </p:sp>
      <p:grpSp>
        <p:nvGrpSpPr>
          <p:cNvPr id="3" name="Group 2"/>
          <p:cNvGrpSpPr/>
          <p:nvPr/>
        </p:nvGrpSpPr>
        <p:grpSpPr>
          <a:xfrm>
            <a:off x="565150" y="4656406"/>
            <a:ext cx="6400800" cy="1005840"/>
            <a:chOff x="1751428" y="3896751"/>
            <a:chExt cx="6400800" cy="1005840"/>
          </a:xfrm>
        </p:grpSpPr>
        <p:sp>
          <p:nvSpPr>
            <p:cNvPr id="8" name="Rounded Rectangle 7"/>
            <p:cNvSpPr/>
            <p:nvPr/>
          </p:nvSpPr>
          <p:spPr>
            <a:xfrm>
              <a:off x="1751428" y="3896751"/>
              <a:ext cx="6400800" cy="1005840"/>
            </a:xfrm>
            <a:prstGeom prst="roundRect">
              <a:avLst/>
            </a:prstGeom>
            <a:solidFill>
              <a:srgbClr val="FFF0F0"/>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34308" y="3988191"/>
              <a:ext cx="6035040" cy="822960"/>
            </a:xfrm>
            <a:prstGeom prst="rect">
              <a:avLst/>
            </a:prstGeom>
            <a:noFill/>
          </p:spPr>
          <p:txBody>
            <a:bodyPr wrap="square">
              <a:spAutoFit/>
            </a:bodyPr>
            <a:lstStyle/>
            <a:p>
              <a:pPr>
                <a:lnSpc>
                  <a:spcPct val="120000"/>
                </a:lnSpc>
                <a:defRPr sz="1100">
                  <a:solidFill>
                    <a:srgbClr val="E74C3C"/>
                  </a:solidFill>
                </a:defRPr>
              </a:pPr>
              <a:r>
                <a:t>EXAMPLE:</a:t>
              </a:r>
            </a:p>
            <a:p>
              <a:r>
                <a:t>"I love NLP" (3 words) needs different network than</a:t>
              </a:r>
            </a:p>
            <a:p>
              <a:r>
                <a:t>"Yesterday I loved NLP" (4 words)</a:t>
              </a:r>
            </a:p>
          </p:txBody>
        </p:sp>
      </p:grpSp>
      <p:sp>
        <p:nvSpPr>
          <p:cNvPr id="10" name="Rectangle 9"/>
          <p:cNvSpPr/>
          <p:nvPr/>
        </p:nvSpPr>
        <p:spPr>
          <a:xfrm>
            <a:off x="565150" y="1427871"/>
            <a:ext cx="6665644" cy="2308324"/>
          </a:xfrm>
          <a:prstGeom prst="rect">
            <a:avLst/>
          </a:prstGeom>
        </p:spPr>
        <p:txBody>
          <a:bodyPr wrap="square">
            <a:spAutoFit/>
          </a:bodyPr>
          <a:lstStyle/>
          <a:p>
            <a:r>
              <a:rPr lang="en-US" dirty="0"/>
              <a:t>Feedforward networks process each input independently and require a fixed input size. They have no memory of previous inputs, so they cannot capture patterns that depend on sequence or context. The position of elements in a sequence does not influence the output, which makes them unsuitable for tasks like text, speech, or time series prediction where order matters. For sequences of different lengths, separate networks would be needed, making them inefficient and inflexible.</a:t>
            </a:r>
          </a:p>
        </p:txBody>
      </p:sp>
    </p:spTree>
    <p:extLst>
      <p:ext uri="{BB962C8B-B14F-4D97-AF65-F5344CB8AC3E}">
        <p14:creationId xmlns:p14="http://schemas.microsoft.com/office/powerpoint/2010/main" val="478772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978" y="2346471"/>
            <a:ext cx="8944610" cy="1268984"/>
          </a:xfrm>
        </p:spPr>
        <p:txBody>
          <a:bodyPr>
            <a:normAutofit fontScale="90000"/>
          </a:bodyPr>
          <a:lstStyle/>
          <a:p>
            <a:pPr algn="ctr">
              <a:defRPr sz="4000" b="1">
                <a:solidFill>
                  <a:srgbClr val="FFFFFF"/>
                </a:solidFill>
              </a:defRPr>
            </a:pPr>
            <a:r>
              <a:rPr lang="en-US" dirty="0">
                <a:solidFill>
                  <a:schemeClr val="tx1">
                    <a:lumMod val="85000"/>
                    <a:lumOff val="15000"/>
                  </a:schemeClr>
                </a:solidFill>
              </a:rPr>
              <a:t>Recurrent Neural</a:t>
            </a:r>
            <a:br>
              <a:rPr lang="en-US" dirty="0">
                <a:solidFill>
                  <a:schemeClr val="tx1">
                    <a:lumMod val="85000"/>
                    <a:lumOff val="15000"/>
                  </a:schemeClr>
                </a:solidFill>
              </a:rPr>
            </a:br>
            <a:r>
              <a:rPr lang="en-US" dirty="0">
                <a:solidFill>
                  <a:schemeClr val="tx1">
                    <a:lumMod val="85000"/>
                    <a:lumOff val="15000"/>
                  </a:schemeClr>
                </a:solidFill>
              </a:rPr>
              <a:t>Networks</a:t>
            </a:r>
          </a:p>
        </p:txBody>
      </p:sp>
    </p:spTree>
    <p:extLst>
      <p:ext uri="{BB962C8B-B14F-4D97-AF65-F5344CB8AC3E}">
        <p14:creationId xmlns:p14="http://schemas.microsoft.com/office/powerpoint/2010/main" val="403540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000881" cy="571871"/>
          </a:xfrm>
        </p:spPr>
        <p:txBody>
          <a:bodyPr>
            <a:normAutofit fontScale="90000"/>
          </a:bodyPr>
          <a:lstStyle/>
          <a:p>
            <a:r>
              <a:rPr lang="en-US" dirty="0"/>
              <a:t>What is an RNN?</a:t>
            </a:r>
            <a:br>
              <a:rPr lang="en-US" dirty="0"/>
            </a:br>
            <a:endParaRPr lang="en-US" dirty="0"/>
          </a:p>
        </p:txBody>
      </p:sp>
      <p:sp>
        <p:nvSpPr>
          <p:cNvPr id="4" name="Rounded Rectangle 3"/>
          <p:cNvSpPr/>
          <p:nvPr/>
        </p:nvSpPr>
        <p:spPr>
          <a:xfrm>
            <a:off x="565150" y="1533378"/>
            <a:ext cx="7680960" cy="2078502"/>
          </a:xfrm>
          <a:prstGeom prst="roundRect">
            <a:avLst/>
          </a:prstGeom>
          <a:solidFill>
            <a:srgbClr val="E6F5FF"/>
          </a:solidFill>
          <a:ln w="254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rPr>
              <a:t>A Recurrent Neural Network (RNN) is a type of neural network designed for sequential data. It processes inputs step by step, maintaining a hidden state that acts as memory of previous elements. This allows the network to capture context and dependencies over time, making it effective for tasks where the order of data matters, such as text, speech, and time series.</a:t>
            </a:r>
            <a:endParaRPr dirty="0">
              <a:solidFill>
                <a:schemeClr val="tx1"/>
              </a:solidFill>
            </a:endParaRPr>
          </a:p>
        </p:txBody>
      </p:sp>
      <p:sp>
        <p:nvSpPr>
          <p:cNvPr id="7" name="TextBox 6"/>
          <p:cNvSpPr txBox="1"/>
          <p:nvPr/>
        </p:nvSpPr>
        <p:spPr>
          <a:xfrm>
            <a:off x="565150" y="4023360"/>
            <a:ext cx="7680960" cy="182880"/>
          </a:xfrm>
          <a:prstGeom prst="rect">
            <a:avLst/>
          </a:prstGeom>
          <a:noFill/>
        </p:spPr>
        <p:txBody>
          <a:bodyPr wrap="square">
            <a:spAutoFit/>
          </a:bodyPr>
          <a:lstStyle/>
          <a:p>
            <a:pPr>
              <a:lnSpc>
                <a:spcPct val="120000"/>
              </a:lnSpc>
              <a:defRPr sz="1200" b="1">
                <a:solidFill>
                  <a:srgbClr val="27AE60"/>
                </a:solidFill>
              </a:defRPr>
            </a:pPr>
            <a:r>
              <a:t>KEY FEATURES:</a:t>
            </a:r>
          </a:p>
        </p:txBody>
      </p:sp>
      <p:sp>
        <p:nvSpPr>
          <p:cNvPr id="8" name="TextBox 7"/>
          <p:cNvSpPr txBox="1"/>
          <p:nvPr/>
        </p:nvSpPr>
        <p:spPr>
          <a:xfrm>
            <a:off x="839470" y="4297680"/>
            <a:ext cx="7132320" cy="274320"/>
          </a:xfrm>
          <a:prstGeom prst="rect">
            <a:avLst/>
          </a:prstGeom>
          <a:noFill/>
        </p:spPr>
        <p:txBody>
          <a:bodyPr wrap="square">
            <a:spAutoFit/>
          </a:bodyPr>
          <a:lstStyle/>
          <a:p>
            <a:pPr>
              <a:lnSpc>
                <a:spcPct val="120000"/>
              </a:lnSpc>
              <a:defRPr sz="1100">
                <a:solidFill>
                  <a:srgbClr val="27AE60"/>
                </a:solidFill>
              </a:defRPr>
            </a:pPr>
            <a:r>
              <a:t>✓ Handles variable-length sequences</a:t>
            </a:r>
          </a:p>
        </p:txBody>
      </p:sp>
      <p:sp>
        <p:nvSpPr>
          <p:cNvPr id="9" name="TextBox 8"/>
          <p:cNvSpPr txBox="1"/>
          <p:nvPr/>
        </p:nvSpPr>
        <p:spPr>
          <a:xfrm>
            <a:off x="839470" y="4617720"/>
            <a:ext cx="7132320" cy="274320"/>
          </a:xfrm>
          <a:prstGeom prst="rect">
            <a:avLst/>
          </a:prstGeom>
          <a:noFill/>
        </p:spPr>
        <p:txBody>
          <a:bodyPr wrap="square">
            <a:spAutoFit/>
          </a:bodyPr>
          <a:lstStyle/>
          <a:p>
            <a:pPr>
              <a:lnSpc>
                <a:spcPct val="120000"/>
              </a:lnSpc>
              <a:defRPr sz="1100">
                <a:solidFill>
                  <a:srgbClr val="27AE60"/>
                </a:solidFill>
              </a:defRPr>
            </a:pPr>
            <a:r>
              <a:t>✓ Shares parameters across time</a:t>
            </a:r>
          </a:p>
        </p:txBody>
      </p:sp>
      <p:sp>
        <p:nvSpPr>
          <p:cNvPr id="10" name="TextBox 9"/>
          <p:cNvSpPr txBox="1"/>
          <p:nvPr/>
        </p:nvSpPr>
        <p:spPr>
          <a:xfrm>
            <a:off x="839470" y="4937760"/>
            <a:ext cx="7132320" cy="274320"/>
          </a:xfrm>
          <a:prstGeom prst="rect">
            <a:avLst/>
          </a:prstGeom>
          <a:noFill/>
        </p:spPr>
        <p:txBody>
          <a:bodyPr wrap="square">
            <a:spAutoFit/>
          </a:bodyPr>
          <a:lstStyle/>
          <a:p>
            <a:pPr>
              <a:lnSpc>
                <a:spcPct val="120000"/>
              </a:lnSpc>
              <a:defRPr sz="1100">
                <a:solidFill>
                  <a:srgbClr val="27AE60"/>
                </a:solidFill>
              </a:defRPr>
            </a:pPr>
            <a:r>
              <a:t>✓ Has memory of previous inputs</a:t>
            </a:r>
          </a:p>
        </p:txBody>
      </p:sp>
      <p:sp>
        <p:nvSpPr>
          <p:cNvPr id="11" name="TextBox 10"/>
          <p:cNvSpPr txBox="1"/>
          <p:nvPr/>
        </p:nvSpPr>
        <p:spPr>
          <a:xfrm>
            <a:off x="839470" y="5257800"/>
            <a:ext cx="7132320" cy="274320"/>
          </a:xfrm>
          <a:prstGeom prst="rect">
            <a:avLst/>
          </a:prstGeom>
          <a:noFill/>
        </p:spPr>
        <p:txBody>
          <a:bodyPr wrap="square">
            <a:spAutoFit/>
          </a:bodyPr>
          <a:lstStyle/>
          <a:p>
            <a:pPr>
              <a:lnSpc>
                <a:spcPct val="120000"/>
              </a:lnSpc>
              <a:defRPr sz="1100">
                <a:solidFill>
                  <a:srgbClr val="27AE60"/>
                </a:solidFill>
              </a:defRPr>
            </a:pPr>
            <a:r>
              <a:t>✓ Processes sequences step-by-step</a:t>
            </a:r>
          </a:p>
        </p:txBody>
      </p:sp>
    </p:spTree>
    <p:extLst>
      <p:ext uri="{BB962C8B-B14F-4D97-AF65-F5344CB8AC3E}">
        <p14:creationId xmlns:p14="http://schemas.microsoft.com/office/powerpoint/2010/main" val="2447613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41558" cy="1268984"/>
          </a:xfrm>
        </p:spPr>
        <p:txBody>
          <a:bodyPr/>
          <a:lstStyle/>
          <a:p>
            <a:pPr algn="ctr">
              <a:defRPr sz="2600" b="1">
                <a:solidFill>
                  <a:srgbClr val="2980B9"/>
                </a:solidFill>
              </a:defRPr>
            </a:pPr>
            <a:r>
              <a:rPr lang="en-US" dirty="0">
                <a:solidFill>
                  <a:schemeClr val="tx1">
                    <a:lumMod val="85000"/>
                    <a:lumOff val="15000"/>
                  </a:schemeClr>
                </a:solidFill>
              </a:rPr>
              <a:t>RNN Architecture</a:t>
            </a:r>
          </a:p>
        </p:txBody>
      </p:sp>
      <p:grpSp>
        <p:nvGrpSpPr>
          <p:cNvPr id="31" name="Group 30"/>
          <p:cNvGrpSpPr/>
          <p:nvPr/>
        </p:nvGrpSpPr>
        <p:grpSpPr>
          <a:xfrm>
            <a:off x="6991643" y="2309067"/>
            <a:ext cx="4656406" cy="2067951"/>
            <a:chOff x="1202788" y="2278966"/>
            <a:chExt cx="7863840" cy="3108960"/>
          </a:xfrm>
        </p:grpSpPr>
        <p:sp>
          <p:nvSpPr>
            <p:cNvPr id="4" name="Rounded Rectangle 3"/>
            <p:cNvSpPr/>
            <p:nvPr/>
          </p:nvSpPr>
          <p:spPr>
            <a:xfrm>
              <a:off x="1202788" y="2278966"/>
              <a:ext cx="7863840" cy="3108960"/>
            </a:xfrm>
            <a:prstGeom prst="round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77108" y="2461846"/>
              <a:ext cx="1828800" cy="182880"/>
            </a:xfrm>
            <a:prstGeom prst="rect">
              <a:avLst/>
            </a:prstGeom>
            <a:noFill/>
          </p:spPr>
          <p:txBody>
            <a:bodyPr wrap="square">
              <a:spAutoFit/>
            </a:bodyPr>
            <a:lstStyle/>
            <a:p>
              <a:pPr>
                <a:lnSpc>
                  <a:spcPct val="120000"/>
                </a:lnSpc>
                <a:defRPr sz="1000" b="1">
                  <a:solidFill>
                    <a:srgbClr val="2980B9"/>
                  </a:solidFill>
                </a:defRPr>
              </a:pPr>
              <a:r>
                <a:t>FOLDED:</a:t>
              </a:r>
            </a:p>
          </p:txBody>
        </p:sp>
        <p:sp>
          <p:nvSpPr>
            <p:cNvPr id="6" name="Rounded Rectangle 5"/>
            <p:cNvSpPr/>
            <p:nvPr/>
          </p:nvSpPr>
          <p:spPr>
            <a:xfrm>
              <a:off x="1934308" y="2919046"/>
              <a:ext cx="914400" cy="640080"/>
            </a:xfrm>
            <a:prstGeom prst="roundRect">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34308" y="2975341"/>
              <a:ext cx="1097280" cy="527491"/>
            </a:xfrm>
            <a:prstGeom prst="rect">
              <a:avLst/>
            </a:prstGeom>
            <a:noFill/>
          </p:spPr>
          <p:txBody>
            <a:bodyPr wrap="square" anchor="ctr">
              <a:spAutoFit/>
            </a:bodyPr>
            <a:lstStyle/>
            <a:p>
              <a:pPr algn="ctr">
                <a:lnSpc>
                  <a:spcPct val="120000"/>
                </a:lnSpc>
                <a:defRPr sz="1400" b="1">
                  <a:solidFill>
                    <a:srgbClr val="FFFFFF"/>
                  </a:solidFill>
                </a:defRPr>
              </a:pPr>
              <a:r>
                <a:rPr dirty="0"/>
                <a:t>RNN</a:t>
              </a:r>
            </a:p>
          </p:txBody>
        </p:sp>
        <p:sp>
          <p:nvSpPr>
            <p:cNvPr id="8" name="Curved Right Arrow 7"/>
            <p:cNvSpPr/>
            <p:nvPr/>
          </p:nvSpPr>
          <p:spPr>
            <a:xfrm>
              <a:off x="2391508" y="2736166"/>
              <a:ext cx="640080" cy="320040"/>
            </a:xfrm>
            <a:prstGeom prst="curvedRightArrow">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20308" y="2461846"/>
              <a:ext cx="4114800" cy="182880"/>
            </a:xfrm>
            <a:prstGeom prst="rect">
              <a:avLst/>
            </a:prstGeom>
            <a:noFill/>
          </p:spPr>
          <p:txBody>
            <a:bodyPr wrap="square">
              <a:spAutoFit/>
            </a:bodyPr>
            <a:lstStyle/>
            <a:p>
              <a:pPr>
                <a:lnSpc>
                  <a:spcPct val="120000"/>
                </a:lnSpc>
                <a:defRPr sz="1000" b="1">
                  <a:solidFill>
                    <a:srgbClr val="16A085"/>
                  </a:solidFill>
                </a:defRPr>
              </a:pPr>
              <a:r>
                <a:t>UNFOLDED (over time):</a:t>
              </a:r>
            </a:p>
          </p:txBody>
        </p:sp>
        <p:sp>
          <p:nvSpPr>
            <p:cNvPr id="10" name="Rounded Rectangle 9"/>
            <p:cNvSpPr/>
            <p:nvPr/>
          </p:nvSpPr>
          <p:spPr>
            <a:xfrm>
              <a:off x="4494628" y="3101926"/>
              <a:ext cx="731520" cy="502920"/>
            </a:xfrm>
            <a:prstGeom prst="roundRect">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94628" y="3101926"/>
              <a:ext cx="731520" cy="502920"/>
            </a:xfrm>
            <a:prstGeom prst="rect">
              <a:avLst/>
            </a:prstGeom>
            <a:noFill/>
          </p:spPr>
          <p:txBody>
            <a:bodyPr wrap="square" anchor="ctr">
              <a:spAutoFit/>
            </a:bodyPr>
            <a:lstStyle/>
            <a:p>
              <a:pPr algn="ctr">
                <a:lnSpc>
                  <a:spcPct val="120000"/>
                </a:lnSpc>
                <a:defRPr sz="1000" b="1">
                  <a:solidFill>
                    <a:srgbClr val="FFFFFF"/>
                  </a:solidFill>
                </a:defRPr>
              </a:pPr>
              <a:r>
                <a:t>h_t-1</a:t>
              </a:r>
            </a:p>
          </p:txBody>
        </p:sp>
        <p:sp>
          <p:nvSpPr>
            <p:cNvPr id="12" name="Rectangle 11"/>
            <p:cNvSpPr/>
            <p:nvPr/>
          </p:nvSpPr>
          <p:spPr>
            <a:xfrm>
              <a:off x="4586067" y="3833446"/>
              <a:ext cx="548640" cy="27432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6067" y="3833446"/>
              <a:ext cx="548640" cy="274320"/>
            </a:xfrm>
            <a:prstGeom prst="rect">
              <a:avLst/>
            </a:prstGeom>
            <a:noFill/>
          </p:spPr>
          <p:txBody>
            <a:bodyPr wrap="square" anchor="ctr">
              <a:spAutoFit/>
            </a:bodyPr>
            <a:lstStyle/>
            <a:p>
              <a:pPr algn="ctr">
                <a:lnSpc>
                  <a:spcPct val="120000"/>
                </a:lnSpc>
                <a:defRPr sz="900">
                  <a:solidFill>
                    <a:srgbClr val="2C3E50"/>
                  </a:solidFill>
                </a:defRPr>
              </a:pPr>
              <a:r>
                <a:t>x_t-1</a:t>
              </a:r>
            </a:p>
          </p:txBody>
        </p:sp>
        <p:sp>
          <p:nvSpPr>
            <p:cNvPr id="14" name="Rectangle 13"/>
            <p:cNvSpPr/>
            <p:nvPr/>
          </p:nvSpPr>
          <p:spPr>
            <a:xfrm>
              <a:off x="4586067" y="2553286"/>
              <a:ext cx="548640" cy="2743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86067" y="2553286"/>
              <a:ext cx="548640" cy="274320"/>
            </a:xfrm>
            <a:prstGeom prst="rect">
              <a:avLst/>
            </a:prstGeom>
            <a:noFill/>
          </p:spPr>
          <p:txBody>
            <a:bodyPr wrap="square" anchor="ctr">
              <a:spAutoFit/>
            </a:bodyPr>
            <a:lstStyle/>
            <a:p>
              <a:pPr algn="ctr">
                <a:lnSpc>
                  <a:spcPct val="120000"/>
                </a:lnSpc>
                <a:defRPr sz="900">
                  <a:solidFill>
                    <a:srgbClr val="2C3E50"/>
                  </a:solidFill>
                </a:defRPr>
              </a:pPr>
              <a:r>
                <a:t>y_t-1</a:t>
              </a:r>
            </a:p>
          </p:txBody>
        </p:sp>
        <p:sp>
          <p:nvSpPr>
            <p:cNvPr id="16" name="Right Arrow 15"/>
            <p:cNvSpPr/>
            <p:nvPr/>
          </p:nvSpPr>
          <p:spPr>
            <a:xfrm>
              <a:off x="5271867" y="3284806"/>
              <a:ext cx="594360" cy="182880"/>
            </a:xfrm>
            <a:prstGeom prst="rightArrow">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683348" y="3101926"/>
              <a:ext cx="731520" cy="502920"/>
            </a:xfrm>
            <a:prstGeom prst="roundRect">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83348" y="3101926"/>
              <a:ext cx="731520" cy="502920"/>
            </a:xfrm>
            <a:prstGeom prst="rect">
              <a:avLst/>
            </a:prstGeom>
            <a:noFill/>
          </p:spPr>
          <p:txBody>
            <a:bodyPr wrap="square" anchor="ctr">
              <a:spAutoFit/>
            </a:bodyPr>
            <a:lstStyle/>
            <a:p>
              <a:pPr algn="ctr">
                <a:lnSpc>
                  <a:spcPct val="120000"/>
                </a:lnSpc>
                <a:defRPr sz="1000" b="1">
                  <a:solidFill>
                    <a:srgbClr val="FFFFFF"/>
                  </a:solidFill>
                </a:defRPr>
              </a:pPr>
              <a:r>
                <a:t>h_t</a:t>
              </a:r>
            </a:p>
          </p:txBody>
        </p:sp>
        <p:sp>
          <p:nvSpPr>
            <p:cNvPr id="19" name="Rectangle 18"/>
            <p:cNvSpPr/>
            <p:nvPr/>
          </p:nvSpPr>
          <p:spPr>
            <a:xfrm>
              <a:off x="5774787" y="3833446"/>
              <a:ext cx="548640" cy="27432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74787" y="3833446"/>
              <a:ext cx="548640" cy="274320"/>
            </a:xfrm>
            <a:prstGeom prst="rect">
              <a:avLst/>
            </a:prstGeom>
            <a:noFill/>
          </p:spPr>
          <p:txBody>
            <a:bodyPr wrap="square" anchor="ctr">
              <a:spAutoFit/>
            </a:bodyPr>
            <a:lstStyle/>
            <a:p>
              <a:pPr algn="ctr">
                <a:lnSpc>
                  <a:spcPct val="120000"/>
                </a:lnSpc>
                <a:defRPr sz="900">
                  <a:solidFill>
                    <a:srgbClr val="2C3E50"/>
                  </a:solidFill>
                </a:defRPr>
              </a:pPr>
              <a:r>
                <a:t>x_t</a:t>
              </a:r>
            </a:p>
          </p:txBody>
        </p:sp>
        <p:sp>
          <p:nvSpPr>
            <p:cNvPr id="21" name="Rectangle 20"/>
            <p:cNvSpPr/>
            <p:nvPr/>
          </p:nvSpPr>
          <p:spPr>
            <a:xfrm>
              <a:off x="5774787" y="2553286"/>
              <a:ext cx="548640" cy="2743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74787" y="2553286"/>
              <a:ext cx="548640" cy="274320"/>
            </a:xfrm>
            <a:prstGeom prst="rect">
              <a:avLst/>
            </a:prstGeom>
            <a:noFill/>
          </p:spPr>
          <p:txBody>
            <a:bodyPr wrap="square" anchor="ctr">
              <a:spAutoFit/>
            </a:bodyPr>
            <a:lstStyle/>
            <a:p>
              <a:pPr algn="ctr">
                <a:lnSpc>
                  <a:spcPct val="120000"/>
                </a:lnSpc>
                <a:defRPr sz="900">
                  <a:solidFill>
                    <a:srgbClr val="2C3E50"/>
                  </a:solidFill>
                </a:defRPr>
              </a:pPr>
              <a:r>
                <a:t>y_t</a:t>
              </a:r>
            </a:p>
          </p:txBody>
        </p:sp>
        <p:sp>
          <p:nvSpPr>
            <p:cNvPr id="23" name="Right Arrow 22"/>
            <p:cNvSpPr/>
            <p:nvPr/>
          </p:nvSpPr>
          <p:spPr>
            <a:xfrm>
              <a:off x="6460587" y="3284806"/>
              <a:ext cx="594360" cy="182880"/>
            </a:xfrm>
            <a:prstGeom prst="rightArrow">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72068" y="3101926"/>
              <a:ext cx="731520" cy="502920"/>
            </a:xfrm>
            <a:prstGeom prst="roundRect">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72068" y="3101926"/>
              <a:ext cx="731520" cy="502920"/>
            </a:xfrm>
            <a:prstGeom prst="rect">
              <a:avLst/>
            </a:prstGeom>
            <a:noFill/>
          </p:spPr>
          <p:txBody>
            <a:bodyPr wrap="square" anchor="ctr">
              <a:spAutoFit/>
            </a:bodyPr>
            <a:lstStyle/>
            <a:p>
              <a:pPr algn="ctr">
                <a:lnSpc>
                  <a:spcPct val="120000"/>
                </a:lnSpc>
                <a:defRPr sz="1000" b="1">
                  <a:solidFill>
                    <a:srgbClr val="FFFFFF"/>
                  </a:solidFill>
                </a:defRPr>
              </a:pPr>
              <a:r>
                <a:t>h_t+1</a:t>
              </a:r>
            </a:p>
          </p:txBody>
        </p:sp>
        <p:sp>
          <p:nvSpPr>
            <p:cNvPr id="26" name="Rectangle 25"/>
            <p:cNvSpPr/>
            <p:nvPr/>
          </p:nvSpPr>
          <p:spPr>
            <a:xfrm>
              <a:off x="6963508" y="3833446"/>
              <a:ext cx="548640" cy="27432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63508" y="3833446"/>
              <a:ext cx="548640" cy="274320"/>
            </a:xfrm>
            <a:prstGeom prst="rect">
              <a:avLst/>
            </a:prstGeom>
            <a:noFill/>
          </p:spPr>
          <p:txBody>
            <a:bodyPr wrap="square" anchor="ctr">
              <a:spAutoFit/>
            </a:bodyPr>
            <a:lstStyle/>
            <a:p>
              <a:pPr algn="ctr">
                <a:lnSpc>
                  <a:spcPct val="120000"/>
                </a:lnSpc>
                <a:defRPr sz="900">
                  <a:solidFill>
                    <a:srgbClr val="2C3E50"/>
                  </a:solidFill>
                </a:defRPr>
              </a:pPr>
              <a:r>
                <a:t>x_t+1</a:t>
              </a:r>
            </a:p>
          </p:txBody>
        </p:sp>
        <p:sp>
          <p:nvSpPr>
            <p:cNvPr id="28" name="Rectangle 27"/>
            <p:cNvSpPr/>
            <p:nvPr/>
          </p:nvSpPr>
          <p:spPr>
            <a:xfrm>
              <a:off x="6963508" y="2553286"/>
              <a:ext cx="548640" cy="2743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963508" y="2553286"/>
              <a:ext cx="548640" cy="274320"/>
            </a:xfrm>
            <a:prstGeom prst="rect">
              <a:avLst/>
            </a:prstGeom>
            <a:noFill/>
          </p:spPr>
          <p:txBody>
            <a:bodyPr wrap="square" anchor="ctr">
              <a:spAutoFit/>
            </a:bodyPr>
            <a:lstStyle/>
            <a:p>
              <a:pPr algn="ctr">
                <a:lnSpc>
                  <a:spcPct val="120000"/>
                </a:lnSpc>
                <a:defRPr sz="900">
                  <a:solidFill>
                    <a:srgbClr val="2C3E50"/>
                  </a:solidFill>
                </a:defRPr>
              </a:pPr>
              <a:r>
                <a:t>y_t+1</a:t>
              </a:r>
            </a:p>
          </p:txBody>
        </p:sp>
        <p:sp>
          <p:nvSpPr>
            <p:cNvPr id="30" name="TextBox 29"/>
            <p:cNvSpPr txBox="1"/>
            <p:nvPr/>
          </p:nvSpPr>
          <p:spPr>
            <a:xfrm>
              <a:off x="4494628" y="4382086"/>
              <a:ext cx="3200400" cy="228600"/>
            </a:xfrm>
            <a:prstGeom prst="rect">
              <a:avLst/>
            </a:prstGeom>
            <a:noFill/>
          </p:spPr>
          <p:txBody>
            <a:bodyPr wrap="square" anchor="ctr">
              <a:spAutoFit/>
            </a:bodyPr>
            <a:lstStyle/>
            <a:p>
              <a:pPr algn="ctr">
                <a:lnSpc>
                  <a:spcPct val="120000"/>
                </a:lnSpc>
                <a:defRPr sz="1000">
                  <a:solidFill>
                    <a:srgbClr val="9B59B6"/>
                  </a:solidFill>
                </a:defRPr>
              </a:pPr>
              <a:r>
                <a:t>Hidden state h carries memory →</a:t>
              </a:r>
            </a:p>
          </p:txBody>
        </p:sp>
      </p:grpSp>
      <p:sp>
        <p:nvSpPr>
          <p:cNvPr id="3" name="Rectangle 2"/>
          <p:cNvSpPr/>
          <p:nvPr/>
        </p:nvSpPr>
        <p:spPr>
          <a:xfrm>
            <a:off x="392423" y="1884770"/>
            <a:ext cx="6096000" cy="2308324"/>
          </a:xfrm>
          <a:prstGeom prst="rect">
            <a:avLst/>
          </a:prstGeom>
        </p:spPr>
        <p:txBody>
          <a:bodyPr>
            <a:spAutoFit/>
          </a:bodyPr>
          <a:lstStyle/>
          <a:p>
            <a:r>
              <a:rPr lang="en-US" dirty="0"/>
              <a:t>An RNN has a hidden state that carries information through time, updated at each step using the current input and the previous hidden state. When unfolded over time, it shows how the network processes sequences step by step, sharing the same weights at every </a:t>
            </a:r>
            <a:r>
              <a:rPr lang="en-US" dirty="0" err="1"/>
              <a:t>timestep</a:t>
            </a:r>
            <a:r>
              <a:rPr lang="en-US" dirty="0"/>
              <a:t>. This design allows it to handle variable-length sequences and retain memory of past inputs while producing outputs for each step or the whole sequence.</a:t>
            </a:r>
          </a:p>
        </p:txBody>
      </p:sp>
    </p:spTree>
    <p:extLst>
      <p:ext uri="{BB962C8B-B14F-4D97-AF65-F5344CB8AC3E}">
        <p14:creationId xmlns:p14="http://schemas.microsoft.com/office/powerpoint/2010/main" val="3156708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335835" cy="666024"/>
          </a:xfrm>
        </p:spPr>
        <p:txBody>
          <a:bodyPr>
            <a:normAutofit fontScale="90000"/>
          </a:bodyPr>
          <a:lstStyle/>
          <a:p>
            <a:pPr algn="ctr"/>
            <a:r>
              <a:rPr lang="en-US" dirty="0" smtClean="0"/>
              <a:t>RNN Architectures</a:t>
            </a:r>
            <a:endParaRPr lang="en-US" dirty="0"/>
          </a:p>
        </p:txBody>
      </p:sp>
      <p:sp>
        <p:nvSpPr>
          <p:cNvPr id="7" name="Rectangle 4"/>
          <p:cNvSpPr>
            <a:spLocks noChangeArrowheads="1"/>
          </p:cNvSpPr>
          <p:nvPr/>
        </p:nvSpPr>
        <p:spPr bwMode="auto">
          <a:xfrm>
            <a:off x="565150" y="1720671"/>
            <a:ext cx="789667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1" i="0" u="none" strike="noStrike" cap="none" normalizeH="0" baseline="0" dirty="0" smtClean="0">
                <a:ln>
                  <a:noFill/>
                </a:ln>
                <a:solidFill>
                  <a:schemeClr val="tx1"/>
                </a:solidFill>
                <a:effectLst/>
                <a:latin typeface="Arial" panose="020B0604020202020204" pitchFamily="34" charset="0"/>
              </a:rPr>
              <a:t>One-to-One:</a:t>
            </a:r>
            <a:r>
              <a:rPr kumimoji="0" lang="en-US" altLang="en-US" sz="1800" b="0" i="0" u="none" strike="noStrike" cap="none" normalizeH="0" baseline="0" dirty="0" smtClean="0">
                <a:ln>
                  <a:noFill/>
                </a:ln>
                <a:solidFill>
                  <a:schemeClr val="tx1"/>
                </a:solidFill>
                <a:effectLst/>
                <a:latin typeface="Arial" panose="020B0604020202020204" pitchFamily="34" charset="0"/>
              </a:rPr>
              <a:t> Standard neural network; one input produces one output. Useful for basic classification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Many-to-One:</a:t>
            </a:r>
            <a:r>
              <a:rPr kumimoji="0" lang="en-US" altLang="en-US" sz="1800" b="0" i="0" u="none" strike="noStrike" cap="none" normalizeH="0" baseline="0" dirty="0" smtClean="0">
                <a:ln>
                  <a:noFill/>
                </a:ln>
                <a:solidFill>
                  <a:schemeClr val="tx1"/>
                </a:solidFill>
                <a:effectLst/>
                <a:latin typeface="Arial" panose="020B0604020202020204" pitchFamily="34" charset="0"/>
              </a:rPr>
              <a:t> Processes a sequence of inputs to produce a single output. Common in sentiment analysis, video classification, and spam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One-to-Many:</a:t>
            </a:r>
            <a:r>
              <a:rPr kumimoji="0" lang="en-US" altLang="en-US" sz="1800" b="0" i="0" u="none" strike="noStrike" cap="none" normalizeH="0" baseline="0" dirty="0" smtClean="0">
                <a:ln>
                  <a:noFill/>
                </a:ln>
                <a:solidFill>
                  <a:schemeClr val="tx1"/>
                </a:solidFill>
                <a:effectLst/>
                <a:latin typeface="Arial" panose="020B0604020202020204" pitchFamily="34" charset="0"/>
              </a:rPr>
              <a:t> Takes a single input and generates a sequence of outputs. Used in image captioning or music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Many-to-Many:</a:t>
            </a:r>
            <a:r>
              <a:rPr kumimoji="0" lang="en-US" altLang="en-US" sz="1800" b="0" i="0" u="none" strike="noStrike" cap="none" normalizeH="0" baseline="0" dirty="0" smtClean="0">
                <a:ln>
                  <a:noFill/>
                </a:ln>
                <a:solidFill>
                  <a:schemeClr val="tx1"/>
                </a:solidFill>
                <a:effectLst/>
                <a:latin typeface="Arial" panose="020B0604020202020204" pitchFamily="34" charset="0"/>
              </a:rPr>
              <a:t> Takes a sequence of inputs and produces a sequence of outputs. Used in machine translation, speech recognition, and video prediction.</a:t>
            </a:r>
          </a:p>
        </p:txBody>
      </p:sp>
    </p:spTree>
    <p:extLst>
      <p:ext uri="{BB962C8B-B14F-4D97-AF65-F5344CB8AC3E}">
        <p14:creationId xmlns:p14="http://schemas.microsoft.com/office/powerpoint/2010/main" val="3033213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380708" cy="579608"/>
          </a:xfrm>
        </p:spPr>
        <p:txBody>
          <a:bodyPr/>
          <a:lstStyle/>
          <a:p>
            <a:pPr algn="ctr">
              <a:defRPr sz="2600" b="1">
                <a:solidFill>
                  <a:srgbClr val="2980B9"/>
                </a:solidFill>
              </a:defRPr>
            </a:pPr>
            <a:r>
              <a:rPr lang="en-US" dirty="0">
                <a:solidFill>
                  <a:schemeClr val="tx1">
                    <a:lumMod val="85000"/>
                    <a:lumOff val="15000"/>
                  </a:schemeClr>
                </a:solidFill>
              </a:rPr>
              <a:t>Types of RNN Architectures</a:t>
            </a:r>
          </a:p>
        </p:txBody>
      </p:sp>
      <p:grpSp>
        <p:nvGrpSpPr>
          <p:cNvPr id="3" name="Group 2"/>
          <p:cNvGrpSpPr/>
          <p:nvPr/>
        </p:nvGrpSpPr>
        <p:grpSpPr>
          <a:xfrm>
            <a:off x="2250832" y="1828800"/>
            <a:ext cx="6161648" cy="3362178"/>
            <a:chOff x="3263705" y="2806505"/>
            <a:chExt cx="3429000" cy="1600200"/>
          </a:xfrm>
        </p:grpSpPr>
        <p:sp>
          <p:nvSpPr>
            <p:cNvPr id="4" name="Rounded Rectangle 3"/>
            <p:cNvSpPr/>
            <p:nvPr/>
          </p:nvSpPr>
          <p:spPr>
            <a:xfrm>
              <a:off x="3263705" y="2806505"/>
              <a:ext cx="1645920" cy="685800"/>
            </a:xfrm>
            <a:prstGeom prst="roundRect">
              <a:avLst/>
            </a:prstGeom>
            <a:solidFill>
              <a:srgbClr val="ECF0F1"/>
            </a:solidFill>
            <a:ln w="254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355145" y="2897945"/>
              <a:ext cx="1463040" cy="228600"/>
            </a:xfrm>
            <a:prstGeom prst="rect">
              <a:avLst/>
            </a:prstGeom>
            <a:noFill/>
          </p:spPr>
          <p:txBody>
            <a:bodyPr wrap="square" anchor="ctr">
              <a:spAutoFit/>
            </a:bodyPr>
            <a:lstStyle/>
            <a:p>
              <a:pPr algn="ctr">
                <a:lnSpc>
                  <a:spcPct val="120000"/>
                </a:lnSpc>
                <a:defRPr sz="1100" b="1">
                  <a:solidFill>
                    <a:srgbClr val="2980B9"/>
                  </a:solidFill>
                </a:defRPr>
              </a:pPr>
              <a:r>
                <a:t>One-to-One</a:t>
              </a:r>
            </a:p>
          </p:txBody>
        </p:sp>
        <p:sp>
          <p:nvSpPr>
            <p:cNvPr id="6" name="TextBox 5"/>
            <p:cNvSpPr txBox="1"/>
            <p:nvPr/>
          </p:nvSpPr>
          <p:spPr>
            <a:xfrm>
              <a:off x="3355145" y="3172265"/>
              <a:ext cx="1463040" cy="228600"/>
            </a:xfrm>
            <a:prstGeom prst="rect">
              <a:avLst/>
            </a:prstGeom>
            <a:noFill/>
          </p:spPr>
          <p:txBody>
            <a:bodyPr wrap="square" anchor="ctr">
              <a:spAutoFit/>
            </a:bodyPr>
            <a:lstStyle/>
            <a:p>
              <a:pPr algn="ctr">
                <a:lnSpc>
                  <a:spcPct val="120000"/>
                </a:lnSpc>
                <a:defRPr sz="1000">
                  <a:solidFill>
                    <a:srgbClr val="2C3E50"/>
                  </a:solidFill>
                </a:defRPr>
              </a:pPr>
              <a:r>
                <a:t>Standard NN</a:t>
              </a:r>
            </a:p>
          </p:txBody>
        </p:sp>
        <p:sp>
          <p:nvSpPr>
            <p:cNvPr id="7" name="Rounded Rectangle 6"/>
            <p:cNvSpPr/>
            <p:nvPr/>
          </p:nvSpPr>
          <p:spPr>
            <a:xfrm>
              <a:off x="5046785" y="2806505"/>
              <a:ext cx="1645920" cy="685800"/>
            </a:xfrm>
            <a:prstGeom prst="roundRect">
              <a:avLst/>
            </a:prstGeom>
            <a:solidFill>
              <a:srgbClr val="ECF0F1"/>
            </a:solidFill>
            <a:ln w="254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38225" y="2897945"/>
              <a:ext cx="1463040" cy="228600"/>
            </a:xfrm>
            <a:prstGeom prst="rect">
              <a:avLst/>
            </a:prstGeom>
            <a:noFill/>
          </p:spPr>
          <p:txBody>
            <a:bodyPr wrap="square" anchor="ctr">
              <a:spAutoFit/>
            </a:bodyPr>
            <a:lstStyle/>
            <a:p>
              <a:pPr algn="ctr">
                <a:lnSpc>
                  <a:spcPct val="120000"/>
                </a:lnSpc>
                <a:defRPr sz="1100" b="1">
                  <a:solidFill>
                    <a:srgbClr val="16A085"/>
                  </a:solidFill>
                </a:defRPr>
              </a:pPr>
              <a:r>
                <a:t>One-to-Many</a:t>
              </a:r>
            </a:p>
          </p:txBody>
        </p:sp>
        <p:sp>
          <p:nvSpPr>
            <p:cNvPr id="9" name="TextBox 8"/>
            <p:cNvSpPr txBox="1"/>
            <p:nvPr/>
          </p:nvSpPr>
          <p:spPr>
            <a:xfrm>
              <a:off x="5138225" y="3172265"/>
              <a:ext cx="1463040" cy="228600"/>
            </a:xfrm>
            <a:prstGeom prst="rect">
              <a:avLst/>
            </a:prstGeom>
            <a:noFill/>
          </p:spPr>
          <p:txBody>
            <a:bodyPr wrap="square" anchor="ctr">
              <a:spAutoFit/>
            </a:bodyPr>
            <a:lstStyle/>
            <a:p>
              <a:pPr algn="ctr">
                <a:lnSpc>
                  <a:spcPct val="120000"/>
                </a:lnSpc>
                <a:defRPr sz="1000">
                  <a:solidFill>
                    <a:srgbClr val="2C3E50"/>
                  </a:solidFill>
                </a:defRPr>
              </a:pPr>
              <a:r>
                <a:t>Image→Caption</a:t>
              </a:r>
            </a:p>
          </p:txBody>
        </p:sp>
        <p:sp>
          <p:nvSpPr>
            <p:cNvPr id="10" name="Rounded Rectangle 9"/>
            <p:cNvSpPr/>
            <p:nvPr/>
          </p:nvSpPr>
          <p:spPr>
            <a:xfrm>
              <a:off x="3263705" y="3720905"/>
              <a:ext cx="1645920" cy="685800"/>
            </a:xfrm>
            <a:prstGeom prst="roundRect">
              <a:avLst/>
            </a:prstGeom>
            <a:solidFill>
              <a:srgbClr val="ECF0F1"/>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55145" y="3812345"/>
              <a:ext cx="1463040" cy="228600"/>
            </a:xfrm>
            <a:prstGeom prst="rect">
              <a:avLst/>
            </a:prstGeom>
            <a:noFill/>
          </p:spPr>
          <p:txBody>
            <a:bodyPr wrap="square" anchor="ctr">
              <a:spAutoFit/>
            </a:bodyPr>
            <a:lstStyle/>
            <a:p>
              <a:pPr algn="ctr">
                <a:lnSpc>
                  <a:spcPct val="120000"/>
                </a:lnSpc>
                <a:defRPr sz="1100" b="1">
                  <a:solidFill>
                    <a:srgbClr val="E67E22"/>
                  </a:solidFill>
                </a:defRPr>
              </a:pPr>
              <a:r>
                <a:t>Many-to-One</a:t>
              </a:r>
            </a:p>
          </p:txBody>
        </p:sp>
        <p:sp>
          <p:nvSpPr>
            <p:cNvPr id="12" name="TextBox 11"/>
            <p:cNvSpPr txBox="1"/>
            <p:nvPr/>
          </p:nvSpPr>
          <p:spPr>
            <a:xfrm>
              <a:off x="3355145" y="4086665"/>
              <a:ext cx="1463040" cy="228600"/>
            </a:xfrm>
            <a:prstGeom prst="rect">
              <a:avLst/>
            </a:prstGeom>
            <a:noFill/>
          </p:spPr>
          <p:txBody>
            <a:bodyPr wrap="square" anchor="ctr">
              <a:spAutoFit/>
            </a:bodyPr>
            <a:lstStyle/>
            <a:p>
              <a:pPr algn="ctr">
                <a:lnSpc>
                  <a:spcPct val="120000"/>
                </a:lnSpc>
                <a:defRPr sz="1000">
                  <a:solidFill>
                    <a:srgbClr val="2C3E50"/>
                  </a:solidFill>
                </a:defRPr>
              </a:pPr>
              <a:r>
                <a:t>Sentiment</a:t>
              </a:r>
            </a:p>
          </p:txBody>
        </p:sp>
        <p:sp>
          <p:nvSpPr>
            <p:cNvPr id="13" name="Rounded Rectangle 12"/>
            <p:cNvSpPr/>
            <p:nvPr/>
          </p:nvSpPr>
          <p:spPr>
            <a:xfrm>
              <a:off x="5046785" y="3720905"/>
              <a:ext cx="1645920" cy="685800"/>
            </a:xfrm>
            <a:prstGeom prst="roundRect">
              <a:avLst/>
            </a:prstGeom>
            <a:solidFill>
              <a:srgbClr val="ECF0F1"/>
            </a:solidFill>
            <a:ln w="254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38225" y="3812345"/>
              <a:ext cx="1463040" cy="228600"/>
            </a:xfrm>
            <a:prstGeom prst="rect">
              <a:avLst/>
            </a:prstGeom>
            <a:noFill/>
          </p:spPr>
          <p:txBody>
            <a:bodyPr wrap="square" anchor="ctr">
              <a:spAutoFit/>
            </a:bodyPr>
            <a:lstStyle/>
            <a:p>
              <a:pPr algn="ctr">
                <a:lnSpc>
                  <a:spcPct val="120000"/>
                </a:lnSpc>
                <a:defRPr sz="1100" b="1">
                  <a:solidFill>
                    <a:srgbClr val="9B59B6"/>
                  </a:solidFill>
                </a:defRPr>
              </a:pPr>
              <a:r>
                <a:t>Many-to-Many</a:t>
              </a:r>
            </a:p>
          </p:txBody>
        </p:sp>
        <p:sp>
          <p:nvSpPr>
            <p:cNvPr id="15" name="TextBox 14"/>
            <p:cNvSpPr txBox="1"/>
            <p:nvPr/>
          </p:nvSpPr>
          <p:spPr>
            <a:xfrm>
              <a:off x="5138225" y="4086665"/>
              <a:ext cx="1463040" cy="228600"/>
            </a:xfrm>
            <a:prstGeom prst="rect">
              <a:avLst/>
            </a:prstGeom>
            <a:noFill/>
          </p:spPr>
          <p:txBody>
            <a:bodyPr wrap="square" anchor="ctr">
              <a:spAutoFit/>
            </a:bodyPr>
            <a:lstStyle/>
            <a:p>
              <a:pPr algn="ctr">
                <a:lnSpc>
                  <a:spcPct val="120000"/>
                </a:lnSpc>
                <a:defRPr sz="1000">
                  <a:solidFill>
                    <a:srgbClr val="2C3E50"/>
                  </a:solidFill>
                </a:defRPr>
              </a:pPr>
              <a:r>
                <a:t>Translation</a:t>
              </a:r>
            </a:p>
          </p:txBody>
        </p:sp>
      </p:grpSp>
    </p:spTree>
    <p:extLst>
      <p:ext uri="{BB962C8B-B14F-4D97-AF65-F5344CB8AC3E}">
        <p14:creationId xmlns:p14="http://schemas.microsoft.com/office/powerpoint/2010/main" val="595406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240032" cy="520881"/>
          </a:xfrm>
        </p:spPr>
        <p:txBody>
          <a:bodyPr/>
          <a:lstStyle/>
          <a:p>
            <a:pPr algn="ctr">
              <a:defRPr sz="2600" b="1">
                <a:solidFill>
                  <a:srgbClr val="2980B9"/>
                </a:solidFill>
              </a:defRPr>
            </a:pPr>
            <a:r>
              <a:rPr lang="en-US" dirty="0">
                <a:solidFill>
                  <a:schemeClr val="tx1">
                    <a:lumMod val="85000"/>
                    <a:lumOff val="15000"/>
                  </a:schemeClr>
                </a:solidFill>
              </a:rPr>
              <a:t>RNN Forward Propagation</a:t>
            </a:r>
          </a:p>
        </p:txBody>
      </p:sp>
      <p:grpSp>
        <p:nvGrpSpPr>
          <p:cNvPr id="16" name="Group 15"/>
          <p:cNvGrpSpPr/>
          <p:nvPr/>
        </p:nvGrpSpPr>
        <p:grpSpPr>
          <a:xfrm>
            <a:off x="1139483" y="4009292"/>
            <a:ext cx="8862646" cy="1842868"/>
            <a:chOff x="1139483" y="4009292"/>
            <a:chExt cx="7315200" cy="1280159"/>
          </a:xfrm>
        </p:grpSpPr>
        <p:sp>
          <p:nvSpPr>
            <p:cNvPr id="11" name="TextBox 10"/>
            <p:cNvSpPr txBox="1"/>
            <p:nvPr/>
          </p:nvSpPr>
          <p:spPr>
            <a:xfrm>
              <a:off x="1139483" y="4009292"/>
              <a:ext cx="7315200" cy="182880"/>
            </a:xfrm>
            <a:prstGeom prst="rect">
              <a:avLst/>
            </a:prstGeom>
            <a:noFill/>
          </p:spPr>
          <p:txBody>
            <a:bodyPr wrap="square">
              <a:spAutoFit/>
            </a:bodyPr>
            <a:lstStyle/>
            <a:p>
              <a:pPr>
                <a:lnSpc>
                  <a:spcPct val="120000"/>
                </a:lnSpc>
                <a:defRPr sz="1100" b="1">
                  <a:solidFill>
                    <a:srgbClr val="2C3E50"/>
                  </a:solidFill>
                </a:defRPr>
              </a:pPr>
              <a:r>
                <a:t>COMPONENTS:</a:t>
              </a:r>
            </a:p>
          </p:txBody>
        </p:sp>
        <p:sp>
          <p:nvSpPr>
            <p:cNvPr id="12" name="TextBox 11"/>
            <p:cNvSpPr txBox="1"/>
            <p:nvPr/>
          </p:nvSpPr>
          <p:spPr>
            <a:xfrm>
              <a:off x="1413803" y="4237892"/>
              <a:ext cx="6858000" cy="228600"/>
            </a:xfrm>
            <a:prstGeom prst="rect">
              <a:avLst/>
            </a:prstGeom>
            <a:noFill/>
          </p:spPr>
          <p:txBody>
            <a:bodyPr wrap="square">
              <a:spAutoFit/>
            </a:bodyPr>
            <a:lstStyle/>
            <a:p>
              <a:pPr>
                <a:lnSpc>
                  <a:spcPct val="120000"/>
                </a:lnSpc>
                <a:defRPr sz="1000">
                  <a:solidFill>
                    <a:srgbClr val="2C3E50"/>
                  </a:solidFill>
                </a:defRPr>
              </a:pPr>
              <a:r>
                <a:t>• W_hh: recurrent weights (memory)</a:t>
              </a:r>
            </a:p>
          </p:txBody>
        </p:sp>
        <p:sp>
          <p:nvSpPr>
            <p:cNvPr id="13" name="TextBox 12"/>
            <p:cNvSpPr txBox="1"/>
            <p:nvPr/>
          </p:nvSpPr>
          <p:spPr>
            <a:xfrm>
              <a:off x="1413803" y="4512212"/>
              <a:ext cx="6858000" cy="228600"/>
            </a:xfrm>
            <a:prstGeom prst="rect">
              <a:avLst/>
            </a:prstGeom>
            <a:noFill/>
          </p:spPr>
          <p:txBody>
            <a:bodyPr wrap="square">
              <a:spAutoFit/>
            </a:bodyPr>
            <a:lstStyle/>
            <a:p>
              <a:pPr>
                <a:lnSpc>
                  <a:spcPct val="120000"/>
                </a:lnSpc>
                <a:defRPr sz="1000">
                  <a:solidFill>
                    <a:srgbClr val="2C3E50"/>
                  </a:solidFill>
                </a:defRPr>
              </a:pPr>
              <a:r>
                <a:t>• W_xh: input weights</a:t>
              </a:r>
            </a:p>
          </p:txBody>
        </p:sp>
        <p:sp>
          <p:nvSpPr>
            <p:cNvPr id="14" name="TextBox 13"/>
            <p:cNvSpPr txBox="1"/>
            <p:nvPr/>
          </p:nvSpPr>
          <p:spPr>
            <a:xfrm>
              <a:off x="1413803" y="4786531"/>
              <a:ext cx="6858000" cy="228600"/>
            </a:xfrm>
            <a:prstGeom prst="rect">
              <a:avLst/>
            </a:prstGeom>
            <a:noFill/>
          </p:spPr>
          <p:txBody>
            <a:bodyPr wrap="square">
              <a:spAutoFit/>
            </a:bodyPr>
            <a:lstStyle/>
            <a:p>
              <a:pPr>
                <a:lnSpc>
                  <a:spcPct val="120000"/>
                </a:lnSpc>
                <a:defRPr sz="1000">
                  <a:solidFill>
                    <a:srgbClr val="2C3E50"/>
                  </a:solidFill>
                </a:defRPr>
              </a:pPr>
              <a:r>
                <a:rPr dirty="0"/>
                <a:t>• </a:t>
              </a:r>
              <a:r>
                <a:rPr dirty="0" err="1"/>
                <a:t>W_hy</a:t>
              </a:r>
              <a:r>
                <a:rPr dirty="0"/>
                <a:t>: output weights</a:t>
              </a:r>
            </a:p>
          </p:txBody>
        </p:sp>
        <p:sp>
          <p:nvSpPr>
            <p:cNvPr id="15" name="TextBox 14"/>
            <p:cNvSpPr txBox="1"/>
            <p:nvPr/>
          </p:nvSpPr>
          <p:spPr>
            <a:xfrm>
              <a:off x="1413803" y="5060851"/>
              <a:ext cx="6858000" cy="228600"/>
            </a:xfrm>
            <a:prstGeom prst="rect">
              <a:avLst/>
            </a:prstGeom>
            <a:noFill/>
          </p:spPr>
          <p:txBody>
            <a:bodyPr wrap="square">
              <a:spAutoFit/>
            </a:bodyPr>
            <a:lstStyle/>
            <a:p>
              <a:pPr>
                <a:lnSpc>
                  <a:spcPct val="120000"/>
                </a:lnSpc>
                <a:defRPr sz="1000">
                  <a:solidFill>
                    <a:srgbClr val="2C3E50"/>
                  </a:solidFill>
                </a:defRPr>
              </a:pPr>
              <a:r>
                <a:t>• tanh: squashes to [-1,1]</a:t>
              </a:r>
            </a:p>
          </p:txBody>
        </p:sp>
      </p:grpSp>
      <p:sp>
        <p:nvSpPr>
          <p:cNvPr id="3" name="Rectangle 2"/>
          <p:cNvSpPr/>
          <p:nvPr/>
        </p:nvSpPr>
        <p:spPr>
          <a:xfrm>
            <a:off x="706957" y="1378249"/>
            <a:ext cx="6096000" cy="2585323"/>
          </a:xfrm>
          <a:prstGeom prst="rect">
            <a:avLst/>
          </a:prstGeom>
        </p:spPr>
        <p:txBody>
          <a:bodyPr>
            <a:spAutoFit/>
          </a:bodyPr>
          <a:lstStyle/>
          <a:p>
            <a:r>
              <a:rPr lang="en-US" dirty="0"/>
              <a:t>In RNN forward propagation, the network processes a sequence step by step. At each time step, the hidden state is updated using the current input and the previous hidden state, allowing the network to carry memory through time. The hidden state is then used to compute the output for that step. This shared computation across all steps enables the RNN to handle sequences of variable length while maintaining context from earlier inputs.</a:t>
            </a:r>
          </a:p>
        </p:txBody>
      </p:sp>
    </p:spTree>
    <p:extLst>
      <p:ext uri="{BB962C8B-B14F-4D97-AF65-F5344CB8AC3E}">
        <p14:creationId xmlns:p14="http://schemas.microsoft.com/office/powerpoint/2010/main" val="1176405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324438" cy="481135"/>
          </a:xfrm>
        </p:spPr>
        <p:txBody>
          <a:bodyPr>
            <a:normAutofit fontScale="90000"/>
          </a:bodyPr>
          <a:lstStyle/>
          <a:p>
            <a:pPr algn="ctr">
              <a:defRPr sz="2600" b="1">
                <a:solidFill>
                  <a:srgbClr val="2980B9"/>
                </a:solidFill>
              </a:defRPr>
            </a:pPr>
            <a:r>
              <a:rPr lang="en-US" dirty="0">
                <a:solidFill>
                  <a:schemeClr val="tx1">
                    <a:lumMod val="85000"/>
                    <a:lumOff val="15000"/>
                  </a:schemeClr>
                </a:solidFill>
              </a:rPr>
              <a:t>Parameter Sharing</a:t>
            </a:r>
          </a:p>
        </p:txBody>
      </p:sp>
      <p:grpSp>
        <p:nvGrpSpPr>
          <p:cNvPr id="13" name="Group 12"/>
          <p:cNvGrpSpPr/>
          <p:nvPr/>
        </p:nvGrpSpPr>
        <p:grpSpPr>
          <a:xfrm>
            <a:off x="565150" y="3889717"/>
            <a:ext cx="8311564" cy="1723292"/>
            <a:chOff x="858130" y="4480560"/>
            <a:chExt cx="7315200" cy="1188720"/>
          </a:xfrm>
        </p:grpSpPr>
        <p:sp>
          <p:nvSpPr>
            <p:cNvPr id="7" name="TextBox 6"/>
            <p:cNvSpPr txBox="1"/>
            <p:nvPr/>
          </p:nvSpPr>
          <p:spPr>
            <a:xfrm>
              <a:off x="858130" y="4480560"/>
              <a:ext cx="7315200" cy="182880"/>
            </a:xfrm>
            <a:prstGeom prst="rect">
              <a:avLst/>
            </a:prstGeom>
            <a:noFill/>
          </p:spPr>
          <p:txBody>
            <a:bodyPr wrap="square">
              <a:spAutoFit/>
            </a:bodyPr>
            <a:lstStyle/>
            <a:p>
              <a:pPr>
                <a:lnSpc>
                  <a:spcPct val="120000"/>
                </a:lnSpc>
                <a:defRPr sz="1200" b="1">
                  <a:solidFill>
                    <a:srgbClr val="27AE60"/>
                  </a:solidFill>
                </a:defRPr>
              </a:pPr>
              <a:r>
                <a:t>BENEFITS:</a:t>
              </a:r>
            </a:p>
          </p:txBody>
        </p:sp>
        <p:sp>
          <p:nvSpPr>
            <p:cNvPr id="8" name="TextBox 7"/>
            <p:cNvSpPr txBox="1"/>
            <p:nvPr/>
          </p:nvSpPr>
          <p:spPr>
            <a:xfrm>
              <a:off x="1132450" y="4754880"/>
              <a:ext cx="6858000" cy="274320"/>
            </a:xfrm>
            <a:prstGeom prst="rect">
              <a:avLst/>
            </a:prstGeom>
            <a:noFill/>
          </p:spPr>
          <p:txBody>
            <a:bodyPr wrap="square">
              <a:spAutoFit/>
            </a:bodyPr>
            <a:lstStyle/>
            <a:p>
              <a:pPr>
                <a:lnSpc>
                  <a:spcPct val="120000"/>
                </a:lnSpc>
                <a:defRPr sz="1100">
                  <a:solidFill>
                    <a:srgbClr val="27AE60"/>
                  </a:solidFill>
                </a:defRPr>
              </a:pPr>
              <a:r>
                <a:t>✓ Fewer parameters</a:t>
              </a:r>
            </a:p>
          </p:txBody>
        </p:sp>
        <p:sp>
          <p:nvSpPr>
            <p:cNvPr id="9" name="TextBox 8"/>
            <p:cNvSpPr txBox="1"/>
            <p:nvPr/>
          </p:nvSpPr>
          <p:spPr>
            <a:xfrm>
              <a:off x="1132450" y="5074920"/>
              <a:ext cx="6858000" cy="274320"/>
            </a:xfrm>
            <a:prstGeom prst="rect">
              <a:avLst/>
            </a:prstGeom>
            <a:noFill/>
          </p:spPr>
          <p:txBody>
            <a:bodyPr wrap="square">
              <a:spAutoFit/>
            </a:bodyPr>
            <a:lstStyle/>
            <a:p>
              <a:pPr>
                <a:lnSpc>
                  <a:spcPct val="120000"/>
                </a:lnSpc>
                <a:defRPr sz="1100">
                  <a:solidFill>
                    <a:srgbClr val="27AE60"/>
                  </a:solidFill>
                </a:defRPr>
              </a:pPr>
              <a:r>
                <a:rPr dirty="0"/>
                <a:t>✓ Any sequence length</a:t>
              </a:r>
            </a:p>
          </p:txBody>
        </p:sp>
        <p:sp>
          <p:nvSpPr>
            <p:cNvPr id="10" name="TextBox 9"/>
            <p:cNvSpPr txBox="1"/>
            <p:nvPr/>
          </p:nvSpPr>
          <p:spPr>
            <a:xfrm>
              <a:off x="1132450" y="5394960"/>
              <a:ext cx="6858000" cy="274320"/>
            </a:xfrm>
            <a:prstGeom prst="rect">
              <a:avLst/>
            </a:prstGeom>
            <a:noFill/>
          </p:spPr>
          <p:txBody>
            <a:bodyPr wrap="square">
              <a:spAutoFit/>
            </a:bodyPr>
            <a:lstStyle/>
            <a:p>
              <a:pPr>
                <a:lnSpc>
                  <a:spcPct val="120000"/>
                </a:lnSpc>
                <a:defRPr sz="1100">
                  <a:solidFill>
                    <a:srgbClr val="27AE60"/>
                  </a:solidFill>
                </a:defRPr>
              </a:pPr>
              <a:r>
                <a:t>✓ Position independent</a:t>
              </a:r>
            </a:p>
          </p:txBody>
        </p:sp>
      </p:grpSp>
      <p:sp>
        <p:nvSpPr>
          <p:cNvPr id="3" name="Rectangle 2"/>
          <p:cNvSpPr/>
          <p:nvPr/>
        </p:nvSpPr>
        <p:spPr>
          <a:xfrm>
            <a:off x="565150" y="1566714"/>
            <a:ext cx="7200216" cy="1754326"/>
          </a:xfrm>
          <a:prstGeom prst="rect">
            <a:avLst/>
          </a:prstGeom>
        </p:spPr>
        <p:txBody>
          <a:bodyPr wrap="square">
            <a:spAutoFit/>
          </a:bodyPr>
          <a:lstStyle/>
          <a:p>
            <a:r>
              <a:rPr lang="en-US" dirty="0"/>
              <a:t>In RNNs, the same set of weights is used at every time step. This means the network applies the same transformations to all elements in the sequence, regardless of position. Parameter sharing reduces the total number of parameters, allows the model to process sequences of any length, and helps it generalize patterns across time. It is a key reason RNNs can efficiently handle sequential data.</a:t>
            </a:r>
          </a:p>
        </p:txBody>
      </p:sp>
    </p:spTree>
    <p:extLst>
      <p:ext uri="{BB962C8B-B14F-4D97-AF65-F5344CB8AC3E}">
        <p14:creationId xmlns:p14="http://schemas.microsoft.com/office/powerpoint/2010/main" val="2056110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83761" cy="1268984"/>
          </a:xfrm>
        </p:spPr>
        <p:txBody>
          <a:bodyPr/>
          <a:lstStyle/>
          <a:p>
            <a:pPr algn="ctr">
              <a:defRPr sz="2600" b="1">
                <a:solidFill>
                  <a:srgbClr val="2980B9"/>
                </a:solidFill>
              </a:defRPr>
            </a:pPr>
            <a:r>
              <a:rPr lang="en-US" dirty="0">
                <a:solidFill>
                  <a:schemeClr val="tx1">
                    <a:lumMod val="85000"/>
                    <a:lumOff val="15000"/>
                  </a:schemeClr>
                </a:solidFill>
              </a:rPr>
              <a:t>Training RNNs: BPTT</a:t>
            </a:r>
          </a:p>
        </p:txBody>
      </p:sp>
      <p:sp>
        <p:nvSpPr>
          <p:cNvPr id="3" name="Rectangle 2"/>
          <p:cNvSpPr/>
          <p:nvPr/>
        </p:nvSpPr>
        <p:spPr>
          <a:xfrm>
            <a:off x="907366" y="1506369"/>
            <a:ext cx="9303434" cy="3970318"/>
          </a:xfrm>
          <a:prstGeom prst="rect">
            <a:avLst/>
          </a:prstGeom>
        </p:spPr>
        <p:txBody>
          <a:bodyPr wrap="square">
            <a:spAutoFit/>
          </a:bodyPr>
          <a:lstStyle/>
          <a:p>
            <a:pPr>
              <a:buFont typeface="Arial" panose="020B0604020202020204" pitchFamily="34" charset="0"/>
              <a:buChar char="•"/>
            </a:pPr>
            <a:r>
              <a:rPr lang="en-US" b="1" dirty="0" smtClean="0"/>
              <a:t>Backpropagation </a:t>
            </a:r>
            <a:r>
              <a:rPr lang="en-US" b="1" dirty="0"/>
              <a:t>Through Time (BPTT):</a:t>
            </a:r>
            <a:r>
              <a:rPr lang="en-US" dirty="0"/>
              <a:t> RNN is “unrolled” across all time steps, treating each step like a layer in a deep feedforward network.</a:t>
            </a:r>
          </a:p>
          <a:p>
            <a:pPr>
              <a:buFont typeface="Arial" panose="020B0604020202020204" pitchFamily="34" charset="0"/>
              <a:buChar char="•"/>
            </a:pPr>
            <a:r>
              <a:rPr lang="en-US" b="1" dirty="0"/>
              <a:t>Loss calculation:</a:t>
            </a:r>
            <a:r>
              <a:rPr lang="en-US" dirty="0"/>
              <a:t> The network computes loss at each output step and sums over all steps for gradient calculation.</a:t>
            </a:r>
          </a:p>
          <a:p>
            <a:pPr>
              <a:buFont typeface="Arial" panose="020B0604020202020204" pitchFamily="34" charset="0"/>
              <a:buChar char="•"/>
            </a:pPr>
            <a:r>
              <a:rPr lang="en-US" b="1" dirty="0"/>
              <a:t>Gradient flow:</a:t>
            </a:r>
            <a:r>
              <a:rPr lang="en-US" dirty="0"/>
              <a:t> Gradients are propagated backward through time to update the shared weights.</a:t>
            </a:r>
          </a:p>
          <a:p>
            <a:pPr>
              <a:buFont typeface="Arial" panose="020B0604020202020204" pitchFamily="34" charset="0"/>
              <a:buChar char="•"/>
            </a:pPr>
            <a:r>
              <a:rPr lang="en-US" b="1" dirty="0"/>
              <a:t>Parameter updates:</a:t>
            </a:r>
            <a:r>
              <a:rPr lang="en-US" dirty="0"/>
              <a:t> Shared weights are adjusted using cumulative gradients across all time steps.</a:t>
            </a:r>
          </a:p>
          <a:p>
            <a:pPr>
              <a:buFont typeface="Arial" panose="020B0604020202020204" pitchFamily="34" charset="0"/>
              <a:buChar char="•"/>
            </a:pPr>
            <a:r>
              <a:rPr lang="en-US" b="1" dirty="0"/>
              <a:t>Capturing dependencies:</a:t>
            </a:r>
            <a:r>
              <a:rPr lang="en-US" dirty="0"/>
              <a:t> Enables learning of patterns that depend on previous elements in the sequence.</a:t>
            </a:r>
          </a:p>
          <a:p>
            <a:pPr>
              <a:buFont typeface="Arial" panose="020B0604020202020204" pitchFamily="34" charset="0"/>
              <a:buChar char="•"/>
            </a:pPr>
            <a:r>
              <a:rPr lang="en-US" b="1" dirty="0"/>
              <a:t>Computational cost:</a:t>
            </a:r>
            <a:r>
              <a:rPr lang="en-US" dirty="0"/>
              <a:t> Longer sequences increase memory usage and computation because each step contributes to gradient calculation.</a:t>
            </a:r>
          </a:p>
          <a:p>
            <a:pPr>
              <a:buFont typeface="Arial" panose="020B0604020202020204" pitchFamily="34" charset="0"/>
              <a:buChar char="•"/>
            </a:pPr>
            <a:r>
              <a:rPr lang="en-US" b="1" dirty="0"/>
              <a:t>Practical tips:</a:t>
            </a:r>
            <a:r>
              <a:rPr lang="en-US" dirty="0"/>
              <a:t> Use truncated BPTT for long sequences, batch sequences, and monitor gradient norms to prevent exploding/vanishing issues.</a:t>
            </a:r>
          </a:p>
        </p:txBody>
      </p:sp>
    </p:spTree>
    <p:extLst>
      <p:ext uri="{BB962C8B-B14F-4D97-AF65-F5344CB8AC3E}">
        <p14:creationId xmlns:p14="http://schemas.microsoft.com/office/powerpoint/2010/main" val="2624573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335835" cy="664015"/>
          </a:xfrm>
        </p:spPr>
        <p:txBody>
          <a:bodyPr>
            <a:normAutofit fontScale="90000"/>
          </a:bodyPr>
          <a:lstStyle/>
          <a:p>
            <a:pPr algn="ctr"/>
            <a:r>
              <a:rPr lang="en-US" dirty="0" smtClean="0"/>
              <a:t>Process</a:t>
            </a:r>
            <a:endParaRPr lang="en-US" dirty="0"/>
          </a:p>
        </p:txBody>
      </p:sp>
      <p:sp>
        <p:nvSpPr>
          <p:cNvPr id="4" name="TextBox 3"/>
          <p:cNvSpPr txBox="1"/>
          <p:nvPr/>
        </p:nvSpPr>
        <p:spPr>
          <a:xfrm>
            <a:off x="956604" y="2039874"/>
            <a:ext cx="7680960" cy="182880"/>
          </a:xfrm>
          <a:prstGeom prst="rect">
            <a:avLst/>
          </a:prstGeom>
          <a:noFill/>
        </p:spPr>
        <p:txBody>
          <a:bodyPr wrap="square">
            <a:spAutoFit/>
          </a:bodyPr>
          <a:lstStyle/>
          <a:p>
            <a:pPr>
              <a:lnSpc>
                <a:spcPct val="120000"/>
              </a:lnSpc>
              <a:defRPr sz="1200" b="1">
                <a:solidFill>
                  <a:srgbClr val="2980B9"/>
                </a:solidFill>
              </a:defRPr>
            </a:pPr>
            <a:r>
              <a:t>PROCESS:</a:t>
            </a:r>
          </a:p>
        </p:txBody>
      </p:sp>
      <p:sp>
        <p:nvSpPr>
          <p:cNvPr id="5" name="TextBox 4"/>
          <p:cNvSpPr txBox="1"/>
          <p:nvPr/>
        </p:nvSpPr>
        <p:spPr>
          <a:xfrm>
            <a:off x="1230924" y="2314194"/>
            <a:ext cx="7132320" cy="274320"/>
          </a:xfrm>
          <a:prstGeom prst="rect">
            <a:avLst/>
          </a:prstGeom>
          <a:noFill/>
        </p:spPr>
        <p:txBody>
          <a:bodyPr wrap="square">
            <a:spAutoFit/>
          </a:bodyPr>
          <a:lstStyle/>
          <a:p>
            <a:pPr>
              <a:lnSpc>
                <a:spcPct val="120000"/>
              </a:lnSpc>
              <a:defRPr sz="1100">
                <a:solidFill>
                  <a:srgbClr val="2C3E50"/>
                </a:solidFill>
              </a:defRPr>
            </a:pPr>
            <a:r>
              <a:rPr dirty="0"/>
              <a:t>1. Unroll network for T steps</a:t>
            </a:r>
          </a:p>
        </p:txBody>
      </p:sp>
      <p:sp>
        <p:nvSpPr>
          <p:cNvPr id="6" name="TextBox 5"/>
          <p:cNvSpPr txBox="1"/>
          <p:nvPr/>
        </p:nvSpPr>
        <p:spPr>
          <a:xfrm>
            <a:off x="1230924" y="2634234"/>
            <a:ext cx="7132320" cy="274320"/>
          </a:xfrm>
          <a:prstGeom prst="rect">
            <a:avLst/>
          </a:prstGeom>
          <a:noFill/>
        </p:spPr>
        <p:txBody>
          <a:bodyPr wrap="square">
            <a:spAutoFit/>
          </a:bodyPr>
          <a:lstStyle/>
          <a:p>
            <a:pPr>
              <a:lnSpc>
                <a:spcPct val="120000"/>
              </a:lnSpc>
              <a:defRPr sz="1100">
                <a:solidFill>
                  <a:srgbClr val="2C3E50"/>
                </a:solidFill>
              </a:defRPr>
            </a:pPr>
            <a:r>
              <a:t>2. Calculate loss</a:t>
            </a:r>
          </a:p>
        </p:txBody>
      </p:sp>
      <p:sp>
        <p:nvSpPr>
          <p:cNvPr id="7" name="TextBox 6"/>
          <p:cNvSpPr txBox="1"/>
          <p:nvPr/>
        </p:nvSpPr>
        <p:spPr>
          <a:xfrm>
            <a:off x="1230924" y="2954274"/>
            <a:ext cx="7132320" cy="274320"/>
          </a:xfrm>
          <a:prstGeom prst="rect">
            <a:avLst/>
          </a:prstGeom>
          <a:noFill/>
        </p:spPr>
        <p:txBody>
          <a:bodyPr wrap="square">
            <a:spAutoFit/>
          </a:bodyPr>
          <a:lstStyle/>
          <a:p>
            <a:pPr>
              <a:lnSpc>
                <a:spcPct val="120000"/>
              </a:lnSpc>
              <a:defRPr sz="1100">
                <a:solidFill>
                  <a:srgbClr val="2C3E50"/>
                </a:solidFill>
              </a:defRPr>
            </a:pPr>
            <a:r>
              <a:t>3. Backpropagate through time</a:t>
            </a:r>
          </a:p>
        </p:txBody>
      </p:sp>
      <p:sp>
        <p:nvSpPr>
          <p:cNvPr id="8" name="TextBox 7"/>
          <p:cNvSpPr txBox="1"/>
          <p:nvPr/>
        </p:nvSpPr>
        <p:spPr>
          <a:xfrm>
            <a:off x="1230924" y="3274314"/>
            <a:ext cx="7132320" cy="274320"/>
          </a:xfrm>
          <a:prstGeom prst="rect">
            <a:avLst/>
          </a:prstGeom>
          <a:noFill/>
        </p:spPr>
        <p:txBody>
          <a:bodyPr wrap="square">
            <a:spAutoFit/>
          </a:bodyPr>
          <a:lstStyle/>
          <a:p>
            <a:pPr>
              <a:lnSpc>
                <a:spcPct val="120000"/>
              </a:lnSpc>
              <a:defRPr sz="1100">
                <a:solidFill>
                  <a:srgbClr val="2C3E50"/>
                </a:solidFill>
              </a:defRPr>
            </a:pPr>
            <a:r>
              <a:t>4. Update all shared weights</a:t>
            </a:r>
          </a:p>
        </p:txBody>
      </p:sp>
      <p:sp>
        <p:nvSpPr>
          <p:cNvPr id="9" name="TextBox 8"/>
          <p:cNvSpPr txBox="1"/>
          <p:nvPr/>
        </p:nvSpPr>
        <p:spPr>
          <a:xfrm>
            <a:off x="1596684" y="3953080"/>
            <a:ext cx="6400800" cy="365760"/>
          </a:xfrm>
          <a:prstGeom prst="rect">
            <a:avLst/>
          </a:prstGeom>
          <a:noFill/>
        </p:spPr>
        <p:txBody>
          <a:bodyPr wrap="square" anchor="ctr">
            <a:spAutoFit/>
          </a:bodyPr>
          <a:lstStyle/>
          <a:p>
            <a:pPr algn="ctr">
              <a:lnSpc>
                <a:spcPct val="120000"/>
              </a:lnSpc>
              <a:defRPr sz="1100" b="1">
                <a:solidFill>
                  <a:srgbClr val="E74C3C"/>
                </a:solidFill>
              </a:defRPr>
            </a:pPr>
            <a:r>
              <a:rPr dirty="0"/>
              <a:t>CHALLENGE: Long sequences → vanishing gradients</a:t>
            </a:r>
          </a:p>
        </p:txBody>
      </p:sp>
    </p:spTree>
    <p:extLst>
      <p:ext uri="{BB962C8B-B14F-4D97-AF65-F5344CB8AC3E}">
        <p14:creationId xmlns:p14="http://schemas.microsoft.com/office/powerpoint/2010/main" val="571933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265121"/>
            <a:ext cx="9099355" cy="557121"/>
          </a:xfrm>
        </p:spPr>
        <p:txBody>
          <a:bodyPr/>
          <a:lstStyle/>
          <a:p>
            <a:pPr algn="ctr">
              <a:defRPr sz="2600" b="1">
                <a:solidFill>
                  <a:srgbClr val="2980B9"/>
                </a:solidFill>
              </a:defRPr>
            </a:pPr>
            <a:r>
              <a:rPr lang="en-US" dirty="0">
                <a:solidFill>
                  <a:schemeClr val="tx1">
                    <a:lumMod val="85000"/>
                    <a:lumOff val="15000"/>
                  </a:schemeClr>
                </a:solidFill>
              </a:rPr>
              <a:t>The Vanishing Gradient Problem</a:t>
            </a:r>
          </a:p>
        </p:txBody>
      </p:sp>
      <p:sp>
        <p:nvSpPr>
          <p:cNvPr id="20" name="Rectangle 1"/>
          <p:cNvSpPr>
            <a:spLocks noChangeArrowheads="1"/>
          </p:cNvSpPr>
          <p:nvPr/>
        </p:nvSpPr>
        <p:spPr bwMode="auto">
          <a:xfrm>
            <a:off x="565150" y="934783"/>
            <a:ext cx="989489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Gradients shrink too much:</a:t>
            </a:r>
            <a:r>
              <a:rPr kumimoji="0" lang="en-US" altLang="en-US" sz="1800" b="0" i="0" u="none" strike="noStrike" cap="none" normalizeH="0" baseline="0" dirty="0" smtClean="0">
                <a:ln>
                  <a:noFill/>
                </a:ln>
                <a:solidFill>
                  <a:schemeClr val="tx1"/>
                </a:solidFill>
                <a:effectLst/>
                <a:latin typeface="Arial" panose="020B0604020202020204" pitchFamily="34" charset="0"/>
              </a:rPr>
              <a:t> During backpropagation, repeated multiplication of small derivatives causes gradients to diminish exponentially, making early time steps almost irrelevant.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Long-term dependencies lost:</a:t>
            </a:r>
            <a:r>
              <a:rPr kumimoji="0" lang="en-US" altLang="en-US" sz="1800" b="0" i="0" u="none" strike="noStrike" cap="none" normalizeH="0" baseline="0" dirty="0" smtClean="0">
                <a:ln>
                  <a:noFill/>
                </a:ln>
                <a:solidFill>
                  <a:schemeClr val="tx1"/>
                </a:solidFill>
                <a:effectLst/>
                <a:latin typeface="Arial" panose="020B0604020202020204" pitchFamily="34" charset="0"/>
              </a:rPr>
              <a:t> The network struggles to capture relationships between inputs that are far apart in the sequence, limiting its memory.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Training slows or stalls:</a:t>
            </a:r>
            <a:r>
              <a:rPr kumimoji="0" lang="en-US" altLang="en-US" sz="1800" b="0" i="0" u="none" strike="noStrike" cap="none" normalizeH="0" baseline="0" dirty="0" smtClean="0">
                <a:ln>
                  <a:noFill/>
                </a:ln>
                <a:solidFill>
                  <a:schemeClr val="tx1"/>
                </a:solidFill>
                <a:effectLst/>
                <a:latin typeface="Arial" panose="020B0604020202020204" pitchFamily="34" charset="0"/>
              </a:rPr>
              <a:t> Learning becomes extremely slow, and the network may fail to converge, especially on long sequences.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Short-term focus:</a:t>
            </a:r>
            <a:r>
              <a:rPr kumimoji="0" lang="en-US" altLang="en-US" sz="1800" b="0" i="0" u="none" strike="noStrike" cap="none" normalizeH="0" baseline="0" dirty="0" smtClean="0">
                <a:ln>
                  <a:noFill/>
                </a:ln>
                <a:solidFill>
                  <a:schemeClr val="tx1"/>
                </a:solidFill>
                <a:effectLst/>
                <a:latin typeface="Arial" panose="020B0604020202020204" pitchFamily="34" charset="0"/>
              </a:rPr>
              <a:t> The model primarily reacts to recent inputs, ignoring important information from earlier steps.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Unstable learning:</a:t>
            </a:r>
            <a:r>
              <a:rPr kumimoji="0" lang="en-US" altLang="en-US" sz="1800" b="0" i="0" u="none" strike="noStrike" cap="none" normalizeH="0" baseline="0" dirty="0" smtClean="0">
                <a:ln>
                  <a:noFill/>
                </a:ln>
                <a:solidFill>
                  <a:schemeClr val="tx1"/>
                </a:solidFill>
                <a:effectLst/>
                <a:latin typeface="Arial" panose="020B0604020202020204" pitchFamily="34" charset="0"/>
              </a:rPr>
              <a:t> Small gradients can lead to minimal weight updates, causing erratic or inconsistent learning.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Poor performance on complex tasks:</a:t>
            </a:r>
            <a:r>
              <a:rPr kumimoji="0" lang="en-US" altLang="en-US" sz="1800" b="0" i="0" u="none" strike="noStrike" cap="none" normalizeH="0" baseline="0" dirty="0" smtClean="0">
                <a:ln>
                  <a:noFill/>
                </a:ln>
                <a:solidFill>
                  <a:schemeClr val="tx1"/>
                </a:solidFill>
                <a:effectLst/>
                <a:latin typeface="Arial" panose="020B0604020202020204" pitchFamily="34" charset="0"/>
              </a:rPr>
              <a:t> Tasks that require understanding context over many time steps, such as language modeling or translation, are severely affected.</a:t>
            </a:r>
          </a:p>
        </p:txBody>
      </p:sp>
      <p:grpSp>
        <p:nvGrpSpPr>
          <p:cNvPr id="21" name="Group 20"/>
          <p:cNvGrpSpPr/>
          <p:nvPr/>
        </p:nvGrpSpPr>
        <p:grpSpPr>
          <a:xfrm>
            <a:off x="2942124" y="4867422"/>
            <a:ext cx="3699803" cy="956434"/>
            <a:chOff x="1252025" y="3179299"/>
            <a:chExt cx="6949440" cy="1280160"/>
          </a:xfrm>
        </p:grpSpPr>
        <p:sp>
          <p:nvSpPr>
            <p:cNvPr id="22" name="Rectangle 21"/>
            <p:cNvSpPr/>
            <p:nvPr/>
          </p:nvSpPr>
          <p:spPr>
            <a:xfrm>
              <a:off x="1892105" y="3179299"/>
              <a:ext cx="822960" cy="1005840"/>
            </a:xfrm>
            <a:prstGeom prst="rect">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74985" y="4276579"/>
              <a:ext cx="457200" cy="182880"/>
            </a:xfrm>
            <a:prstGeom prst="rect">
              <a:avLst/>
            </a:prstGeom>
            <a:noFill/>
          </p:spPr>
          <p:txBody>
            <a:bodyPr wrap="square" anchor="ctr">
              <a:spAutoFit/>
            </a:bodyPr>
            <a:lstStyle/>
            <a:p>
              <a:pPr algn="ctr">
                <a:lnSpc>
                  <a:spcPct val="120000"/>
                </a:lnSpc>
                <a:defRPr sz="900">
                  <a:solidFill>
                    <a:srgbClr val="2C3E50"/>
                  </a:solidFill>
                </a:defRPr>
              </a:pPr>
              <a:r>
                <a:t>t-0</a:t>
              </a:r>
            </a:p>
          </p:txBody>
        </p:sp>
        <p:sp>
          <p:nvSpPr>
            <p:cNvPr id="24" name="Rectangle 23"/>
            <p:cNvSpPr/>
            <p:nvPr/>
          </p:nvSpPr>
          <p:spPr>
            <a:xfrm>
              <a:off x="2989385" y="3453618"/>
              <a:ext cx="822960" cy="731520"/>
            </a:xfrm>
            <a:prstGeom prst="rect">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172265" y="4276579"/>
              <a:ext cx="457200" cy="182880"/>
            </a:xfrm>
            <a:prstGeom prst="rect">
              <a:avLst/>
            </a:prstGeom>
            <a:noFill/>
          </p:spPr>
          <p:txBody>
            <a:bodyPr wrap="square" anchor="ctr">
              <a:spAutoFit/>
            </a:bodyPr>
            <a:lstStyle/>
            <a:p>
              <a:pPr algn="ctr">
                <a:lnSpc>
                  <a:spcPct val="120000"/>
                </a:lnSpc>
                <a:defRPr sz="900">
                  <a:solidFill>
                    <a:srgbClr val="2C3E50"/>
                  </a:solidFill>
                </a:defRPr>
              </a:pPr>
              <a:r>
                <a:t>t-1</a:t>
              </a:r>
            </a:p>
          </p:txBody>
        </p:sp>
        <p:sp>
          <p:nvSpPr>
            <p:cNvPr id="26" name="Rectangle 25"/>
            <p:cNvSpPr/>
            <p:nvPr/>
          </p:nvSpPr>
          <p:spPr>
            <a:xfrm>
              <a:off x="4086665" y="3682218"/>
              <a:ext cx="822960" cy="502920"/>
            </a:xfrm>
            <a:prstGeom prst="rect">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69544" y="4276579"/>
              <a:ext cx="457200" cy="182880"/>
            </a:xfrm>
            <a:prstGeom prst="rect">
              <a:avLst/>
            </a:prstGeom>
            <a:noFill/>
          </p:spPr>
          <p:txBody>
            <a:bodyPr wrap="square" anchor="ctr">
              <a:spAutoFit/>
            </a:bodyPr>
            <a:lstStyle/>
            <a:p>
              <a:pPr algn="ctr">
                <a:lnSpc>
                  <a:spcPct val="120000"/>
                </a:lnSpc>
                <a:defRPr sz="900">
                  <a:solidFill>
                    <a:srgbClr val="2C3E50"/>
                  </a:solidFill>
                </a:defRPr>
              </a:pPr>
              <a:r>
                <a:t>t-2</a:t>
              </a:r>
            </a:p>
          </p:txBody>
        </p:sp>
        <p:sp>
          <p:nvSpPr>
            <p:cNvPr id="28" name="Rectangle 27"/>
            <p:cNvSpPr/>
            <p:nvPr/>
          </p:nvSpPr>
          <p:spPr>
            <a:xfrm>
              <a:off x="5183945" y="3865099"/>
              <a:ext cx="822960" cy="320040"/>
            </a:xfrm>
            <a:prstGeom prst="rect">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66825" y="4276579"/>
              <a:ext cx="457200" cy="182880"/>
            </a:xfrm>
            <a:prstGeom prst="rect">
              <a:avLst/>
            </a:prstGeom>
            <a:noFill/>
          </p:spPr>
          <p:txBody>
            <a:bodyPr wrap="square" anchor="ctr">
              <a:spAutoFit/>
            </a:bodyPr>
            <a:lstStyle/>
            <a:p>
              <a:pPr algn="ctr">
                <a:lnSpc>
                  <a:spcPct val="120000"/>
                </a:lnSpc>
                <a:defRPr sz="900">
                  <a:solidFill>
                    <a:srgbClr val="2C3E50"/>
                  </a:solidFill>
                </a:defRPr>
              </a:pPr>
              <a:r>
                <a:t>t-3</a:t>
              </a:r>
            </a:p>
          </p:txBody>
        </p:sp>
        <p:sp>
          <p:nvSpPr>
            <p:cNvPr id="30" name="Rectangle 29"/>
            <p:cNvSpPr/>
            <p:nvPr/>
          </p:nvSpPr>
          <p:spPr>
            <a:xfrm>
              <a:off x="6281225" y="4002259"/>
              <a:ext cx="822960" cy="182880"/>
            </a:xfrm>
            <a:prstGeom prst="rect">
              <a:avLst/>
            </a:prstGeom>
            <a:solidFill>
              <a:srgbClr val="E74C3C"/>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4105" y="4276579"/>
              <a:ext cx="457200" cy="182880"/>
            </a:xfrm>
            <a:prstGeom prst="rect">
              <a:avLst/>
            </a:prstGeom>
            <a:noFill/>
          </p:spPr>
          <p:txBody>
            <a:bodyPr wrap="square" anchor="ctr">
              <a:spAutoFit/>
            </a:bodyPr>
            <a:lstStyle/>
            <a:p>
              <a:pPr algn="ctr">
                <a:lnSpc>
                  <a:spcPct val="120000"/>
                </a:lnSpc>
                <a:defRPr sz="900">
                  <a:solidFill>
                    <a:srgbClr val="2C3E50"/>
                  </a:solidFill>
                </a:defRPr>
              </a:pPr>
              <a:r>
                <a:t>t-4</a:t>
              </a:r>
            </a:p>
          </p:txBody>
        </p:sp>
        <p:sp>
          <p:nvSpPr>
            <p:cNvPr id="32" name="Rectangle 31"/>
            <p:cNvSpPr/>
            <p:nvPr/>
          </p:nvSpPr>
          <p:spPr>
            <a:xfrm>
              <a:off x="7378505" y="4093699"/>
              <a:ext cx="822960" cy="91440"/>
            </a:xfrm>
            <a:prstGeom prst="rect">
              <a:avLst/>
            </a:prstGeom>
            <a:solidFill>
              <a:srgbClr val="E74C3C"/>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61385" y="4276579"/>
              <a:ext cx="457200" cy="182880"/>
            </a:xfrm>
            <a:prstGeom prst="rect">
              <a:avLst/>
            </a:prstGeom>
            <a:noFill/>
          </p:spPr>
          <p:txBody>
            <a:bodyPr wrap="square" anchor="ctr">
              <a:spAutoFit/>
            </a:bodyPr>
            <a:lstStyle/>
            <a:p>
              <a:pPr algn="ctr">
                <a:lnSpc>
                  <a:spcPct val="120000"/>
                </a:lnSpc>
                <a:defRPr sz="900">
                  <a:solidFill>
                    <a:srgbClr val="2C3E50"/>
                  </a:solidFill>
                </a:defRPr>
              </a:pPr>
              <a:r>
                <a:t>t-5</a:t>
              </a:r>
            </a:p>
          </p:txBody>
        </p:sp>
        <p:sp>
          <p:nvSpPr>
            <p:cNvPr id="34" name="TextBox 33"/>
            <p:cNvSpPr txBox="1"/>
            <p:nvPr/>
          </p:nvSpPr>
          <p:spPr>
            <a:xfrm>
              <a:off x="1252025" y="3819379"/>
              <a:ext cx="731520" cy="182880"/>
            </a:xfrm>
            <a:prstGeom prst="rect">
              <a:avLst/>
            </a:prstGeom>
            <a:noFill/>
          </p:spPr>
          <p:txBody>
            <a:bodyPr wrap="square">
              <a:spAutoFit/>
            </a:bodyPr>
            <a:lstStyle/>
            <a:p>
              <a:pPr>
                <a:lnSpc>
                  <a:spcPct val="120000"/>
                </a:lnSpc>
                <a:defRPr sz="1000" b="1">
                  <a:solidFill>
                    <a:srgbClr val="2C3E50"/>
                  </a:solidFill>
                </a:defRPr>
              </a:pPr>
              <a:r>
                <a:t>← Time</a:t>
              </a:r>
            </a:p>
          </p:txBody>
        </p:sp>
      </p:grpSp>
    </p:spTree>
    <p:extLst>
      <p:ext uri="{BB962C8B-B14F-4D97-AF65-F5344CB8AC3E}">
        <p14:creationId xmlns:p14="http://schemas.microsoft.com/office/powerpoint/2010/main" val="3782101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56" y="519995"/>
            <a:ext cx="8145158" cy="1097789"/>
          </a:xfrm>
        </p:spPr>
        <p:txBody>
          <a:bodyPr>
            <a:normAutofit fontScale="90000"/>
          </a:bodyPr>
          <a:lstStyle/>
          <a:p>
            <a:r>
              <a:rPr lang="en-US" dirty="0"/>
              <a:t>Vanishing Gradient Problem – Consequences</a:t>
            </a:r>
          </a:p>
        </p:txBody>
      </p:sp>
      <p:sp>
        <p:nvSpPr>
          <p:cNvPr id="19" name="Rectangle 1"/>
          <p:cNvSpPr>
            <a:spLocks noChangeArrowheads="1"/>
          </p:cNvSpPr>
          <p:nvPr/>
        </p:nvSpPr>
        <p:spPr bwMode="auto">
          <a:xfrm>
            <a:off x="731556" y="1893169"/>
            <a:ext cx="915806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Inability to learn long-term dependencies:</a:t>
            </a:r>
            <a:r>
              <a:rPr kumimoji="0" lang="en-US" altLang="en-US" sz="1800" b="0" i="0" u="none" strike="noStrike" cap="none" normalizeH="0" baseline="0" dirty="0" smtClean="0">
                <a:ln>
                  <a:noFill/>
                </a:ln>
                <a:solidFill>
                  <a:schemeClr val="tx1"/>
                </a:solidFill>
                <a:effectLst/>
                <a:latin typeface="Arial" panose="020B0604020202020204" pitchFamily="34" charset="0"/>
              </a:rPr>
              <a:t> The network fails to connect information from early time steps to later outputs.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Training becomes slow:</a:t>
            </a:r>
            <a:r>
              <a:rPr kumimoji="0" lang="en-US" altLang="en-US" sz="1800" b="0" i="0" u="none" strike="noStrike" cap="none" normalizeH="0" baseline="0" dirty="0" smtClean="0">
                <a:ln>
                  <a:noFill/>
                </a:ln>
                <a:solidFill>
                  <a:schemeClr val="tx1"/>
                </a:solidFill>
                <a:effectLst/>
                <a:latin typeface="Arial" panose="020B0604020202020204" pitchFamily="34" charset="0"/>
              </a:rPr>
              <a:t> Small gradients lead to minimal weight updates, requiring more iterations to make progress.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Training may stall or fail:</a:t>
            </a:r>
            <a:r>
              <a:rPr kumimoji="0" lang="en-US" altLang="en-US" sz="1800" b="0" i="0" u="none" strike="noStrike" cap="none" normalizeH="0" baseline="0" dirty="0" smtClean="0">
                <a:ln>
                  <a:noFill/>
                </a:ln>
                <a:solidFill>
                  <a:schemeClr val="tx1"/>
                </a:solidFill>
                <a:effectLst/>
                <a:latin typeface="Arial" panose="020B0604020202020204" pitchFamily="34" charset="0"/>
              </a:rPr>
              <a:t> In extreme cases, the network stops improving and cannot converge.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Short-term bias:</a:t>
            </a:r>
            <a:r>
              <a:rPr kumimoji="0" lang="en-US" altLang="en-US" sz="1800" b="0" i="0" u="none" strike="noStrike" cap="none" normalizeH="0" baseline="0" dirty="0" smtClean="0">
                <a:ln>
                  <a:noFill/>
                </a:ln>
                <a:solidFill>
                  <a:schemeClr val="tx1"/>
                </a:solidFill>
                <a:effectLst/>
                <a:latin typeface="Arial" panose="020B0604020202020204" pitchFamily="34" charset="0"/>
              </a:rPr>
              <a:t> Predictions rely mostly on recent inputs, </a:t>
            </a:r>
            <a:r>
              <a:rPr kumimoji="0" lang="en-US" altLang="en-US" sz="1800" b="0" i="0" u="none" strike="noStrike" cap="none" normalizeH="0" baseline="0" dirty="0" err="1" smtClean="0">
                <a:ln>
                  <a:noFill/>
                </a:ln>
                <a:solidFill>
                  <a:schemeClr val="tx1"/>
                </a:solidFill>
                <a:effectLst/>
                <a:latin typeface="Arial" panose="020B0604020202020204" pitchFamily="34" charset="0"/>
              </a:rPr>
              <a:t>unpredi</a:t>
            </a:r>
            <a:r>
              <a:rPr lang="en-US" altLang="en-US" dirty="0" err="1" smtClean="0">
                <a:latin typeface="Arial" panose="020B0604020202020204" pitchFamily="34" charset="0"/>
              </a:rPr>
              <a:t>ignoring</a:t>
            </a:r>
            <a:r>
              <a:rPr lang="en-US" altLang="en-US" dirty="0" smtClean="0">
                <a:latin typeface="Arial" panose="020B0604020202020204" pitchFamily="34" charset="0"/>
              </a:rPr>
              <a:t> </a:t>
            </a:r>
            <a:r>
              <a:rPr lang="en-US" altLang="en-US" dirty="0">
                <a:latin typeface="Arial" panose="020B0604020202020204" pitchFamily="34" charset="0"/>
              </a:rPr>
              <a:t>distant context.</a:t>
            </a:r>
          </a:p>
          <a:p>
            <a:pPr lvl="0" eaLnBrk="0" fontAlgn="base" hangingPunct="0">
              <a:spcBef>
                <a:spcPct val="0"/>
              </a:spcBef>
              <a:spcAft>
                <a:spcPct val="0"/>
              </a:spcAft>
              <a:buFontTx/>
              <a:buChar char="•"/>
            </a:pPr>
            <a:r>
              <a:rPr lang="en-US" altLang="en-US" b="1" dirty="0">
                <a:latin typeface="Arial" panose="020B0604020202020204" pitchFamily="34" charset="0"/>
              </a:rPr>
              <a:t>Poor performance on sequence tasks:</a:t>
            </a:r>
            <a:r>
              <a:rPr lang="en-US" altLang="en-US" dirty="0">
                <a:latin typeface="Arial" panose="020B0604020202020204" pitchFamily="34" charset="0"/>
              </a:rPr>
              <a:t> Tasks like language modeling, translation, and time series prediction are negatively affected.</a:t>
            </a:r>
          </a:p>
          <a:p>
            <a:pPr lvl="0" eaLnBrk="0" fontAlgn="base" hangingPunct="0">
              <a:spcBef>
                <a:spcPct val="0"/>
              </a:spcBef>
              <a:spcAft>
                <a:spcPct val="0"/>
              </a:spcAft>
              <a:buFontTx/>
              <a:buChar char="•"/>
            </a:pPr>
            <a:r>
              <a:rPr lang="en-US" altLang="en-US" b="1" dirty="0">
                <a:latin typeface="Arial" panose="020B0604020202020204" pitchFamily="34" charset="0"/>
              </a:rPr>
              <a:t>Instability in learning:</a:t>
            </a:r>
            <a:r>
              <a:rPr lang="en-US" altLang="en-US" dirty="0">
                <a:latin typeface="Arial" panose="020B0604020202020204" pitchFamily="34" charset="0"/>
              </a:rPr>
              <a:t> The network may produce inconsistent or </a:t>
            </a:r>
            <a:r>
              <a:rPr kumimoji="0" lang="en-US" altLang="en-US" sz="1800" b="0" i="0" u="none" strike="noStrike" cap="none" normalizeH="0" baseline="0" dirty="0" err="1" smtClean="0">
                <a:ln>
                  <a:noFill/>
                </a:ln>
                <a:solidFill>
                  <a:schemeClr val="tx1"/>
                </a:solidFill>
                <a:effectLst/>
                <a:latin typeface="Arial" panose="020B0604020202020204" pitchFamily="34" charset="0"/>
              </a:rPr>
              <a:t>ctable</a:t>
            </a:r>
            <a:r>
              <a:rPr kumimoji="0" lang="en-US" altLang="en-US" sz="1800" b="0" i="0" u="none" strike="noStrike" cap="none" normalizeH="0" baseline="0" dirty="0" smtClean="0">
                <a:ln>
                  <a:noFill/>
                </a:ln>
                <a:solidFill>
                  <a:schemeClr val="tx1"/>
                </a:solidFill>
                <a:effectLst/>
                <a:latin typeface="Arial" panose="020B0604020202020204" pitchFamily="34" charset="0"/>
              </a:rPr>
              <a:t> outputs due to weak gradient signals.</a:t>
            </a:r>
          </a:p>
        </p:txBody>
      </p:sp>
    </p:spTree>
    <p:extLst>
      <p:ext uri="{BB962C8B-B14F-4D97-AF65-F5344CB8AC3E}">
        <p14:creationId xmlns:p14="http://schemas.microsoft.com/office/powerpoint/2010/main" val="1370396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408844" cy="1268984"/>
          </a:xfrm>
        </p:spPr>
        <p:txBody>
          <a:bodyPr/>
          <a:lstStyle/>
          <a:p>
            <a:pPr algn="ctr">
              <a:defRPr sz="1600">
                <a:solidFill>
                  <a:srgbClr val="FFFFFF"/>
                </a:solidFill>
              </a:defRPr>
            </a:pPr>
            <a:r>
              <a:rPr lang="en-US" dirty="0">
                <a:solidFill>
                  <a:schemeClr val="tx1">
                    <a:lumMod val="85000"/>
                    <a:lumOff val="15000"/>
                  </a:schemeClr>
                </a:solidFill>
              </a:rPr>
              <a:t>Part 2: Advanced RNN </a:t>
            </a:r>
            <a:r>
              <a:rPr lang="en-US" dirty="0" smtClean="0">
                <a:solidFill>
                  <a:schemeClr val="tx1">
                    <a:lumMod val="85000"/>
                    <a:lumOff val="15000"/>
                  </a:schemeClr>
                </a:solidFill>
              </a:rPr>
              <a:t>Architecture</a:t>
            </a:r>
            <a:r>
              <a:rPr lang="en-US" dirty="0">
                <a:solidFill>
                  <a:schemeClr val="tx1">
                    <a:lumMod val="85000"/>
                    <a:lumOff val="15000"/>
                  </a:schemeClr>
                </a:solidFill>
              </a:rPr>
              <a:t/>
            </a:r>
            <a:br>
              <a:rPr lang="en-US" dirty="0">
                <a:solidFill>
                  <a:schemeClr val="tx1">
                    <a:lumMod val="85000"/>
                    <a:lumOff val="15000"/>
                  </a:schemeClr>
                </a:solidFill>
              </a:rPr>
            </a:br>
            <a:endParaRPr lang="en-US" dirty="0">
              <a:solidFill>
                <a:schemeClr val="tx1">
                  <a:lumMod val="85000"/>
                  <a:lumOff val="15000"/>
                </a:schemeClr>
              </a:solidFill>
            </a:endParaRPr>
          </a:p>
        </p:txBody>
      </p:sp>
      <p:sp>
        <p:nvSpPr>
          <p:cNvPr id="3" name="Content Placeholder 2"/>
          <p:cNvSpPr>
            <a:spLocks noGrp="1"/>
          </p:cNvSpPr>
          <p:nvPr>
            <p:ph idx="1"/>
          </p:nvPr>
        </p:nvSpPr>
        <p:spPr>
          <a:xfrm>
            <a:off x="1296670" y="1955526"/>
            <a:ext cx="9408844" cy="1181569"/>
          </a:xfrm>
        </p:spPr>
        <p:txBody>
          <a:bodyPr/>
          <a:lstStyle/>
          <a:p>
            <a:pPr marL="0" indent="0" algn="ctr">
              <a:buNone/>
              <a:defRPr sz="4000" b="1">
                <a:solidFill>
                  <a:srgbClr val="FFFFFF"/>
                </a:solidFill>
              </a:defRPr>
            </a:pPr>
            <a:r>
              <a:rPr lang="en-US" dirty="0">
                <a:solidFill>
                  <a:schemeClr val="tx1">
                    <a:lumMod val="85000"/>
                    <a:lumOff val="15000"/>
                  </a:schemeClr>
                </a:solidFill>
              </a:rPr>
              <a:t>Long </a:t>
            </a:r>
            <a:r>
              <a:rPr lang="en-US" dirty="0" smtClean="0">
                <a:solidFill>
                  <a:schemeClr val="tx1">
                    <a:lumMod val="85000"/>
                    <a:lumOff val="15000"/>
                  </a:schemeClr>
                </a:solidFill>
              </a:rPr>
              <a:t>Short-Term Memory (LSTM)</a:t>
            </a:r>
            <a:endParaRPr lang="en-US" dirty="0">
              <a:solidFill>
                <a:schemeClr val="tx1">
                  <a:lumMod val="85000"/>
                  <a:lumOff val="15000"/>
                </a:schemeClr>
              </a:solidFill>
            </a:endParaRPr>
          </a:p>
        </p:txBody>
      </p:sp>
    </p:spTree>
    <p:extLst>
      <p:ext uri="{BB962C8B-B14F-4D97-AF65-F5344CB8AC3E}">
        <p14:creationId xmlns:p14="http://schemas.microsoft.com/office/powerpoint/2010/main" val="3793142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335835" cy="734353"/>
          </a:xfrm>
        </p:spPr>
        <p:txBody>
          <a:bodyPr/>
          <a:lstStyle/>
          <a:p>
            <a:r>
              <a:rPr lang="en-US" dirty="0" smtClean="0"/>
              <a:t>What is LSTM?</a:t>
            </a:r>
            <a:endParaRPr lang="en-US" dirty="0"/>
          </a:p>
        </p:txBody>
      </p:sp>
      <p:sp>
        <p:nvSpPr>
          <p:cNvPr id="4" name="Rectangle 3"/>
          <p:cNvSpPr/>
          <p:nvPr/>
        </p:nvSpPr>
        <p:spPr>
          <a:xfrm>
            <a:off x="565150" y="2174187"/>
            <a:ext cx="6096000" cy="2031325"/>
          </a:xfrm>
          <a:prstGeom prst="rect">
            <a:avLst/>
          </a:prstGeom>
        </p:spPr>
        <p:txBody>
          <a:bodyPr>
            <a:spAutoFit/>
          </a:bodyPr>
          <a:lstStyle/>
          <a:p>
            <a:r>
              <a:rPr lang="en-US" dirty="0"/>
              <a:t>LSTM is a specialized type of recurrent neural network designed to learn long-term dependencies in sequential data. It overcomes the vanishing gradient problem by maintaining a cell state that acts as memory and using gates to control which information to keep, update, or output at each time step, allowing the network to capture both short-term and long-term patterns effectively.</a:t>
            </a:r>
          </a:p>
        </p:txBody>
      </p:sp>
    </p:spTree>
    <p:extLst>
      <p:ext uri="{BB962C8B-B14F-4D97-AF65-F5344CB8AC3E}">
        <p14:creationId xmlns:p14="http://schemas.microsoft.com/office/powerpoint/2010/main" val="2749889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043084" cy="678082"/>
          </a:xfrm>
        </p:spPr>
        <p:txBody>
          <a:bodyPr/>
          <a:lstStyle/>
          <a:p>
            <a:pPr>
              <a:defRPr sz="2600" b="1">
                <a:solidFill>
                  <a:srgbClr val="2980B9"/>
                </a:solidFill>
              </a:defRPr>
            </a:pPr>
            <a:r>
              <a:rPr lang="en-US" dirty="0">
                <a:solidFill>
                  <a:schemeClr val="tx1">
                    <a:lumMod val="85000"/>
                    <a:lumOff val="15000"/>
                  </a:schemeClr>
                </a:solidFill>
              </a:rPr>
              <a:t>Why LSTM?</a:t>
            </a:r>
          </a:p>
        </p:txBody>
      </p:sp>
      <p:sp>
        <p:nvSpPr>
          <p:cNvPr id="3" name="Rectangle 1"/>
          <p:cNvSpPr>
            <a:spLocks noChangeArrowheads="1"/>
          </p:cNvSpPr>
          <p:nvPr/>
        </p:nvSpPr>
        <p:spPr bwMode="auto">
          <a:xfrm>
            <a:off x="675249" y="1783810"/>
            <a:ext cx="772316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Standard RNNs struggle with long-term dependencies due to vanishing gradients.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LSTM maintains a cell state that acts as long-term memory.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Gates control what information to keep, update, or output at each step.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Can capture both short-term and long-term patterns in sequences.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Enables reliable training on complex tasks like language modeling, translation, and time series prediction.</a:t>
            </a:r>
          </a:p>
        </p:txBody>
      </p:sp>
    </p:spTree>
    <p:extLst>
      <p:ext uri="{BB962C8B-B14F-4D97-AF65-F5344CB8AC3E}">
        <p14:creationId xmlns:p14="http://schemas.microsoft.com/office/powerpoint/2010/main" val="327904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997" y="294137"/>
            <a:ext cx="9310370" cy="576540"/>
          </a:xfrm>
        </p:spPr>
        <p:txBody>
          <a:bodyPr/>
          <a:lstStyle/>
          <a:p>
            <a:pPr algn="ctr">
              <a:defRPr sz="2600" b="1">
                <a:solidFill>
                  <a:srgbClr val="2980B9"/>
                </a:solidFill>
              </a:defRPr>
            </a:pPr>
            <a:r>
              <a:rPr lang="en-US" dirty="0">
                <a:solidFill>
                  <a:schemeClr val="tx1">
                    <a:lumMod val="85000"/>
                    <a:lumOff val="15000"/>
                  </a:schemeClr>
                </a:solidFill>
              </a:rPr>
              <a:t>LSTM Architecture</a:t>
            </a:r>
          </a:p>
        </p:txBody>
      </p:sp>
      <p:sp>
        <p:nvSpPr>
          <p:cNvPr id="3" name="Rectangle 1"/>
          <p:cNvSpPr>
            <a:spLocks noChangeArrowheads="1"/>
          </p:cNvSpPr>
          <p:nvPr/>
        </p:nvSpPr>
        <p:spPr bwMode="auto">
          <a:xfrm>
            <a:off x="565150" y="1117313"/>
            <a:ext cx="978263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Cell state:</a:t>
            </a:r>
            <a:r>
              <a:rPr kumimoji="0" lang="en-US" altLang="en-US" sz="1800" b="0" i="0" u="none" strike="noStrike" cap="none" normalizeH="0" baseline="0" dirty="0" smtClean="0">
                <a:ln>
                  <a:noFill/>
                </a:ln>
                <a:solidFill>
                  <a:schemeClr val="tx1"/>
                </a:solidFill>
                <a:effectLst/>
                <a:latin typeface="Arial" panose="020B0604020202020204" pitchFamily="34" charset="0"/>
              </a:rPr>
              <a:t> Acts as the network’s memory, carrying information across many time steps with minimal modification. Helps maintain long-term dependencies.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Forget gate:</a:t>
            </a:r>
            <a:r>
              <a:rPr kumimoji="0" lang="en-US" altLang="en-US" sz="1800" b="0" i="0" u="none" strike="noStrike" cap="none" normalizeH="0" baseline="0" dirty="0" smtClean="0">
                <a:ln>
                  <a:noFill/>
                </a:ln>
                <a:solidFill>
                  <a:schemeClr val="tx1"/>
                </a:solidFill>
                <a:effectLst/>
                <a:latin typeface="Arial" panose="020B0604020202020204" pitchFamily="34" charset="0"/>
              </a:rPr>
              <a:t> Determines what information from the previous cell state to discard. Protects the memory from irrelevant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Input gate:</a:t>
            </a:r>
            <a:r>
              <a:rPr kumimoji="0" lang="en-US" altLang="en-US" sz="1800" b="0" i="0" u="none" strike="noStrike" cap="none" normalizeH="0" baseline="0" dirty="0" smtClean="0">
                <a:ln>
                  <a:noFill/>
                </a:ln>
                <a:solidFill>
                  <a:schemeClr val="tx1"/>
                </a:solidFill>
                <a:effectLst/>
                <a:latin typeface="Arial" panose="020B0604020202020204" pitchFamily="34" charset="0"/>
              </a:rPr>
              <a:t> Controls what new information to add to the cell state. Allows the network to update memory with important current inputs.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Output gate:</a:t>
            </a:r>
            <a:r>
              <a:rPr kumimoji="0" lang="en-US" altLang="en-US" sz="1800" b="0" i="0" u="none" strike="noStrike" cap="none" normalizeH="0" baseline="0" dirty="0" smtClean="0">
                <a:ln>
                  <a:noFill/>
                </a:ln>
                <a:solidFill>
                  <a:schemeClr val="tx1"/>
                </a:solidFill>
                <a:effectLst/>
                <a:latin typeface="Arial" panose="020B0604020202020204" pitchFamily="34" charset="0"/>
              </a:rPr>
              <a:t> Decides which parts of the cell state to output as the hidden state for predictions or next step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Gates mechanism:</a:t>
            </a:r>
            <a:r>
              <a:rPr kumimoji="0" lang="en-US" altLang="en-US" sz="1800" b="0" i="0" u="none" strike="noStrike" cap="none" normalizeH="0" baseline="0" dirty="0" smtClean="0">
                <a:ln>
                  <a:noFill/>
                </a:ln>
                <a:solidFill>
                  <a:schemeClr val="tx1"/>
                </a:solidFill>
                <a:effectLst/>
                <a:latin typeface="Arial" panose="020B0604020202020204" pitchFamily="34" charset="0"/>
              </a:rPr>
              <a:t> Sigmoid activations scale values between 0 (ignore) and 1 (keep), providing precise control over information flow.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Purpose:</a:t>
            </a:r>
            <a:r>
              <a:rPr kumimoji="0" lang="en-US" altLang="en-US" sz="1800" b="0" i="0" u="none" strike="noStrike" cap="none" normalizeH="0" baseline="0" dirty="0" smtClean="0">
                <a:ln>
                  <a:noFill/>
                </a:ln>
                <a:solidFill>
                  <a:schemeClr val="tx1"/>
                </a:solidFill>
                <a:effectLst/>
                <a:latin typeface="Arial" panose="020B0604020202020204" pitchFamily="34" charset="0"/>
              </a:rPr>
              <a:t> This architecture prevents vanishing gradients, ensures stable training, and enables learning both short-term and long-term patterns in sequences.</a:t>
            </a:r>
          </a:p>
        </p:txBody>
      </p:sp>
    </p:spTree>
    <p:extLst>
      <p:ext uri="{BB962C8B-B14F-4D97-AF65-F5344CB8AC3E}">
        <p14:creationId xmlns:p14="http://schemas.microsoft.com/office/powerpoint/2010/main" val="3959355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916" y="524147"/>
            <a:ext cx="7998279" cy="680539"/>
          </a:xfrm>
        </p:spPr>
        <p:txBody>
          <a:bodyPr>
            <a:normAutofit fontScale="90000"/>
          </a:bodyPr>
          <a:lstStyle/>
          <a:p>
            <a:pPr algn="ctr"/>
            <a:r>
              <a:rPr lang="en-US" dirty="0">
                <a:solidFill>
                  <a:schemeClr val="tx1">
                    <a:lumMod val="85000"/>
                    <a:lumOff val="15000"/>
                  </a:schemeClr>
                </a:solidFill>
              </a:rPr>
              <a:t>LSTM Architecture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3447" y="1559324"/>
            <a:ext cx="6049219" cy="4029637"/>
          </a:xfrm>
          <a:prstGeom prst="rect">
            <a:avLst/>
          </a:prstGeom>
        </p:spPr>
      </p:pic>
    </p:spTree>
    <p:extLst>
      <p:ext uri="{BB962C8B-B14F-4D97-AF65-F5344CB8AC3E}">
        <p14:creationId xmlns:p14="http://schemas.microsoft.com/office/powerpoint/2010/main" val="1190609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310370" cy="625328"/>
          </a:xfrm>
        </p:spPr>
        <p:txBody>
          <a:bodyPr/>
          <a:lstStyle/>
          <a:p>
            <a:pPr algn="ctr">
              <a:defRPr sz="2600" b="1">
                <a:solidFill>
                  <a:srgbClr val="2980B9"/>
                </a:solidFill>
              </a:defRPr>
            </a:pPr>
            <a:r>
              <a:rPr lang="en-US" dirty="0">
                <a:solidFill>
                  <a:schemeClr val="tx1">
                    <a:lumMod val="85000"/>
                    <a:lumOff val="15000"/>
                  </a:schemeClr>
                </a:solidFill>
              </a:rPr>
              <a:t>LSTM Cell State</a:t>
            </a:r>
          </a:p>
        </p:txBody>
      </p:sp>
      <p:sp>
        <p:nvSpPr>
          <p:cNvPr id="3" name="Rectangle 2"/>
          <p:cNvSpPr/>
          <p:nvPr/>
        </p:nvSpPr>
        <p:spPr>
          <a:xfrm>
            <a:off x="1349828" y="1657367"/>
            <a:ext cx="6966857" cy="2308324"/>
          </a:xfrm>
          <a:prstGeom prst="rect">
            <a:avLst/>
          </a:prstGeom>
        </p:spPr>
        <p:txBody>
          <a:bodyPr wrap="square">
            <a:spAutoFit/>
          </a:bodyPr>
          <a:lstStyle/>
          <a:p>
            <a:r>
              <a:rPr lang="en-US" dirty="0"/>
              <a:t>The cell state is the core memory component of an LSTM network, running through the entire sequence with minimal modification. It allows the network to retain long-term dependencies across many time steps, while the forget and input gates control what information is removed or added. This design ensures relevant information is preserved, irrelevant information is discarded, and gradients can flow smoothly during training, preventing vanishing or exploding gradient problems.</a:t>
            </a:r>
          </a:p>
        </p:txBody>
      </p:sp>
    </p:spTree>
    <p:extLst>
      <p:ext uri="{BB962C8B-B14F-4D97-AF65-F5344CB8AC3E}">
        <p14:creationId xmlns:p14="http://schemas.microsoft.com/office/powerpoint/2010/main" val="155802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28687"/>
            <a:ext cx="9211896" cy="635879"/>
          </a:xfrm>
        </p:spPr>
        <p:txBody>
          <a:bodyPr>
            <a:normAutofit fontScale="90000"/>
          </a:bodyPr>
          <a:lstStyle/>
          <a:p>
            <a:r>
              <a:rPr lang="en-US" dirty="0"/>
              <a:t>Forget Gate</a:t>
            </a:r>
            <a:br>
              <a:rPr lang="en-US" dirty="0"/>
            </a:br>
            <a:endParaRPr lang="en-US" dirty="0"/>
          </a:p>
        </p:txBody>
      </p:sp>
      <p:sp>
        <p:nvSpPr>
          <p:cNvPr id="3" name="Rectangle 2"/>
          <p:cNvSpPr/>
          <p:nvPr/>
        </p:nvSpPr>
        <p:spPr>
          <a:xfrm>
            <a:off x="565150" y="1857162"/>
            <a:ext cx="6096000" cy="2862322"/>
          </a:xfrm>
          <a:prstGeom prst="rect">
            <a:avLst/>
          </a:prstGeom>
        </p:spPr>
        <p:txBody>
          <a:bodyPr>
            <a:spAutoFit/>
          </a:bodyPr>
          <a:lstStyle/>
          <a:p>
            <a:pPr>
              <a:buFont typeface="Arial" panose="020B0604020202020204" pitchFamily="34" charset="0"/>
              <a:buChar char="•"/>
            </a:pPr>
            <a:r>
              <a:rPr lang="en-US" dirty="0"/>
              <a:t>Determines which information from the previous cell state should be discarded.</a:t>
            </a:r>
          </a:p>
          <a:p>
            <a:pPr>
              <a:buFont typeface="Arial" panose="020B0604020202020204" pitchFamily="34" charset="0"/>
              <a:buChar char="•"/>
            </a:pPr>
            <a:r>
              <a:rPr lang="en-US" dirty="0"/>
              <a:t>Takes the previous hidden state and current input as inputs.</a:t>
            </a:r>
          </a:p>
          <a:p>
            <a:pPr>
              <a:buFont typeface="Arial" panose="020B0604020202020204" pitchFamily="34" charset="0"/>
              <a:buChar char="•"/>
            </a:pPr>
            <a:r>
              <a:rPr lang="en-US" dirty="0"/>
              <a:t>Produces a value between 0 (completely forget) and 1 (completely retain) for each element.</a:t>
            </a:r>
          </a:p>
          <a:p>
            <a:pPr>
              <a:buFont typeface="Arial" panose="020B0604020202020204" pitchFamily="34" charset="0"/>
              <a:buChar char="•"/>
            </a:pPr>
            <a:r>
              <a:rPr lang="en-US" dirty="0"/>
              <a:t>Removes irrelevant or outdated information from the cell state.</a:t>
            </a:r>
          </a:p>
          <a:p>
            <a:pPr>
              <a:buFont typeface="Arial" panose="020B0604020202020204" pitchFamily="34" charset="0"/>
              <a:buChar char="•"/>
            </a:pPr>
            <a:r>
              <a:rPr lang="en-US" dirty="0"/>
              <a:t>Ensures the LSTM maintains a clean, focused memory for learning long-term dependencies effectively.</a:t>
            </a:r>
          </a:p>
        </p:txBody>
      </p:sp>
    </p:spTree>
    <p:extLst>
      <p:ext uri="{BB962C8B-B14F-4D97-AF65-F5344CB8AC3E}">
        <p14:creationId xmlns:p14="http://schemas.microsoft.com/office/powerpoint/2010/main" val="4119943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8944610" cy="664015"/>
          </a:xfrm>
        </p:spPr>
        <p:txBody>
          <a:bodyPr/>
          <a:lstStyle/>
          <a:p>
            <a:pPr>
              <a:defRPr sz="2600" b="1">
                <a:solidFill>
                  <a:srgbClr val="2980B9"/>
                </a:solidFill>
              </a:defRPr>
            </a:pPr>
            <a:r>
              <a:rPr lang="en-US" dirty="0">
                <a:solidFill>
                  <a:schemeClr val="tx1">
                    <a:lumMod val="85000"/>
                    <a:lumOff val="15000"/>
                  </a:schemeClr>
                </a:solidFill>
              </a:rPr>
              <a:t>Input Gate</a:t>
            </a:r>
          </a:p>
        </p:txBody>
      </p:sp>
      <p:sp>
        <p:nvSpPr>
          <p:cNvPr id="3" name="Rectangle 2"/>
          <p:cNvSpPr/>
          <p:nvPr/>
        </p:nvSpPr>
        <p:spPr>
          <a:xfrm>
            <a:off x="565150" y="1632079"/>
            <a:ext cx="6096000" cy="2862322"/>
          </a:xfrm>
          <a:prstGeom prst="rect">
            <a:avLst/>
          </a:prstGeom>
        </p:spPr>
        <p:txBody>
          <a:bodyPr>
            <a:spAutoFit/>
          </a:bodyPr>
          <a:lstStyle/>
          <a:p>
            <a:pPr>
              <a:buFont typeface="Arial" panose="020B0604020202020204" pitchFamily="34" charset="0"/>
              <a:buChar char="•"/>
            </a:pPr>
            <a:r>
              <a:rPr lang="en-US" dirty="0"/>
              <a:t>Controls which new information is added to the LSTM cell state.</a:t>
            </a:r>
          </a:p>
          <a:p>
            <a:pPr>
              <a:buFont typeface="Arial" panose="020B0604020202020204" pitchFamily="34" charset="0"/>
              <a:buChar char="•"/>
            </a:pPr>
            <a:r>
              <a:rPr lang="en-US" dirty="0"/>
              <a:t>Takes the previous hidden state and current input to decide updates.</a:t>
            </a:r>
          </a:p>
          <a:p>
            <a:pPr>
              <a:buFont typeface="Arial" panose="020B0604020202020204" pitchFamily="34" charset="0"/>
              <a:buChar char="•"/>
            </a:pPr>
            <a:r>
              <a:rPr lang="en-US" dirty="0"/>
              <a:t>Creates candidate values for potential addition to the cell state.</a:t>
            </a:r>
          </a:p>
          <a:p>
            <a:pPr>
              <a:buFont typeface="Arial" panose="020B0604020202020204" pitchFamily="34" charset="0"/>
              <a:buChar char="•"/>
            </a:pPr>
            <a:r>
              <a:rPr lang="en-US" dirty="0"/>
              <a:t>Works with the forget gate to maintain a balanced memory.</a:t>
            </a:r>
          </a:p>
          <a:p>
            <a:pPr>
              <a:buFont typeface="Arial" panose="020B0604020202020204" pitchFamily="34" charset="0"/>
              <a:buChar char="•"/>
            </a:pPr>
            <a:r>
              <a:rPr lang="en-US" dirty="0"/>
              <a:t>Ensures only relevant current information is incorporated, supporting long-term dependency learning.</a:t>
            </a:r>
          </a:p>
        </p:txBody>
      </p:sp>
    </p:spTree>
    <p:extLst>
      <p:ext uri="{BB962C8B-B14F-4D97-AF65-F5344CB8AC3E}">
        <p14:creationId xmlns:p14="http://schemas.microsoft.com/office/powerpoint/2010/main" val="3000463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170" y="686484"/>
            <a:ext cx="9197828" cy="557804"/>
          </a:xfrm>
        </p:spPr>
        <p:txBody>
          <a:bodyPr/>
          <a:lstStyle/>
          <a:p>
            <a:pPr>
              <a:defRPr sz="2600" b="1">
                <a:solidFill>
                  <a:srgbClr val="2980B9"/>
                </a:solidFill>
              </a:defRPr>
            </a:pPr>
            <a:r>
              <a:rPr lang="en-US" dirty="0">
                <a:solidFill>
                  <a:schemeClr val="tx1">
                    <a:lumMod val="85000"/>
                    <a:lumOff val="15000"/>
                  </a:schemeClr>
                </a:solidFill>
              </a:rPr>
              <a:t>Output Gate</a:t>
            </a:r>
          </a:p>
        </p:txBody>
      </p:sp>
      <p:sp>
        <p:nvSpPr>
          <p:cNvPr id="3" name="Rectangle 2"/>
          <p:cNvSpPr/>
          <p:nvPr/>
        </p:nvSpPr>
        <p:spPr>
          <a:xfrm>
            <a:off x="797170" y="1758689"/>
            <a:ext cx="6096000" cy="2862322"/>
          </a:xfrm>
          <a:prstGeom prst="rect">
            <a:avLst/>
          </a:prstGeom>
        </p:spPr>
        <p:txBody>
          <a:bodyPr>
            <a:spAutoFit/>
          </a:bodyPr>
          <a:lstStyle/>
          <a:p>
            <a:pPr>
              <a:buFont typeface="Arial" panose="020B0604020202020204" pitchFamily="34" charset="0"/>
              <a:buChar char="•"/>
            </a:pPr>
            <a:r>
              <a:rPr lang="en-US" dirty="0"/>
              <a:t>Determines which parts of the cell state are output as the hidden state.</a:t>
            </a:r>
          </a:p>
          <a:p>
            <a:pPr>
              <a:buFont typeface="Arial" panose="020B0604020202020204" pitchFamily="34" charset="0"/>
              <a:buChar char="•"/>
            </a:pPr>
            <a:r>
              <a:rPr lang="en-US" dirty="0"/>
              <a:t>Uses the previous hidden state and current input to make decisions.</a:t>
            </a:r>
          </a:p>
          <a:p>
            <a:pPr>
              <a:buFont typeface="Arial" panose="020B0604020202020204" pitchFamily="34" charset="0"/>
              <a:buChar char="•"/>
            </a:pPr>
            <a:r>
              <a:rPr lang="en-US" dirty="0"/>
              <a:t>Filters the cell state through a sigmoid function to control output values.</a:t>
            </a:r>
          </a:p>
          <a:p>
            <a:pPr>
              <a:buFont typeface="Arial" panose="020B0604020202020204" pitchFamily="34" charset="0"/>
              <a:buChar char="•"/>
            </a:pPr>
            <a:r>
              <a:rPr lang="en-US" dirty="0"/>
              <a:t>Produces the hidden state used for predictions or as input to the next time step.</a:t>
            </a:r>
          </a:p>
          <a:p>
            <a:pPr>
              <a:buFont typeface="Arial" panose="020B0604020202020204" pitchFamily="34" charset="0"/>
              <a:buChar char="•"/>
            </a:pPr>
            <a:r>
              <a:rPr lang="en-US" dirty="0"/>
              <a:t>Ensures the LSTM shares relevant information while preserving long-term memory.</a:t>
            </a:r>
          </a:p>
        </p:txBody>
      </p:sp>
    </p:spTree>
    <p:extLst>
      <p:ext uri="{BB962C8B-B14F-4D97-AF65-F5344CB8AC3E}">
        <p14:creationId xmlns:p14="http://schemas.microsoft.com/office/powerpoint/2010/main" val="1974651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671" y="584317"/>
            <a:ext cx="8902407" cy="472196"/>
          </a:xfrm>
        </p:spPr>
        <p:txBody>
          <a:bodyPr>
            <a:normAutofit fontScale="90000"/>
          </a:bodyPr>
          <a:lstStyle/>
          <a:p>
            <a:pPr>
              <a:defRPr sz="2600" b="1">
                <a:solidFill>
                  <a:srgbClr val="2980B9"/>
                </a:solidFill>
              </a:defRPr>
            </a:pPr>
            <a:r>
              <a:rPr lang="en-US" dirty="0" smtClean="0">
                <a:solidFill>
                  <a:schemeClr val="tx1">
                    <a:lumMod val="85000"/>
                    <a:lumOff val="15000"/>
                  </a:schemeClr>
                </a:solidFill>
              </a:rPr>
              <a:t>GRU Introduction</a:t>
            </a:r>
            <a:endParaRPr lang="en-US" dirty="0">
              <a:solidFill>
                <a:schemeClr val="tx1">
                  <a:lumMod val="85000"/>
                  <a:lumOff val="15000"/>
                </a:schemeClr>
              </a:solidFill>
            </a:endParaRPr>
          </a:p>
        </p:txBody>
      </p:sp>
      <p:sp>
        <p:nvSpPr>
          <p:cNvPr id="4" name="Rounded Rectangle 3"/>
          <p:cNvSpPr/>
          <p:nvPr/>
        </p:nvSpPr>
        <p:spPr>
          <a:xfrm>
            <a:off x="970671" y="1224397"/>
            <a:ext cx="7680960" cy="2090096"/>
          </a:xfrm>
          <a:prstGeom prst="roundRect">
            <a:avLst/>
          </a:prstGeom>
          <a:solidFill>
            <a:srgbClr val="E6F5FF"/>
          </a:solidFill>
          <a:ln w="254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0671" y="4122459"/>
            <a:ext cx="7680960" cy="182880"/>
          </a:xfrm>
          <a:prstGeom prst="rect">
            <a:avLst/>
          </a:prstGeom>
          <a:noFill/>
        </p:spPr>
        <p:txBody>
          <a:bodyPr wrap="square">
            <a:spAutoFit/>
          </a:bodyPr>
          <a:lstStyle/>
          <a:p>
            <a:pPr>
              <a:lnSpc>
                <a:spcPct val="120000"/>
              </a:lnSpc>
              <a:defRPr sz="1200" b="1">
                <a:solidFill>
                  <a:srgbClr val="16A085"/>
                </a:solidFill>
              </a:defRPr>
            </a:pPr>
            <a:r>
              <a:t>KEY DIFFERENCES FROM LSTM:</a:t>
            </a:r>
          </a:p>
        </p:txBody>
      </p:sp>
      <p:sp>
        <p:nvSpPr>
          <p:cNvPr id="8" name="TextBox 7"/>
          <p:cNvSpPr txBox="1"/>
          <p:nvPr/>
        </p:nvSpPr>
        <p:spPr>
          <a:xfrm>
            <a:off x="1244991" y="4396779"/>
            <a:ext cx="7132320" cy="274320"/>
          </a:xfrm>
          <a:prstGeom prst="rect">
            <a:avLst/>
          </a:prstGeom>
          <a:noFill/>
        </p:spPr>
        <p:txBody>
          <a:bodyPr wrap="square">
            <a:spAutoFit/>
          </a:bodyPr>
          <a:lstStyle/>
          <a:p>
            <a:pPr>
              <a:lnSpc>
                <a:spcPct val="120000"/>
              </a:lnSpc>
              <a:defRPr sz="1100">
                <a:solidFill>
                  <a:srgbClr val="2C3E50"/>
                </a:solidFill>
              </a:defRPr>
            </a:pPr>
            <a:r>
              <a:t>• 2 gates instead of 3 (Update &amp; Reset)</a:t>
            </a:r>
          </a:p>
        </p:txBody>
      </p:sp>
      <p:sp>
        <p:nvSpPr>
          <p:cNvPr id="9" name="TextBox 8"/>
          <p:cNvSpPr txBox="1"/>
          <p:nvPr/>
        </p:nvSpPr>
        <p:spPr>
          <a:xfrm>
            <a:off x="1244991" y="4716819"/>
            <a:ext cx="7132320" cy="274320"/>
          </a:xfrm>
          <a:prstGeom prst="rect">
            <a:avLst/>
          </a:prstGeom>
          <a:noFill/>
        </p:spPr>
        <p:txBody>
          <a:bodyPr wrap="square">
            <a:spAutoFit/>
          </a:bodyPr>
          <a:lstStyle/>
          <a:p>
            <a:pPr>
              <a:lnSpc>
                <a:spcPct val="120000"/>
              </a:lnSpc>
              <a:defRPr sz="1100">
                <a:solidFill>
                  <a:srgbClr val="2C3E50"/>
                </a:solidFill>
              </a:defRPr>
            </a:pPr>
            <a:r>
              <a:t>• No separate cell state (uses hidden state)</a:t>
            </a:r>
          </a:p>
        </p:txBody>
      </p:sp>
      <p:sp>
        <p:nvSpPr>
          <p:cNvPr id="10" name="TextBox 9"/>
          <p:cNvSpPr txBox="1"/>
          <p:nvPr/>
        </p:nvSpPr>
        <p:spPr>
          <a:xfrm>
            <a:off x="1244991" y="5036859"/>
            <a:ext cx="7132320" cy="274320"/>
          </a:xfrm>
          <a:prstGeom prst="rect">
            <a:avLst/>
          </a:prstGeom>
          <a:noFill/>
        </p:spPr>
        <p:txBody>
          <a:bodyPr wrap="square">
            <a:spAutoFit/>
          </a:bodyPr>
          <a:lstStyle/>
          <a:p>
            <a:pPr>
              <a:lnSpc>
                <a:spcPct val="120000"/>
              </a:lnSpc>
              <a:defRPr sz="1100">
                <a:solidFill>
                  <a:srgbClr val="2C3E50"/>
                </a:solidFill>
              </a:defRPr>
            </a:pPr>
            <a:r>
              <a:t>• Fewer parameters (faster training)</a:t>
            </a:r>
          </a:p>
        </p:txBody>
      </p:sp>
      <p:sp>
        <p:nvSpPr>
          <p:cNvPr id="11" name="TextBox 10"/>
          <p:cNvSpPr txBox="1"/>
          <p:nvPr/>
        </p:nvSpPr>
        <p:spPr>
          <a:xfrm>
            <a:off x="1244991" y="5356899"/>
            <a:ext cx="7132320" cy="274320"/>
          </a:xfrm>
          <a:prstGeom prst="rect">
            <a:avLst/>
          </a:prstGeom>
          <a:noFill/>
        </p:spPr>
        <p:txBody>
          <a:bodyPr wrap="square">
            <a:spAutoFit/>
          </a:bodyPr>
          <a:lstStyle/>
          <a:p>
            <a:pPr>
              <a:lnSpc>
                <a:spcPct val="120000"/>
              </a:lnSpc>
              <a:defRPr sz="1100">
                <a:solidFill>
                  <a:srgbClr val="2C3E50"/>
                </a:solidFill>
              </a:defRPr>
            </a:pPr>
            <a:r>
              <a:t>• Often similar performance to LSTM</a:t>
            </a:r>
          </a:p>
        </p:txBody>
      </p:sp>
      <p:sp>
        <p:nvSpPr>
          <p:cNvPr id="3" name="Rectangle 1"/>
          <p:cNvSpPr>
            <a:spLocks noChangeArrowheads="1"/>
          </p:cNvSpPr>
          <p:nvPr/>
        </p:nvSpPr>
        <p:spPr bwMode="auto">
          <a:xfrm>
            <a:off x="1083213" y="1392282"/>
            <a:ext cx="740664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GRU is a simplified variant of LSTM with fewer 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Combines the forget and input gates into a single </a:t>
            </a:r>
            <a:r>
              <a:rPr kumimoji="0" lang="en-US" altLang="en-US" sz="1800" b="1" i="0" u="none" strike="noStrike" cap="none" normalizeH="0" baseline="0" dirty="0" smtClean="0">
                <a:ln>
                  <a:noFill/>
                </a:ln>
                <a:solidFill>
                  <a:schemeClr val="tx1"/>
                </a:solidFill>
                <a:effectLst/>
                <a:latin typeface="Arial" panose="020B0604020202020204" pitchFamily="34" charset="0"/>
              </a:rPr>
              <a:t>update gate</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Merges the cell state and hidden state into a single hidden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Faster to train while often achieving similar performance to LSTM.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Commonly used in tasks like machine translation, speech recognition, and sequence modeling.</a:t>
            </a:r>
          </a:p>
        </p:txBody>
      </p:sp>
    </p:spTree>
    <p:extLst>
      <p:ext uri="{BB962C8B-B14F-4D97-AF65-F5344CB8AC3E}">
        <p14:creationId xmlns:p14="http://schemas.microsoft.com/office/powerpoint/2010/main" val="3662927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071219" cy="495202"/>
          </a:xfrm>
        </p:spPr>
        <p:txBody>
          <a:bodyPr/>
          <a:lstStyle/>
          <a:p>
            <a:pPr algn="ctr">
              <a:defRPr sz="2600" b="1">
                <a:solidFill>
                  <a:srgbClr val="2980B9"/>
                </a:solidFill>
              </a:defRPr>
            </a:pPr>
            <a:r>
              <a:rPr lang="en-US" dirty="0" smtClean="0">
                <a:solidFill>
                  <a:schemeClr val="tx1">
                    <a:lumMod val="85000"/>
                    <a:lumOff val="15000"/>
                  </a:schemeClr>
                </a:solidFill>
              </a:rPr>
              <a:t>GRU Architecture</a:t>
            </a:r>
            <a:endParaRPr lang="en-US" dirty="0">
              <a:solidFill>
                <a:schemeClr val="tx1">
                  <a:lumMod val="85000"/>
                  <a:lumOff val="15000"/>
                </a:schemeClr>
              </a:solidFill>
            </a:endParaRPr>
          </a:p>
        </p:txBody>
      </p:sp>
      <p:sp>
        <p:nvSpPr>
          <p:cNvPr id="3" name="Rectangle 1"/>
          <p:cNvSpPr>
            <a:spLocks noChangeArrowheads="1"/>
          </p:cNvSpPr>
          <p:nvPr/>
        </p:nvSpPr>
        <p:spPr bwMode="auto">
          <a:xfrm>
            <a:off x="689317" y="1266092"/>
            <a:ext cx="5486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Update Gate (zₜ):</a:t>
            </a:r>
            <a:r>
              <a:rPr kumimoji="0" lang="en-US" altLang="en-US" sz="1800" b="0" i="0" u="none" strike="noStrike" cap="none" normalizeH="0" baseline="0" dirty="0" smtClean="0">
                <a:ln>
                  <a:noFill/>
                </a:ln>
                <a:solidFill>
                  <a:schemeClr val="tx1"/>
                </a:solidFill>
                <a:effectLst/>
                <a:latin typeface="Arial" panose="020B0604020202020204" pitchFamily="34" charset="0"/>
              </a:rPr>
              <a:t> Determines how much past information to keep in the hidden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Reset Gate (rₜ):</a:t>
            </a:r>
            <a:r>
              <a:rPr kumimoji="0" lang="en-US" altLang="en-US" sz="1800" b="0" i="0" u="none" strike="noStrike" cap="none" normalizeH="0" baseline="0" dirty="0" smtClean="0">
                <a:ln>
                  <a:noFill/>
                </a:ln>
                <a:solidFill>
                  <a:schemeClr val="tx1"/>
                </a:solidFill>
                <a:effectLst/>
                <a:latin typeface="Arial" panose="020B0604020202020204" pitchFamily="34" charset="0"/>
              </a:rPr>
              <a:t> Decides how much past information to forget when computing the candidate hidden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Candidate Hidden State (h̃ₜ):</a:t>
            </a:r>
            <a:r>
              <a:rPr kumimoji="0" lang="en-US" altLang="en-US" sz="1800" b="0" i="0" u="none" strike="noStrike" cap="none" normalizeH="0" baseline="0" dirty="0" smtClean="0">
                <a:ln>
                  <a:noFill/>
                </a:ln>
                <a:solidFill>
                  <a:schemeClr val="tx1"/>
                </a:solidFill>
                <a:effectLst/>
                <a:latin typeface="Arial" panose="020B0604020202020204" pitchFamily="34" charset="0"/>
              </a:rPr>
              <a:t> Computes new potential information based on current input and reset-modified past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Final Hidden State (hₜ):</a:t>
            </a:r>
            <a:r>
              <a:rPr kumimoji="0" lang="en-US" altLang="en-US" sz="1800" b="0" i="0" u="none" strike="noStrike" cap="none" normalizeH="0" baseline="0" dirty="0" smtClean="0">
                <a:ln>
                  <a:noFill/>
                </a:ln>
                <a:solidFill>
                  <a:schemeClr val="tx1"/>
                </a:solidFill>
                <a:effectLst/>
                <a:latin typeface="Arial" panose="020B0604020202020204" pitchFamily="34" charset="0"/>
              </a:rPr>
              <a:t> Combines previous hidden state and candidate using the update gate: hₜ = (1 - zₜ) * hₜ₋₁ + zₜ * h̃ₜ.</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Purpose:</a:t>
            </a:r>
            <a:r>
              <a:rPr kumimoji="0" lang="en-US" altLang="en-US" sz="1800" b="0" i="0" u="none" strike="noStrike" cap="none" normalizeH="0" baseline="0" dirty="0" smtClean="0">
                <a:ln>
                  <a:noFill/>
                </a:ln>
                <a:solidFill>
                  <a:schemeClr val="tx1"/>
                </a:solidFill>
                <a:effectLst/>
                <a:latin typeface="Arial" panose="020B0604020202020204" pitchFamily="34" charset="0"/>
              </a:rPr>
              <a:t> Simplified gating mechanism allows efficient training while retaining ability to capture long-term dependencies.</a:t>
            </a:r>
          </a:p>
        </p:txBody>
      </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5717" y="2174776"/>
            <a:ext cx="5373858" cy="2152950"/>
          </a:xfrm>
          <a:prstGeom prst="rect">
            <a:avLst/>
          </a:prstGeom>
        </p:spPr>
      </p:pic>
    </p:spTree>
    <p:extLst>
      <p:ext uri="{BB962C8B-B14F-4D97-AF65-F5344CB8AC3E}">
        <p14:creationId xmlns:p14="http://schemas.microsoft.com/office/powerpoint/2010/main" val="3055777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965" y="559874"/>
            <a:ext cx="9577656" cy="678082"/>
          </a:xfrm>
        </p:spPr>
        <p:txBody>
          <a:bodyPr>
            <a:normAutofit fontScale="90000"/>
          </a:bodyPr>
          <a:lstStyle/>
          <a:p>
            <a:r>
              <a:rPr lang="en-US" dirty="0"/>
              <a:t>LSTM vs GRU</a:t>
            </a:r>
            <a:br>
              <a:rPr lang="en-US" dirty="0"/>
            </a:br>
            <a:endParaRPr lang="en-US" dirty="0"/>
          </a:p>
        </p:txBody>
      </p:sp>
      <p:sp>
        <p:nvSpPr>
          <p:cNvPr id="3" name="Rectangle 2"/>
          <p:cNvSpPr/>
          <p:nvPr/>
        </p:nvSpPr>
        <p:spPr>
          <a:xfrm>
            <a:off x="754965" y="1448972"/>
            <a:ext cx="7333957" cy="3416320"/>
          </a:xfrm>
          <a:prstGeom prst="rect">
            <a:avLst/>
          </a:prstGeom>
        </p:spPr>
        <p:txBody>
          <a:bodyPr wrap="square">
            <a:spAutoFit/>
          </a:bodyPr>
          <a:lstStyle/>
          <a:p>
            <a:pPr>
              <a:buFont typeface="Arial" panose="020B0604020202020204" pitchFamily="34" charset="0"/>
              <a:buChar char="•"/>
            </a:pPr>
            <a:r>
              <a:rPr lang="en-US" b="1" dirty="0" smtClean="0"/>
              <a:t>Gates</a:t>
            </a:r>
            <a:r>
              <a:rPr lang="en-US" b="1" dirty="0"/>
              <a:t>:</a:t>
            </a:r>
            <a:r>
              <a:rPr lang="en-US" dirty="0"/>
              <a:t> LSTM has three gates (forget, input, output), while GRU has two (update and reset).</a:t>
            </a:r>
          </a:p>
          <a:p>
            <a:pPr>
              <a:buFont typeface="Arial" panose="020B0604020202020204" pitchFamily="34" charset="0"/>
              <a:buChar char="•"/>
            </a:pPr>
            <a:r>
              <a:rPr lang="en-US" b="1" dirty="0"/>
              <a:t>States:</a:t>
            </a:r>
            <a:r>
              <a:rPr lang="en-US" dirty="0"/>
              <a:t> LSTM maintains a separate cell state and hidden state; GRU uses a single hidden state.</a:t>
            </a:r>
          </a:p>
          <a:p>
            <a:pPr>
              <a:buFont typeface="Arial" panose="020B0604020202020204" pitchFamily="34" charset="0"/>
              <a:buChar char="•"/>
            </a:pPr>
            <a:r>
              <a:rPr lang="en-US" b="1" dirty="0"/>
              <a:t>Parameters:</a:t>
            </a:r>
            <a:r>
              <a:rPr lang="en-US" dirty="0"/>
              <a:t> LSTM has more parameters, making it heavier and slower to train; GRU is lighter and faster.</a:t>
            </a:r>
          </a:p>
          <a:p>
            <a:pPr>
              <a:buFont typeface="Arial" panose="020B0604020202020204" pitchFamily="34" charset="0"/>
              <a:buChar char="•"/>
            </a:pPr>
            <a:r>
              <a:rPr lang="en-US" b="1" dirty="0"/>
              <a:t>Performance:</a:t>
            </a:r>
            <a:r>
              <a:rPr lang="en-US" dirty="0"/>
              <a:t> GRU often performs similarly to LSTM on many tasks, especially simpler sequence problems.</a:t>
            </a:r>
          </a:p>
          <a:p>
            <a:pPr>
              <a:buFont typeface="Arial" panose="020B0604020202020204" pitchFamily="34" charset="0"/>
              <a:buChar char="•"/>
            </a:pPr>
            <a:r>
              <a:rPr lang="en-US" b="1" dirty="0"/>
              <a:t>Use Cases:</a:t>
            </a:r>
            <a:r>
              <a:rPr lang="en-US" dirty="0"/>
              <a:t> LSTM is preferred for complex tasks requiring long-term memory; GRU is suitable for simpler or resource-constrained tasks.</a:t>
            </a:r>
          </a:p>
          <a:p>
            <a:pPr>
              <a:buFont typeface="Arial" panose="020B0604020202020204" pitchFamily="34" charset="0"/>
              <a:buChar char="•"/>
            </a:pPr>
            <a:r>
              <a:rPr lang="en-US" b="1" dirty="0"/>
              <a:t>Training Efficiency:</a:t>
            </a:r>
            <a:r>
              <a:rPr lang="en-US" dirty="0"/>
              <a:t> GRU tends to converge faster due to fewer parameters and simpler architecture.</a:t>
            </a:r>
          </a:p>
        </p:txBody>
      </p:sp>
    </p:spTree>
    <p:extLst>
      <p:ext uri="{BB962C8B-B14F-4D97-AF65-F5344CB8AC3E}">
        <p14:creationId xmlns:p14="http://schemas.microsoft.com/office/powerpoint/2010/main" val="4012563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706" y="2177660"/>
            <a:ext cx="9000881" cy="1268984"/>
          </a:xfrm>
        </p:spPr>
        <p:txBody>
          <a:bodyPr>
            <a:normAutofit fontScale="90000"/>
          </a:bodyPr>
          <a:lstStyle/>
          <a:p>
            <a:pPr algn="ctr">
              <a:defRPr sz="4000" b="1">
                <a:solidFill>
                  <a:srgbClr val="FFFFFF"/>
                </a:solidFill>
              </a:defRPr>
            </a:pPr>
            <a:r>
              <a:rPr lang="en-US" dirty="0">
                <a:solidFill>
                  <a:schemeClr val="tx1">
                    <a:lumMod val="85000"/>
                    <a:lumOff val="15000"/>
                  </a:schemeClr>
                </a:solidFill>
              </a:rPr>
              <a:t>Building RNNs</a:t>
            </a:r>
            <a:br>
              <a:rPr lang="en-US" dirty="0">
                <a:solidFill>
                  <a:schemeClr val="tx1">
                    <a:lumMod val="85000"/>
                    <a:lumOff val="15000"/>
                  </a:schemeClr>
                </a:solidFill>
              </a:rPr>
            </a:br>
            <a:r>
              <a:rPr lang="en-US" dirty="0">
                <a:solidFill>
                  <a:schemeClr val="tx1">
                    <a:lumMod val="85000"/>
                    <a:lumOff val="15000"/>
                  </a:schemeClr>
                </a:solidFill>
              </a:rPr>
              <a:t>with </a:t>
            </a:r>
            <a:r>
              <a:rPr lang="en-US" dirty="0" err="1">
                <a:solidFill>
                  <a:schemeClr val="tx1">
                    <a:lumMod val="85000"/>
                    <a:lumOff val="15000"/>
                  </a:schemeClr>
                </a:solidFill>
              </a:rPr>
              <a:t>Keras</a:t>
            </a:r>
            <a:endParaRPr lang="en-US" dirty="0">
              <a:solidFill>
                <a:schemeClr val="tx1">
                  <a:lumMod val="85000"/>
                  <a:lumOff val="15000"/>
                </a:schemeClr>
              </a:solidFill>
            </a:endParaRPr>
          </a:p>
        </p:txBody>
      </p:sp>
    </p:spTree>
    <p:extLst>
      <p:ext uri="{BB962C8B-B14F-4D97-AF65-F5344CB8AC3E}">
        <p14:creationId xmlns:p14="http://schemas.microsoft.com/office/powerpoint/2010/main" val="243708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98" y="586587"/>
            <a:ext cx="9071219" cy="491185"/>
          </a:xfrm>
        </p:spPr>
        <p:txBody>
          <a:bodyPr/>
          <a:lstStyle/>
          <a:p>
            <a:pPr algn="ctr">
              <a:defRPr sz="2600" b="1">
                <a:solidFill>
                  <a:srgbClr val="2980B9"/>
                </a:solidFill>
              </a:defRPr>
            </a:pPr>
            <a:r>
              <a:rPr lang="en-US" dirty="0">
                <a:solidFill>
                  <a:schemeClr val="tx1">
                    <a:lumMod val="85000"/>
                    <a:lumOff val="15000"/>
                  </a:schemeClr>
                </a:solidFill>
              </a:rPr>
              <a:t>Building RNN in </a:t>
            </a:r>
            <a:r>
              <a:rPr lang="en-US" dirty="0" err="1">
                <a:solidFill>
                  <a:schemeClr val="tx1">
                    <a:lumMod val="85000"/>
                    <a:lumOff val="15000"/>
                  </a:schemeClr>
                </a:solidFill>
              </a:rPr>
              <a:t>Keras</a:t>
            </a:r>
            <a:endParaRPr lang="en-US" dirty="0">
              <a:solidFill>
                <a:schemeClr val="tx1">
                  <a:lumMod val="85000"/>
                  <a:lumOff val="15000"/>
                </a:schemeClr>
              </a:solidFill>
            </a:endParaRPr>
          </a:p>
        </p:txBody>
      </p:sp>
      <p:sp>
        <p:nvSpPr>
          <p:cNvPr id="4" name="Rectangle 2"/>
          <p:cNvSpPr>
            <a:spLocks noChangeArrowheads="1"/>
          </p:cNvSpPr>
          <p:nvPr/>
        </p:nvSpPr>
        <p:spPr bwMode="auto">
          <a:xfrm>
            <a:off x="762098" y="1549013"/>
            <a:ext cx="869383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Import necessary libraries: </a:t>
            </a:r>
            <a:r>
              <a:rPr kumimoji="0" lang="en-US" altLang="en-US" sz="1000" b="0" i="0" u="none" strike="noStrike" cap="none" normalizeH="0" baseline="0" dirty="0" smtClean="0">
                <a:ln>
                  <a:noFill/>
                </a:ln>
                <a:solidFill>
                  <a:schemeClr val="tx1"/>
                </a:solidFill>
                <a:effectLst/>
                <a:latin typeface="Arial Unicode MS"/>
              </a:rPr>
              <a:t>Sequential</a:t>
            </a:r>
            <a:r>
              <a:rPr kumimoji="0" lang="en-US" altLang="en-US" sz="1100" b="0" i="0" u="none" strike="noStrike" cap="none" normalizeH="0" baseline="0" dirty="0" smtClean="0">
                <a:ln>
                  <a:noFill/>
                </a:ln>
                <a:solidFill>
                  <a:schemeClr val="tx1"/>
                </a:solidFill>
                <a:effectLst/>
              </a:rPr>
              <a:t> for the model and </a:t>
            </a:r>
            <a:r>
              <a:rPr kumimoji="0" lang="en-US" altLang="en-US" sz="1000" b="0" i="0" u="none" strike="noStrike" cap="none" normalizeH="0" baseline="0" dirty="0" err="1" smtClean="0">
                <a:ln>
                  <a:noFill/>
                </a:ln>
                <a:solidFill>
                  <a:schemeClr val="tx1"/>
                </a:solidFill>
                <a:effectLst/>
                <a:latin typeface="Arial Unicode MS"/>
              </a:rPr>
              <a:t>SimpleRNN</a:t>
            </a:r>
            <a:r>
              <a:rPr kumimoji="0" lang="en-US" altLang="en-US" sz="1100" b="0" i="0" u="none" strike="noStrike" cap="none" normalizeH="0" baseline="0" dirty="0" smtClean="0">
                <a:ln>
                  <a:noFill/>
                </a:ln>
                <a:solidFill>
                  <a:schemeClr val="tx1"/>
                </a:solidFill>
                <a:effectLst/>
              </a:rPr>
              <a:t>, </a:t>
            </a:r>
            <a:r>
              <a:rPr kumimoji="0" lang="en-US" altLang="en-US" sz="1000" b="0" i="0" u="none" strike="noStrike" cap="none" normalizeH="0" baseline="0" dirty="0" smtClean="0">
                <a:ln>
                  <a:noFill/>
                </a:ln>
                <a:solidFill>
                  <a:schemeClr val="tx1"/>
                </a:solidFill>
                <a:effectLst/>
                <a:latin typeface="Arial Unicode MS"/>
              </a:rPr>
              <a:t>LSTM</a:t>
            </a:r>
            <a:r>
              <a:rPr kumimoji="0" lang="en-US" altLang="en-US" sz="1100" b="0" i="0" u="none" strike="noStrike" cap="none" normalizeH="0" baseline="0" dirty="0" smtClean="0">
                <a:ln>
                  <a:noFill/>
                </a:ln>
                <a:solidFill>
                  <a:schemeClr val="tx1"/>
                </a:solidFill>
                <a:effectLst/>
              </a:rPr>
              <a:t>, or </a:t>
            </a:r>
            <a:r>
              <a:rPr kumimoji="0" lang="en-US" altLang="en-US" sz="1000" b="0" i="0" u="none" strike="noStrike" cap="none" normalizeH="0" baseline="0" dirty="0" smtClean="0">
                <a:ln>
                  <a:noFill/>
                </a:ln>
                <a:solidFill>
                  <a:schemeClr val="tx1"/>
                </a:solidFill>
                <a:effectLst/>
                <a:latin typeface="Arial Unicode MS"/>
              </a:rPr>
              <a:t>GRU</a:t>
            </a:r>
            <a:r>
              <a:rPr kumimoji="0" lang="en-US" altLang="en-US" sz="1100" b="0" i="0" u="none" strike="noStrike" cap="none" normalizeH="0" baseline="0" dirty="0" smtClean="0">
                <a:ln>
                  <a:noFill/>
                </a:ln>
                <a:solidFill>
                  <a:schemeClr val="tx1"/>
                </a:solidFill>
                <a:effectLst/>
              </a:rPr>
              <a:t> for layers.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Define a Sequential model and add an RNN layer with the desired number of units and input shape.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Add a Dense output layer for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Compile the model with an optimizer (e.g., Adam) and a suitable loss function (e.g., categorical </a:t>
            </a:r>
            <a:r>
              <a:rPr kumimoji="0" lang="en-US" altLang="en-US" sz="1800" b="0" i="0" u="none" strike="noStrike" cap="none" normalizeH="0" baseline="0" dirty="0" err="1" smtClean="0">
                <a:ln>
                  <a:noFill/>
                </a:ln>
                <a:solidFill>
                  <a:schemeClr val="tx1"/>
                </a:solidFill>
                <a:effectLst/>
                <a:latin typeface="Arial" panose="020B0604020202020204" pitchFamily="34" charset="0"/>
              </a:rPr>
              <a:t>crossentropy</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Train the model using </a:t>
            </a:r>
            <a:r>
              <a:rPr kumimoji="0" lang="en-US" altLang="en-US" sz="1000" b="0" i="0" u="none" strike="noStrike" cap="none" normalizeH="0" baseline="0" dirty="0" err="1" smtClean="0">
                <a:ln>
                  <a:noFill/>
                </a:ln>
                <a:solidFill>
                  <a:schemeClr val="tx1"/>
                </a:solidFill>
                <a:effectLst/>
                <a:latin typeface="Arial Unicode MS"/>
              </a:rPr>
              <a:t>model.fit</a:t>
            </a:r>
            <a:r>
              <a:rPr kumimoji="0" lang="en-US" altLang="en-US" sz="1000" b="0" i="0" u="none" strike="noStrike" cap="none" normalizeH="0" baseline="0" dirty="0" smtClean="0">
                <a:ln>
                  <a:noFill/>
                </a:ln>
                <a:solidFill>
                  <a:schemeClr val="tx1"/>
                </a:solidFill>
                <a:effectLst/>
                <a:latin typeface="Arial Unicode MS"/>
              </a:rPr>
              <a:t>()</a:t>
            </a:r>
            <a:r>
              <a:rPr kumimoji="0" lang="en-US" altLang="en-US" sz="1100" b="0" i="0" u="none" strike="noStrike" cap="none" normalizeH="0" baseline="0" dirty="0" smtClean="0">
                <a:ln>
                  <a:noFill/>
                </a:ln>
                <a:solidFill>
                  <a:schemeClr val="tx1"/>
                </a:solidFill>
                <a:effectLst/>
              </a:rPr>
              <a:t> with training and validation data, specifying batch size and epochs.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Follow best practices: normalize inputs, pad sequences to uniform length, use dropout to prevent overfitting, and monitor validation performance.</a:t>
            </a:r>
          </a:p>
        </p:txBody>
      </p:sp>
    </p:spTree>
    <p:extLst>
      <p:ext uri="{BB962C8B-B14F-4D97-AF65-F5344CB8AC3E}">
        <p14:creationId xmlns:p14="http://schemas.microsoft.com/office/powerpoint/2010/main" val="196492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8818001" cy="565541"/>
          </a:xfrm>
        </p:spPr>
        <p:txBody>
          <a:bodyPr/>
          <a:lstStyle/>
          <a:p>
            <a:pPr>
              <a:defRPr sz="2600" b="1">
                <a:solidFill>
                  <a:srgbClr val="2980B9"/>
                </a:solidFill>
              </a:defRPr>
            </a:pPr>
            <a:r>
              <a:rPr lang="en-US" dirty="0">
                <a:solidFill>
                  <a:schemeClr val="tx1">
                    <a:lumMod val="85000"/>
                    <a:lumOff val="15000"/>
                  </a:schemeClr>
                </a:solidFill>
              </a:rPr>
              <a:t>Building LSTM</a:t>
            </a:r>
          </a:p>
        </p:txBody>
      </p:sp>
      <p:sp>
        <p:nvSpPr>
          <p:cNvPr id="4" name="Rectangle 1"/>
          <p:cNvSpPr>
            <a:spLocks noGrp="1" noChangeArrowheads="1"/>
          </p:cNvSpPr>
          <p:nvPr>
            <p:ph idx="1"/>
          </p:nvPr>
        </p:nvSpPr>
        <p:spPr bwMode="auto">
          <a:xfrm>
            <a:off x="565150" y="1659632"/>
            <a:ext cx="724241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Convert text or sequence data into padded sequences and numerical representations.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Use an Embedding layer to map inputs to dense vectors that capture semantic meaning.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Add one or more LSTM layers to learn sequential patterns from the </a:t>
            </a:r>
            <a:r>
              <a:rPr kumimoji="0" lang="en-US" altLang="en-US" sz="180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Include Dropout layers if needed to reduce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Add a Dense output layer to produce the final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Compile the model with an appropriate optimizer and loss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smtClean="0">
                <a:ln>
                  <a:noFill/>
                </a:ln>
                <a:solidFill>
                  <a:schemeClr val="tx1"/>
                </a:solidFill>
                <a:effectLst/>
                <a:latin typeface="Arial" panose="020B0604020202020204" pitchFamily="34" charset="0"/>
              </a:rPr>
              <a:t>Train the model with proper batch size, epochs, and validation split, monitoring performance for early stopping.</a:t>
            </a:r>
          </a:p>
        </p:txBody>
      </p:sp>
    </p:spTree>
    <p:extLst>
      <p:ext uri="{BB962C8B-B14F-4D97-AF65-F5344CB8AC3E}">
        <p14:creationId xmlns:p14="http://schemas.microsoft.com/office/powerpoint/2010/main" val="13548868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057152" cy="1268984"/>
          </a:xfrm>
        </p:spPr>
        <p:txBody>
          <a:bodyPr/>
          <a:lstStyle/>
          <a:p>
            <a:pPr>
              <a:defRPr sz="2600" b="1">
                <a:solidFill>
                  <a:srgbClr val="2980B9"/>
                </a:solidFill>
              </a:defRPr>
            </a:pPr>
            <a:r>
              <a:rPr lang="en-US" dirty="0" smtClean="0">
                <a:solidFill>
                  <a:schemeClr val="tx1">
                    <a:lumMod val="85000"/>
                    <a:lumOff val="15000"/>
                  </a:schemeClr>
                </a:solidFill>
              </a:rPr>
              <a:t>Training best practices</a:t>
            </a:r>
            <a:endParaRPr lang="en-US" dirty="0">
              <a:solidFill>
                <a:schemeClr val="tx1">
                  <a:lumMod val="85000"/>
                  <a:lumOff val="15000"/>
                </a:schemeClr>
              </a:solidFill>
            </a:endParaRPr>
          </a:p>
        </p:txBody>
      </p:sp>
      <p:sp>
        <p:nvSpPr>
          <p:cNvPr id="17" name="TextBox 16"/>
          <p:cNvSpPr txBox="1"/>
          <p:nvPr/>
        </p:nvSpPr>
        <p:spPr>
          <a:xfrm>
            <a:off x="1505243" y="2110153"/>
            <a:ext cx="365760" cy="274320"/>
          </a:xfrm>
          <a:prstGeom prst="rect">
            <a:avLst/>
          </a:prstGeom>
          <a:noFill/>
        </p:spPr>
        <p:txBody>
          <a:bodyPr wrap="square" anchor="ctr">
            <a:spAutoFit/>
          </a:bodyPr>
          <a:lstStyle/>
          <a:p>
            <a:pPr algn="ctr">
              <a:lnSpc>
                <a:spcPct val="120000"/>
              </a:lnSpc>
              <a:defRPr sz="1800">
                <a:solidFill>
                  <a:srgbClr val="2C3E50"/>
                </a:solidFill>
              </a:defRPr>
            </a:pPr>
            <a:r>
              <a:t>📊</a:t>
            </a:r>
          </a:p>
        </p:txBody>
      </p:sp>
      <p:sp>
        <p:nvSpPr>
          <p:cNvPr id="18" name="TextBox 17"/>
          <p:cNvSpPr txBox="1"/>
          <p:nvPr/>
        </p:nvSpPr>
        <p:spPr>
          <a:xfrm>
            <a:off x="1962443" y="2110153"/>
            <a:ext cx="1371600" cy="274320"/>
          </a:xfrm>
          <a:prstGeom prst="rect">
            <a:avLst/>
          </a:prstGeom>
          <a:noFill/>
        </p:spPr>
        <p:txBody>
          <a:bodyPr wrap="square">
            <a:spAutoFit/>
          </a:bodyPr>
          <a:lstStyle/>
          <a:p>
            <a:pPr>
              <a:lnSpc>
                <a:spcPct val="120000"/>
              </a:lnSpc>
              <a:defRPr sz="1100" b="1">
                <a:solidFill>
                  <a:srgbClr val="2C3E50"/>
                </a:solidFill>
              </a:defRPr>
            </a:pPr>
            <a:r>
              <a:t>Data</a:t>
            </a:r>
          </a:p>
        </p:txBody>
      </p:sp>
      <p:sp>
        <p:nvSpPr>
          <p:cNvPr id="19" name="TextBox 18"/>
          <p:cNvSpPr txBox="1"/>
          <p:nvPr/>
        </p:nvSpPr>
        <p:spPr>
          <a:xfrm>
            <a:off x="3516923" y="2110153"/>
            <a:ext cx="5120640" cy="274320"/>
          </a:xfrm>
          <a:prstGeom prst="rect">
            <a:avLst/>
          </a:prstGeom>
          <a:noFill/>
        </p:spPr>
        <p:txBody>
          <a:bodyPr wrap="square">
            <a:spAutoFit/>
          </a:bodyPr>
          <a:lstStyle/>
          <a:p>
            <a:pPr>
              <a:lnSpc>
                <a:spcPct val="120000"/>
              </a:lnSpc>
              <a:defRPr sz="1000">
                <a:solidFill>
                  <a:srgbClr val="2C3E50"/>
                </a:solidFill>
              </a:defRPr>
            </a:pPr>
            <a:r>
              <a:t>Normalize inputs to [0,1] or [-1,1]</a:t>
            </a:r>
          </a:p>
        </p:txBody>
      </p:sp>
      <p:sp>
        <p:nvSpPr>
          <p:cNvPr id="20" name="TextBox 19"/>
          <p:cNvSpPr txBox="1"/>
          <p:nvPr/>
        </p:nvSpPr>
        <p:spPr>
          <a:xfrm>
            <a:off x="1505243" y="2567353"/>
            <a:ext cx="365760" cy="274320"/>
          </a:xfrm>
          <a:prstGeom prst="rect">
            <a:avLst/>
          </a:prstGeom>
          <a:noFill/>
        </p:spPr>
        <p:txBody>
          <a:bodyPr wrap="square" anchor="ctr">
            <a:spAutoFit/>
          </a:bodyPr>
          <a:lstStyle/>
          <a:p>
            <a:pPr algn="ctr">
              <a:lnSpc>
                <a:spcPct val="120000"/>
              </a:lnSpc>
              <a:defRPr sz="1800">
                <a:solidFill>
                  <a:srgbClr val="2C3E50"/>
                </a:solidFill>
              </a:defRPr>
            </a:pPr>
            <a:r>
              <a:t>⏱️</a:t>
            </a:r>
          </a:p>
        </p:txBody>
      </p:sp>
      <p:sp>
        <p:nvSpPr>
          <p:cNvPr id="21" name="TextBox 20"/>
          <p:cNvSpPr txBox="1"/>
          <p:nvPr/>
        </p:nvSpPr>
        <p:spPr>
          <a:xfrm>
            <a:off x="1962443" y="2567353"/>
            <a:ext cx="1371600" cy="274320"/>
          </a:xfrm>
          <a:prstGeom prst="rect">
            <a:avLst/>
          </a:prstGeom>
          <a:noFill/>
        </p:spPr>
        <p:txBody>
          <a:bodyPr wrap="square">
            <a:spAutoFit/>
          </a:bodyPr>
          <a:lstStyle/>
          <a:p>
            <a:pPr>
              <a:lnSpc>
                <a:spcPct val="120000"/>
              </a:lnSpc>
              <a:defRPr sz="1100" b="1">
                <a:solidFill>
                  <a:srgbClr val="2C3E50"/>
                </a:solidFill>
              </a:defRPr>
            </a:pPr>
            <a:r>
              <a:t>Sequences</a:t>
            </a:r>
          </a:p>
        </p:txBody>
      </p:sp>
      <p:sp>
        <p:nvSpPr>
          <p:cNvPr id="22" name="TextBox 21"/>
          <p:cNvSpPr txBox="1"/>
          <p:nvPr/>
        </p:nvSpPr>
        <p:spPr>
          <a:xfrm>
            <a:off x="3516923" y="2567353"/>
            <a:ext cx="5120640" cy="274320"/>
          </a:xfrm>
          <a:prstGeom prst="rect">
            <a:avLst/>
          </a:prstGeom>
          <a:noFill/>
        </p:spPr>
        <p:txBody>
          <a:bodyPr wrap="square">
            <a:spAutoFit/>
          </a:bodyPr>
          <a:lstStyle/>
          <a:p>
            <a:pPr>
              <a:lnSpc>
                <a:spcPct val="120000"/>
              </a:lnSpc>
              <a:defRPr sz="1000">
                <a:solidFill>
                  <a:srgbClr val="2C3E50"/>
                </a:solidFill>
              </a:defRPr>
            </a:pPr>
            <a:r>
              <a:t>Pad to same length or use masking</a:t>
            </a:r>
          </a:p>
        </p:txBody>
      </p:sp>
      <p:sp>
        <p:nvSpPr>
          <p:cNvPr id="23" name="TextBox 22"/>
          <p:cNvSpPr txBox="1"/>
          <p:nvPr/>
        </p:nvSpPr>
        <p:spPr>
          <a:xfrm>
            <a:off x="1505243" y="3024553"/>
            <a:ext cx="365760" cy="274320"/>
          </a:xfrm>
          <a:prstGeom prst="rect">
            <a:avLst/>
          </a:prstGeom>
          <a:noFill/>
        </p:spPr>
        <p:txBody>
          <a:bodyPr wrap="square" anchor="ctr">
            <a:spAutoFit/>
          </a:bodyPr>
          <a:lstStyle/>
          <a:p>
            <a:pPr algn="ctr">
              <a:lnSpc>
                <a:spcPct val="120000"/>
              </a:lnSpc>
              <a:defRPr sz="1800">
                <a:solidFill>
                  <a:srgbClr val="2C3E50"/>
                </a:solidFill>
              </a:defRPr>
            </a:pPr>
            <a:r>
              <a:t>🎯</a:t>
            </a:r>
          </a:p>
        </p:txBody>
      </p:sp>
      <p:sp>
        <p:nvSpPr>
          <p:cNvPr id="24" name="TextBox 23"/>
          <p:cNvSpPr txBox="1"/>
          <p:nvPr/>
        </p:nvSpPr>
        <p:spPr>
          <a:xfrm>
            <a:off x="1962443" y="3024553"/>
            <a:ext cx="1371600" cy="274320"/>
          </a:xfrm>
          <a:prstGeom prst="rect">
            <a:avLst/>
          </a:prstGeom>
          <a:noFill/>
        </p:spPr>
        <p:txBody>
          <a:bodyPr wrap="square">
            <a:spAutoFit/>
          </a:bodyPr>
          <a:lstStyle/>
          <a:p>
            <a:pPr>
              <a:lnSpc>
                <a:spcPct val="120000"/>
              </a:lnSpc>
              <a:defRPr sz="1100" b="1">
                <a:solidFill>
                  <a:srgbClr val="2C3E50"/>
                </a:solidFill>
              </a:defRPr>
            </a:pPr>
            <a:r>
              <a:t>Batch Size</a:t>
            </a:r>
          </a:p>
        </p:txBody>
      </p:sp>
      <p:sp>
        <p:nvSpPr>
          <p:cNvPr id="25" name="TextBox 24"/>
          <p:cNvSpPr txBox="1"/>
          <p:nvPr/>
        </p:nvSpPr>
        <p:spPr>
          <a:xfrm>
            <a:off x="3516923" y="3024553"/>
            <a:ext cx="5120640" cy="274320"/>
          </a:xfrm>
          <a:prstGeom prst="rect">
            <a:avLst/>
          </a:prstGeom>
          <a:noFill/>
        </p:spPr>
        <p:txBody>
          <a:bodyPr wrap="square">
            <a:spAutoFit/>
          </a:bodyPr>
          <a:lstStyle/>
          <a:p>
            <a:pPr>
              <a:lnSpc>
                <a:spcPct val="120000"/>
              </a:lnSpc>
              <a:defRPr sz="1000">
                <a:solidFill>
                  <a:srgbClr val="2C3E50"/>
                </a:solidFill>
              </a:defRPr>
            </a:pPr>
            <a:r>
              <a:t>32-128 for most tasks</a:t>
            </a:r>
          </a:p>
        </p:txBody>
      </p:sp>
      <p:sp>
        <p:nvSpPr>
          <p:cNvPr id="26" name="TextBox 25"/>
          <p:cNvSpPr txBox="1"/>
          <p:nvPr/>
        </p:nvSpPr>
        <p:spPr>
          <a:xfrm>
            <a:off x="1505243" y="3481753"/>
            <a:ext cx="365760" cy="274320"/>
          </a:xfrm>
          <a:prstGeom prst="rect">
            <a:avLst/>
          </a:prstGeom>
          <a:noFill/>
        </p:spPr>
        <p:txBody>
          <a:bodyPr wrap="square" anchor="ctr">
            <a:spAutoFit/>
          </a:bodyPr>
          <a:lstStyle/>
          <a:p>
            <a:pPr algn="ctr">
              <a:lnSpc>
                <a:spcPct val="120000"/>
              </a:lnSpc>
              <a:defRPr sz="1800">
                <a:solidFill>
                  <a:srgbClr val="2C3E50"/>
                </a:solidFill>
              </a:defRPr>
            </a:pPr>
            <a:r>
              <a:t>📉</a:t>
            </a:r>
          </a:p>
        </p:txBody>
      </p:sp>
      <p:sp>
        <p:nvSpPr>
          <p:cNvPr id="27" name="TextBox 26"/>
          <p:cNvSpPr txBox="1"/>
          <p:nvPr/>
        </p:nvSpPr>
        <p:spPr>
          <a:xfrm>
            <a:off x="1962443" y="3481753"/>
            <a:ext cx="1371600" cy="274320"/>
          </a:xfrm>
          <a:prstGeom prst="rect">
            <a:avLst/>
          </a:prstGeom>
          <a:noFill/>
        </p:spPr>
        <p:txBody>
          <a:bodyPr wrap="square">
            <a:spAutoFit/>
          </a:bodyPr>
          <a:lstStyle/>
          <a:p>
            <a:pPr>
              <a:lnSpc>
                <a:spcPct val="120000"/>
              </a:lnSpc>
              <a:defRPr sz="1100" b="1">
                <a:solidFill>
                  <a:srgbClr val="2C3E50"/>
                </a:solidFill>
              </a:defRPr>
            </a:pPr>
            <a:r>
              <a:t>Learning Rate</a:t>
            </a:r>
          </a:p>
        </p:txBody>
      </p:sp>
      <p:sp>
        <p:nvSpPr>
          <p:cNvPr id="28" name="TextBox 27"/>
          <p:cNvSpPr txBox="1"/>
          <p:nvPr/>
        </p:nvSpPr>
        <p:spPr>
          <a:xfrm>
            <a:off x="3516923" y="3481753"/>
            <a:ext cx="5120640" cy="274320"/>
          </a:xfrm>
          <a:prstGeom prst="rect">
            <a:avLst/>
          </a:prstGeom>
          <a:noFill/>
        </p:spPr>
        <p:txBody>
          <a:bodyPr wrap="square">
            <a:spAutoFit/>
          </a:bodyPr>
          <a:lstStyle/>
          <a:p>
            <a:pPr>
              <a:lnSpc>
                <a:spcPct val="120000"/>
              </a:lnSpc>
              <a:defRPr sz="1000">
                <a:solidFill>
                  <a:srgbClr val="2C3E50"/>
                </a:solidFill>
              </a:defRPr>
            </a:pPr>
            <a:r>
              <a:t>Start with 0.001, reduce if needed</a:t>
            </a:r>
          </a:p>
        </p:txBody>
      </p:sp>
      <p:sp>
        <p:nvSpPr>
          <p:cNvPr id="29" name="TextBox 28"/>
          <p:cNvSpPr txBox="1"/>
          <p:nvPr/>
        </p:nvSpPr>
        <p:spPr>
          <a:xfrm>
            <a:off x="1505243" y="3938953"/>
            <a:ext cx="365760" cy="274320"/>
          </a:xfrm>
          <a:prstGeom prst="rect">
            <a:avLst/>
          </a:prstGeom>
          <a:noFill/>
        </p:spPr>
        <p:txBody>
          <a:bodyPr wrap="square" anchor="ctr">
            <a:spAutoFit/>
          </a:bodyPr>
          <a:lstStyle/>
          <a:p>
            <a:pPr algn="ctr">
              <a:lnSpc>
                <a:spcPct val="120000"/>
              </a:lnSpc>
              <a:defRPr sz="1800">
                <a:solidFill>
                  <a:srgbClr val="2C3E50"/>
                </a:solidFill>
              </a:defRPr>
            </a:pPr>
            <a:r>
              <a:t>🛑</a:t>
            </a:r>
          </a:p>
        </p:txBody>
      </p:sp>
      <p:sp>
        <p:nvSpPr>
          <p:cNvPr id="30" name="TextBox 29"/>
          <p:cNvSpPr txBox="1"/>
          <p:nvPr/>
        </p:nvSpPr>
        <p:spPr>
          <a:xfrm>
            <a:off x="1962443" y="3938953"/>
            <a:ext cx="1371600" cy="274320"/>
          </a:xfrm>
          <a:prstGeom prst="rect">
            <a:avLst/>
          </a:prstGeom>
          <a:noFill/>
        </p:spPr>
        <p:txBody>
          <a:bodyPr wrap="square">
            <a:spAutoFit/>
          </a:bodyPr>
          <a:lstStyle/>
          <a:p>
            <a:pPr>
              <a:lnSpc>
                <a:spcPct val="120000"/>
              </a:lnSpc>
              <a:defRPr sz="1100" b="1">
                <a:solidFill>
                  <a:srgbClr val="2C3E50"/>
                </a:solidFill>
              </a:defRPr>
            </a:pPr>
            <a:r>
              <a:t>Early Stop</a:t>
            </a:r>
          </a:p>
        </p:txBody>
      </p:sp>
      <p:sp>
        <p:nvSpPr>
          <p:cNvPr id="31" name="TextBox 30"/>
          <p:cNvSpPr txBox="1"/>
          <p:nvPr/>
        </p:nvSpPr>
        <p:spPr>
          <a:xfrm>
            <a:off x="3516923" y="3938953"/>
            <a:ext cx="5120640" cy="274320"/>
          </a:xfrm>
          <a:prstGeom prst="rect">
            <a:avLst/>
          </a:prstGeom>
          <a:noFill/>
        </p:spPr>
        <p:txBody>
          <a:bodyPr wrap="square">
            <a:spAutoFit/>
          </a:bodyPr>
          <a:lstStyle/>
          <a:p>
            <a:pPr>
              <a:lnSpc>
                <a:spcPct val="120000"/>
              </a:lnSpc>
              <a:defRPr sz="1000">
                <a:solidFill>
                  <a:srgbClr val="2C3E50"/>
                </a:solidFill>
              </a:defRPr>
            </a:pPr>
            <a:r>
              <a:t>Monitor val_loss, patience=5-10</a:t>
            </a:r>
          </a:p>
        </p:txBody>
      </p:sp>
      <p:sp>
        <p:nvSpPr>
          <p:cNvPr id="32" name="TextBox 31"/>
          <p:cNvSpPr txBox="1"/>
          <p:nvPr/>
        </p:nvSpPr>
        <p:spPr>
          <a:xfrm>
            <a:off x="1505243" y="4396152"/>
            <a:ext cx="365760" cy="274320"/>
          </a:xfrm>
          <a:prstGeom prst="rect">
            <a:avLst/>
          </a:prstGeom>
          <a:noFill/>
        </p:spPr>
        <p:txBody>
          <a:bodyPr wrap="square" anchor="ctr">
            <a:spAutoFit/>
          </a:bodyPr>
          <a:lstStyle/>
          <a:p>
            <a:pPr algn="ctr">
              <a:lnSpc>
                <a:spcPct val="120000"/>
              </a:lnSpc>
              <a:defRPr sz="1800">
                <a:solidFill>
                  <a:srgbClr val="2C3E50"/>
                </a:solidFill>
              </a:defRPr>
            </a:pPr>
            <a:r>
              <a:t>💾</a:t>
            </a:r>
          </a:p>
        </p:txBody>
      </p:sp>
      <p:sp>
        <p:nvSpPr>
          <p:cNvPr id="33" name="TextBox 32"/>
          <p:cNvSpPr txBox="1"/>
          <p:nvPr/>
        </p:nvSpPr>
        <p:spPr>
          <a:xfrm>
            <a:off x="1962443" y="4396152"/>
            <a:ext cx="1371600" cy="274320"/>
          </a:xfrm>
          <a:prstGeom prst="rect">
            <a:avLst/>
          </a:prstGeom>
          <a:noFill/>
        </p:spPr>
        <p:txBody>
          <a:bodyPr wrap="square">
            <a:spAutoFit/>
          </a:bodyPr>
          <a:lstStyle/>
          <a:p>
            <a:pPr>
              <a:lnSpc>
                <a:spcPct val="120000"/>
              </a:lnSpc>
              <a:defRPr sz="1100" b="1">
                <a:solidFill>
                  <a:srgbClr val="2C3E50"/>
                </a:solidFill>
              </a:defRPr>
            </a:pPr>
            <a:r>
              <a:t>Checkpoints</a:t>
            </a:r>
          </a:p>
        </p:txBody>
      </p:sp>
      <p:sp>
        <p:nvSpPr>
          <p:cNvPr id="34" name="TextBox 33"/>
          <p:cNvSpPr txBox="1"/>
          <p:nvPr/>
        </p:nvSpPr>
        <p:spPr>
          <a:xfrm>
            <a:off x="3516923" y="4396152"/>
            <a:ext cx="5120640" cy="274320"/>
          </a:xfrm>
          <a:prstGeom prst="rect">
            <a:avLst/>
          </a:prstGeom>
          <a:noFill/>
        </p:spPr>
        <p:txBody>
          <a:bodyPr wrap="square">
            <a:spAutoFit/>
          </a:bodyPr>
          <a:lstStyle/>
          <a:p>
            <a:pPr>
              <a:lnSpc>
                <a:spcPct val="120000"/>
              </a:lnSpc>
              <a:defRPr sz="1000">
                <a:solidFill>
                  <a:srgbClr val="2C3E50"/>
                </a:solidFill>
              </a:defRPr>
            </a:pPr>
            <a:r>
              <a:t>Save best model during training</a:t>
            </a:r>
          </a:p>
        </p:txBody>
      </p:sp>
    </p:spTree>
    <p:extLst>
      <p:ext uri="{BB962C8B-B14F-4D97-AF65-F5344CB8AC3E}">
        <p14:creationId xmlns:p14="http://schemas.microsoft.com/office/powerpoint/2010/main" val="1328064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0061" y="2318336"/>
            <a:ext cx="8818001" cy="1268984"/>
          </a:xfrm>
        </p:spPr>
        <p:txBody>
          <a:bodyPr>
            <a:normAutofit fontScale="90000"/>
          </a:bodyPr>
          <a:lstStyle/>
          <a:p>
            <a:pPr algn="ctr">
              <a:defRPr sz="4000" b="1">
                <a:solidFill>
                  <a:srgbClr val="FFFFFF"/>
                </a:solidFill>
              </a:defRPr>
            </a:pPr>
            <a:r>
              <a:rPr lang="en-US" dirty="0">
                <a:solidFill>
                  <a:schemeClr val="tx1">
                    <a:lumMod val="85000"/>
                    <a:lumOff val="15000"/>
                  </a:schemeClr>
                </a:solidFill>
              </a:rPr>
              <a:t>Sequence-to-Sequence</a:t>
            </a:r>
            <a:br>
              <a:rPr lang="en-US" dirty="0">
                <a:solidFill>
                  <a:schemeClr val="tx1">
                    <a:lumMod val="85000"/>
                    <a:lumOff val="15000"/>
                  </a:schemeClr>
                </a:solidFill>
              </a:rPr>
            </a:br>
            <a:r>
              <a:rPr lang="en-US" dirty="0">
                <a:solidFill>
                  <a:schemeClr val="tx1">
                    <a:lumMod val="85000"/>
                    <a:lumOff val="15000"/>
                  </a:schemeClr>
                </a:solidFill>
              </a:rPr>
              <a:t>Tasks</a:t>
            </a:r>
            <a:br>
              <a:rPr lang="en-US" dirty="0">
                <a:solidFill>
                  <a:schemeClr val="tx1">
                    <a:lumMod val="85000"/>
                    <a:lumOff val="15000"/>
                  </a:schemeClr>
                </a:solidFill>
              </a:rPr>
            </a:br>
            <a:endParaRPr lang="en-US" dirty="0">
              <a:solidFill>
                <a:schemeClr val="tx1">
                  <a:lumMod val="85000"/>
                  <a:lumOff val="15000"/>
                </a:schemeClr>
              </a:solidFill>
            </a:endParaRPr>
          </a:p>
        </p:txBody>
      </p:sp>
    </p:spTree>
    <p:extLst>
      <p:ext uri="{BB962C8B-B14F-4D97-AF65-F5344CB8AC3E}">
        <p14:creationId xmlns:p14="http://schemas.microsoft.com/office/powerpoint/2010/main" val="1180949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845" y="815642"/>
            <a:ext cx="8325632" cy="697484"/>
          </a:xfrm>
        </p:spPr>
        <p:txBody>
          <a:bodyPr/>
          <a:lstStyle/>
          <a:p>
            <a:pPr>
              <a:defRPr sz="2600" b="1">
                <a:solidFill>
                  <a:srgbClr val="2980B9"/>
                </a:solidFill>
              </a:defRPr>
            </a:pPr>
            <a:r>
              <a:rPr lang="en-US" dirty="0">
                <a:solidFill>
                  <a:schemeClr val="tx1">
                    <a:lumMod val="85000"/>
                    <a:lumOff val="15000"/>
                  </a:schemeClr>
                </a:solidFill>
              </a:rPr>
              <a:t>Many-to-One</a:t>
            </a:r>
          </a:p>
        </p:txBody>
      </p:sp>
      <p:grpSp>
        <p:nvGrpSpPr>
          <p:cNvPr id="3" name="Group 2"/>
          <p:cNvGrpSpPr/>
          <p:nvPr/>
        </p:nvGrpSpPr>
        <p:grpSpPr>
          <a:xfrm>
            <a:off x="886265" y="4501663"/>
            <a:ext cx="6752492" cy="1063266"/>
            <a:chOff x="1069145" y="2766822"/>
            <a:chExt cx="7680960" cy="1645919"/>
          </a:xfrm>
        </p:grpSpPr>
        <p:sp>
          <p:nvSpPr>
            <p:cNvPr id="7" name="TextBox 6"/>
            <p:cNvSpPr txBox="1"/>
            <p:nvPr/>
          </p:nvSpPr>
          <p:spPr>
            <a:xfrm>
              <a:off x="1069145" y="2766822"/>
              <a:ext cx="7680960" cy="182880"/>
            </a:xfrm>
            <a:prstGeom prst="rect">
              <a:avLst/>
            </a:prstGeom>
            <a:noFill/>
          </p:spPr>
          <p:txBody>
            <a:bodyPr wrap="square">
              <a:spAutoFit/>
            </a:bodyPr>
            <a:lstStyle/>
            <a:p>
              <a:pPr>
                <a:lnSpc>
                  <a:spcPct val="120000"/>
                </a:lnSpc>
                <a:defRPr sz="1200" b="1">
                  <a:solidFill>
                    <a:srgbClr val="2980B9"/>
                  </a:solidFill>
                </a:defRPr>
              </a:pPr>
              <a:r>
                <a:t>APPLICATIONS:</a:t>
              </a:r>
            </a:p>
          </p:txBody>
        </p:sp>
        <p:sp>
          <p:nvSpPr>
            <p:cNvPr id="8" name="TextBox 7"/>
            <p:cNvSpPr txBox="1"/>
            <p:nvPr/>
          </p:nvSpPr>
          <p:spPr>
            <a:xfrm>
              <a:off x="1343465" y="3041142"/>
              <a:ext cx="7132320" cy="274320"/>
            </a:xfrm>
            <a:prstGeom prst="rect">
              <a:avLst/>
            </a:prstGeom>
            <a:noFill/>
          </p:spPr>
          <p:txBody>
            <a:bodyPr wrap="square">
              <a:spAutoFit/>
            </a:bodyPr>
            <a:lstStyle/>
            <a:p>
              <a:pPr>
                <a:lnSpc>
                  <a:spcPct val="120000"/>
                </a:lnSpc>
                <a:defRPr sz="1100">
                  <a:solidFill>
                    <a:srgbClr val="2C3E50"/>
                  </a:solidFill>
                </a:defRPr>
              </a:pPr>
              <a:r>
                <a:t>• Sentiment Analysis: text → positive/negative</a:t>
              </a:r>
            </a:p>
          </p:txBody>
        </p:sp>
        <p:sp>
          <p:nvSpPr>
            <p:cNvPr id="9" name="TextBox 8"/>
            <p:cNvSpPr txBox="1"/>
            <p:nvPr/>
          </p:nvSpPr>
          <p:spPr>
            <a:xfrm>
              <a:off x="1343465" y="3406902"/>
              <a:ext cx="7132320" cy="274320"/>
            </a:xfrm>
            <a:prstGeom prst="rect">
              <a:avLst/>
            </a:prstGeom>
            <a:noFill/>
          </p:spPr>
          <p:txBody>
            <a:bodyPr wrap="square">
              <a:spAutoFit/>
            </a:bodyPr>
            <a:lstStyle/>
            <a:p>
              <a:pPr>
                <a:lnSpc>
                  <a:spcPct val="120000"/>
                </a:lnSpc>
                <a:defRPr sz="1100">
                  <a:solidFill>
                    <a:srgbClr val="2C3E50"/>
                  </a:solidFill>
                </a:defRPr>
              </a:pPr>
              <a:r>
                <a:t>• Video Classification: frames → category</a:t>
              </a:r>
            </a:p>
          </p:txBody>
        </p:sp>
        <p:sp>
          <p:nvSpPr>
            <p:cNvPr id="10" name="TextBox 9"/>
            <p:cNvSpPr txBox="1"/>
            <p:nvPr/>
          </p:nvSpPr>
          <p:spPr>
            <a:xfrm>
              <a:off x="1343465" y="3772662"/>
              <a:ext cx="7132320" cy="274320"/>
            </a:xfrm>
            <a:prstGeom prst="rect">
              <a:avLst/>
            </a:prstGeom>
            <a:noFill/>
          </p:spPr>
          <p:txBody>
            <a:bodyPr wrap="square">
              <a:spAutoFit/>
            </a:bodyPr>
            <a:lstStyle/>
            <a:p>
              <a:pPr>
                <a:lnSpc>
                  <a:spcPct val="120000"/>
                </a:lnSpc>
                <a:defRPr sz="1100">
                  <a:solidFill>
                    <a:srgbClr val="2C3E50"/>
                  </a:solidFill>
                </a:defRPr>
              </a:pPr>
              <a:r>
                <a:t>• Author Identification: text → author</a:t>
              </a:r>
            </a:p>
          </p:txBody>
        </p:sp>
        <p:sp>
          <p:nvSpPr>
            <p:cNvPr id="11" name="TextBox 10"/>
            <p:cNvSpPr txBox="1"/>
            <p:nvPr/>
          </p:nvSpPr>
          <p:spPr>
            <a:xfrm>
              <a:off x="1343465" y="4138421"/>
              <a:ext cx="7132320" cy="274320"/>
            </a:xfrm>
            <a:prstGeom prst="rect">
              <a:avLst/>
            </a:prstGeom>
            <a:noFill/>
          </p:spPr>
          <p:txBody>
            <a:bodyPr wrap="square">
              <a:spAutoFit/>
            </a:bodyPr>
            <a:lstStyle/>
            <a:p>
              <a:pPr>
                <a:lnSpc>
                  <a:spcPct val="120000"/>
                </a:lnSpc>
                <a:defRPr sz="1100">
                  <a:solidFill>
                    <a:srgbClr val="2C3E50"/>
                  </a:solidFill>
                </a:defRPr>
              </a:pPr>
              <a:r>
                <a:t>• Spam Detection: email → spam/not spam</a:t>
              </a:r>
            </a:p>
          </p:txBody>
        </p:sp>
      </p:grpSp>
      <p:sp>
        <p:nvSpPr>
          <p:cNvPr id="13" name="Rectangle 1"/>
          <p:cNvSpPr>
            <a:spLocks noChangeArrowheads="1"/>
          </p:cNvSpPr>
          <p:nvPr/>
        </p:nvSpPr>
        <p:spPr bwMode="auto">
          <a:xfrm>
            <a:off x="754845" y="1696017"/>
            <a:ext cx="814074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Processes an entire input sequence to produce a single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Commonly used for tasks such as sentiment analysis, spam detection, author identification, and video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Typically implemented with </a:t>
            </a:r>
            <a:r>
              <a:rPr kumimoji="0" lang="en-US" altLang="en-US" sz="1000" b="0" i="0" u="none" strike="noStrike" cap="none" normalizeH="0" baseline="0" dirty="0" err="1" smtClean="0">
                <a:ln>
                  <a:noFill/>
                </a:ln>
                <a:solidFill>
                  <a:schemeClr val="tx1"/>
                </a:solidFill>
                <a:effectLst/>
                <a:latin typeface="Arial Unicode MS"/>
              </a:rPr>
              <a:t>return_sequences</a:t>
            </a:r>
            <a:r>
              <a:rPr kumimoji="0" lang="en-US" altLang="en-US" sz="1000" b="0" i="0" u="none" strike="noStrike" cap="none" normalizeH="0" baseline="0" dirty="0" smtClean="0">
                <a:ln>
                  <a:noFill/>
                </a:ln>
                <a:solidFill>
                  <a:schemeClr val="tx1"/>
                </a:solidFill>
                <a:effectLst/>
                <a:latin typeface="Arial Unicode MS"/>
              </a:rPr>
              <a:t>=False</a:t>
            </a:r>
            <a:r>
              <a:rPr kumimoji="0" lang="en-US" altLang="en-US" sz="1100" b="0" i="0" u="none" strike="noStrike" cap="none" normalizeH="0" baseline="0" dirty="0" smtClean="0">
                <a:ln>
                  <a:noFill/>
                </a:ln>
                <a:solidFill>
                  <a:schemeClr val="tx1"/>
                </a:solidFill>
                <a:effectLst/>
              </a:rPr>
              <a:t> so that only the final hidden state is output.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Captures contextual information from the full sequence to make accurate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Reduces sequential data to a single meaningful output while preserving dependencies.</a:t>
            </a:r>
          </a:p>
        </p:txBody>
      </p:sp>
    </p:spTree>
    <p:extLst>
      <p:ext uri="{BB962C8B-B14F-4D97-AF65-F5344CB8AC3E}">
        <p14:creationId xmlns:p14="http://schemas.microsoft.com/office/powerpoint/2010/main" val="1799382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8803933" cy="1268984"/>
          </a:xfrm>
        </p:spPr>
        <p:txBody>
          <a:bodyPr/>
          <a:lstStyle/>
          <a:p>
            <a:pPr>
              <a:defRPr sz="2600" b="1">
                <a:solidFill>
                  <a:srgbClr val="2980B9"/>
                </a:solidFill>
              </a:defRPr>
            </a:pPr>
            <a:r>
              <a:rPr lang="en-US" dirty="0">
                <a:solidFill>
                  <a:schemeClr val="tx1">
                    <a:lumMod val="85000"/>
                    <a:lumOff val="15000"/>
                  </a:schemeClr>
                </a:solidFill>
              </a:rPr>
              <a:t>Sentiment Classification</a:t>
            </a:r>
          </a:p>
        </p:txBody>
      </p:sp>
      <p:sp>
        <p:nvSpPr>
          <p:cNvPr id="3" name="Content Placeholder 2"/>
          <p:cNvSpPr>
            <a:spLocks noGrp="1"/>
          </p:cNvSpPr>
          <p:nvPr>
            <p:ph idx="1"/>
          </p:nvPr>
        </p:nvSpPr>
        <p:spPr>
          <a:xfrm>
            <a:off x="565150" y="2160016"/>
            <a:ext cx="8803933" cy="3601212"/>
          </a:xfrm>
        </p:spPr>
        <p:txBody>
          <a:bodyPr/>
          <a:lstStyle/>
          <a:p>
            <a:r>
              <a:rPr lang="en-US" dirty="0"/>
              <a:t>Sentiment classification is a </a:t>
            </a:r>
            <a:r>
              <a:rPr lang="en-US" b="1" dirty="0"/>
              <a:t>many-to-one NLP task</a:t>
            </a:r>
            <a:r>
              <a:rPr lang="en-US" dirty="0"/>
              <a:t> where a sequence of words is mapped to a single label such as positive, negative, or neutral.</a:t>
            </a:r>
            <a:br>
              <a:rPr lang="en-US" dirty="0"/>
            </a:br>
            <a:r>
              <a:rPr lang="en-US" dirty="0"/>
              <a:t>Text sequences are passed through an </a:t>
            </a:r>
            <a:r>
              <a:rPr lang="en-US" b="1" dirty="0"/>
              <a:t>Embedding layer</a:t>
            </a:r>
            <a:r>
              <a:rPr lang="en-US" dirty="0"/>
              <a:t> and processed by </a:t>
            </a:r>
            <a:r>
              <a:rPr lang="en-US" b="1" dirty="0"/>
              <a:t>LSTM or GRU models</a:t>
            </a:r>
            <a:r>
              <a:rPr lang="en-US" dirty="0"/>
              <a:t> to capture contextual meaning.</a:t>
            </a:r>
            <a:br>
              <a:rPr lang="en-US" dirty="0"/>
            </a:br>
            <a:r>
              <a:rPr lang="en-US" dirty="0"/>
              <a:t>The final hidden state is used to predict sentiment through a </a:t>
            </a:r>
            <a:r>
              <a:rPr lang="en-US" b="1" dirty="0"/>
              <a:t>Dense output layer</a:t>
            </a:r>
            <a:r>
              <a:rPr lang="en-US" dirty="0"/>
              <a:t>.</a:t>
            </a:r>
          </a:p>
        </p:txBody>
      </p:sp>
    </p:spTree>
    <p:extLst>
      <p:ext uri="{BB962C8B-B14F-4D97-AF65-F5344CB8AC3E}">
        <p14:creationId xmlns:p14="http://schemas.microsoft.com/office/powerpoint/2010/main" val="1816188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169693" cy="537463"/>
          </a:xfrm>
        </p:spPr>
        <p:txBody>
          <a:bodyPr/>
          <a:lstStyle/>
          <a:p>
            <a:pPr>
              <a:defRPr sz="2600" b="1">
                <a:solidFill>
                  <a:srgbClr val="2980B9"/>
                </a:solidFill>
              </a:defRPr>
            </a:pPr>
            <a:r>
              <a:rPr lang="en-US" dirty="0" err="1">
                <a:solidFill>
                  <a:schemeClr val="tx1">
                    <a:lumMod val="85000"/>
                    <a:lumOff val="15000"/>
                  </a:schemeClr>
                </a:solidFill>
              </a:rPr>
              <a:t>Embeddings</a:t>
            </a:r>
            <a:endParaRPr lang="en-US" dirty="0">
              <a:solidFill>
                <a:schemeClr val="tx1">
                  <a:lumMod val="85000"/>
                  <a:lumOff val="15000"/>
                </a:schemeClr>
              </a:solidFill>
            </a:endParaRPr>
          </a:p>
        </p:txBody>
      </p:sp>
      <p:sp>
        <p:nvSpPr>
          <p:cNvPr id="3" name="Rectangle 1"/>
          <p:cNvSpPr>
            <a:spLocks noChangeArrowheads="1"/>
          </p:cNvSpPr>
          <p:nvPr/>
        </p:nvSpPr>
        <p:spPr bwMode="auto">
          <a:xfrm>
            <a:off x="565151" y="1396445"/>
            <a:ext cx="739716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Dense vector representations of words that capture semantic meaning and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Similar words have similar vectors, enabling models to understand context.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Reduce dimensionality compared to one-hot encoding, improving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Can be learned during training or initialized with pre-trained embeddings like Word2Vec, GloVe, or FastText.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Enhance model performance in NLP tasks by providing meaningful input representations for RNNs, LSTMs, and GRUs.</a:t>
            </a:r>
          </a:p>
        </p:txBody>
      </p:sp>
    </p:spTree>
    <p:extLst>
      <p:ext uri="{BB962C8B-B14F-4D97-AF65-F5344CB8AC3E}">
        <p14:creationId xmlns:p14="http://schemas.microsoft.com/office/powerpoint/2010/main" val="2861347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858" y="784957"/>
            <a:ext cx="9324438" cy="790624"/>
          </a:xfrm>
        </p:spPr>
        <p:txBody>
          <a:bodyPr>
            <a:normAutofit fontScale="90000"/>
          </a:bodyPr>
          <a:lstStyle/>
          <a:p>
            <a:r>
              <a:rPr lang="en-US" dirty="0"/>
              <a:t>Named Entity Recognition</a:t>
            </a:r>
            <a:br>
              <a:rPr lang="en-US" dirty="0"/>
            </a:br>
            <a:endParaRPr lang="en-US" dirty="0"/>
          </a:p>
        </p:txBody>
      </p:sp>
      <p:sp>
        <p:nvSpPr>
          <p:cNvPr id="17" name="Rectangle 16"/>
          <p:cNvSpPr/>
          <p:nvPr/>
        </p:nvSpPr>
        <p:spPr>
          <a:xfrm>
            <a:off x="801858" y="1831204"/>
            <a:ext cx="9945859" cy="2862322"/>
          </a:xfrm>
          <a:prstGeom prst="rect">
            <a:avLst/>
          </a:prstGeom>
        </p:spPr>
        <p:txBody>
          <a:bodyPr wrap="square">
            <a:spAutoFit/>
          </a:bodyPr>
          <a:lstStyle/>
          <a:p>
            <a:r>
              <a:rPr lang="en-US" dirty="0"/>
              <a:t>Named Entity Recognition (NER) identifies entities such as </a:t>
            </a:r>
            <a:r>
              <a:rPr lang="en-US" b="1" dirty="0"/>
              <a:t>persons, organizations, locations, and dates</a:t>
            </a:r>
            <a:r>
              <a:rPr lang="en-US" dirty="0"/>
              <a:t> in text.</a:t>
            </a:r>
            <a:br>
              <a:rPr lang="en-US" dirty="0"/>
            </a:br>
            <a:r>
              <a:rPr lang="en-US" dirty="0" err="1"/>
              <a:t>spaCy</a:t>
            </a:r>
            <a:r>
              <a:rPr lang="en-US" dirty="0"/>
              <a:t> provides </a:t>
            </a:r>
            <a:r>
              <a:rPr lang="en-US" b="1" dirty="0"/>
              <a:t>pre-trained NLP pipelines</a:t>
            </a:r>
            <a:r>
              <a:rPr lang="en-US" dirty="0"/>
              <a:t> that perform NER efficiently with minimal setup</a:t>
            </a:r>
            <a:r>
              <a:rPr lang="en-US" dirty="0" smtClean="0"/>
              <a:t>.</a:t>
            </a:r>
          </a:p>
          <a:p>
            <a:endParaRPr lang="en-US" dirty="0"/>
          </a:p>
          <a:p>
            <a:r>
              <a:rPr lang="en-US" b="1" dirty="0"/>
              <a:t>Examples:</a:t>
            </a:r>
            <a:endParaRPr lang="en-US" dirty="0"/>
          </a:p>
          <a:p>
            <a:pPr>
              <a:buFont typeface="Arial" panose="020B0604020202020204" pitchFamily="34" charset="0"/>
              <a:buChar char="•"/>
            </a:pPr>
            <a:r>
              <a:rPr lang="en-US" dirty="0"/>
              <a:t>“John works at Google in Lagos” → </a:t>
            </a:r>
            <a:r>
              <a:rPr lang="en-US" i="1" dirty="0"/>
              <a:t>John (PERSON), Google (ORG), Lagos (GPE)</a:t>
            </a:r>
            <a:endParaRPr lang="en-US" dirty="0"/>
          </a:p>
          <a:p>
            <a:pPr>
              <a:buFont typeface="Arial" panose="020B0604020202020204" pitchFamily="34" charset="0"/>
              <a:buChar char="•"/>
            </a:pPr>
            <a:r>
              <a:rPr lang="en-US" dirty="0"/>
              <a:t>“The meeting is on March 12, 2024” → </a:t>
            </a:r>
            <a:r>
              <a:rPr lang="en-US" i="1" dirty="0"/>
              <a:t>March 12, 2024 (DATE</a:t>
            </a:r>
            <a:r>
              <a:rPr lang="en-US" i="1" dirty="0" smtClean="0"/>
              <a:t>)</a:t>
            </a:r>
          </a:p>
          <a:p>
            <a:pPr>
              <a:buFont typeface="Arial" panose="020B0604020202020204" pitchFamily="34" charset="0"/>
              <a:buChar char="•"/>
            </a:pPr>
            <a:endParaRPr lang="en-US" dirty="0"/>
          </a:p>
          <a:p>
            <a:r>
              <a:rPr lang="en-US" dirty="0"/>
              <a:t>NER is commonly used for </a:t>
            </a:r>
            <a:r>
              <a:rPr lang="en-US" b="1" dirty="0"/>
              <a:t>information extraction, document analysis, and text understanding</a:t>
            </a:r>
            <a:r>
              <a:rPr lang="en-US" dirty="0"/>
              <a:t>.</a:t>
            </a:r>
          </a:p>
        </p:txBody>
      </p:sp>
    </p:spTree>
    <p:extLst>
      <p:ext uri="{BB962C8B-B14F-4D97-AF65-F5344CB8AC3E}">
        <p14:creationId xmlns:p14="http://schemas.microsoft.com/office/powerpoint/2010/main" val="15525091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240032" cy="532891"/>
          </a:xfrm>
        </p:spPr>
        <p:txBody>
          <a:bodyPr/>
          <a:lstStyle/>
          <a:p>
            <a:pPr>
              <a:defRPr sz="2600" b="1">
                <a:solidFill>
                  <a:srgbClr val="2980B9"/>
                </a:solidFill>
              </a:defRPr>
            </a:pPr>
            <a:r>
              <a:rPr lang="en-US" dirty="0">
                <a:solidFill>
                  <a:schemeClr val="tx1">
                    <a:lumMod val="85000"/>
                    <a:lumOff val="15000"/>
                  </a:schemeClr>
                </a:solidFill>
              </a:rPr>
              <a:t>Topic Modeling</a:t>
            </a:r>
          </a:p>
        </p:txBody>
      </p:sp>
      <p:sp>
        <p:nvSpPr>
          <p:cNvPr id="3" name="Rectangle 1"/>
          <p:cNvSpPr>
            <a:spLocks noChangeArrowheads="1"/>
          </p:cNvSpPr>
          <p:nvPr/>
        </p:nvSpPr>
        <p:spPr bwMode="auto">
          <a:xfrm>
            <a:off x="565150" y="1637774"/>
            <a:ext cx="761062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Unsupervised learning technique to discover hidden topics in a collection of documents.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Assumes each document is a mixture of topics, and each topic is a distribution over 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Common methods include Latent </a:t>
            </a:r>
            <a:r>
              <a:rPr kumimoji="0" lang="en-US" altLang="en-US" sz="1800" b="0" i="0" u="none" strike="noStrike" cap="none" normalizeH="0" baseline="0" dirty="0" err="1" smtClean="0">
                <a:ln>
                  <a:noFill/>
                </a:ln>
                <a:solidFill>
                  <a:schemeClr val="tx1"/>
                </a:solidFill>
                <a:effectLst/>
                <a:latin typeface="Arial" panose="020B0604020202020204" pitchFamily="34" charset="0"/>
              </a:rPr>
              <a:t>Dirichlet</a:t>
            </a:r>
            <a:r>
              <a:rPr kumimoji="0" lang="en-US" altLang="en-US" sz="1800" b="0" i="0" u="none" strike="noStrike" cap="none" normalizeH="0" baseline="0" dirty="0" smtClean="0">
                <a:ln>
                  <a:noFill/>
                </a:ln>
                <a:solidFill>
                  <a:schemeClr val="tx1"/>
                </a:solidFill>
                <a:effectLst/>
                <a:latin typeface="Arial" panose="020B0604020202020204" pitchFamily="34" charset="0"/>
              </a:rPr>
              <a:t> Allocation (LDA).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Outputs include topic-word distributions and document-topic distributions.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Useful for organizing, summarizing, and understanding large text corpora.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Applications include document clustering, content recommendation, and trend analysis.</a:t>
            </a:r>
          </a:p>
        </p:txBody>
      </p:sp>
    </p:spTree>
    <p:extLst>
      <p:ext uri="{BB962C8B-B14F-4D97-AF65-F5344CB8AC3E}">
        <p14:creationId xmlns:p14="http://schemas.microsoft.com/office/powerpoint/2010/main" val="805118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8930542" cy="467067"/>
          </a:xfrm>
        </p:spPr>
        <p:txBody>
          <a:bodyPr>
            <a:normAutofit fontScale="90000"/>
          </a:bodyPr>
          <a:lstStyle/>
          <a:p>
            <a:pPr>
              <a:defRPr sz="2600" b="1">
                <a:solidFill>
                  <a:srgbClr val="2980B9"/>
                </a:solidFill>
              </a:defRPr>
            </a:pPr>
            <a:r>
              <a:rPr lang="en-US" dirty="0">
                <a:solidFill>
                  <a:schemeClr val="tx1">
                    <a:lumMod val="95000"/>
                    <a:lumOff val="5000"/>
                  </a:schemeClr>
                </a:solidFill>
              </a:rPr>
              <a:t>COMMON MISTAKES TO AVOID:</a:t>
            </a:r>
            <a:br>
              <a:rPr lang="en-US" dirty="0">
                <a:solidFill>
                  <a:schemeClr val="tx1">
                    <a:lumMod val="95000"/>
                    <a:lumOff val="5000"/>
                  </a:schemeClr>
                </a:solidFill>
              </a:rPr>
            </a:br>
            <a:endParaRPr lang="en-US" dirty="0">
              <a:solidFill>
                <a:schemeClr val="tx1">
                  <a:lumMod val="95000"/>
                  <a:lumOff val="5000"/>
                </a:schemeClr>
              </a:solidFill>
            </a:endParaRPr>
          </a:p>
        </p:txBody>
      </p:sp>
      <p:sp>
        <p:nvSpPr>
          <p:cNvPr id="3" name="Rectangle 1"/>
          <p:cNvSpPr>
            <a:spLocks noChangeArrowheads="1"/>
          </p:cNvSpPr>
          <p:nvPr/>
        </p:nvSpPr>
        <p:spPr bwMode="auto">
          <a:xfrm>
            <a:off x="731522" y="1501953"/>
            <a:ext cx="862349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Failing to scale or normalize input data, which can slow or destabilize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Forgetting to pad sequences, leading to inconsistent input lengths for RNNs/LSTMs/GRUs.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Using overly large batch sizes, which can cause memory issues and hinder convergence.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Omitting a validation set, making it difficult to detect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Incorrectly setting </a:t>
            </a:r>
            <a:r>
              <a:rPr kumimoji="0" lang="en-US" altLang="en-US" sz="1000" b="0" i="0" u="none" strike="noStrike" cap="none" normalizeH="0" baseline="0" smtClean="0">
                <a:ln>
                  <a:noFill/>
                </a:ln>
                <a:solidFill>
                  <a:schemeClr val="tx1"/>
                </a:solidFill>
                <a:effectLst/>
                <a:latin typeface="Arial Unicode MS"/>
              </a:rPr>
              <a:t>return_sequences</a:t>
            </a:r>
            <a:r>
              <a:rPr kumimoji="0" lang="en-US" altLang="en-US" sz="1100" b="0" i="0" u="none" strike="noStrike" cap="none" normalizeH="0" baseline="0" smtClean="0">
                <a:ln>
                  <a:noFill/>
                </a:ln>
                <a:solidFill>
                  <a:schemeClr val="tx1"/>
                </a:solidFill>
                <a:effectLst/>
              </a:rPr>
              <a:t>, affecting output shape and task performance.</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Not applying dropout, increasing the risk of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Training for too many epochs without monitoring loss, which can degrade model performance.</a:t>
            </a:r>
          </a:p>
        </p:txBody>
      </p:sp>
    </p:spTree>
    <p:extLst>
      <p:ext uri="{BB962C8B-B14F-4D97-AF65-F5344CB8AC3E}">
        <p14:creationId xmlns:p14="http://schemas.microsoft.com/office/powerpoint/2010/main" val="3339523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8916475" cy="1268984"/>
          </a:xfrm>
        </p:spPr>
        <p:txBody>
          <a:bodyPr/>
          <a:lstStyle/>
          <a:p>
            <a:pPr>
              <a:defRPr sz="2600" b="1">
                <a:solidFill>
                  <a:srgbClr val="2980B9"/>
                </a:solidFill>
              </a:defRPr>
            </a:pPr>
            <a:r>
              <a:rPr lang="en-US" dirty="0">
                <a:solidFill>
                  <a:schemeClr val="tx1">
                    <a:lumMod val="85000"/>
                    <a:lumOff val="15000"/>
                  </a:schemeClr>
                </a:solidFill>
              </a:rPr>
              <a:t>Summary</a:t>
            </a:r>
          </a:p>
        </p:txBody>
      </p:sp>
      <p:sp>
        <p:nvSpPr>
          <p:cNvPr id="9" name="Rectangle 6"/>
          <p:cNvSpPr>
            <a:spLocks noGrp="1" noChangeArrowheads="1"/>
          </p:cNvSpPr>
          <p:nvPr>
            <p:ph idx="1"/>
          </p:nvPr>
        </p:nvSpPr>
        <p:spPr bwMode="auto">
          <a:xfrm>
            <a:off x="719895" y="1724489"/>
            <a:ext cx="8916988"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RNNs process sequences by maintaining </a:t>
            </a:r>
            <a:r>
              <a:rPr kumimoji="0" lang="en-US" altLang="en-US" sz="1800" b="1" i="0" u="none" strike="noStrike" cap="none" normalizeH="0" baseline="0" smtClean="0">
                <a:ln>
                  <a:noFill/>
                </a:ln>
                <a:solidFill>
                  <a:schemeClr val="tx1"/>
                </a:solidFill>
                <a:effectLst/>
                <a:latin typeface="Arial" panose="020B0604020202020204" pitchFamily="34" charset="0"/>
              </a:rPr>
              <a:t>hidden states</a:t>
            </a:r>
            <a:r>
              <a:rPr kumimoji="0" lang="en-US" altLang="en-US" sz="1800" b="0" i="0" u="none" strike="noStrike" cap="none" normalizeH="0" baseline="0" smtClean="0">
                <a:ln>
                  <a:noFill/>
                </a:ln>
                <a:solidFill>
                  <a:schemeClr val="tx1"/>
                </a:solidFill>
                <a:effectLst/>
                <a:latin typeface="Arial" panose="020B0604020202020204" pitchFamily="34" charset="0"/>
              </a:rPr>
              <a:t> to capture context.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LSTMs and GRUs</a:t>
            </a:r>
            <a:r>
              <a:rPr kumimoji="0" lang="en-US" altLang="en-US" sz="1800" b="0" i="0" u="none" strike="noStrike" cap="none" normalizeH="0" baseline="0" smtClean="0">
                <a:ln>
                  <a:noFill/>
                </a:ln>
                <a:solidFill>
                  <a:schemeClr val="tx1"/>
                </a:solidFill>
                <a:effectLst/>
                <a:latin typeface="Arial" panose="020B0604020202020204" pitchFamily="34" charset="0"/>
              </a:rPr>
              <a:t> solve the vanishing gradient problem and learn long-term dependencies.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Embedding layers</a:t>
            </a:r>
            <a:r>
              <a:rPr kumimoji="0" lang="en-US" altLang="en-US" sz="1800" b="0" i="0" u="none" strike="noStrike" cap="none" normalizeH="0" baseline="0" smtClean="0">
                <a:ln>
                  <a:noFill/>
                </a:ln>
                <a:solidFill>
                  <a:schemeClr val="tx1"/>
                </a:solidFill>
                <a:effectLst/>
                <a:latin typeface="Arial" panose="020B0604020202020204" pitchFamily="34" charset="0"/>
              </a:rPr>
              <a:t> map words to dense vectors for better representation.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RNNs can handle </a:t>
            </a:r>
            <a:r>
              <a:rPr kumimoji="0" lang="en-US" altLang="en-US" sz="1800" b="1" i="0" u="none" strike="noStrike" cap="none" normalizeH="0" baseline="0" smtClean="0">
                <a:ln>
                  <a:noFill/>
                </a:ln>
                <a:solidFill>
                  <a:schemeClr val="tx1"/>
                </a:solidFill>
                <a:effectLst/>
                <a:latin typeface="Arial" panose="020B0604020202020204" pitchFamily="34" charset="0"/>
              </a:rPr>
              <a:t>many-to-one tasks</a:t>
            </a:r>
            <a:r>
              <a:rPr kumimoji="0" lang="en-US" altLang="en-US" sz="1800" b="0" i="0" u="none" strike="noStrike" cap="none" normalizeH="0" baseline="0" smtClean="0">
                <a:ln>
                  <a:noFill/>
                </a:ln>
                <a:solidFill>
                  <a:schemeClr val="tx1"/>
                </a:solidFill>
                <a:effectLst/>
                <a:latin typeface="Arial" panose="020B0604020202020204" pitchFamily="34" charset="0"/>
              </a:rPr>
              <a:t> (e.g., sentiment classification) and </a:t>
            </a:r>
            <a:r>
              <a:rPr kumimoji="0" lang="en-US" altLang="en-US" sz="1800" b="1" i="0" u="none" strike="noStrike" cap="none" normalizeH="0" baseline="0" smtClean="0">
                <a:ln>
                  <a:noFill/>
                </a:ln>
                <a:solidFill>
                  <a:schemeClr val="tx1"/>
                </a:solidFill>
                <a:effectLst/>
                <a:latin typeface="Arial" panose="020B0604020202020204" pitchFamily="34" charset="0"/>
              </a:rPr>
              <a:t>many-to-many tasks</a:t>
            </a:r>
            <a:r>
              <a:rPr kumimoji="0" lang="en-US" altLang="en-US" sz="1800" b="0" i="0" u="none" strike="noStrike" cap="none" normalizeH="0" baseline="0" smtClean="0">
                <a:ln>
                  <a:noFill/>
                </a:ln>
                <a:solidFill>
                  <a:schemeClr val="tx1"/>
                </a:solidFill>
                <a:effectLst/>
                <a:latin typeface="Arial" panose="020B0604020202020204" pitchFamily="34" charset="0"/>
              </a:rPr>
              <a:t> (e.g., 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Tools like </a:t>
            </a:r>
            <a:r>
              <a:rPr kumimoji="0" lang="en-US" altLang="en-US" sz="1800" b="1" i="0" u="none" strike="noStrike" cap="none" normalizeH="0" baseline="0" smtClean="0">
                <a:ln>
                  <a:noFill/>
                </a:ln>
                <a:solidFill>
                  <a:schemeClr val="tx1"/>
                </a:solidFill>
                <a:effectLst/>
                <a:latin typeface="Arial" panose="020B0604020202020204" pitchFamily="34" charset="0"/>
              </a:rPr>
              <a:t>spaCy</a:t>
            </a:r>
            <a:r>
              <a:rPr kumimoji="0" lang="en-US" altLang="en-US" sz="1800" b="0" i="0" u="none" strike="noStrike" cap="none" normalizeH="0" baseline="0" smtClean="0">
                <a:ln>
                  <a:noFill/>
                </a:ln>
                <a:solidFill>
                  <a:schemeClr val="tx1"/>
                </a:solidFill>
                <a:effectLst/>
                <a:latin typeface="Arial" panose="020B0604020202020204" pitchFamily="34" charset="0"/>
              </a:rPr>
              <a:t> simplify NER, while RNNs improve sequence-based NLP performance over baseline models.</a:t>
            </a:r>
          </a:p>
        </p:txBody>
      </p:sp>
    </p:spTree>
    <p:extLst>
      <p:ext uri="{BB962C8B-B14F-4D97-AF65-F5344CB8AC3E}">
        <p14:creationId xmlns:p14="http://schemas.microsoft.com/office/powerpoint/2010/main" val="2498815713"/>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16835</TotalTime>
  <Words>2930</Words>
  <Application>Microsoft Office PowerPoint</Application>
  <PresentationFormat>Widescreen</PresentationFormat>
  <Paragraphs>256</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Arial Unicode MS</vt:lpstr>
      <vt:lpstr>Neue Haas Grotesk Text Pro</vt:lpstr>
      <vt:lpstr>PunchcardVTI</vt:lpstr>
      <vt:lpstr>Recurrent Neural Networks for NLP</vt:lpstr>
      <vt:lpstr>Learning Objectives</vt:lpstr>
      <vt:lpstr>What is Sequential Data?</vt:lpstr>
      <vt:lpstr>Feedforward Network Limitations</vt:lpstr>
      <vt:lpstr>Recurrent Neural Networks</vt:lpstr>
      <vt:lpstr>What is an RNN? </vt:lpstr>
      <vt:lpstr>RNN Architecture</vt:lpstr>
      <vt:lpstr>RNN Architectures</vt:lpstr>
      <vt:lpstr>Types of RNN Architectures</vt:lpstr>
      <vt:lpstr>RNN Forward Propagation</vt:lpstr>
      <vt:lpstr>Parameter Sharing</vt:lpstr>
      <vt:lpstr>Training RNNs: BPTT</vt:lpstr>
      <vt:lpstr>Process</vt:lpstr>
      <vt:lpstr>The Vanishing Gradient Problem</vt:lpstr>
      <vt:lpstr>Vanishing Gradient Problem – Consequences</vt:lpstr>
      <vt:lpstr>Part 2: Advanced RNN Architecture </vt:lpstr>
      <vt:lpstr>What is LSTM?</vt:lpstr>
      <vt:lpstr>Why LSTM?</vt:lpstr>
      <vt:lpstr>LSTM Architecture</vt:lpstr>
      <vt:lpstr>LSTM Architecture</vt:lpstr>
      <vt:lpstr>LSTM Cell State</vt:lpstr>
      <vt:lpstr>Forget Gate </vt:lpstr>
      <vt:lpstr>Input Gate</vt:lpstr>
      <vt:lpstr>Output Gate</vt:lpstr>
      <vt:lpstr>GRU Introduction</vt:lpstr>
      <vt:lpstr>GRU Architecture</vt:lpstr>
      <vt:lpstr>LSTM vs GRU </vt:lpstr>
      <vt:lpstr>Building RNNs with Keras</vt:lpstr>
      <vt:lpstr>Building RNN in Keras</vt:lpstr>
      <vt:lpstr>Building LSTM</vt:lpstr>
      <vt:lpstr>Training best practices</vt:lpstr>
      <vt:lpstr>Sequence-to-Sequence Tasks </vt:lpstr>
      <vt:lpstr>Many-to-One</vt:lpstr>
      <vt:lpstr>Sentiment Classification</vt:lpstr>
      <vt:lpstr>Embeddings</vt:lpstr>
      <vt:lpstr>Named Entity Recognition </vt:lpstr>
      <vt:lpstr>Topic Modeling</vt:lpstr>
      <vt:lpstr>COMMON MISTAKES TO AVOID: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Liberty</dc:creator>
  <cp:lastModifiedBy>USER</cp:lastModifiedBy>
  <cp:revision>28</cp:revision>
  <dcterms:created xsi:type="dcterms:W3CDTF">2025-11-05T12:47:00Z</dcterms:created>
  <dcterms:modified xsi:type="dcterms:W3CDTF">2026-04-10T20:47:58Z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