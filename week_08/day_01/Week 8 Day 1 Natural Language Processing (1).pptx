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A3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76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5890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B46B8FB-F6A2-5F47-A6CD-A7E17E69270F}"/>
              </a:ext>
            </a:extLst>
          </p:cNvPr>
          <p:cNvGrpSpPr/>
          <p:nvPr/>
        </p:nvGrpSpPr>
        <p:grpSpPr>
          <a:xfrm>
            <a:off x="4651041" y="0"/>
            <a:ext cx="4492959" cy="5143501"/>
            <a:chOff x="6201388" y="0"/>
            <a:chExt cx="5990612" cy="685800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3863" y="576251"/>
            <a:ext cx="3799501" cy="2149804"/>
          </a:xfrm>
        </p:spPr>
        <p:txBody>
          <a:bodyPr anchor="t"/>
          <a:lstStyle>
            <a:lvl1pPr algn="l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2C33E-E9A6-304D-BBCB-97AD0B213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3863" y="3212430"/>
            <a:ext cx="3799501" cy="1106383"/>
          </a:xfrm>
        </p:spPr>
        <p:txBody>
          <a:bodyPr anchor="b"/>
          <a:lstStyle>
            <a:lvl1pPr marL="0" indent="0" algn="l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C75C4-E533-BE48-B528-D1A278BC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5196" y="342900"/>
            <a:ext cx="2706154" cy="273844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pPr algn="l"/>
              <a:t>2/4/2026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BA8A-EF83-434D-A90E-0805D110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DDE0-90B9-AD4E-B0EB-E7464FA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13001" y="4605814"/>
            <a:ext cx="610362" cy="273844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A3282-0389-C547-8CA6-7F3E7F27B34D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37995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>
            <a:extLst>
              <a:ext uri="{FF2B5EF4-FFF2-40B4-BE49-F238E27FC236}">
                <a16:creationId xmlns:a16="http://schemas.microsoft.com/office/drawing/2014/main" id="{9E91172A-D17D-C180-F3B1-0141247E2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1510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A1E4-52BA-534C-AECC-35C3CF4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5675-65B4-E14F-9785-663A83B7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6A1E-2332-684F-BDD2-687C166B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B8CB0-B7BE-7D4F-B254-8A2F8AEC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A569-A063-8E40-B703-82B11D2A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5377" y="4605814"/>
            <a:ext cx="610362" cy="273844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 up of a logo&#10;&#10;AI-generated content may be incorrect.">
            <a:extLst>
              <a:ext uri="{FF2B5EF4-FFF2-40B4-BE49-F238E27FC236}">
                <a16:creationId xmlns:a16="http://schemas.microsoft.com/office/drawing/2014/main" id="{7EC6D666-5D0B-8C45-3F9D-885CF1083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187" y="342900"/>
            <a:ext cx="637941" cy="460594"/>
          </a:xfrm>
          <a:prstGeom prst="rect">
            <a:avLst/>
          </a:prstGeom>
        </p:spPr>
      </p:pic>
      <p:pic>
        <p:nvPicPr>
          <p:cNvPr id="10" name="Picture 9" descr="A blue and orange lines&#10;&#10;AI-generated content may be incorrect.">
            <a:extLst>
              <a:ext uri="{FF2B5EF4-FFF2-40B4-BE49-F238E27FC236}">
                <a16:creationId xmlns:a16="http://schemas.microsoft.com/office/drawing/2014/main" id="{BB434980-A235-A835-9CA9-3906FF866B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99"/>
          <a:stretch>
            <a:fillRect/>
          </a:stretch>
        </p:blipFill>
        <p:spPr>
          <a:xfrm rot="5400000">
            <a:off x="4282916" y="282416"/>
            <a:ext cx="578168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19659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0648E-B4D5-4145-84E7-46B5793E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576263"/>
            <a:ext cx="3799501" cy="1751076"/>
          </a:xfrm>
        </p:spPr>
        <p:txBody>
          <a:bodyPr anchor="t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92A6-7558-3148-B855-5BC58B41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3863" y="3191590"/>
            <a:ext cx="3799501" cy="1125140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B541-D211-974B-97FE-C1F9473A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7FB0-D95A-D543-8E29-6E5F22B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4404-F49D-9F48-A10B-1F60870B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13001" y="4605814"/>
            <a:ext cx="610362" cy="273844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6A1FD1-D82F-3141-8687-8D7C0631C215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37995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9497C09-89AE-6371-9DD4-75A5AF8DBC69}"/>
              </a:ext>
            </a:extLst>
          </p:cNvPr>
          <p:cNvGrpSpPr/>
          <p:nvPr/>
        </p:nvGrpSpPr>
        <p:grpSpPr>
          <a:xfrm>
            <a:off x="4651041" y="0"/>
            <a:ext cx="4492959" cy="5143501"/>
            <a:chOff x="6201388" y="0"/>
            <a:chExt cx="5990612" cy="685800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6198FF7-E543-F648-F22D-7A5A5F2906F4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5" name="Freeform 46">
              <a:extLst>
                <a:ext uri="{FF2B5EF4-FFF2-40B4-BE49-F238E27FC236}">
                  <a16:creationId xmlns:a16="http://schemas.microsoft.com/office/drawing/2014/main" id="{07271CCF-0DC3-3BF8-249C-3411FA74D96D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6" name="Freeform 48">
              <a:extLst>
                <a:ext uri="{FF2B5EF4-FFF2-40B4-BE49-F238E27FC236}">
                  <a16:creationId xmlns:a16="http://schemas.microsoft.com/office/drawing/2014/main" id="{CABBBCC2-237F-CBEA-84B0-1079062AC561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6B8E4F2-524D-24A8-86F4-1792F6E50E8B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E0BD260-421F-B483-B4A0-37FEFB3374F9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E7D44ADD-B4C5-FBF7-10B0-325421A0D6C9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5" name="Freeform 63">
              <a:extLst>
                <a:ext uri="{FF2B5EF4-FFF2-40B4-BE49-F238E27FC236}">
                  <a16:creationId xmlns:a16="http://schemas.microsoft.com/office/drawing/2014/main" id="{5593C120-03DA-0B74-3A14-C5E66EDC4F9C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66" name="Freeform 64">
              <a:extLst>
                <a:ext uri="{FF2B5EF4-FFF2-40B4-BE49-F238E27FC236}">
                  <a16:creationId xmlns:a16="http://schemas.microsoft.com/office/drawing/2014/main" id="{2E836D48-4A84-EAB5-F726-7655BEFF3EB4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0A3C7E49-0C95-45AB-FF02-F449805F0F82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39F28514-8A8B-6BB2-9BC7-3D9A99443AA9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36FC6122-5293-4627-86DE-6601FA92141B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D443DE6D-7BB4-A4DD-F128-91CF73CEBFBE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DA35F092-ECC3-7737-485B-16E2C5DBBD9C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03BEB774-3617-CD14-3987-72B21781DF42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15958338-951C-A8ED-487F-7A180F97702A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6AAD3E28-B829-0A7D-41FB-9F6EC11DF07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80446E0C-7C6F-48A3-9347-464A70687F1E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3E242CA4-6284-C376-4F9A-836D395DD50F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95B8F67F-0DC3-A4B2-71FF-A3483FA75FC1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290C650-6E01-A169-3427-A0621B17A73B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36D4EC3C-D579-E8BB-FE8E-09E88C14B686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55D23B81-F939-BBDA-DD0D-632F19F07160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80FE3946-719E-8689-941C-2DA992DE45DE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10F47F19-AA93-0318-795C-11AA315F23CD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pic>
        <p:nvPicPr>
          <p:cNvPr id="83" name="Picture 82" descr="A close up of a logo&#10;&#10;AI-generated content may be incorrect.">
            <a:extLst>
              <a:ext uri="{FF2B5EF4-FFF2-40B4-BE49-F238E27FC236}">
                <a16:creationId xmlns:a16="http://schemas.microsoft.com/office/drawing/2014/main" id="{5AB071D6-F70F-FC27-1E58-03B4EB9BF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86023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42ECFEB-12CF-4C4F-BC8A-5816C27CA565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6C9482-2804-144B-88B2-0AF191BD757D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1363F79-96BD-9240-86E2-DF26C9C2437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3F0BF1-DA57-1D49-82F0-802F4D385A85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CD42A1B-A03A-C946-8A2A-CE437EA433FD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591FE00-3AAF-9B4B-8107-E94D50828227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49E92E9-89A7-4842-B271-411C7DF75D2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C29C99-0841-9F46-AB1A-E9751DFE448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0AB684-BDA8-014B-8DCC-125F8B8D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0E05-0F5F-6243-AD57-66BFC33AD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2138" y="1774317"/>
            <a:ext cx="3929634" cy="25466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B3A4-11FE-D94C-9B93-255E3623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92229" y="1774317"/>
            <a:ext cx="3929634" cy="25466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EEAF-F881-6E48-84AF-E5CEEF1C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72753-1CC3-9244-9AF0-6927018A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D55D0-FCC7-AC42-9810-9B49E33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736C3-88FB-244C-83B8-B2856998D221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>
            <a:extLst>
              <a:ext uri="{FF2B5EF4-FFF2-40B4-BE49-F238E27FC236}">
                <a16:creationId xmlns:a16="http://schemas.microsoft.com/office/drawing/2014/main" id="{17E75DCB-E0A9-8AE4-118D-B64726840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3411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7D16A9C-7411-5242-A59C-816B8907E3BE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97260B-7D44-7049-B605-7FD6E6CE5612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6AF601-77C3-D74A-B1E5-7F33703A692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DFCA921-0F9E-2E41-A285-75409E25501A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0B9E03-438B-FC42-9DA1-835D5BC3FE8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670E1F-61CD-8940-A898-6D5092A78BB9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0C64CF-0C6A-3449-9709-AE038C4A7995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EC46D5B-957F-A24C-8E36-CC71F660EC8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58182F-7B5E-FD42-AFC6-A3848D83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96" y="576072"/>
            <a:ext cx="5500116" cy="9532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9E4DE-75C0-C841-A68D-9D7BBAD7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1612" y="1774317"/>
            <a:ext cx="3929634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C87F7-356E-9E43-97A0-D972B228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1612" y="2392251"/>
            <a:ext cx="3929634" cy="1928668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B4C28-30CB-CC4E-A25E-F4FEFA49B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87300" y="1774317"/>
            <a:ext cx="3929634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D0191-963B-1E4C-BEC5-9B42E3951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7300" y="2392251"/>
            <a:ext cx="3929634" cy="1928668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E0BED-3EB7-BB4A-A556-FA967FB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466A-4D90-174C-B382-AC4674D7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ADE49-8082-214B-9742-5EE8DA2E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39200-18D5-014B-BAB8-FF5D0BA15E0C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close up of a logo&#10;&#10;AI-generated content may be incorrect.">
            <a:extLst>
              <a:ext uri="{FF2B5EF4-FFF2-40B4-BE49-F238E27FC236}">
                <a16:creationId xmlns:a16="http://schemas.microsoft.com/office/drawing/2014/main" id="{A284F8FC-5CB3-2BD1-2B02-652458337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11610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7DF52F6-A06E-0343-95B8-DAAC38DB4B8C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092C52-7052-0749-9DA0-9374DBF495AE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64E1C2F-81E1-C44D-859C-946596C950F2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626485-4263-0A44-9561-E278A7056C33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D45AAB5-3CCC-DE4A-A962-3702911B55C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FB16F-8EDE-D44F-A51E-34EDC41E7404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D51329-732C-BB4C-98E5-715BAF9F8853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92B5D44-BC55-AF4C-984D-C8231B22F80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A1E9E2-564E-7049-A22F-BB5B876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9D05-C08D-7747-B2FC-3F62B335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F615-BB08-A844-B689-BAA7C504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A67D-F96F-4849-8C83-49CC3A65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FAAB9-2B6B-8D4C-A748-433E2C393EA6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AI-generated content may be incorrect.">
            <a:extLst>
              <a:ext uri="{FF2B5EF4-FFF2-40B4-BE49-F238E27FC236}">
                <a16:creationId xmlns:a16="http://schemas.microsoft.com/office/drawing/2014/main" id="{46350139-760A-2B49-EEAB-39A916ACA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55960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BCA70-D63D-40F6-B9B3-4E49B96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12559-BD91-4904-A24A-0CF0A232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8BB7-74A5-4A6F-A0FF-021E68F0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182C52E2-8AF9-D7F6-D5D6-D023C913EA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27802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0914A35-7AAF-4B42-9C68-47A633EFD9D0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ABCED79-0E70-FB4D-ABF2-D859BF5556E4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364885D-A3A4-5144-AB4E-7624F27287E6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2073D5-CC72-0549-BD26-F7AF9851BE45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827A049-C9FD-554E-9B01-F151B0D9E86B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6832559-4D18-8744-AB91-9FCFAB732477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F97A623-E5DC-1B44-B687-8643B9F0D741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7BBE1-2C82-4E45-B5C5-35E07B05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573730"/>
            <a:ext cx="2707487" cy="1046282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1F2E-A734-364B-8A7D-990D6B88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8624" y="578167"/>
            <a:ext cx="4584388" cy="3600428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2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CBAD9-5515-1748-8E77-F48160F4E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3863" y="1620012"/>
            <a:ext cx="2707487" cy="2781729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6C22B-80D4-AA42-9999-401E37B4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5DE4-33E8-7F4B-9334-95EA6084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0FA5-21EE-D742-8F01-C1BAE0FD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66AA-D7DF-F84D-80D4-E216A641B005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1612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D391A-F01E-4947-8A01-95438AA0B323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499306-B4E0-064D-8F6C-96E9C4BD04DA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F3D0241-0A21-8047-8CE3-B3FDD5FDF71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3083F97-6891-0447-957C-AB0834B826D2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2EF7D75-E7C1-5147-A03B-3EC641CF3B0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D7CA94-94B4-C140-8C68-01C0ADFA1C7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1CD629-C318-A848-BDDE-BBA9465EBF9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5AC1F8-1370-E946-977E-E4CFC6947BA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CEE63B-B967-0A48-9623-22037676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578167"/>
            <a:ext cx="2707487" cy="1041845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11F680-28C8-FA44-9CD5-20709DA02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917879" y="668113"/>
            <a:ext cx="4545102" cy="365280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507CD-197E-BB4C-83A6-DA3FC97A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3863" y="1620013"/>
            <a:ext cx="2707487" cy="270090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E00AC-DF6C-D548-8A06-D6269BDB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113B-57D4-9A4F-BFE0-2A3963B4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D9954-FA18-8948-AA52-21CED059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3EB25D-2379-5040-B990-1C99B0B7D931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967179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D46EE4-CE67-DD46-A751-9FEA049A22B8}"/>
              </a:ext>
            </a:extLst>
          </p:cNvPr>
          <p:cNvGrpSpPr/>
          <p:nvPr/>
        </p:nvGrpSpPr>
        <p:grpSpPr>
          <a:xfrm>
            <a:off x="6696396" y="0"/>
            <a:ext cx="2447604" cy="51435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5C5B70-D34F-8A49-B220-808CE2BBB7F3}"/>
                </a:ext>
              </a:extLst>
            </p:cNvPr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BBFE624-6DBD-8541-B43B-180C0AFA21F0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01AC23-2120-A542-B140-5A29AA27A2C8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54689C0-9C35-9B4D-906B-DA287DA55A38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6570F0-11E0-6147-9053-E3A4B5DBA0E4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BDD97F6-A366-B54A-B889-42E97AFEDE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E853BC-EE80-374B-B823-8D51A948C4CF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B5B70B1-649D-9848-B5D4-6DE04D55F5F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6A2092A-2157-0A49-937F-BBAE14687DE7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092371E-D526-AF43-816F-F7AEBA9FF16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6995714-B51E-E84A-9FD5-3AD33004E517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FDB0CC5-76AA-6E44-8376-4EE649C1DE42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981F0B-8982-1C45-8D7C-30E744003823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76EEB7-1E87-0447-8CD6-DD220CF4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AE526-3A03-9B41-8C9F-27156E70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8D72-182D-C947-B3F7-B74948D0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E396-D059-AF4D-A1D9-C1347978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45B6-87C0-2F4A-8146-00E911CD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4860" y="4605814"/>
            <a:ext cx="610362" cy="273844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8A912D-4325-C449-BF2E-F331A221C695}"/>
              </a:ext>
            </a:extLst>
          </p:cNvPr>
          <p:cNvCxnSpPr>
            <a:cxnSpLocks/>
          </p:cNvCxnSpPr>
          <p:nvPr/>
        </p:nvCxnSpPr>
        <p:spPr>
          <a:xfrm>
            <a:off x="423862" y="4565333"/>
            <a:ext cx="55013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97447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3803ECC-8207-244B-8051-94AA5304EDD9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2E8536-821C-3846-A152-2001B7BA4BC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A02781-FFB4-C04E-97FB-78D26A9E8F1C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C29607-37D2-7A4B-98E2-2C851CD6776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12FC7BA-80CC-1C4E-B268-B3EEA08137F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BC8FB1-96B9-D84A-BD2A-BC8410EBE012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8455B4-A778-B44D-A7E8-C45A4846D9F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07CCA-80EF-2B45-8F8C-7D5796A61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12572" y="732472"/>
            <a:ext cx="1701380" cy="35884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21C3-F2D3-FC4F-938B-4C4CAC737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23863" y="732472"/>
            <a:ext cx="6198043" cy="35884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1B46-3E9A-AC48-8C84-5B46EA1E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8F49-5859-714C-8EE1-61A74F32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B6F69-3FFA-D94F-BA99-873D36F7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1B40EC-87DB-A64F-9D4B-98A86F7CEFFF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809447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372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98E2-86CE-4D4F-9F8F-17C83D19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578168"/>
            <a:ext cx="5501876" cy="951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B4F2-48A4-A140-B59B-7A2ED9FD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3863" y="1620012"/>
            <a:ext cx="5501876" cy="27009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4A7E-D5FF-BF48-8E01-8F46150AB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5196" y="342900"/>
            <a:ext cx="27061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1757-5039-BF46-B47A-50DA8FFB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3863" y="4605814"/>
            <a:ext cx="27061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FD16-4337-B940-905E-D20A26FD4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07259" y="4605814"/>
            <a:ext cx="61036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blue and orange lines&#10;&#10;AI-generated content may be incorrect.">
            <a:extLst>
              <a:ext uri="{FF2B5EF4-FFF2-40B4-BE49-F238E27FC236}">
                <a16:creationId xmlns:a16="http://schemas.microsoft.com/office/drawing/2014/main" id="{722F2910-53DA-4030-4A06-C7107058200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99"/>
          <a:stretch>
            <a:fillRect/>
          </a:stretch>
        </p:blipFill>
        <p:spPr>
          <a:xfrm rot="5400000">
            <a:off x="4282916" y="282416"/>
            <a:ext cx="578168" cy="9144000"/>
          </a:xfrm>
          <a:prstGeom prst="rect">
            <a:avLst/>
          </a:prstGeom>
        </p:spPr>
      </p:pic>
      <p:pic>
        <p:nvPicPr>
          <p:cNvPr id="8" name="Picture 7" descr="A close up of a logo&#10;&#10;AI-generated content may be incorrect.">
            <a:extLst>
              <a:ext uri="{FF2B5EF4-FFF2-40B4-BE49-F238E27FC236}">
                <a16:creationId xmlns:a16="http://schemas.microsoft.com/office/drawing/2014/main" id="{907AFCA5-11B9-8D3A-D277-BF27E3B8B91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7259" y="249525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318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3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05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4F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55073E-8159-A272-9714-8734C0981E89}"/>
              </a:ext>
            </a:extLst>
          </p:cNvPr>
          <p:cNvSpPr/>
          <p:nvPr/>
        </p:nvSpPr>
        <p:spPr>
          <a:xfrm>
            <a:off x="0" y="0"/>
            <a:ext cx="9144000" cy="45566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6" name="Text 1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Text Preprocessing &amp;</a:t>
            </a:r>
            <a:endParaRPr lang="en-US" sz="4800" dirty="0">
              <a:solidFill>
                <a:schemeClr val="accent3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Classical NLP</a:t>
            </a:r>
            <a:endParaRPr lang="en-US" sz="48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7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chemeClr val="accent3">
                    <a:lumMod val="75000"/>
                  </a:schemeClr>
                </a:solidFill>
              </a:rPr>
              <a:t>From Raw Text to Machine-Readable Data</a:t>
            </a:r>
            <a:endParaRPr lang="en-US" sz="2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4F59"/>
                </a:solidFill>
              </a:rPr>
              <a:t>Today's Learning Journey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17220" y="1371600"/>
            <a:ext cx="3299460" cy="2141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600" dirty="0"/>
              <a:t>1: NLP Module Introduction </a:t>
            </a:r>
          </a:p>
          <a:p>
            <a:pPr>
              <a:buSzPct val="100000"/>
            </a:pPr>
            <a:endParaRPr lang="en-US" sz="1600" dirty="0"/>
          </a:p>
          <a:p>
            <a:pPr>
              <a:buSzPct val="100000"/>
            </a:pPr>
            <a:r>
              <a:rPr lang="en-US" sz="1600" dirty="0"/>
              <a:t>2: Text Preprocessing</a:t>
            </a:r>
          </a:p>
          <a:p>
            <a:pPr>
              <a:buSzPct val="100000"/>
            </a:pPr>
            <a:endParaRPr lang="en-US" sz="1600" dirty="0"/>
          </a:p>
          <a:p>
            <a:pPr>
              <a:buSzPct val="100000"/>
            </a:pPr>
            <a:r>
              <a:rPr lang="en-US" sz="1600" dirty="0"/>
              <a:t>3: Text Representation</a:t>
            </a:r>
          </a:p>
          <a:p>
            <a:pPr>
              <a:buSzPct val="100000"/>
            </a:pPr>
            <a:endParaRPr lang="en-US" sz="1600" dirty="0"/>
          </a:p>
          <a:p>
            <a:pPr>
              <a:buSzPct val="100000"/>
            </a:pPr>
            <a:r>
              <a:rPr lang="en-US" sz="1600" dirty="0"/>
              <a:t>4: NLP Project 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2390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14F59"/>
                </a:solidFill>
              </a:rPr>
              <a:t>Why Natural Language Processing?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737360"/>
            <a:ext cx="3840480" cy="1097280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28090"/>
                </a:solidFill>
              </a:rPr>
              <a:t>80%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</a:rPr>
              <a:t>of data is unstructured text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648200" y="1078230"/>
            <a:ext cx="4114800" cy="2415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14F59"/>
                </a:solidFill>
              </a:rPr>
              <a:t>Key Applications: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Customer Service Chatbots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Sentiment Analysis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Document Classification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Machine Translation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4276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highlight>
                  <a:srgbClr val="FBA31C"/>
                </a:highlight>
              </a:rPr>
              <a:t>From Computer Vision to NLP</a:t>
            </a:r>
            <a:endParaRPr lang="en-US" sz="2400" dirty="0">
              <a:highlight>
                <a:srgbClr val="FBA31C"/>
              </a:highlight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3108960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</a:rPr>
              <a:t>Computer Vision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Input: Images/Videos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Structure: Pixels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Example: Cat vs Dog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840480" cy="3108960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484632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</a:rPr>
              <a:t>NLP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120640" y="192024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Input: Text/Speech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Structure: Words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Example: Sentiment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4F59"/>
                </a:solidFill>
                <a:highlight>
                  <a:srgbClr val="FBA31C"/>
                </a:highlight>
              </a:rPr>
              <a:t>NLP in Nigerian Context</a:t>
            </a:r>
            <a:endParaRPr lang="en-US" sz="3600" dirty="0">
              <a:highlight>
                <a:srgbClr val="FBA31C"/>
              </a:highlight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914400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4F59"/>
                </a:solidFill>
              </a:rPr>
              <a:t>E-commerce Reviews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Analyze Jumia/Konga feedback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840480" cy="914400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502920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4F59"/>
                </a:solidFill>
              </a:rPr>
              <a:t>Financial Services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Fraud detection, chatbots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3840480" cy="914400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4F59"/>
                </a:solidFill>
              </a:rPr>
              <a:t>Healthcare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Medical records processing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2377440"/>
            <a:ext cx="3840480" cy="914400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5029200" y="2468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4F59"/>
                </a:solidFill>
              </a:rPr>
              <a:t>Education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Essay grading, tutoring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3840480" cy="914400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4F59"/>
                </a:solidFill>
              </a:rPr>
              <a:t>News Media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Categorization, summarization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3566160"/>
            <a:ext cx="3840480" cy="914400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/>
          <p:nvPr/>
        </p:nvSpPr>
        <p:spPr>
          <a:xfrm>
            <a:off x="502920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4F59"/>
                </a:solidFill>
              </a:rPr>
              <a:t>Social Media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Trend analysis, moderation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Part 1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Text Preprocessing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E8F4F5"/>
                </a:solidFill>
              </a:rPr>
              <a:t>Transforming Raw Text into Clean Data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4F59"/>
                </a:solidFill>
              </a:rPr>
              <a:t>What is Text Preprocessing?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Essential step of cleaning and standardizing raw text data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14F59"/>
                </a:solidFill>
              </a:rPr>
              <a:t>Why Critical?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Reduces Noise - Removes irrelevant characters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Standardizes Format - Consistent representation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Improves Performance - Clean data = better models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4F59"/>
                </a:solidFill>
              </a:rPr>
              <a:t>Text Preprocessing Pipeline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828800" y="960120"/>
            <a:ext cx="5486400" cy="411480"/>
          </a:xfrm>
          <a:prstGeom prst="rect">
            <a:avLst/>
          </a:prstGeom>
          <a:solidFill>
            <a:srgbClr val="02C39A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1828800" y="9601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4F59"/>
                </a:solidFill>
              </a:rPr>
              <a:t>Raw Text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0" y="1371600"/>
            <a:ext cx="0" cy="109728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" name="Shape 4"/>
          <p:cNvSpPr/>
          <p:nvPr/>
        </p:nvSpPr>
        <p:spPr>
          <a:xfrm>
            <a:off x="1828800" y="1481328"/>
            <a:ext cx="5486400" cy="411480"/>
          </a:xfrm>
          <a:prstGeom prst="rect">
            <a:avLst/>
          </a:prstGeom>
          <a:solidFill>
            <a:srgbClr val="E8F4F5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1828800" y="148132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4F59"/>
                </a:solidFill>
              </a:rPr>
              <a:t>Lowercase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892808"/>
            <a:ext cx="0" cy="109728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Shape 7"/>
          <p:cNvSpPr/>
          <p:nvPr/>
        </p:nvSpPr>
        <p:spPr>
          <a:xfrm>
            <a:off x="1828800" y="2002536"/>
            <a:ext cx="5486400" cy="411480"/>
          </a:xfrm>
          <a:prstGeom prst="rect">
            <a:avLst/>
          </a:prstGeom>
          <a:solidFill>
            <a:srgbClr val="E8F4F5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1828800" y="2002536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4F59"/>
                </a:solidFill>
              </a:rPr>
              <a:t>Remove Special Chars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2414016"/>
            <a:ext cx="0" cy="109728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Shape 10"/>
          <p:cNvSpPr/>
          <p:nvPr/>
        </p:nvSpPr>
        <p:spPr>
          <a:xfrm>
            <a:off x="1828800" y="2523744"/>
            <a:ext cx="5486400" cy="411480"/>
          </a:xfrm>
          <a:prstGeom prst="rect">
            <a:avLst/>
          </a:prstGeom>
          <a:solidFill>
            <a:srgbClr val="E8F4F5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1828800" y="2523744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4F59"/>
                </a:solidFill>
              </a:rPr>
              <a:t>Tokenization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2935224"/>
            <a:ext cx="0" cy="109728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Shape 13"/>
          <p:cNvSpPr/>
          <p:nvPr/>
        </p:nvSpPr>
        <p:spPr>
          <a:xfrm>
            <a:off x="1828800" y="3044952"/>
            <a:ext cx="5486400" cy="411480"/>
          </a:xfrm>
          <a:prstGeom prst="rect">
            <a:avLst/>
          </a:prstGeom>
          <a:solidFill>
            <a:srgbClr val="E8F4F5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/>
          <p:nvPr/>
        </p:nvSpPr>
        <p:spPr>
          <a:xfrm>
            <a:off x="1828800" y="304495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4F59"/>
                </a:solidFill>
              </a:rPr>
              <a:t>Remove Stopwords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3456432"/>
            <a:ext cx="0" cy="109728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Shape 16"/>
          <p:cNvSpPr/>
          <p:nvPr/>
        </p:nvSpPr>
        <p:spPr>
          <a:xfrm>
            <a:off x="1828800" y="3566160"/>
            <a:ext cx="5486400" cy="411480"/>
          </a:xfrm>
          <a:prstGeom prst="rect">
            <a:avLst/>
          </a:prstGeom>
          <a:solidFill>
            <a:srgbClr val="E8F4F5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/>
          <p:nvPr/>
        </p:nvSpPr>
        <p:spPr>
          <a:xfrm>
            <a:off x="1828800" y="35661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4F59"/>
                </a:solidFill>
              </a:rPr>
              <a:t>Stem/Lemmatize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3977640"/>
            <a:ext cx="0" cy="109728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Shape 19"/>
          <p:cNvSpPr/>
          <p:nvPr/>
        </p:nvSpPr>
        <p:spPr>
          <a:xfrm>
            <a:off x="1828800" y="4087368"/>
            <a:ext cx="5486400" cy="411480"/>
          </a:xfrm>
          <a:prstGeom prst="rect">
            <a:avLst/>
          </a:prstGeom>
          <a:solidFill>
            <a:srgbClr val="02C39A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2" name="Text 20"/>
          <p:cNvSpPr/>
          <p:nvPr/>
        </p:nvSpPr>
        <p:spPr>
          <a:xfrm>
            <a:off x="1828800" y="408736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4F59"/>
                </a:solidFill>
              </a:rPr>
              <a:t>Clean Output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4F59"/>
                </a:solidFill>
              </a:rPr>
              <a:t>Step 1: Lowercasing &amp; Cleaning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1188720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</a:rPr>
              <a:t>Before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 World! #NLP"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840480" cy="118872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484632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14F59"/>
                </a:solidFill>
              </a:rPr>
              <a:t>After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737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 world nlp"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Operations: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Convert to lowercase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Remove punctuation (!?.)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Remove special chars (#@$)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4F59"/>
                </a:solidFill>
              </a:rPr>
              <a:t>Step 2: Tokenization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0000"/>
                </a:solidFill>
              </a:rPr>
              <a:t>Breaking text into individual units (tokens)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Word Tokenization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"NLP is fun" → ['NLP', 'is', 'fun']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Sentence Tokenization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"NLP is great. I love it." → ['NLP is great.', 'I love it.']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Subword Tokenization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"unhappiness" → ['un', 'happiness']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4F59"/>
                </a:solidFill>
              </a:rPr>
              <a:t>Step 3: Stopword Removal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Common Stopwords: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the, is, at, which, on, a, an, as, are, was, were, been, be, have, has, had, do, does, did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Before: "The cat is sitting on the mat"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After: "cat sitting mat"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⚠️ Caution: Not always beneficial!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For sentiment: 'not', 'but', 'however' are critical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14F59"/>
                </a:solidFill>
              </a:rPr>
              <a:t>Step 4: Stemming vs Lemmatization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200400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</a:rPr>
              <a:t>Stemming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Rule-based chopping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Fast but crude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 → run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studies → studi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320040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4846320" y="1188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14F59"/>
                </a:solidFill>
              </a:rPr>
              <a:t>Lemmatization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120640" y="173736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Dictionary-based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Accurate root words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 → run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better → good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4F59"/>
                </a:solidFill>
              </a:rPr>
              <a:t>NLTK Library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Popular Python NLP library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Tokenization, stopwords, stemming, lemmatization, POS tagging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754880" y="1005840"/>
            <a:ext cx="3931920" cy="329184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4937760" y="118872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nltk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nltk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nltk.download('punkt')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nltk.tokenize import word_tokenize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tokens = word_tokenize(text)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014F59"/>
                </a:solidFill>
              </a:rPr>
              <a:t>SpaCy</a:t>
            </a:r>
            <a:r>
              <a:rPr lang="en-US" sz="3600" b="1" dirty="0">
                <a:solidFill>
                  <a:srgbClr val="014F59"/>
                </a:solidFill>
              </a:rPr>
              <a:t> Library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Modern, production-ready NLP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Faster, 66+ languages, pre-trained models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754880" y="1005840"/>
            <a:ext cx="3931920" cy="329184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4937760" y="118872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spacy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spacy download en_core_web_sm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spacy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nlp = spacy.load('en_core_web_sm')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 = nlp('Text here')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4F59"/>
                </a:solidFill>
              </a:rPr>
              <a:t>Choosing Preprocessing Steps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0000"/>
                </a:solidFill>
              </a:rPr>
              <a:t>Not all steps suit every task!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685800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Sentiment Analysis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108960" y="15544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Keep stopwords, punctuation (!?)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8229600" cy="685800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Topic Modeling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08960" y="23317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Remove stopwords, numbers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685800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NER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0" y="31089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Keep capitalization, punctuation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8229600" cy="685800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640080" y="3886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Classification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8960" y="38862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Remove stopwords, use lemmatization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A8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</a:rPr>
              <a:t>Part 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Text Representation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E8F4F5"/>
                </a:solidFill>
              </a:rPr>
              <a:t>Converting Words into Numbers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4F59"/>
                </a:solidFill>
              </a:rPr>
              <a:t>Why Numerical Representation?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1188720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</a:rPr>
              <a:t>Challenge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ML algorithms need numbers, not words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840480" cy="118872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484632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14F59"/>
                </a:solidFill>
              </a:rPr>
              <a:t>Solution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7373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Convert text to numerical vectors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Requirements: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Capture meaning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Preserve relationships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Enable math operations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4F59"/>
                </a:solidFill>
              </a:rPr>
              <a:t>Bag of Words (BoW)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0000"/>
                </a:solidFill>
              </a:rPr>
              <a:t>Count word occurrences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14630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love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NLP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machine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Doc1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Doc2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Doc3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❌ Loses word order, ignores context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4F59"/>
                </a:solidFill>
              </a:rPr>
              <a:t>TF-IDF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0000"/>
                </a:solidFill>
              </a:rPr>
              <a:t>Weight words by importance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TF (Term Frequency)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How often in document?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IDF (Inverse Document Frequency)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How rare across corpus?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TF-IDF = TF × IDF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754880" y="1463040"/>
            <a:ext cx="3931920" cy="2743200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4754880" y="1554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</a:rPr>
              <a:t>Benefits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937760" y="201168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Reduces common word weight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Boosts rare words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Industry standard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4F59"/>
                </a:solidFill>
              </a:rPr>
              <a:t>Word Embeddings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0000"/>
                </a:solidFill>
              </a:rPr>
              <a:t>Dense vectors capturing semantic meaning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840480" cy="2651760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</a:rPr>
              <a:t>Traditional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474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Sparse: [0,0,1,0,...]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Words independent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463040"/>
            <a:ext cx="3840480" cy="265176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</a:rPr>
              <a:t>Embeddings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2011680"/>
            <a:ext cx="3474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Dense: [0.2,-0.5,0.8,...]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Similar words close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4F59"/>
                </a:solidFill>
              </a:rPr>
              <a:t>Word2Vec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0000"/>
                </a:solidFill>
              </a:rPr>
              <a:t>Learning from context (2013)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840480" cy="1463040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</a:rPr>
              <a:t>Skip-Gram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Word → Context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463040"/>
            <a:ext cx="3840480" cy="1463040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</a:rPr>
              <a:t>CBOW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20116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Context → Word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king - man + woman ≈ queen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4F59"/>
                </a:solidFill>
              </a:rPr>
              <a:t>GloVe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0000"/>
                </a:solidFill>
              </a:rPr>
              <a:t>Global matrix factorization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</a:rPr>
              <a:t>Build co-occurrence matrix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</a:rPr>
              <a:t>Apply factorization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</a:rPr>
              <a:t>Preserve relationships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463040"/>
            <a:ext cx="3931920" cy="2286000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4754880" y="1554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</a:rPr>
              <a:t>vs Word2Vec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937760" y="201168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Uses global stats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Faster training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Better analogies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4F59"/>
                </a:solidFill>
              </a:rPr>
              <a:t>Preview: Contextual Embeddings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Traditional: "bank" always same vector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Contextual (BERT): Different based on context</a:t>
            </a:r>
            <a:endParaRPr lang="en-US" sz="1400" dirty="0"/>
          </a:p>
          <a:p>
            <a:pPr marL="0" lvl="1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"river bank" → water-related</a:t>
            </a:r>
            <a:endParaRPr lang="en-US" sz="1400" dirty="0"/>
          </a:p>
          <a:p>
            <a:pPr marL="0" lvl="1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"savings bank" → finance-related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</a:rPr>
              <a:t>🚀 Transformers revolutionized NLP (2017) - Coming later!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4F59"/>
                </a:solidFill>
              </a:rPr>
              <a:t>Choosing Representation</a:t>
            </a:r>
            <a:endParaRPr lang="en-US" sz="3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5603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When to Use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Performance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BoW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Simple baseline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⭐⭐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TF-IDF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Classification, retrieval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⭐⭐⭐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Word2Vec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Semantic tasks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⭐⭐⭐⭐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BERT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State-of-the-art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⭐⭐⭐⭐⭐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0000"/>
                </a:solidFill>
              </a:rPr>
              <a:t>💡 Start simple, iterate!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4F59"/>
                </a:solidFill>
              </a:rPr>
              <a:t>Hands-On: TF-IDF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29184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sklearn.feature_extraction.text import TfidfVectorizer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 = ['I love NLP', 'NLP is great']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vectorizer = TfidfVectorizer()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vectorizer.fit_transform(docs)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ED3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in model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model.fit(X, labels)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Part 3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Your NLP Project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E8F4F5"/>
                </a:solidFill>
              </a:rPr>
              <a:t>Building Real Applications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4F59"/>
                </a:solidFill>
              </a:rPr>
              <a:t>Project Domain Options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</a:rPr>
              <a:t>Sentiment Analysis</a:t>
            </a:r>
            <a:endParaRPr lang="en-US" sz="15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</a:rPr>
              <a:t>News Categorization</a:t>
            </a:r>
            <a:endParaRPr lang="en-US" sz="15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</a:rPr>
              <a:t>Feedback Analysis</a:t>
            </a:r>
            <a:endParaRPr lang="en-US" sz="15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</a:rPr>
              <a:t>Chatbot Intent</a:t>
            </a:r>
            <a:endParaRPr lang="en-US" sz="15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</a:rPr>
              <a:t>Text Summarization</a:t>
            </a:r>
            <a:endParaRPr lang="en-US" sz="15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</a:rPr>
              <a:t>Question Answering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0000"/>
                </a:solidFill>
              </a:rPr>
              <a:t>💡 Choose based on data availability and interest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4F59"/>
                </a:solidFill>
              </a:rPr>
              <a:t>Assignment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000000"/>
                </a:solidFill>
              </a:rPr>
              <a:t>1. Select Domain</a:t>
            </a:r>
            <a:endParaRPr lang="en-US" sz="1600" dirty="0"/>
          </a:p>
          <a:p>
            <a:pPr marL="0" lvl="1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Choose from 6 options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000000"/>
                </a:solidFill>
              </a:rPr>
              <a:t>2. Find Dataset</a:t>
            </a:r>
            <a:endParaRPr lang="en-US" sz="1600" dirty="0"/>
          </a:p>
          <a:p>
            <a:pPr marL="0" lvl="1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Kaggle, HuggingFace, UCI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000000"/>
                </a:solidFill>
              </a:rPr>
              <a:t>3. Perform EDA</a:t>
            </a:r>
            <a:endParaRPr lang="en-US" sz="1600" dirty="0"/>
          </a:p>
          <a:p>
            <a:pPr marL="0" lvl="1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Length, vocabulary, balance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000000"/>
                </a:solidFill>
              </a:rPr>
              <a:t>4. Build Baseline</a:t>
            </a:r>
            <a:endParaRPr lang="en-US" sz="1600" dirty="0"/>
          </a:p>
          <a:p>
            <a:pPr marL="0" lvl="1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TF-IDF + Classifier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4F59"/>
                </a:solidFill>
              </a:rPr>
              <a:t>Dataset Sources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</a:rPr>
              <a:t>Kaggle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68880" y="1280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kaggle.com/datasets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212080" y="12801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Reviews, sentiment, news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</a:rPr>
              <a:t>HuggingFace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468880" y="2103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huggingface.co/datasets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0" y="21031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1000s of NLP datasets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</a:rPr>
              <a:t>UCI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468880" y="2926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archive.ics.uci.edu/ml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29260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Classic datasets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/>
          <p:nvPr/>
        </p:nvSpPr>
        <p:spPr>
          <a:xfrm>
            <a:off x="640080" y="3749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</a:rPr>
              <a:t>Google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468880" y="3749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datasetsearch.research.google.com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0" y="37490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Dataset search engine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4F59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Preprocessing is essential</a:t>
            </a:r>
            <a:endParaRPr lang="en-US" sz="1500" dirty="0"/>
          </a:p>
          <a:p>
            <a:pPr marL="0" lvl="1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Task-specific steps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Multiple representations</a:t>
            </a:r>
            <a:endParaRPr lang="en-US" sz="1500" dirty="0"/>
          </a:p>
          <a:p>
            <a:pPr marL="0" lvl="1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BoW → TF-IDF → Embeddings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Start simple, iterate</a:t>
            </a:r>
            <a:endParaRPr lang="en-US" sz="1500" dirty="0"/>
          </a:p>
          <a:p>
            <a:pPr marL="0" lvl="1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Baseline first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NLTK vs spaCy</a:t>
            </a:r>
            <a:endParaRPr lang="en-US" sz="1500" dirty="0"/>
          </a:p>
          <a:p>
            <a:pPr marL="0" lvl="1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Both powerful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4F59"/>
                </a:solidFill>
              </a:rPr>
              <a:t>Learning Resources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Textbooks: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Jurafsky &amp; Martin: Speech and Language Processing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Bird et al: NLP with Python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Online: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spacy.io, nltk.org/book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paperswithcode.com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Courses: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Stanford CS224N, fast.ai NLP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What's Next?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201168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Classical ML for NLP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Deep Learning for NLP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Transformers &amp; BERT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14F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2C39A"/>
                </a:solidFill>
              </a:rPr>
              <a:t>Questions &amp; Discussion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F4F5"/>
                </a:solidFill>
              </a:rPr>
              <a:t>Start your project today!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4SID theme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4SID theme" id="{B984A8E7-233D-4992-8743-41EAFFF94261}" vid="{D8C495CA-6F99-401E-AE3B-AE8955379D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AI4SID theme</Template>
  <TotalTime>17</TotalTime>
  <Words>1055</Words>
  <Application>Microsoft Office PowerPoint</Application>
  <PresentationFormat>On-screen Show (16:9)</PresentationFormat>
  <Paragraphs>333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Consolas</vt:lpstr>
      <vt:lpstr>Neue Haas Grotesk Text Pro</vt:lpstr>
      <vt:lpstr>AI4SID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29: Text Preprocessing &amp; Classical NLP</dc:title>
  <dc:subject>PptxGenJS Presentation</dc:subject>
  <dc:creator>NLP Accelerator Program</dc:creator>
  <cp:lastModifiedBy>Uthman Abdulrahman</cp:lastModifiedBy>
  <cp:revision>2</cp:revision>
  <dcterms:created xsi:type="dcterms:W3CDTF">2026-02-03T10:26:51Z</dcterms:created>
  <dcterms:modified xsi:type="dcterms:W3CDTF">2026-02-04T10:32:15Z</dcterms:modified>
</cp:coreProperties>
</file>