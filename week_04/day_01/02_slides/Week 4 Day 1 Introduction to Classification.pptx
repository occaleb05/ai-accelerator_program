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18"/>
  </p:notesMasterIdLst>
  <p:sldIdLst>
    <p:sldId id="257" r:id="rId2"/>
    <p:sldId id="260" r:id="rId3"/>
    <p:sldId id="259" r:id="rId4"/>
    <p:sldId id="279" r:id="rId5"/>
    <p:sldId id="295" r:id="rId6"/>
    <p:sldId id="296" r:id="rId7"/>
    <p:sldId id="297" r:id="rId8"/>
    <p:sldId id="261" r:id="rId9"/>
    <p:sldId id="298" r:id="rId10"/>
    <p:sldId id="299" r:id="rId11"/>
    <p:sldId id="300" r:id="rId12"/>
    <p:sldId id="301" r:id="rId13"/>
    <p:sldId id="302" r:id="rId14"/>
    <p:sldId id="304" r:id="rId15"/>
    <p:sldId id="305" r:id="rId16"/>
    <p:sldId id="30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A31C"/>
    <a:srgbClr val="45C2CA"/>
    <a:srgbClr val="48C3CB"/>
    <a:srgbClr val="FFFFFF"/>
    <a:srgbClr val="0380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78490" autoAdjust="0"/>
  </p:normalViewPr>
  <p:slideViewPr>
    <p:cSldViewPr snapToGrid="0">
      <p:cViewPr varScale="1">
        <p:scale>
          <a:sx n="49" d="100"/>
          <a:sy n="49" d="100"/>
        </p:scale>
        <p:origin x="1376" y="52"/>
      </p:cViewPr>
      <p:guideLst/>
    </p:cSldViewPr>
  </p:slideViewPr>
  <p:notesTextViewPr>
    <p:cViewPr>
      <p:scale>
        <a:sx n="1" d="1"/>
        <a:sy n="1" d="1"/>
      </p:scale>
      <p:origin x="0" y="0"/>
    </p:cViewPr>
  </p:notesTextViewPr>
  <p:sorterViewPr>
    <p:cViewPr>
      <p:scale>
        <a:sx n="100" d="100"/>
        <a:sy n="100" d="100"/>
      </p:scale>
      <p:origin x="0" y="-708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B5EF8F-E755-4CDF-A49A-784CEFF48E79}" type="datetimeFigureOut">
              <a:rPr lang="en-NG" smtClean="0"/>
              <a:t>04/03/2026</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87122E-1A98-45FF-9041-48FC7599DFB4}" type="slidenum">
              <a:rPr lang="en-NG" smtClean="0"/>
              <a:t>‹#›</a:t>
            </a:fld>
            <a:endParaRPr lang="en-NG"/>
          </a:p>
        </p:txBody>
      </p:sp>
    </p:spTree>
    <p:extLst>
      <p:ext uri="{BB962C8B-B14F-4D97-AF65-F5344CB8AC3E}">
        <p14:creationId xmlns:p14="http://schemas.microsoft.com/office/powerpoint/2010/main" val="2242709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are actual implementations or realistic scenarios based on public information about these companies' operations. The specific metrics are representative of industry standards for such models. This demonstrates that classification isn't theoretical - it's solving real problems in Nigeria today, from saving billions in fraud to improving healthcare access in rural areas.</a:t>
            </a:r>
            <a:endParaRPr lang="en-NG" dirty="0"/>
          </a:p>
        </p:txBody>
      </p:sp>
      <p:sp>
        <p:nvSpPr>
          <p:cNvPr id="4" name="Slide Number Placeholder 3"/>
          <p:cNvSpPr>
            <a:spLocks noGrp="1"/>
          </p:cNvSpPr>
          <p:nvPr>
            <p:ph type="sldNum" sz="quarter" idx="5"/>
          </p:nvPr>
        </p:nvSpPr>
        <p:spPr/>
        <p:txBody>
          <a:bodyPr/>
          <a:lstStyle/>
          <a:p>
            <a:fld id="{8887122E-1A98-45FF-9041-48FC7599DFB4}" type="slidenum">
              <a:rPr lang="en-NG" smtClean="0"/>
              <a:t>8</a:t>
            </a:fld>
            <a:endParaRPr lang="en-NG"/>
          </a:p>
        </p:txBody>
      </p:sp>
    </p:spTree>
    <p:extLst>
      <p:ext uri="{BB962C8B-B14F-4D97-AF65-F5344CB8AC3E}">
        <p14:creationId xmlns:p14="http://schemas.microsoft.com/office/powerpoint/2010/main" val="1495422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081B7-9A12-3ED1-3D16-020183B89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D79BA3-6D59-DDBE-D2A8-87ACEED2D2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B1729B-49CC-E0E4-D1AE-39C43C711D53}"/>
              </a:ext>
            </a:extLst>
          </p:cNvPr>
          <p:cNvSpPr>
            <a:spLocks noGrp="1"/>
          </p:cNvSpPr>
          <p:nvPr>
            <p:ph type="body" idx="1"/>
          </p:nvPr>
        </p:nvSpPr>
        <p:spPr/>
        <p:txBody>
          <a:bodyPr/>
          <a:lstStyle/>
          <a:p>
            <a:endParaRPr lang="en-NG" dirty="0"/>
          </a:p>
        </p:txBody>
      </p:sp>
      <p:sp>
        <p:nvSpPr>
          <p:cNvPr id="4" name="Slide Number Placeholder 3">
            <a:extLst>
              <a:ext uri="{FF2B5EF4-FFF2-40B4-BE49-F238E27FC236}">
                <a16:creationId xmlns:a16="http://schemas.microsoft.com/office/drawing/2014/main" id="{DF4AD1C9-E4E5-130B-108F-FC54E6C74282}"/>
              </a:ext>
            </a:extLst>
          </p:cNvPr>
          <p:cNvSpPr>
            <a:spLocks noGrp="1"/>
          </p:cNvSpPr>
          <p:nvPr>
            <p:ph type="sldNum" sz="quarter" idx="5"/>
          </p:nvPr>
        </p:nvSpPr>
        <p:spPr/>
        <p:txBody>
          <a:bodyPr/>
          <a:lstStyle/>
          <a:p>
            <a:fld id="{8887122E-1A98-45FF-9041-48FC7599DFB4}" type="slidenum">
              <a:rPr lang="en-NG" smtClean="0"/>
              <a:t>9</a:t>
            </a:fld>
            <a:endParaRPr lang="en-NG"/>
          </a:p>
        </p:txBody>
      </p:sp>
    </p:spTree>
    <p:extLst>
      <p:ext uri="{BB962C8B-B14F-4D97-AF65-F5344CB8AC3E}">
        <p14:creationId xmlns:p14="http://schemas.microsoft.com/office/powerpoint/2010/main" val="3372242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FA053-3429-49EF-967B-EA204F403A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20E63-A1AF-791C-3F36-0FC641507A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53CE88-CC75-CC67-7A18-F5C9B948DD2F}"/>
              </a:ext>
            </a:extLst>
          </p:cNvPr>
          <p:cNvSpPr>
            <a:spLocks noGrp="1"/>
          </p:cNvSpPr>
          <p:nvPr>
            <p:ph type="body" idx="1"/>
          </p:nvPr>
        </p:nvSpPr>
        <p:spPr/>
        <p:txBody>
          <a:bodyPr/>
          <a:lstStyle/>
          <a:p>
            <a:endParaRPr lang="en-NG" dirty="0"/>
          </a:p>
        </p:txBody>
      </p:sp>
      <p:sp>
        <p:nvSpPr>
          <p:cNvPr id="4" name="Slide Number Placeholder 3">
            <a:extLst>
              <a:ext uri="{FF2B5EF4-FFF2-40B4-BE49-F238E27FC236}">
                <a16:creationId xmlns:a16="http://schemas.microsoft.com/office/drawing/2014/main" id="{AE81D29B-51F2-6325-FB6D-90CC43E423D6}"/>
              </a:ext>
            </a:extLst>
          </p:cNvPr>
          <p:cNvSpPr>
            <a:spLocks noGrp="1"/>
          </p:cNvSpPr>
          <p:nvPr>
            <p:ph type="sldNum" sz="quarter" idx="5"/>
          </p:nvPr>
        </p:nvSpPr>
        <p:spPr/>
        <p:txBody>
          <a:bodyPr/>
          <a:lstStyle/>
          <a:p>
            <a:fld id="{8887122E-1A98-45FF-9041-48FC7599DFB4}" type="slidenum">
              <a:rPr lang="en-NG" smtClean="0"/>
              <a:t>10</a:t>
            </a:fld>
            <a:endParaRPr lang="en-NG"/>
          </a:p>
        </p:txBody>
      </p:sp>
    </p:spTree>
    <p:extLst>
      <p:ext uri="{BB962C8B-B14F-4D97-AF65-F5344CB8AC3E}">
        <p14:creationId xmlns:p14="http://schemas.microsoft.com/office/powerpoint/2010/main" val="39286368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8B84D-B48F-DFD3-BEA1-4691E19005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24B19-920E-70F0-51AB-07DF901C0D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D6569F-179C-C20B-F5ED-BA330DBD7E65}"/>
              </a:ext>
            </a:extLst>
          </p:cNvPr>
          <p:cNvSpPr>
            <a:spLocks noGrp="1"/>
          </p:cNvSpPr>
          <p:nvPr>
            <p:ph type="body" idx="1"/>
          </p:nvPr>
        </p:nvSpPr>
        <p:spPr/>
        <p:txBody>
          <a:bodyPr/>
          <a:lstStyle/>
          <a:p>
            <a:endParaRPr lang="en-NG" dirty="0"/>
          </a:p>
        </p:txBody>
      </p:sp>
      <p:sp>
        <p:nvSpPr>
          <p:cNvPr id="4" name="Slide Number Placeholder 3">
            <a:extLst>
              <a:ext uri="{FF2B5EF4-FFF2-40B4-BE49-F238E27FC236}">
                <a16:creationId xmlns:a16="http://schemas.microsoft.com/office/drawing/2014/main" id="{ACA81B6A-2E78-3445-B2C5-2B529A759085}"/>
              </a:ext>
            </a:extLst>
          </p:cNvPr>
          <p:cNvSpPr>
            <a:spLocks noGrp="1"/>
          </p:cNvSpPr>
          <p:nvPr>
            <p:ph type="sldNum" sz="quarter" idx="5"/>
          </p:nvPr>
        </p:nvSpPr>
        <p:spPr/>
        <p:txBody>
          <a:bodyPr/>
          <a:lstStyle/>
          <a:p>
            <a:fld id="{8887122E-1A98-45FF-9041-48FC7599DFB4}" type="slidenum">
              <a:rPr lang="en-NG" smtClean="0"/>
              <a:t>11</a:t>
            </a:fld>
            <a:endParaRPr lang="en-NG"/>
          </a:p>
        </p:txBody>
      </p:sp>
    </p:spTree>
    <p:extLst>
      <p:ext uri="{BB962C8B-B14F-4D97-AF65-F5344CB8AC3E}">
        <p14:creationId xmlns:p14="http://schemas.microsoft.com/office/powerpoint/2010/main" val="2806751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40F48-AF36-390F-33C3-73DA3907A6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DDBA1-0620-EF5A-64BD-46ECD8347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86CD53-DE23-17F7-8181-0DC93A431715}"/>
              </a:ext>
            </a:extLst>
          </p:cNvPr>
          <p:cNvSpPr>
            <a:spLocks noGrp="1"/>
          </p:cNvSpPr>
          <p:nvPr>
            <p:ph type="body" idx="1"/>
          </p:nvPr>
        </p:nvSpPr>
        <p:spPr/>
        <p:txBody>
          <a:bodyPr/>
          <a:lstStyle/>
          <a:p>
            <a:endParaRPr lang="en-NG" dirty="0"/>
          </a:p>
        </p:txBody>
      </p:sp>
      <p:sp>
        <p:nvSpPr>
          <p:cNvPr id="4" name="Slide Number Placeholder 3">
            <a:extLst>
              <a:ext uri="{FF2B5EF4-FFF2-40B4-BE49-F238E27FC236}">
                <a16:creationId xmlns:a16="http://schemas.microsoft.com/office/drawing/2014/main" id="{54D31F46-46C3-BE58-EDF5-E3CD6489C9AD}"/>
              </a:ext>
            </a:extLst>
          </p:cNvPr>
          <p:cNvSpPr>
            <a:spLocks noGrp="1"/>
          </p:cNvSpPr>
          <p:nvPr>
            <p:ph type="sldNum" sz="quarter" idx="5"/>
          </p:nvPr>
        </p:nvSpPr>
        <p:spPr/>
        <p:txBody>
          <a:bodyPr/>
          <a:lstStyle/>
          <a:p>
            <a:fld id="{8887122E-1A98-45FF-9041-48FC7599DFB4}" type="slidenum">
              <a:rPr lang="en-NG" smtClean="0"/>
              <a:t>12</a:t>
            </a:fld>
            <a:endParaRPr lang="en-NG"/>
          </a:p>
        </p:txBody>
      </p:sp>
    </p:spTree>
    <p:extLst>
      <p:ext uri="{BB962C8B-B14F-4D97-AF65-F5344CB8AC3E}">
        <p14:creationId xmlns:p14="http://schemas.microsoft.com/office/powerpoint/2010/main" val="1415482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5F7B2-233F-7ED5-2B39-6399B004CF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C155D5-A38E-3BF4-7939-4E13ABAF79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492622-DC03-D519-8127-C579163FAD89}"/>
              </a:ext>
            </a:extLst>
          </p:cNvPr>
          <p:cNvSpPr>
            <a:spLocks noGrp="1"/>
          </p:cNvSpPr>
          <p:nvPr>
            <p:ph type="body" idx="1"/>
          </p:nvPr>
        </p:nvSpPr>
        <p:spPr/>
        <p:txBody>
          <a:bodyPr/>
          <a:lstStyle/>
          <a:p>
            <a:endParaRPr lang="en-NG" dirty="0"/>
          </a:p>
        </p:txBody>
      </p:sp>
      <p:sp>
        <p:nvSpPr>
          <p:cNvPr id="4" name="Slide Number Placeholder 3">
            <a:extLst>
              <a:ext uri="{FF2B5EF4-FFF2-40B4-BE49-F238E27FC236}">
                <a16:creationId xmlns:a16="http://schemas.microsoft.com/office/drawing/2014/main" id="{21C274F4-9072-02C9-1054-621A142CE529}"/>
              </a:ext>
            </a:extLst>
          </p:cNvPr>
          <p:cNvSpPr>
            <a:spLocks noGrp="1"/>
          </p:cNvSpPr>
          <p:nvPr>
            <p:ph type="sldNum" sz="quarter" idx="5"/>
          </p:nvPr>
        </p:nvSpPr>
        <p:spPr/>
        <p:txBody>
          <a:bodyPr/>
          <a:lstStyle/>
          <a:p>
            <a:fld id="{8887122E-1A98-45FF-9041-48FC7599DFB4}" type="slidenum">
              <a:rPr lang="en-NG" smtClean="0"/>
              <a:t>13</a:t>
            </a:fld>
            <a:endParaRPr lang="en-NG"/>
          </a:p>
        </p:txBody>
      </p:sp>
    </p:spTree>
    <p:extLst>
      <p:ext uri="{BB962C8B-B14F-4D97-AF65-F5344CB8AC3E}">
        <p14:creationId xmlns:p14="http://schemas.microsoft.com/office/powerpoint/2010/main" val="3997200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2A301-E794-47A2-369F-DE9CAF6B18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D7E8BC-2DE0-CB08-87E7-DF5D750AD2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F53D11-D5E8-3493-9F82-6A0D04791CA7}"/>
              </a:ext>
            </a:extLst>
          </p:cNvPr>
          <p:cNvSpPr>
            <a:spLocks noGrp="1"/>
          </p:cNvSpPr>
          <p:nvPr>
            <p:ph type="body" idx="1"/>
          </p:nvPr>
        </p:nvSpPr>
        <p:spPr/>
        <p:txBody>
          <a:bodyPr/>
          <a:lstStyle/>
          <a:p>
            <a:endParaRPr lang="en-NG" dirty="0"/>
          </a:p>
        </p:txBody>
      </p:sp>
      <p:sp>
        <p:nvSpPr>
          <p:cNvPr id="4" name="Slide Number Placeholder 3">
            <a:extLst>
              <a:ext uri="{FF2B5EF4-FFF2-40B4-BE49-F238E27FC236}">
                <a16:creationId xmlns:a16="http://schemas.microsoft.com/office/drawing/2014/main" id="{38869FC5-335D-AB6E-383D-80C8D51692DC}"/>
              </a:ext>
            </a:extLst>
          </p:cNvPr>
          <p:cNvSpPr>
            <a:spLocks noGrp="1"/>
          </p:cNvSpPr>
          <p:nvPr>
            <p:ph type="sldNum" sz="quarter" idx="5"/>
          </p:nvPr>
        </p:nvSpPr>
        <p:spPr/>
        <p:txBody>
          <a:bodyPr/>
          <a:lstStyle/>
          <a:p>
            <a:fld id="{8887122E-1A98-45FF-9041-48FC7599DFB4}" type="slidenum">
              <a:rPr lang="en-NG" smtClean="0"/>
              <a:t>14</a:t>
            </a:fld>
            <a:endParaRPr lang="en-NG"/>
          </a:p>
        </p:txBody>
      </p:sp>
    </p:spTree>
    <p:extLst>
      <p:ext uri="{BB962C8B-B14F-4D97-AF65-F5344CB8AC3E}">
        <p14:creationId xmlns:p14="http://schemas.microsoft.com/office/powerpoint/2010/main" val="21155446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EB46B8FB-F6A2-5F47-A6CD-A7E17E69270F}"/>
              </a:ext>
            </a:extLst>
          </p:cNvPr>
          <p:cNvGrpSpPr/>
          <p:nvPr/>
        </p:nvGrpSpPr>
        <p:grpSpPr>
          <a:xfrm>
            <a:off x="6201388" y="0"/>
            <a:ext cx="5990612" cy="6858001"/>
            <a:chOff x="6201388" y="0"/>
            <a:chExt cx="5990612" cy="6858001"/>
          </a:xfrm>
        </p:grpSpPr>
        <p:sp>
          <p:nvSpPr>
            <p:cNvPr id="45" name="Oval 44">
              <a:extLst>
                <a:ext uri="{FF2B5EF4-FFF2-40B4-BE49-F238E27FC236}">
                  <a16:creationId xmlns:a16="http://schemas.microsoft.com/office/drawing/2014/main" id="{419BDE93-3EC2-4E4D-BC0B-417378F49EDA}"/>
                </a:ext>
              </a:extLst>
            </p:cNvPr>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a:extLst>
                <a:ext uri="{FF2B5EF4-FFF2-40B4-BE49-F238E27FC236}">
                  <a16:creationId xmlns:a16="http://schemas.microsoft.com/office/drawing/2014/main" id="{FE21F82F-1EE5-8240-97F8-387DF0253FCE}"/>
                </a:ext>
              </a:extLst>
            </p:cNvPr>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48">
              <a:extLst>
                <a:ext uri="{FF2B5EF4-FFF2-40B4-BE49-F238E27FC236}">
                  <a16:creationId xmlns:a16="http://schemas.microsoft.com/office/drawing/2014/main" id="{AE1903E3-6B5F-6B4C-9A1F-62628A050AEB}"/>
                </a:ext>
              </a:extLst>
            </p:cNvPr>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Oval 50">
              <a:extLst>
                <a:ext uri="{FF2B5EF4-FFF2-40B4-BE49-F238E27FC236}">
                  <a16:creationId xmlns:a16="http://schemas.microsoft.com/office/drawing/2014/main" id="{F7C55863-3B37-0743-B001-1A970033FBA8}"/>
                </a:ext>
              </a:extLst>
            </p:cNvPr>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932B4C24-3A58-924C-B79A-D961EF7C2C48}"/>
                </a:ext>
              </a:extLst>
            </p:cNvPr>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21EF52E0-D2CF-544F-93A6-4D7B45A0483A}"/>
                </a:ext>
              </a:extLst>
            </p:cNvPr>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Freeform 63">
              <a:extLst>
                <a:ext uri="{FF2B5EF4-FFF2-40B4-BE49-F238E27FC236}">
                  <a16:creationId xmlns:a16="http://schemas.microsoft.com/office/drawing/2014/main" id="{6966CFE5-1C8C-2E4F-9B2D-A8438F5A5322}"/>
                </a:ext>
              </a:extLst>
            </p:cNvPr>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5" name="Freeform 64">
              <a:extLst>
                <a:ext uri="{FF2B5EF4-FFF2-40B4-BE49-F238E27FC236}">
                  <a16:creationId xmlns:a16="http://schemas.microsoft.com/office/drawing/2014/main" id="{9FD29EF3-A5B2-554A-A307-6BE1BCE8AF03}"/>
                </a:ext>
              </a:extLst>
            </p:cNvPr>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a:extLst>
                <a:ext uri="{FF2B5EF4-FFF2-40B4-BE49-F238E27FC236}">
                  <a16:creationId xmlns:a16="http://schemas.microsoft.com/office/drawing/2014/main" id="{AC1ECAD8-0CF2-934D-AA1E-C108208CDE6F}"/>
                </a:ext>
              </a:extLst>
            </p:cNvPr>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DB14DED1-3A58-8C4D-902E-2A9F34043F61}"/>
                </a:ext>
              </a:extLst>
            </p:cNvPr>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65D65157-5719-0341-A807-A8956595FB4C}"/>
                </a:ext>
              </a:extLst>
            </p:cNvPr>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a:extLst>
                <a:ext uri="{FF2B5EF4-FFF2-40B4-BE49-F238E27FC236}">
                  <a16:creationId xmlns:a16="http://schemas.microsoft.com/office/drawing/2014/main" id="{A7F23F74-B777-2A4C-8EF9-E798880D5942}"/>
                </a:ext>
              </a:extLst>
            </p:cNvPr>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a:extLst>
                <a:ext uri="{FF2B5EF4-FFF2-40B4-BE49-F238E27FC236}">
                  <a16:creationId xmlns:a16="http://schemas.microsoft.com/office/drawing/2014/main" id="{E3B9A050-0AE1-1D4B-A2AC-6EEF64B106D9}"/>
                </a:ext>
              </a:extLst>
            </p:cNvPr>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a:extLst>
                <a:ext uri="{FF2B5EF4-FFF2-40B4-BE49-F238E27FC236}">
                  <a16:creationId xmlns:a16="http://schemas.microsoft.com/office/drawing/2014/main" id="{C424FE38-F803-8D47-BF56-1B18EC2B1F03}"/>
                </a:ext>
              </a:extLst>
            </p:cNvPr>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a:extLst>
                <a:ext uri="{FF2B5EF4-FFF2-40B4-BE49-F238E27FC236}">
                  <a16:creationId xmlns:a16="http://schemas.microsoft.com/office/drawing/2014/main" id="{E37187F2-9212-0641-97D0-1ACD50B748A8}"/>
                </a:ext>
              </a:extLst>
            </p:cNvPr>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C760C651-2AC4-564E-BEAA-AB7FAFE7F79F}"/>
                </a:ext>
              </a:extLst>
            </p:cNvPr>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58B0A1B8-5BA3-3548-9511-B4904D05264B}"/>
                </a:ext>
              </a:extLst>
            </p:cNvPr>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a:extLst>
                <a:ext uri="{FF2B5EF4-FFF2-40B4-BE49-F238E27FC236}">
                  <a16:creationId xmlns:a16="http://schemas.microsoft.com/office/drawing/2014/main" id="{424CD779-EE9A-214D-9488-767327E373AA}"/>
                </a:ext>
              </a:extLst>
            </p:cNvPr>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a:extLst>
                <a:ext uri="{FF2B5EF4-FFF2-40B4-BE49-F238E27FC236}">
                  <a16:creationId xmlns:a16="http://schemas.microsoft.com/office/drawing/2014/main" id="{630D08C6-9EFB-8540-875F-2A55DED2AAE3}"/>
                </a:ext>
              </a:extLst>
            </p:cNvPr>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a:extLst>
                <a:ext uri="{FF2B5EF4-FFF2-40B4-BE49-F238E27FC236}">
                  <a16:creationId xmlns:a16="http://schemas.microsoft.com/office/drawing/2014/main" id="{D7E8DA86-1294-4641-9C52-6E153150641C}"/>
                </a:ext>
              </a:extLst>
            </p:cNvPr>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a:extLst>
                <a:ext uri="{FF2B5EF4-FFF2-40B4-BE49-F238E27FC236}">
                  <a16:creationId xmlns:a16="http://schemas.microsoft.com/office/drawing/2014/main" id="{011063C9-2A43-3348-A018-F27FACAA778D}"/>
                </a:ext>
              </a:extLst>
            </p:cNvPr>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a:extLst>
                <a:ext uri="{FF2B5EF4-FFF2-40B4-BE49-F238E27FC236}">
                  <a16:creationId xmlns:a16="http://schemas.microsoft.com/office/drawing/2014/main" id="{EE85C7DE-D965-244F-BD95-3A05FF4AAC61}"/>
                </a:ext>
              </a:extLst>
            </p:cNvPr>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a:extLst>
                <a:ext uri="{FF2B5EF4-FFF2-40B4-BE49-F238E27FC236}">
                  <a16:creationId xmlns:a16="http://schemas.microsoft.com/office/drawing/2014/main" id="{315A1389-149A-3342-A863-637D42FDB28D}"/>
                </a:ext>
              </a:extLst>
            </p:cNvPr>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a:extLst>
                <a:ext uri="{FF2B5EF4-FFF2-40B4-BE49-F238E27FC236}">
                  <a16:creationId xmlns:a16="http://schemas.microsoft.com/office/drawing/2014/main" id="{B149CC6F-B6C6-BE46-B451-1BF7D47A8936}"/>
                </a:ext>
              </a:extLst>
            </p:cNvPr>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CDAB39E9-6F50-3F4B-9DDB-FC0E0CA993A6}"/>
              </a:ext>
            </a:extLst>
          </p:cNvPr>
          <p:cNvSpPr>
            <a:spLocks noGrp="1"/>
          </p:cNvSpPr>
          <p:nvPr>
            <p:ph type="ctrTitle"/>
          </p:nvPr>
        </p:nvSpPr>
        <p:spPr>
          <a:xfrm>
            <a:off x="565150" y="768334"/>
            <a:ext cx="5066001" cy="2866405"/>
          </a:xfrm>
        </p:spPr>
        <p:txBody>
          <a:bodyPr anchor="t"/>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A6B2C33E-E9A6-304D-BBCB-97AD0B213CE0}"/>
              </a:ext>
            </a:extLst>
          </p:cNvPr>
          <p:cNvSpPr>
            <a:spLocks noGrp="1"/>
          </p:cNvSpPr>
          <p:nvPr>
            <p:ph type="subTitle" idx="1"/>
          </p:nvPr>
        </p:nvSpPr>
        <p:spPr>
          <a:xfrm>
            <a:off x="565150" y="4283239"/>
            <a:ext cx="5066001" cy="1475177"/>
          </a:xfrm>
        </p:spPr>
        <p:txBody>
          <a:bodyPr anchor="b"/>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29C75C4-E533-BE48-B528-D1A278BC39A3}"/>
              </a:ext>
            </a:extLst>
          </p:cNvPr>
          <p:cNvSpPr>
            <a:spLocks noGrp="1"/>
          </p:cNvSpPr>
          <p:nvPr>
            <p:ph type="dt" sz="half" idx="10"/>
          </p:nvPr>
        </p:nvSpPr>
        <p:spPr>
          <a:xfrm>
            <a:off x="566928" y="457200"/>
            <a:ext cx="3608205" cy="365125"/>
          </a:xfrm>
        </p:spPr>
        <p:txBody>
          <a:bodyPr/>
          <a:lstStyle>
            <a:lvl1pPr algn="l">
              <a:defRPr/>
            </a:lvl1pPr>
          </a:lstStyle>
          <a:p>
            <a:pPr algn="l"/>
            <a:fld id="{A5B0A250-5CC0-1746-B209-08E8B0DAE6AF}" type="datetimeFigureOut">
              <a:rPr lang="en-US" smtClean="0"/>
              <a:pPr algn="l"/>
              <a:t>3/4/2026</a:t>
            </a:fld>
            <a:endParaRPr lang="en-US" dirty="0"/>
          </a:p>
        </p:txBody>
      </p:sp>
      <p:sp>
        <p:nvSpPr>
          <p:cNvPr id="5" name="Footer Placeholder 4">
            <a:extLst>
              <a:ext uri="{FF2B5EF4-FFF2-40B4-BE49-F238E27FC236}">
                <a16:creationId xmlns:a16="http://schemas.microsoft.com/office/drawing/2014/main" id="{8F09BA8A-EF83-434D-A90E-0805D1104A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FCFDDE0-90B9-AD4E-B0EB-E7464FA9CDF2}"/>
              </a:ext>
            </a:extLst>
          </p:cNvPr>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a:extLst>
              <a:ext uri="{FF2B5EF4-FFF2-40B4-BE49-F238E27FC236}">
                <a16:creationId xmlns:a16="http://schemas.microsoft.com/office/drawing/2014/main" id="{D33A3282-0389-C547-8CA6-7F3E7F27B34D}"/>
              </a:ext>
            </a:extLst>
          </p:cNvPr>
          <p:cNvCxnSpPr>
            <a:cxnSpLocks/>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a:extLst>
              <a:ext uri="{FF2B5EF4-FFF2-40B4-BE49-F238E27FC236}">
                <a16:creationId xmlns:a16="http://schemas.microsoft.com/office/drawing/2014/main" id="{9E91172A-D17D-C180-F3B1-0141247E2D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extLst>
      <p:ext uri="{BB962C8B-B14F-4D97-AF65-F5344CB8AC3E}">
        <p14:creationId xmlns:p14="http://schemas.microsoft.com/office/powerpoint/2010/main" val="3718255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2A1E4-52BA-534C-AECC-35C3CF44F861}"/>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8315675-65B4-E14F-9785-663A83B7B6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676A1E-2332-684F-BDD2-687C166BDEC0}"/>
              </a:ext>
            </a:extLst>
          </p:cNvPr>
          <p:cNvSpPr>
            <a:spLocks noGrp="1"/>
          </p:cNvSpPr>
          <p:nvPr>
            <p:ph type="dt" sz="half" idx="10"/>
          </p:nvPr>
        </p:nvSpPr>
        <p:spPr/>
        <p:txBody>
          <a:bodyPr/>
          <a:lstStyle/>
          <a:p>
            <a:fld id="{A5B0A250-5CC0-1746-B209-08E8B0DAE6AF}" type="datetimeFigureOut">
              <a:rPr lang="en-US" smtClean="0"/>
              <a:t>3/4/2026</a:t>
            </a:fld>
            <a:endParaRPr lang="en-US" dirty="0"/>
          </a:p>
        </p:txBody>
      </p:sp>
      <p:sp>
        <p:nvSpPr>
          <p:cNvPr id="5" name="Footer Placeholder 4">
            <a:extLst>
              <a:ext uri="{FF2B5EF4-FFF2-40B4-BE49-F238E27FC236}">
                <a16:creationId xmlns:a16="http://schemas.microsoft.com/office/drawing/2014/main" id="{22BB8CB0-B7BE-7D4F-B254-8A2F8AEC273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3E5A569-A063-8E40-B703-82B11D2A988A}"/>
              </a:ext>
            </a:extLst>
          </p:cNvPr>
          <p:cNvSpPr>
            <a:spLocks noGrp="1"/>
          </p:cNvSpPr>
          <p:nvPr>
            <p:ph type="sldNum" sz="quarter" idx="12"/>
          </p:nvPr>
        </p:nvSpPr>
        <p:spPr>
          <a:xfrm>
            <a:off x="7087169" y="6141085"/>
            <a:ext cx="813816" cy="365125"/>
          </a:xfrm>
        </p:spPr>
        <p:txBody>
          <a:bodyPr/>
          <a:lstStyle/>
          <a:p>
            <a:fld id="{49ABCAEC-7D34-E549-A96E-FCEDAADBE4B0}" type="slidenum">
              <a:rPr lang="en-US" smtClean="0"/>
              <a:t>‹#›</a:t>
            </a:fld>
            <a:endParaRPr lang="en-US"/>
          </a:p>
        </p:txBody>
      </p:sp>
      <p:pic>
        <p:nvPicPr>
          <p:cNvPr id="8" name="Picture 7" descr="A close up of a logo&#10;&#10;AI-generated content may be incorrect.">
            <a:extLst>
              <a:ext uri="{FF2B5EF4-FFF2-40B4-BE49-F238E27FC236}">
                <a16:creationId xmlns:a16="http://schemas.microsoft.com/office/drawing/2014/main" id="{7EC6D666-5D0B-8C45-3F9D-885CF10834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77582" y="457200"/>
            <a:ext cx="850588" cy="614125"/>
          </a:xfrm>
          <a:prstGeom prst="rect">
            <a:avLst/>
          </a:prstGeom>
        </p:spPr>
      </p:pic>
      <p:pic>
        <p:nvPicPr>
          <p:cNvPr id="10" name="Picture 9" descr="A blue and orange lines&#10;&#10;AI-generated content may be incorrect.">
            <a:extLst>
              <a:ext uri="{FF2B5EF4-FFF2-40B4-BE49-F238E27FC236}">
                <a16:creationId xmlns:a16="http://schemas.microsoft.com/office/drawing/2014/main" id="{BB434980-A235-A835-9CA9-3906FF866B11}"/>
              </a:ext>
            </a:extLst>
          </p:cNvPr>
          <p:cNvPicPr>
            <a:picLocks noChangeAspect="1"/>
          </p:cNvPicPr>
          <p:nvPr userDrawn="1"/>
        </p:nvPicPr>
        <p:blipFill>
          <a:blip r:embed="rId3">
            <a:extLst>
              <a:ext uri="{28A0092B-C50C-407E-A947-70E740481C1C}">
                <a14:useLocalDpi xmlns:a14="http://schemas.microsoft.com/office/drawing/2010/main" val="0"/>
              </a:ext>
            </a:extLst>
          </a:blip>
          <a:srcRect r="58199"/>
          <a:stretch>
            <a:fillRect/>
          </a:stretch>
        </p:blipFill>
        <p:spPr>
          <a:xfrm rot="5400000">
            <a:off x="5710555" y="376555"/>
            <a:ext cx="770890" cy="12192000"/>
          </a:xfrm>
          <a:prstGeom prst="rect">
            <a:avLst/>
          </a:prstGeom>
        </p:spPr>
      </p:pic>
    </p:spTree>
    <p:extLst>
      <p:ext uri="{BB962C8B-B14F-4D97-AF65-F5344CB8AC3E}">
        <p14:creationId xmlns:p14="http://schemas.microsoft.com/office/powerpoint/2010/main" val="2123785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0648E-B4D5-4145-84E7-46B5793EA68B}"/>
              </a:ext>
            </a:extLst>
          </p:cNvPr>
          <p:cNvSpPr>
            <a:spLocks noGrp="1"/>
          </p:cNvSpPr>
          <p:nvPr>
            <p:ph type="title"/>
          </p:nvPr>
        </p:nvSpPr>
        <p:spPr>
          <a:xfrm>
            <a:off x="565150" y="768351"/>
            <a:ext cx="5066001" cy="2334768"/>
          </a:xfrm>
        </p:spPr>
        <p:txBody>
          <a:bodyPr anchor="t"/>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E3B92A6-7558-3148-B855-5BC58B4159C5}"/>
              </a:ext>
            </a:extLst>
          </p:cNvPr>
          <p:cNvSpPr>
            <a:spLocks noGrp="1"/>
          </p:cNvSpPr>
          <p:nvPr>
            <p:ph type="body" idx="1"/>
          </p:nvPr>
        </p:nvSpPr>
        <p:spPr>
          <a:xfrm>
            <a:off x="565150" y="4255453"/>
            <a:ext cx="5066001" cy="1500187"/>
          </a:xfrm>
        </p:spPr>
        <p:txBody>
          <a:bodyPr anchor="b"/>
          <a:lstStyle>
            <a:lvl1pPr marL="0" indent="0">
              <a:buNone/>
              <a:defRPr sz="2400">
                <a:solidFill>
                  <a:schemeClr val="bg1">
                    <a:lumMod val="6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3A0B541-D211-974B-97FE-C1F9473ABE9D}"/>
              </a:ext>
            </a:extLst>
          </p:cNvPr>
          <p:cNvSpPr>
            <a:spLocks noGrp="1"/>
          </p:cNvSpPr>
          <p:nvPr>
            <p:ph type="dt" sz="half" idx="10"/>
          </p:nvPr>
        </p:nvSpPr>
        <p:spPr/>
        <p:txBody>
          <a:bodyPr/>
          <a:lstStyle/>
          <a:p>
            <a:fld id="{A5B0A250-5CC0-1746-B209-08E8B0DAE6AF}" type="datetimeFigureOut">
              <a:rPr lang="en-US" smtClean="0"/>
              <a:t>3/4/2026</a:t>
            </a:fld>
            <a:endParaRPr lang="en-US" dirty="0"/>
          </a:p>
        </p:txBody>
      </p:sp>
      <p:sp>
        <p:nvSpPr>
          <p:cNvPr id="5" name="Footer Placeholder 4">
            <a:extLst>
              <a:ext uri="{FF2B5EF4-FFF2-40B4-BE49-F238E27FC236}">
                <a16:creationId xmlns:a16="http://schemas.microsoft.com/office/drawing/2014/main" id="{A1727FB0-D95A-D543-8E29-6E5F22B491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89C4404-F49D-9F48-A10B-1F60870B4450}"/>
              </a:ext>
            </a:extLst>
          </p:cNvPr>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a:extLst>
              <a:ext uri="{FF2B5EF4-FFF2-40B4-BE49-F238E27FC236}">
                <a16:creationId xmlns:a16="http://schemas.microsoft.com/office/drawing/2014/main" id="{2D6A1FD1-D82F-3141-8687-8D7C0631C215}"/>
              </a:ext>
            </a:extLst>
          </p:cNvPr>
          <p:cNvCxnSpPr>
            <a:cxnSpLocks/>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19497C09-89AE-6371-9DD4-75A5AF8DBC69}"/>
              </a:ext>
            </a:extLst>
          </p:cNvPr>
          <p:cNvGrpSpPr/>
          <p:nvPr userDrawn="1"/>
        </p:nvGrpSpPr>
        <p:grpSpPr>
          <a:xfrm>
            <a:off x="6201388" y="0"/>
            <a:ext cx="5990612" cy="6858001"/>
            <a:chOff x="6201388" y="0"/>
            <a:chExt cx="5990612" cy="6858001"/>
          </a:xfrm>
        </p:grpSpPr>
        <p:sp>
          <p:nvSpPr>
            <p:cNvPr id="34" name="Oval 33">
              <a:extLst>
                <a:ext uri="{FF2B5EF4-FFF2-40B4-BE49-F238E27FC236}">
                  <a16:creationId xmlns:a16="http://schemas.microsoft.com/office/drawing/2014/main" id="{B6198FF7-E543-F648-F22D-7A5A5F2906F4}"/>
                </a:ext>
              </a:extLst>
            </p:cNvPr>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46">
              <a:extLst>
                <a:ext uri="{FF2B5EF4-FFF2-40B4-BE49-F238E27FC236}">
                  <a16:creationId xmlns:a16="http://schemas.microsoft.com/office/drawing/2014/main" id="{07271CCF-0DC3-3BF8-249C-3411FA74D96D}"/>
                </a:ext>
              </a:extLst>
            </p:cNvPr>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48">
              <a:extLst>
                <a:ext uri="{FF2B5EF4-FFF2-40B4-BE49-F238E27FC236}">
                  <a16:creationId xmlns:a16="http://schemas.microsoft.com/office/drawing/2014/main" id="{CABBBCC2-237F-CBEA-84B0-1079062AC561}"/>
                </a:ext>
              </a:extLst>
            </p:cNvPr>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D6B8E4F2-524D-24A8-86F4-1792F6E50E8B}"/>
                </a:ext>
              </a:extLst>
            </p:cNvPr>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BE0BD260-421F-B483-B4A0-37FEFB3374F9}"/>
                </a:ext>
              </a:extLst>
            </p:cNvPr>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E7D44ADD-B4C5-FBF7-10B0-325421A0D6C9}"/>
                </a:ext>
              </a:extLst>
            </p:cNvPr>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Freeform 63">
              <a:extLst>
                <a:ext uri="{FF2B5EF4-FFF2-40B4-BE49-F238E27FC236}">
                  <a16:creationId xmlns:a16="http://schemas.microsoft.com/office/drawing/2014/main" id="{5593C120-03DA-0B74-3A14-C5E66EDC4F9C}"/>
                </a:ext>
              </a:extLst>
            </p:cNvPr>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6" name="Freeform 64">
              <a:extLst>
                <a:ext uri="{FF2B5EF4-FFF2-40B4-BE49-F238E27FC236}">
                  <a16:creationId xmlns:a16="http://schemas.microsoft.com/office/drawing/2014/main" id="{2E836D48-4A84-EAB5-F726-7655BEFF3EB4}"/>
                </a:ext>
              </a:extLst>
            </p:cNvPr>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a:extLst>
                <a:ext uri="{FF2B5EF4-FFF2-40B4-BE49-F238E27FC236}">
                  <a16:creationId xmlns:a16="http://schemas.microsoft.com/office/drawing/2014/main" id="{0A3C7E49-0C95-45AB-FF02-F449805F0F82}"/>
                </a:ext>
              </a:extLst>
            </p:cNvPr>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39F28514-8A8B-6BB2-9BC7-3D9A99443AA9}"/>
                </a:ext>
              </a:extLst>
            </p:cNvPr>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36FC6122-5293-4627-86DE-6601FA92141B}"/>
                </a:ext>
              </a:extLst>
            </p:cNvPr>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a:extLst>
                <a:ext uri="{FF2B5EF4-FFF2-40B4-BE49-F238E27FC236}">
                  <a16:creationId xmlns:a16="http://schemas.microsoft.com/office/drawing/2014/main" id="{D443DE6D-7BB4-A4DD-F128-91CF73CEBFBE}"/>
                </a:ext>
              </a:extLst>
            </p:cNvPr>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a:extLst>
                <a:ext uri="{FF2B5EF4-FFF2-40B4-BE49-F238E27FC236}">
                  <a16:creationId xmlns:a16="http://schemas.microsoft.com/office/drawing/2014/main" id="{DA35F092-ECC3-7737-485B-16E2C5DBBD9C}"/>
                </a:ext>
              </a:extLst>
            </p:cNvPr>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a:extLst>
                <a:ext uri="{FF2B5EF4-FFF2-40B4-BE49-F238E27FC236}">
                  <a16:creationId xmlns:a16="http://schemas.microsoft.com/office/drawing/2014/main" id="{03BEB774-3617-CD14-3987-72B21781DF42}"/>
                </a:ext>
              </a:extLst>
            </p:cNvPr>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a:extLst>
                <a:ext uri="{FF2B5EF4-FFF2-40B4-BE49-F238E27FC236}">
                  <a16:creationId xmlns:a16="http://schemas.microsoft.com/office/drawing/2014/main" id="{15958338-951C-A8ED-487F-7A180F97702A}"/>
                </a:ext>
              </a:extLst>
            </p:cNvPr>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6AAD3E28-B829-0A7D-41FB-9F6EC11DF07F}"/>
                </a:ext>
              </a:extLst>
            </p:cNvPr>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80446E0C-7C6F-48A3-9347-464A70687F1E}"/>
                </a:ext>
              </a:extLst>
            </p:cNvPr>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a:extLst>
                <a:ext uri="{FF2B5EF4-FFF2-40B4-BE49-F238E27FC236}">
                  <a16:creationId xmlns:a16="http://schemas.microsoft.com/office/drawing/2014/main" id="{3E242CA4-6284-C376-4F9A-836D395DD50F}"/>
                </a:ext>
              </a:extLst>
            </p:cNvPr>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a:extLst>
                <a:ext uri="{FF2B5EF4-FFF2-40B4-BE49-F238E27FC236}">
                  <a16:creationId xmlns:a16="http://schemas.microsoft.com/office/drawing/2014/main" id="{95B8F67F-0DC3-A4B2-71FF-A3483FA75FC1}"/>
                </a:ext>
              </a:extLst>
            </p:cNvPr>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a:extLst>
                <a:ext uri="{FF2B5EF4-FFF2-40B4-BE49-F238E27FC236}">
                  <a16:creationId xmlns:a16="http://schemas.microsoft.com/office/drawing/2014/main" id="{D290C650-6E01-A169-3427-A0621B17A73B}"/>
                </a:ext>
              </a:extLst>
            </p:cNvPr>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a:extLst>
                <a:ext uri="{FF2B5EF4-FFF2-40B4-BE49-F238E27FC236}">
                  <a16:creationId xmlns:a16="http://schemas.microsoft.com/office/drawing/2014/main" id="{36D4EC3C-D579-E8BB-FE8E-09E88C14B686}"/>
                </a:ext>
              </a:extLst>
            </p:cNvPr>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a:extLst>
                <a:ext uri="{FF2B5EF4-FFF2-40B4-BE49-F238E27FC236}">
                  <a16:creationId xmlns:a16="http://schemas.microsoft.com/office/drawing/2014/main" id="{55D23B81-F939-BBDA-DD0D-632F19F07160}"/>
                </a:ext>
              </a:extLst>
            </p:cNvPr>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a:extLst>
                <a:ext uri="{FF2B5EF4-FFF2-40B4-BE49-F238E27FC236}">
                  <a16:creationId xmlns:a16="http://schemas.microsoft.com/office/drawing/2014/main" id="{80FE3946-719E-8689-941C-2DA992DE45DE}"/>
                </a:ext>
              </a:extLst>
            </p:cNvPr>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a:extLst>
                <a:ext uri="{FF2B5EF4-FFF2-40B4-BE49-F238E27FC236}">
                  <a16:creationId xmlns:a16="http://schemas.microsoft.com/office/drawing/2014/main" id="{10F47F19-AA93-0318-795C-11AA315F23CD}"/>
                </a:ext>
              </a:extLst>
            </p:cNvPr>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83" name="Picture 82" descr="A close up of a logo&#10;&#10;AI-generated content may be incorrect.">
            <a:extLst>
              <a:ext uri="{FF2B5EF4-FFF2-40B4-BE49-F238E27FC236}">
                <a16:creationId xmlns:a16="http://schemas.microsoft.com/office/drawing/2014/main" id="{5AB071D6-F70F-FC27-1E58-03B4EB9BF7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extLst>
      <p:ext uri="{BB962C8B-B14F-4D97-AF65-F5344CB8AC3E}">
        <p14:creationId xmlns:p14="http://schemas.microsoft.com/office/powerpoint/2010/main" val="2991748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442ECFEB-12CF-4C4F-BC8A-5816C27CA565}"/>
              </a:ext>
            </a:extLst>
          </p:cNvPr>
          <p:cNvGrpSpPr/>
          <p:nvPr/>
        </p:nvGrpSpPr>
        <p:grpSpPr>
          <a:xfrm>
            <a:off x="10290315" y="0"/>
            <a:ext cx="1901686" cy="6858000"/>
            <a:chOff x="10290315" y="0"/>
            <a:chExt cx="1901686" cy="6858000"/>
          </a:xfrm>
        </p:grpSpPr>
        <p:sp>
          <p:nvSpPr>
            <p:cNvPr id="18" name="Oval 17">
              <a:extLst>
                <a:ext uri="{FF2B5EF4-FFF2-40B4-BE49-F238E27FC236}">
                  <a16:creationId xmlns:a16="http://schemas.microsoft.com/office/drawing/2014/main" id="{626C9482-2804-144B-88B2-0AF191BD757D}"/>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a:extLst>
                <a:ext uri="{FF2B5EF4-FFF2-40B4-BE49-F238E27FC236}">
                  <a16:creationId xmlns:a16="http://schemas.microsoft.com/office/drawing/2014/main" id="{71363F79-96BD-9240-86E2-DF26C9C2437D}"/>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153F0BF1-DA57-1D49-82F0-802F4D385A85}"/>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8CD42A1B-A03A-C946-8A2A-CE437EA433FD}"/>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5591FE00-3AAF-9B4B-8107-E94D50828227}"/>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149E92E9-89A7-4842-B271-411C7DF75D2D}"/>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23">
              <a:extLst>
                <a:ext uri="{FF2B5EF4-FFF2-40B4-BE49-F238E27FC236}">
                  <a16:creationId xmlns:a16="http://schemas.microsoft.com/office/drawing/2014/main" id="{4DC29C99-0841-9F46-AB1A-E9751DFE4487}"/>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EE0AB684-BDA8-014B-8DCC-125F8B8DCEE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2540E05-0F5F-6243-AD57-66BFC33ADBAC}"/>
              </a:ext>
            </a:extLst>
          </p:cNvPr>
          <p:cNvSpPr>
            <a:spLocks noGrp="1"/>
          </p:cNvSpPr>
          <p:nvPr>
            <p:ph sz="half" idx="1"/>
          </p:nvPr>
        </p:nvSpPr>
        <p:spPr>
          <a:xfrm>
            <a:off x="562851"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170B3A4-11FE-D94C-9B93-255E36231064}"/>
              </a:ext>
            </a:extLst>
          </p:cNvPr>
          <p:cNvSpPr>
            <a:spLocks noGrp="1"/>
          </p:cNvSpPr>
          <p:nvPr>
            <p:ph sz="half" idx="2"/>
          </p:nvPr>
        </p:nvSpPr>
        <p:spPr>
          <a:xfrm>
            <a:off x="6389638"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D67BEEAF-F881-6E48-84AF-E5CEEF1C7167}"/>
              </a:ext>
            </a:extLst>
          </p:cNvPr>
          <p:cNvSpPr>
            <a:spLocks noGrp="1"/>
          </p:cNvSpPr>
          <p:nvPr>
            <p:ph type="dt" sz="half" idx="10"/>
          </p:nvPr>
        </p:nvSpPr>
        <p:spPr/>
        <p:txBody>
          <a:bodyPr/>
          <a:lstStyle/>
          <a:p>
            <a:fld id="{A5B0A250-5CC0-1746-B209-08E8B0DAE6AF}" type="datetimeFigureOut">
              <a:rPr lang="en-US" smtClean="0"/>
              <a:t>3/4/2026</a:t>
            </a:fld>
            <a:endParaRPr lang="en-US" dirty="0"/>
          </a:p>
        </p:txBody>
      </p:sp>
      <p:sp>
        <p:nvSpPr>
          <p:cNvPr id="6" name="Footer Placeholder 5">
            <a:extLst>
              <a:ext uri="{FF2B5EF4-FFF2-40B4-BE49-F238E27FC236}">
                <a16:creationId xmlns:a16="http://schemas.microsoft.com/office/drawing/2014/main" id="{9C472753-1CC3-9244-9AF0-6927018A64F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4DD55D0-FCC7-AC42-9810-9B49E3348958}"/>
              </a:ext>
            </a:extLst>
          </p:cNvPr>
          <p:cNvSpPr>
            <a:spLocks noGrp="1"/>
          </p:cNvSpPr>
          <p:nvPr>
            <p:ph type="sldNum" sz="quarter" idx="12"/>
          </p:nvPr>
        </p:nvSpPr>
        <p:spPr/>
        <p:txBody>
          <a:bodyPr/>
          <a:lstStyle/>
          <a:p>
            <a:fld id="{49ABCAEC-7D34-E549-A96E-FCEDAADBE4B0}" type="slidenum">
              <a:rPr lang="en-US" smtClean="0"/>
              <a:t>‹#›</a:t>
            </a:fld>
            <a:endParaRPr lang="en-US" dirty="0"/>
          </a:p>
        </p:txBody>
      </p:sp>
      <p:cxnSp>
        <p:nvCxnSpPr>
          <p:cNvPr id="8" name="Straight Connector 7">
            <a:extLst>
              <a:ext uri="{FF2B5EF4-FFF2-40B4-BE49-F238E27FC236}">
                <a16:creationId xmlns:a16="http://schemas.microsoft.com/office/drawing/2014/main" id="{5FC736C3-88FB-244C-83B8-B2856998D221}"/>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a:extLst>
              <a:ext uri="{FF2B5EF4-FFF2-40B4-BE49-F238E27FC236}">
                <a16:creationId xmlns:a16="http://schemas.microsoft.com/office/drawing/2014/main" id="{17E75DCB-E0A9-8AE4-118D-B647268408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extLst>
      <p:ext uri="{BB962C8B-B14F-4D97-AF65-F5344CB8AC3E}">
        <p14:creationId xmlns:p14="http://schemas.microsoft.com/office/powerpoint/2010/main" val="3723680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7D16A9C-7411-5242-A59C-816B8907E3BE}"/>
              </a:ext>
            </a:extLst>
          </p:cNvPr>
          <p:cNvGrpSpPr/>
          <p:nvPr/>
        </p:nvGrpSpPr>
        <p:grpSpPr>
          <a:xfrm>
            <a:off x="10290315" y="0"/>
            <a:ext cx="1901686" cy="6858000"/>
            <a:chOff x="10290315" y="0"/>
            <a:chExt cx="1901686" cy="6858000"/>
          </a:xfrm>
        </p:grpSpPr>
        <p:sp>
          <p:nvSpPr>
            <p:cNvPr id="20" name="Oval 19">
              <a:extLst>
                <a:ext uri="{FF2B5EF4-FFF2-40B4-BE49-F238E27FC236}">
                  <a16:creationId xmlns:a16="http://schemas.microsoft.com/office/drawing/2014/main" id="{A997260B-7D44-7049-B605-7FD6E6CE5612}"/>
                </a:ext>
              </a:extLst>
            </p:cNvPr>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a:extLst>
                <a:ext uri="{FF2B5EF4-FFF2-40B4-BE49-F238E27FC236}">
                  <a16:creationId xmlns:a16="http://schemas.microsoft.com/office/drawing/2014/main" id="{5D6AF601-77C3-D74A-B1E5-7F33703A6927}"/>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4DFCA921-0F9E-2E41-A285-75409E25501A}"/>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120B9E03-438B-FC42-9DA1-835D5BC3FE88}"/>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a:extLst>
                <a:ext uri="{FF2B5EF4-FFF2-40B4-BE49-F238E27FC236}">
                  <a16:creationId xmlns:a16="http://schemas.microsoft.com/office/drawing/2014/main" id="{4D670E1F-61CD-8940-A898-6D5092A78BB9}"/>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080C64CF-0C6A-3449-9709-AE038C4A7995}"/>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25">
              <a:extLst>
                <a:ext uri="{FF2B5EF4-FFF2-40B4-BE49-F238E27FC236}">
                  <a16:creationId xmlns:a16="http://schemas.microsoft.com/office/drawing/2014/main" id="{FEC46D5B-957F-A24C-8E36-CC71F660EC8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9058182F-7B5E-FD42-AFC6-A3848D8332AC}"/>
              </a:ext>
            </a:extLst>
          </p:cNvPr>
          <p:cNvSpPr>
            <a:spLocks noGrp="1"/>
          </p:cNvSpPr>
          <p:nvPr>
            <p:ph type="title"/>
          </p:nvPr>
        </p:nvSpPr>
        <p:spPr>
          <a:xfrm>
            <a:off x="566928" y="768096"/>
            <a:ext cx="7333488" cy="127101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FD9E4DE-75C0-C841-A68D-9D7BBAD76C5E}"/>
              </a:ext>
            </a:extLst>
          </p:cNvPr>
          <p:cNvSpPr>
            <a:spLocks noGrp="1"/>
          </p:cNvSpPr>
          <p:nvPr>
            <p:ph type="body" idx="1"/>
          </p:nvPr>
        </p:nvSpPr>
        <p:spPr>
          <a:xfrm>
            <a:off x="562149"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B5C87F7-356E-9E43-97A0-D972B22853DA}"/>
              </a:ext>
            </a:extLst>
          </p:cNvPr>
          <p:cNvSpPr>
            <a:spLocks noGrp="1"/>
          </p:cNvSpPr>
          <p:nvPr>
            <p:ph sz="half" idx="2"/>
          </p:nvPr>
        </p:nvSpPr>
        <p:spPr>
          <a:xfrm>
            <a:off x="562149"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DAB4C28-30CB-CC4E-A25E-F4FEFA49BCA5}"/>
              </a:ext>
            </a:extLst>
          </p:cNvPr>
          <p:cNvSpPr>
            <a:spLocks noGrp="1"/>
          </p:cNvSpPr>
          <p:nvPr>
            <p:ph type="body" sz="quarter" idx="3"/>
          </p:nvPr>
        </p:nvSpPr>
        <p:spPr>
          <a:xfrm>
            <a:off x="6383066"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9ED0191-963B-1E4C-BEC5-9B42E39514A3}"/>
              </a:ext>
            </a:extLst>
          </p:cNvPr>
          <p:cNvSpPr>
            <a:spLocks noGrp="1"/>
          </p:cNvSpPr>
          <p:nvPr>
            <p:ph sz="quarter" idx="4"/>
          </p:nvPr>
        </p:nvSpPr>
        <p:spPr>
          <a:xfrm>
            <a:off x="6383066"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7F0E0BED-3EB7-BB4A-A556-FA967FB0115F}"/>
              </a:ext>
            </a:extLst>
          </p:cNvPr>
          <p:cNvSpPr>
            <a:spLocks noGrp="1"/>
          </p:cNvSpPr>
          <p:nvPr>
            <p:ph type="dt" sz="half" idx="10"/>
          </p:nvPr>
        </p:nvSpPr>
        <p:spPr/>
        <p:txBody>
          <a:bodyPr/>
          <a:lstStyle/>
          <a:p>
            <a:fld id="{A5B0A250-5CC0-1746-B209-08E8B0DAE6AF}" type="datetimeFigureOut">
              <a:rPr lang="en-US" smtClean="0"/>
              <a:t>3/4/2026</a:t>
            </a:fld>
            <a:endParaRPr lang="en-US" dirty="0"/>
          </a:p>
        </p:txBody>
      </p:sp>
      <p:sp>
        <p:nvSpPr>
          <p:cNvPr id="8" name="Footer Placeholder 7">
            <a:extLst>
              <a:ext uri="{FF2B5EF4-FFF2-40B4-BE49-F238E27FC236}">
                <a16:creationId xmlns:a16="http://schemas.microsoft.com/office/drawing/2014/main" id="{B6A2466A-4D90-174C-B382-AC4674D7215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6EADE49-8082-214B-9742-5EE8DA2E9FFE}"/>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10" name="Straight Connector 9">
            <a:extLst>
              <a:ext uri="{FF2B5EF4-FFF2-40B4-BE49-F238E27FC236}">
                <a16:creationId xmlns:a16="http://schemas.microsoft.com/office/drawing/2014/main" id="{75E39200-18D5-014B-BAB8-FF5D0BA15E0C}"/>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1" name="Picture 10" descr="A close up of a logo&#10;&#10;AI-generated content may be incorrect.">
            <a:extLst>
              <a:ext uri="{FF2B5EF4-FFF2-40B4-BE49-F238E27FC236}">
                <a16:creationId xmlns:a16="http://schemas.microsoft.com/office/drawing/2014/main" id="{A284F8FC-5CB3-2BD1-2B02-6524583371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extLst>
      <p:ext uri="{BB962C8B-B14F-4D97-AF65-F5344CB8AC3E}">
        <p14:creationId xmlns:p14="http://schemas.microsoft.com/office/powerpoint/2010/main" val="3646806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D7DF52F6-A06E-0343-95B8-DAAC38DB4B8C}"/>
              </a:ext>
            </a:extLst>
          </p:cNvPr>
          <p:cNvGrpSpPr/>
          <p:nvPr/>
        </p:nvGrpSpPr>
        <p:grpSpPr>
          <a:xfrm>
            <a:off x="10290315" y="0"/>
            <a:ext cx="1901686" cy="6858000"/>
            <a:chOff x="10290315" y="0"/>
            <a:chExt cx="1901686" cy="6858000"/>
          </a:xfrm>
        </p:grpSpPr>
        <p:sp>
          <p:nvSpPr>
            <p:cNvPr id="16" name="Oval 15">
              <a:extLst>
                <a:ext uri="{FF2B5EF4-FFF2-40B4-BE49-F238E27FC236}">
                  <a16:creationId xmlns:a16="http://schemas.microsoft.com/office/drawing/2014/main" id="{67092C52-7052-0749-9DA0-9374DBF495AE}"/>
                </a:ext>
              </a:extLst>
            </p:cNvPr>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a:extLst>
                <a:ext uri="{FF2B5EF4-FFF2-40B4-BE49-F238E27FC236}">
                  <a16:creationId xmlns:a16="http://schemas.microsoft.com/office/drawing/2014/main" id="{C64E1C2F-81E1-C44D-859C-946596C950F2}"/>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53626485-4263-0A44-9561-E278A7056C33}"/>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7D45AAB5-3CCC-DE4A-A962-3702911B55CC}"/>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8CAFB16F-8EDE-D44F-A51E-34EDC41E7404}"/>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DCD51329-732C-BB4C-98E5-715BAF9F8853}"/>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21">
              <a:extLst>
                <a:ext uri="{FF2B5EF4-FFF2-40B4-BE49-F238E27FC236}">
                  <a16:creationId xmlns:a16="http://schemas.microsoft.com/office/drawing/2014/main" id="{192B5D44-BC55-AF4C-984D-C8231B22F80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FA1E9E2-564E-7049-A22F-BB5B876BABB5}"/>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B6359D05-C08D-7747-B2FC-3F62B3357315}"/>
              </a:ext>
            </a:extLst>
          </p:cNvPr>
          <p:cNvSpPr>
            <a:spLocks noGrp="1"/>
          </p:cNvSpPr>
          <p:nvPr>
            <p:ph type="dt" sz="half" idx="10"/>
          </p:nvPr>
        </p:nvSpPr>
        <p:spPr/>
        <p:txBody>
          <a:bodyPr/>
          <a:lstStyle/>
          <a:p>
            <a:fld id="{A5B0A250-5CC0-1746-B209-08E8B0DAE6AF}" type="datetimeFigureOut">
              <a:rPr lang="en-US" smtClean="0"/>
              <a:t>3/4/2026</a:t>
            </a:fld>
            <a:endParaRPr lang="en-US" dirty="0"/>
          </a:p>
        </p:txBody>
      </p:sp>
      <p:sp>
        <p:nvSpPr>
          <p:cNvPr id="4" name="Footer Placeholder 3">
            <a:extLst>
              <a:ext uri="{FF2B5EF4-FFF2-40B4-BE49-F238E27FC236}">
                <a16:creationId xmlns:a16="http://schemas.microsoft.com/office/drawing/2014/main" id="{8E2FF615-BB08-A844-B689-BAA7C50407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63A67D-F96F-4849-8C83-49CC3A6539BB}"/>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6" name="Straight Connector 5">
            <a:extLst>
              <a:ext uri="{FF2B5EF4-FFF2-40B4-BE49-F238E27FC236}">
                <a16:creationId xmlns:a16="http://schemas.microsoft.com/office/drawing/2014/main" id="{1DCFAAB9-2B6B-8D4C-A748-433E2C393EA6}"/>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AI-generated content may be incorrect.">
            <a:extLst>
              <a:ext uri="{FF2B5EF4-FFF2-40B4-BE49-F238E27FC236}">
                <a16:creationId xmlns:a16="http://schemas.microsoft.com/office/drawing/2014/main" id="{46350139-760A-2B49-EEAB-39A916ACA3D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extLst>
      <p:ext uri="{BB962C8B-B14F-4D97-AF65-F5344CB8AC3E}">
        <p14:creationId xmlns:p14="http://schemas.microsoft.com/office/powerpoint/2010/main" val="3336894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798BCA70-D63D-40F6-B9B3-4E49B96E27FB}"/>
              </a:ext>
            </a:extLst>
          </p:cNvPr>
          <p:cNvSpPr>
            <a:spLocks noGrp="1"/>
          </p:cNvSpPr>
          <p:nvPr>
            <p:ph type="dt" sz="half" idx="10"/>
          </p:nvPr>
        </p:nvSpPr>
        <p:spPr/>
        <p:txBody>
          <a:bodyPr/>
          <a:lstStyle/>
          <a:p>
            <a:fld id="{A5B0A250-5CC0-1746-B209-08E8B0DAE6AF}" type="datetimeFigureOut">
              <a:rPr lang="en-US" smtClean="0"/>
              <a:pPr/>
              <a:t>3/4/2026</a:t>
            </a:fld>
            <a:endParaRPr lang="en-US" dirty="0"/>
          </a:p>
        </p:txBody>
      </p:sp>
      <p:sp>
        <p:nvSpPr>
          <p:cNvPr id="6" name="Footer Placeholder 5">
            <a:extLst>
              <a:ext uri="{FF2B5EF4-FFF2-40B4-BE49-F238E27FC236}">
                <a16:creationId xmlns:a16="http://schemas.microsoft.com/office/drawing/2014/main" id="{72F12559-BD91-4904-A24A-0CF0A2324A0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B658BB7-74A5-4A6F-A0FF-021E68F02BFF}"/>
              </a:ext>
            </a:extLst>
          </p:cNvPr>
          <p:cNvSpPr>
            <a:spLocks noGrp="1"/>
          </p:cNvSpPr>
          <p:nvPr>
            <p:ph type="sldNum" sz="quarter" idx="12"/>
          </p:nvPr>
        </p:nvSpPr>
        <p:spPr/>
        <p:txBody>
          <a:bodyPr/>
          <a:lstStyle/>
          <a:p>
            <a:fld id="{49ABCAEC-7D34-E549-A96E-FCEDAADBE4B0}" type="slidenum">
              <a:rPr lang="en-US" smtClean="0"/>
              <a:pPr/>
              <a:t>‹#›</a:t>
            </a:fld>
            <a:endParaRPr lang="en-US" dirty="0"/>
          </a:p>
        </p:txBody>
      </p:sp>
      <p:pic>
        <p:nvPicPr>
          <p:cNvPr id="2" name="Picture 1" descr="A close up of a logo&#10;&#10;AI-generated content may be incorrect.">
            <a:extLst>
              <a:ext uri="{FF2B5EF4-FFF2-40B4-BE49-F238E27FC236}">
                <a16:creationId xmlns:a16="http://schemas.microsoft.com/office/drawing/2014/main" id="{182C52E2-8AF9-D7F6-D5D6-D023C913EA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extLst>
      <p:ext uri="{BB962C8B-B14F-4D97-AF65-F5344CB8AC3E}">
        <p14:creationId xmlns:p14="http://schemas.microsoft.com/office/powerpoint/2010/main" val="2630422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D0914A35-7AAF-4B42-9C68-47A633EFD9D0}"/>
              </a:ext>
            </a:extLst>
          </p:cNvPr>
          <p:cNvGrpSpPr/>
          <p:nvPr/>
        </p:nvGrpSpPr>
        <p:grpSpPr>
          <a:xfrm>
            <a:off x="10290315" y="0"/>
            <a:ext cx="1901686" cy="6858000"/>
            <a:chOff x="10290315" y="0"/>
            <a:chExt cx="1901686" cy="6858000"/>
          </a:xfrm>
        </p:grpSpPr>
        <p:sp>
          <p:nvSpPr>
            <p:cNvPr id="18" name="Freeform 17">
              <a:extLst>
                <a:ext uri="{FF2B5EF4-FFF2-40B4-BE49-F238E27FC236}">
                  <a16:creationId xmlns:a16="http://schemas.microsoft.com/office/drawing/2014/main" id="{DABCED79-0E70-FB4D-ABF2-D859BF5556E4}"/>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8364885D-A3A4-5144-AB4E-7624F27287E6}"/>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D22073D5-CC72-0549-BD26-F7AF9851BE45}"/>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1827A049-C9FD-554E-9B01-F151B0D9E86B}"/>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76832559-4D18-8744-AB91-9FCFAB732477}"/>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22">
              <a:extLst>
                <a:ext uri="{FF2B5EF4-FFF2-40B4-BE49-F238E27FC236}">
                  <a16:creationId xmlns:a16="http://schemas.microsoft.com/office/drawing/2014/main" id="{BF97A623-E5DC-1B44-B687-8643B9F0D741}"/>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637BBE1-2C82-4E45-B5C5-35E07B05EA4E}"/>
              </a:ext>
            </a:extLst>
          </p:cNvPr>
          <p:cNvSpPr>
            <a:spLocks noGrp="1"/>
          </p:cNvSpPr>
          <p:nvPr>
            <p:ph type="title"/>
          </p:nvPr>
        </p:nvSpPr>
        <p:spPr>
          <a:xfrm>
            <a:off x="565151" y="764973"/>
            <a:ext cx="3609982" cy="1395043"/>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54201F2E-A734-364B-8A7D-990D6B8893D0}"/>
              </a:ext>
            </a:extLst>
          </p:cNvPr>
          <p:cNvSpPr>
            <a:spLocks noGrp="1"/>
          </p:cNvSpPr>
          <p:nvPr>
            <p:ph idx="1"/>
          </p:nvPr>
        </p:nvSpPr>
        <p:spPr>
          <a:xfrm>
            <a:off x="5104832" y="770890"/>
            <a:ext cx="6112517" cy="4800570"/>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D57CBAD9-5515-1748-8E77-F48160F4ED1C}"/>
              </a:ext>
            </a:extLst>
          </p:cNvPr>
          <p:cNvSpPr>
            <a:spLocks noGrp="1"/>
          </p:cNvSpPr>
          <p:nvPr>
            <p:ph type="body" sz="half" idx="2"/>
          </p:nvPr>
        </p:nvSpPr>
        <p:spPr>
          <a:xfrm>
            <a:off x="565150" y="2160016"/>
            <a:ext cx="3609983" cy="37089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A6C22B-80D4-AA42-9999-401E37B469C0}"/>
              </a:ext>
            </a:extLst>
          </p:cNvPr>
          <p:cNvSpPr>
            <a:spLocks noGrp="1"/>
          </p:cNvSpPr>
          <p:nvPr>
            <p:ph type="dt" sz="half" idx="10"/>
          </p:nvPr>
        </p:nvSpPr>
        <p:spPr/>
        <p:txBody>
          <a:bodyPr/>
          <a:lstStyle/>
          <a:p>
            <a:fld id="{A5B0A250-5CC0-1746-B209-08E8B0DAE6AF}" type="datetimeFigureOut">
              <a:rPr lang="en-US" smtClean="0"/>
              <a:t>3/4/2026</a:t>
            </a:fld>
            <a:endParaRPr lang="en-US" dirty="0"/>
          </a:p>
        </p:txBody>
      </p:sp>
      <p:sp>
        <p:nvSpPr>
          <p:cNvPr id="6" name="Footer Placeholder 5">
            <a:extLst>
              <a:ext uri="{FF2B5EF4-FFF2-40B4-BE49-F238E27FC236}">
                <a16:creationId xmlns:a16="http://schemas.microsoft.com/office/drawing/2014/main" id="{03055DE4-33E8-7F4B-9334-95EA60845C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470FA5-21EE-D742-8F01-C1BAE0FDB064}"/>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a:extLst>
              <a:ext uri="{FF2B5EF4-FFF2-40B4-BE49-F238E27FC236}">
                <a16:creationId xmlns:a16="http://schemas.microsoft.com/office/drawing/2014/main" id="{BEF966AA-D7DF-F84D-80D4-E216A641B005}"/>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6758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210D391A-F01E-4947-8A01-95438AA0B323}"/>
              </a:ext>
            </a:extLst>
          </p:cNvPr>
          <p:cNvGrpSpPr/>
          <p:nvPr/>
        </p:nvGrpSpPr>
        <p:grpSpPr>
          <a:xfrm>
            <a:off x="10290315" y="0"/>
            <a:ext cx="1901686" cy="6858000"/>
            <a:chOff x="10290315" y="0"/>
            <a:chExt cx="1901686" cy="6858000"/>
          </a:xfrm>
        </p:grpSpPr>
        <p:sp>
          <p:nvSpPr>
            <p:cNvPr id="17" name="Oval 16">
              <a:extLst>
                <a:ext uri="{FF2B5EF4-FFF2-40B4-BE49-F238E27FC236}">
                  <a16:creationId xmlns:a16="http://schemas.microsoft.com/office/drawing/2014/main" id="{7D499306-B4E0-064D-8F6C-96E9C4BD04DA}"/>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a:extLst>
                <a:ext uri="{FF2B5EF4-FFF2-40B4-BE49-F238E27FC236}">
                  <a16:creationId xmlns:a16="http://schemas.microsoft.com/office/drawing/2014/main" id="{AF3D0241-0A21-8047-8CE3-B3FDD5FDF719}"/>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13083F97-6891-0447-957C-AB0834B826D2}"/>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B2EF7D75-E7C1-5147-A03B-3EC641CF3B08}"/>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A6D7CA94-94B4-C140-8C68-01C0ADFA1C71}"/>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211CD629-C318-A848-BDDE-BBA9465EBF9D}"/>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2A5AC1F8-1370-E946-977E-E4CFC6947BA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64CEE63B-B967-0A48-9623-2203767609F4}"/>
              </a:ext>
            </a:extLst>
          </p:cNvPr>
          <p:cNvSpPr>
            <a:spLocks noGrp="1"/>
          </p:cNvSpPr>
          <p:nvPr>
            <p:ph type="title"/>
          </p:nvPr>
        </p:nvSpPr>
        <p:spPr>
          <a:xfrm>
            <a:off x="565150" y="770889"/>
            <a:ext cx="3609983" cy="1389127"/>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9211F680-28C8-FA44-9CD5-20709DA02EA0}"/>
              </a:ext>
            </a:extLst>
          </p:cNvPr>
          <p:cNvSpPr>
            <a:spLocks noGrp="1"/>
          </p:cNvSpPr>
          <p:nvPr>
            <p:ph type="pic" idx="1"/>
          </p:nvPr>
        </p:nvSpPr>
        <p:spPr>
          <a:xfrm>
            <a:off x="5223838" y="890816"/>
            <a:ext cx="6060136" cy="4870411"/>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BD507CD-197E-BB4C-83A6-DA3FC97A22C2}"/>
              </a:ext>
            </a:extLst>
          </p:cNvPr>
          <p:cNvSpPr>
            <a:spLocks noGrp="1"/>
          </p:cNvSpPr>
          <p:nvPr>
            <p:ph type="body" sz="half" idx="2"/>
          </p:nvPr>
        </p:nvSpPr>
        <p:spPr>
          <a:xfrm>
            <a:off x="565150" y="2160016"/>
            <a:ext cx="3609983" cy="360121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59E00AC-DF6C-D548-8A06-D6269BDB0A41}"/>
              </a:ext>
            </a:extLst>
          </p:cNvPr>
          <p:cNvSpPr>
            <a:spLocks noGrp="1"/>
          </p:cNvSpPr>
          <p:nvPr>
            <p:ph type="dt" sz="half" idx="10"/>
          </p:nvPr>
        </p:nvSpPr>
        <p:spPr/>
        <p:txBody>
          <a:bodyPr/>
          <a:lstStyle/>
          <a:p>
            <a:fld id="{A5B0A250-5CC0-1746-B209-08E8B0DAE6AF}" type="datetimeFigureOut">
              <a:rPr lang="en-US" smtClean="0"/>
              <a:t>3/4/2026</a:t>
            </a:fld>
            <a:endParaRPr lang="en-US" dirty="0"/>
          </a:p>
        </p:txBody>
      </p:sp>
      <p:sp>
        <p:nvSpPr>
          <p:cNvPr id="6" name="Footer Placeholder 5">
            <a:extLst>
              <a:ext uri="{FF2B5EF4-FFF2-40B4-BE49-F238E27FC236}">
                <a16:creationId xmlns:a16="http://schemas.microsoft.com/office/drawing/2014/main" id="{F8ED113B-57D4-9A4F-BFE0-2A3963B425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D9954-FA18-8948-AA52-21CED059476D}"/>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a:extLst>
              <a:ext uri="{FF2B5EF4-FFF2-40B4-BE49-F238E27FC236}">
                <a16:creationId xmlns:a16="http://schemas.microsoft.com/office/drawing/2014/main" id="{5E3EB25D-2379-5040-B990-1C99B0B7D931}"/>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8643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7ED46EE4-CE67-DD46-A751-9FEA049A22B8}"/>
              </a:ext>
            </a:extLst>
          </p:cNvPr>
          <p:cNvGrpSpPr/>
          <p:nvPr/>
        </p:nvGrpSpPr>
        <p:grpSpPr>
          <a:xfrm>
            <a:off x="8928528" y="0"/>
            <a:ext cx="3263472" cy="6858000"/>
            <a:chOff x="8928528" y="0"/>
            <a:chExt cx="3263472" cy="6858000"/>
          </a:xfrm>
        </p:grpSpPr>
        <p:sp>
          <p:nvSpPr>
            <p:cNvPr id="23" name="Oval 22">
              <a:extLst>
                <a:ext uri="{FF2B5EF4-FFF2-40B4-BE49-F238E27FC236}">
                  <a16:creationId xmlns:a16="http://schemas.microsoft.com/office/drawing/2014/main" id="{955C5B70-D34F-8A49-B220-808CE2BBB7F3}"/>
                </a:ext>
              </a:extLst>
            </p:cNvPr>
            <p:cNvSpPr/>
            <p:nvPr/>
          </p:nvSpPr>
          <p:spPr>
            <a:xfrm>
              <a:off x="8928528" y="491812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4BBFE624-6DBD-8541-B43B-180C0AFA21F0}"/>
                </a:ext>
              </a:extLst>
            </p:cNvPr>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6E01AC23-2120-A542-B140-5A29AA27A2C8}"/>
                </a:ext>
              </a:extLst>
            </p:cNvPr>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154689C0-9C35-9B4D-906B-DA287DA55A38}"/>
                </a:ext>
              </a:extLst>
            </p:cNvPr>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96570F0-11E0-6147-9053-E3A4B5DBA0E4}"/>
                </a:ext>
              </a:extLst>
            </p:cNvPr>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9BDD97F6-A366-B54A-B889-42E97AFEDE37}"/>
                </a:ext>
              </a:extLst>
            </p:cNvPr>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a:extLst>
                <a:ext uri="{FF2B5EF4-FFF2-40B4-BE49-F238E27FC236}">
                  <a16:creationId xmlns:a16="http://schemas.microsoft.com/office/drawing/2014/main" id="{58E853BC-EE80-374B-B823-8D51A948C4CF}"/>
                </a:ext>
              </a:extLst>
            </p:cNvPr>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a:extLst>
                <a:ext uri="{FF2B5EF4-FFF2-40B4-BE49-F238E27FC236}">
                  <a16:creationId xmlns:a16="http://schemas.microsoft.com/office/drawing/2014/main" id="{4B5B70B1-649D-9848-B5D4-6DE04D55F5F0}"/>
                </a:ext>
              </a:extLst>
            </p:cNvPr>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a:extLst>
                <a:ext uri="{FF2B5EF4-FFF2-40B4-BE49-F238E27FC236}">
                  <a16:creationId xmlns:a16="http://schemas.microsoft.com/office/drawing/2014/main" id="{46A2092A-2157-0A49-937F-BBAE14687DE7}"/>
                </a:ext>
              </a:extLst>
            </p:cNvPr>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a:extLst>
                <a:ext uri="{FF2B5EF4-FFF2-40B4-BE49-F238E27FC236}">
                  <a16:creationId xmlns:a16="http://schemas.microsoft.com/office/drawing/2014/main" id="{F092371E-D526-AF43-816F-F7AEBA9FF166}"/>
                </a:ext>
              </a:extLst>
            </p:cNvPr>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a:extLst>
                <a:ext uri="{FF2B5EF4-FFF2-40B4-BE49-F238E27FC236}">
                  <a16:creationId xmlns:a16="http://schemas.microsoft.com/office/drawing/2014/main" id="{06995714-B51E-E84A-9FD5-3AD33004E517}"/>
                </a:ext>
              </a:extLst>
            </p:cNvPr>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a:extLst>
                <a:ext uri="{FF2B5EF4-FFF2-40B4-BE49-F238E27FC236}">
                  <a16:creationId xmlns:a16="http://schemas.microsoft.com/office/drawing/2014/main" id="{0FDB0CC5-76AA-6E44-8376-4EE649C1DE42}"/>
                </a:ext>
              </a:extLst>
            </p:cNvPr>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a:extLst>
                <a:ext uri="{FF2B5EF4-FFF2-40B4-BE49-F238E27FC236}">
                  <a16:creationId xmlns:a16="http://schemas.microsoft.com/office/drawing/2014/main" id="{3D981F0B-8982-1C45-8D7C-30E744003823}"/>
                </a:ext>
              </a:extLst>
            </p:cNvPr>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F76EEB7-1E87-0447-8CD6-DD220CF4EE59}"/>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BA8AE526-3A03-9B41-8C9F-27156E701C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D08D72-182D-C947-B3F7-B74948D0849B}"/>
              </a:ext>
            </a:extLst>
          </p:cNvPr>
          <p:cNvSpPr>
            <a:spLocks noGrp="1"/>
          </p:cNvSpPr>
          <p:nvPr>
            <p:ph type="dt" sz="half" idx="10"/>
          </p:nvPr>
        </p:nvSpPr>
        <p:spPr/>
        <p:txBody>
          <a:bodyPr/>
          <a:lstStyle/>
          <a:p>
            <a:fld id="{A5B0A250-5CC0-1746-B209-08E8B0DAE6AF}" type="datetimeFigureOut">
              <a:rPr lang="en-US" smtClean="0"/>
              <a:t>3/4/2026</a:t>
            </a:fld>
            <a:endParaRPr lang="en-US" dirty="0"/>
          </a:p>
        </p:txBody>
      </p:sp>
      <p:sp>
        <p:nvSpPr>
          <p:cNvPr id="5" name="Footer Placeholder 4">
            <a:extLst>
              <a:ext uri="{FF2B5EF4-FFF2-40B4-BE49-F238E27FC236}">
                <a16:creationId xmlns:a16="http://schemas.microsoft.com/office/drawing/2014/main" id="{B076E396-D059-AF4D-A1D9-C1347978AAD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F8845B6-87C0-2F4A-8146-00E911CDF70D}"/>
              </a:ext>
            </a:extLst>
          </p:cNvPr>
          <p:cNvSpPr>
            <a:spLocks noGrp="1"/>
          </p:cNvSpPr>
          <p:nvPr>
            <p:ph type="sldNum" sz="quarter" idx="12"/>
          </p:nvPr>
        </p:nvSpPr>
        <p:spPr>
          <a:xfrm>
            <a:off x="7086480" y="6141085"/>
            <a:ext cx="813816" cy="365125"/>
          </a:xfrm>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A78A912D-4325-C449-BF2E-F331A221C695}"/>
              </a:ext>
            </a:extLst>
          </p:cNvPr>
          <p:cNvCxnSpPr>
            <a:cxnSpLocks/>
          </p:cNvCxnSpPr>
          <p:nvPr/>
        </p:nvCxnSpPr>
        <p:spPr>
          <a:xfrm>
            <a:off x="565150" y="6087110"/>
            <a:ext cx="73351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6357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C3803ECC-8207-244B-8051-94AA5304EDD9}"/>
              </a:ext>
            </a:extLst>
          </p:cNvPr>
          <p:cNvGrpSpPr/>
          <p:nvPr/>
        </p:nvGrpSpPr>
        <p:grpSpPr>
          <a:xfrm>
            <a:off x="10290315" y="0"/>
            <a:ext cx="1901686" cy="6858000"/>
            <a:chOff x="10290315" y="0"/>
            <a:chExt cx="1901686" cy="6858000"/>
          </a:xfrm>
        </p:grpSpPr>
        <p:sp>
          <p:nvSpPr>
            <p:cNvPr id="17" name="Freeform 16">
              <a:extLst>
                <a:ext uri="{FF2B5EF4-FFF2-40B4-BE49-F238E27FC236}">
                  <a16:creationId xmlns:a16="http://schemas.microsoft.com/office/drawing/2014/main" id="{CF2E8536-821C-3846-A152-2001B7BA4BC9}"/>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57A02781-FFB4-C04E-97FB-78D26A9E8F1C}"/>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14C29607-37D2-7A4B-98E2-2C851CD6776C}"/>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D12FC7BA-80CC-1C4E-B268-B3EEA08137F1}"/>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BEBC8FB1-96B9-D84A-BD2A-BC8410EBE012}"/>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5A8455B4-A778-B44D-A7E8-C45A4846D9F7}"/>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a:extLst>
              <a:ext uri="{FF2B5EF4-FFF2-40B4-BE49-F238E27FC236}">
                <a16:creationId xmlns:a16="http://schemas.microsoft.com/office/drawing/2014/main" id="{B0407CCA-80EF-2B45-8F8C-7D5796A61BC0}"/>
              </a:ext>
            </a:extLst>
          </p:cNvPr>
          <p:cNvSpPr>
            <a:spLocks noGrp="1"/>
          </p:cNvSpPr>
          <p:nvPr>
            <p:ph type="title" orient="vert"/>
          </p:nvPr>
        </p:nvSpPr>
        <p:spPr>
          <a:xfrm>
            <a:off x="8950095" y="976630"/>
            <a:ext cx="2268507" cy="478459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A221C3-F2D3-FC4F-938B-4C4CAC7370B1}"/>
              </a:ext>
            </a:extLst>
          </p:cNvPr>
          <p:cNvSpPr>
            <a:spLocks noGrp="1"/>
          </p:cNvSpPr>
          <p:nvPr>
            <p:ph type="body" orient="vert" idx="1"/>
          </p:nvPr>
        </p:nvSpPr>
        <p:spPr>
          <a:xfrm>
            <a:off x="565150" y="976630"/>
            <a:ext cx="8264057" cy="478459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B061B46-3E9A-AC48-8C84-5B46EA1EC583}"/>
              </a:ext>
            </a:extLst>
          </p:cNvPr>
          <p:cNvSpPr>
            <a:spLocks noGrp="1"/>
          </p:cNvSpPr>
          <p:nvPr>
            <p:ph type="dt" sz="half" idx="10"/>
          </p:nvPr>
        </p:nvSpPr>
        <p:spPr/>
        <p:txBody>
          <a:bodyPr/>
          <a:lstStyle/>
          <a:p>
            <a:fld id="{A5B0A250-5CC0-1746-B209-08E8B0DAE6AF}" type="datetimeFigureOut">
              <a:rPr lang="en-US" smtClean="0"/>
              <a:t>3/4/2026</a:t>
            </a:fld>
            <a:endParaRPr lang="en-US"/>
          </a:p>
        </p:txBody>
      </p:sp>
      <p:sp>
        <p:nvSpPr>
          <p:cNvPr id="5" name="Footer Placeholder 4">
            <a:extLst>
              <a:ext uri="{FF2B5EF4-FFF2-40B4-BE49-F238E27FC236}">
                <a16:creationId xmlns:a16="http://schemas.microsoft.com/office/drawing/2014/main" id="{369F8F49-5859-714C-8EE1-61A74F324E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B6F69-3FFA-D94F-BA99-873D36F7F69D}"/>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C31B40EC-87DB-A64F-9D4B-98A86F7CEFFF}"/>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7038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0D98E2-86CE-4D4F-9F8F-17C83D19A271}"/>
              </a:ext>
            </a:extLst>
          </p:cNvPr>
          <p:cNvSpPr>
            <a:spLocks noGrp="1"/>
          </p:cNvSpPr>
          <p:nvPr>
            <p:ph type="title"/>
          </p:nvPr>
        </p:nvSpPr>
        <p:spPr>
          <a:xfrm>
            <a:off x="565150" y="770890"/>
            <a:ext cx="7335835" cy="1268984"/>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8804B4F2-48A4-A140-B59B-7A2ED9FD4653}"/>
              </a:ext>
            </a:extLst>
          </p:cNvPr>
          <p:cNvSpPr>
            <a:spLocks noGrp="1"/>
          </p:cNvSpPr>
          <p:nvPr>
            <p:ph type="body" idx="1"/>
          </p:nvPr>
        </p:nvSpPr>
        <p:spPr>
          <a:xfrm>
            <a:off x="565150" y="2160016"/>
            <a:ext cx="7335835" cy="36012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FCF4A7E-D5FF-BF48-8E01-8F46150ABFD5}"/>
              </a:ext>
            </a:extLst>
          </p:cNvPr>
          <p:cNvSpPr>
            <a:spLocks noGrp="1"/>
          </p:cNvSpPr>
          <p:nvPr>
            <p:ph type="dt" sz="half" idx="2"/>
          </p:nvPr>
        </p:nvSpPr>
        <p:spPr>
          <a:xfrm>
            <a:off x="566928" y="457200"/>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fld id="{A5B0A250-5CC0-1746-B209-08E8B0DAE6AF}" type="datetimeFigureOut">
              <a:rPr lang="en-US" smtClean="0"/>
              <a:pPr/>
              <a:t>3/4/2026</a:t>
            </a:fld>
            <a:endParaRPr lang="en-US" dirty="0"/>
          </a:p>
        </p:txBody>
      </p:sp>
      <p:sp>
        <p:nvSpPr>
          <p:cNvPr id="5" name="Footer Placeholder 4">
            <a:extLst>
              <a:ext uri="{FF2B5EF4-FFF2-40B4-BE49-F238E27FC236}">
                <a16:creationId xmlns:a16="http://schemas.microsoft.com/office/drawing/2014/main" id="{CA131757-5039-BF46-B47A-50DA8FFBC078}"/>
              </a:ext>
            </a:extLst>
          </p:cNvPr>
          <p:cNvSpPr>
            <a:spLocks noGrp="1"/>
          </p:cNvSpPr>
          <p:nvPr>
            <p:ph type="ftr" sz="quarter" idx="3"/>
          </p:nvPr>
        </p:nvSpPr>
        <p:spPr>
          <a:xfrm>
            <a:off x="565150" y="6141085"/>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AA83FD16-4337-B940-905E-D20A26FD483A}"/>
              </a:ext>
            </a:extLst>
          </p:cNvPr>
          <p:cNvSpPr>
            <a:spLocks noGrp="1"/>
          </p:cNvSpPr>
          <p:nvPr>
            <p:ph type="sldNum" sz="quarter" idx="4"/>
          </p:nvPr>
        </p:nvSpPr>
        <p:spPr>
          <a:xfrm>
            <a:off x="10809678" y="6141085"/>
            <a:ext cx="813816" cy="365125"/>
          </a:xfrm>
          <a:prstGeom prst="rect">
            <a:avLst/>
          </a:prstGeom>
        </p:spPr>
        <p:txBody>
          <a:bodyPr vert="horz" lIns="91440" tIns="45720" rIns="91440" bIns="45720" rtlCol="0" anchor="ctr"/>
          <a:lstStyle>
            <a:lvl1pPr algn="r">
              <a:defRPr sz="1050" b="0" i="0">
                <a:solidFill>
                  <a:schemeClr val="tx1">
                    <a:tint val="75000"/>
                  </a:schemeClr>
                </a:solidFill>
                <a:latin typeface="+mn-lt"/>
              </a:defRPr>
            </a:lvl1p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3147010075"/>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Lst>
  <p:txStyles>
    <p:title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690DC8-ECFD-70AA-6E5D-7D96B4A88ECE}"/>
              </a:ext>
            </a:extLst>
          </p:cNvPr>
          <p:cNvSpPr txBox="1"/>
          <p:nvPr/>
        </p:nvSpPr>
        <p:spPr>
          <a:xfrm>
            <a:off x="1526177" y="2228671"/>
            <a:ext cx="7238999" cy="1200329"/>
          </a:xfrm>
          <a:prstGeom prst="rect">
            <a:avLst/>
          </a:prstGeom>
          <a:noFill/>
        </p:spPr>
        <p:txBody>
          <a:bodyPr wrap="square" rtlCol="0">
            <a:spAutoFit/>
          </a:bodyPr>
          <a:lstStyle/>
          <a:p>
            <a:r>
              <a:rPr lang="en-GB" sz="3600" b="1" dirty="0">
                <a:latin typeface="Arial" panose="020B0604020202020204" pitchFamily="34" charset="0"/>
                <a:cs typeface="Arial" panose="020B0604020202020204" pitchFamily="34" charset="0"/>
              </a:rPr>
              <a:t>Supervised Learning: Classification</a:t>
            </a:r>
            <a:endParaRPr lang="en-NG" sz="3600"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5ED717DC-EA00-8C38-0D3D-9F251F61DF79}"/>
              </a:ext>
            </a:extLst>
          </p:cNvPr>
          <p:cNvSpPr txBox="1"/>
          <p:nvPr/>
        </p:nvSpPr>
        <p:spPr>
          <a:xfrm>
            <a:off x="1526176" y="3575412"/>
            <a:ext cx="7238999" cy="400110"/>
          </a:xfrm>
          <a:prstGeom prst="rect">
            <a:avLst/>
          </a:prstGeom>
          <a:noFill/>
        </p:spPr>
        <p:txBody>
          <a:bodyPr wrap="square" rtlCol="0">
            <a:spAutoFit/>
          </a:bodyPr>
          <a:lstStyle/>
          <a:p>
            <a:r>
              <a:rPr lang="en-GB" sz="2000" dirty="0">
                <a:solidFill>
                  <a:schemeClr val="accent3"/>
                </a:solidFill>
              </a:rPr>
              <a:t>Building Predictive Models for Categorical Outcomes</a:t>
            </a:r>
            <a:endParaRPr lang="en-NG" sz="2000" dirty="0">
              <a:solidFill>
                <a:schemeClr val="accent3"/>
              </a:solidFill>
            </a:endParaRPr>
          </a:p>
        </p:txBody>
      </p:sp>
    </p:spTree>
    <p:extLst>
      <p:ext uri="{BB962C8B-B14F-4D97-AF65-F5344CB8AC3E}">
        <p14:creationId xmlns:p14="http://schemas.microsoft.com/office/powerpoint/2010/main" val="2027605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4902F98-46F4-5C0A-CE8A-F62EBF64DB34}"/>
              </a:ext>
            </a:extLst>
          </p:cNvPr>
          <p:cNvSpPr txBox="1">
            <a:spLocks/>
          </p:cNvSpPr>
          <p:nvPr/>
        </p:nvSpPr>
        <p:spPr>
          <a:xfrm>
            <a:off x="1096092" y="1474086"/>
            <a:ext cx="8420049" cy="39160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2000" dirty="0">
                <a:latin typeface="Arial" panose="020B0604020202020204" pitchFamily="34" charset="0"/>
                <a:cs typeface="Arial" panose="020B0604020202020204" pitchFamily="34" charset="0"/>
              </a:rPr>
              <a:t>By the end of this session, participants should be able to:</a:t>
            </a:r>
          </a:p>
          <a:p>
            <a:endParaRPr lang="en-GB" sz="2000" dirty="0">
              <a:latin typeface="Arial" panose="020B0604020202020204" pitchFamily="34" charset="0"/>
              <a:cs typeface="Arial" panose="020B0604020202020204" pitchFamily="34" charset="0"/>
            </a:endParaRPr>
          </a:p>
        </p:txBody>
      </p:sp>
      <p:sp>
        <p:nvSpPr>
          <p:cNvPr id="8" name="Title 1">
            <a:extLst>
              <a:ext uri="{FF2B5EF4-FFF2-40B4-BE49-F238E27FC236}">
                <a16:creationId xmlns:a16="http://schemas.microsoft.com/office/drawing/2014/main" id="{2718A2DD-487C-A343-5345-AFB1FDA21FA2}"/>
              </a:ext>
            </a:extLst>
          </p:cNvPr>
          <p:cNvSpPr txBox="1">
            <a:spLocks/>
          </p:cNvSpPr>
          <p:nvPr/>
        </p:nvSpPr>
        <p:spPr>
          <a:xfrm>
            <a:off x="1096092" y="2337220"/>
            <a:ext cx="6888960" cy="150027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pPr marL="514350" indent="-514350">
              <a:lnSpc>
                <a:spcPct val="150000"/>
              </a:lnSpc>
              <a:buFont typeface="+mj-lt"/>
              <a:buAutoNum type="arabicPeriod"/>
            </a:pPr>
            <a:r>
              <a:rPr lang="en-GB" sz="1600" b="0" dirty="0">
                <a:latin typeface="Arial" panose="020B0604020202020204" pitchFamily="34" charset="0"/>
                <a:cs typeface="Arial" panose="020B0604020202020204" pitchFamily="34" charset="0"/>
              </a:rPr>
              <a:t>Understand classification problems and approaches</a:t>
            </a:r>
          </a:p>
          <a:p>
            <a:pPr marL="514350" indent="-514350">
              <a:lnSpc>
                <a:spcPct val="150000"/>
              </a:lnSpc>
              <a:buFont typeface="+mj-lt"/>
              <a:buAutoNum type="arabicPeriod"/>
            </a:pPr>
            <a:r>
              <a:rPr lang="en-GB" sz="1600" b="0" dirty="0">
                <a:latin typeface="Arial" panose="020B0604020202020204" pitchFamily="34" charset="0"/>
                <a:cs typeface="Arial" panose="020B0604020202020204" pitchFamily="34" charset="0"/>
              </a:rPr>
              <a:t>Implement logistic regression</a:t>
            </a:r>
          </a:p>
          <a:p>
            <a:pPr marL="514350" indent="-514350">
              <a:lnSpc>
                <a:spcPct val="150000"/>
              </a:lnSpc>
              <a:buFont typeface="+mj-lt"/>
              <a:buAutoNum type="arabicPeriod"/>
            </a:pPr>
            <a:r>
              <a:rPr lang="en-GB" sz="1600" b="0" dirty="0">
                <a:latin typeface="Arial" panose="020B0604020202020204" pitchFamily="34" charset="0"/>
                <a:cs typeface="Arial" panose="020B0604020202020204" pitchFamily="34" charset="0"/>
              </a:rPr>
              <a:t>Handle imbalanced datasets</a:t>
            </a:r>
          </a:p>
        </p:txBody>
      </p:sp>
      <p:sp>
        <p:nvSpPr>
          <p:cNvPr id="11" name="Title 1">
            <a:extLst>
              <a:ext uri="{FF2B5EF4-FFF2-40B4-BE49-F238E27FC236}">
                <a16:creationId xmlns:a16="http://schemas.microsoft.com/office/drawing/2014/main" id="{59E302CC-8FC2-5031-F342-432826A2F041}"/>
              </a:ext>
            </a:extLst>
          </p:cNvPr>
          <p:cNvSpPr txBox="1">
            <a:spLocks/>
          </p:cNvSpPr>
          <p:nvPr/>
        </p:nvSpPr>
        <p:spPr>
          <a:xfrm>
            <a:off x="1096092" y="896033"/>
            <a:ext cx="6258438" cy="50856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solidFill>
                  <a:srgbClr val="03807F"/>
                </a:solidFill>
                <a:latin typeface="Arial" panose="020B0604020202020204" pitchFamily="34" charset="0"/>
                <a:cs typeface="Arial" panose="020B0604020202020204" pitchFamily="34" charset="0"/>
              </a:rPr>
              <a:t>Learning Objectives </a:t>
            </a:r>
            <a:endParaRPr lang="en-US" sz="3200" dirty="0">
              <a:solidFill>
                <a:srgbClr val="03807F"/>
              </a:solidFill>
              <a:latin typeface="Arial" panose="020B0604020202020204" pitchFamily="34" charset="0"/>
              <a:cs typeface="Arial" panose="020B0604020202020204" pitchFamily="34" charset="0"/>
            </a:endParaRPr>
          </a:p>
        </p:txBody>
      </p:sp>
      <p:pic>
        <p:nvPicPr>
          <p:cNvPr id="2050" name="Picture 2" descr="3d minimal dartboard with a lightbulb. gold archivement concept. 3d  illustration. 18742253 PNG">
            <a:extLst>
              <a:ext uri="{FF2B5EF4-FFF2-40B4-BE49-F238E27FC236}">
                <a16:creationId xmlns:a16="http://schemas.microsoft.com/office/drawing/2014/main" id="{45DA6EBD-A260-7656-E772-DDDC27DD92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8878" y="1592567"/>
            <a:ext cx="5987517" cy="4489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546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1DEA1-0446-5890-DE9F-336C2F11D453}"/>
              </a:ext>
            </a:extLst>
          </p:cNvPr>
          <p:cNvSpPr>
            <a:spLocks noGrp="1"/>
          </p:cNvSpPr>
          <p:nvPr>
            <p:ph type="title"/>
          </p:nvPr>
        </p:nvSpPr>
        <p:spPr>
          <a:xfrm>
            <a:off x="1393234" y="2477257"/>
            <a:ext cx="6721535" cy="1453059"/>
          </a:xfrm>
        </p:spPr>
        <p:txBody>
          <a:bodyPr>
            <a:noAutofit/>
          </a:bodyPr>
          <a:lstStyle/>
          <a:p>
            <a:pPr marL="0" indent="0"/>
            <a:r>
              <a:rPr lang="en-GB" dirty="0">
                <a:solidFill>
                  <a:schemeClr val="accent3"/>
                </a:solidFill>
              </a:rPr>
              <a:t>Regression Project Presentations</a:t>
            </a:r>
            <a:endParaRPr lang="en-US" dirty="0">
              <a:solidFill>
                <a:schemeClr val="accent3"/>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5154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5493F-C470-9B4E-9CCC-BFE1FD35A1C0}"/>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6166BBE4-A7A2-C345-0721-5131731B9C4D}"/>
              </a:ext>
            </a:extLst>
          </p:cNvPr>
          <p:cNvSpPr txBox="1">
            <a:spLocks/>
          </p:cNvSpPr>
          <p:nvPr/>
        </p:nvSpPr>
        <p:spPr>
          <a:xfrm>
            <a:off x="1096092" y="1474086"/>
            <a:ext cx="8420049" cy="39160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2000" dirty="0">
                <a:latin typeface="Arial" panose="020B0604020202020204" pitchFamily="34" charset="0"/>
                <a:cs typeface="Arial" panose="020B0604020202020204" pitchFamily="34" charset="0"/>
              </a:rPr>
              <a:t>Introduction to Classification</a:t>
            </a:r>
          </a:p>
          <a:p>
            <a:endParaRPr lang="en-GB" sz="2000" dirty="0">
              <a:latin typeface="Arial" panose="020B0604020202020204" pitchFamily="34" charset="0"/>
              <a:cs typeface="Arial" panose="020B0604020202020204" pitchFamily="34" charset="0"/>
            </a:endParaRPr>
          </a:p>
        </p:txBody>
      </p:sp>
      <p:sp>
        <p:nvSpPr>
          <p:cNvPr id="11" name="Title 1">
            <a:extLst>
              <a:ext uri="{FF2B5EF4-FFF2-40B4-BE49-F238E27FC236}">
                <a16:creationId xmlns:a16="http://schemas.microsoft.com/office/drawing/2014/main" id="{9AE732B9-36DB-D39C-C447-E9B64BB52776}"/>
              </a:ext>
            </a:extLst>
          </p:cNvPr>
          <p:cNvSpPr txBox="1">
            <a:spLocks/>
          </p:cNvSpPr>
          <p:nvPr/>
        </p:nvSpPr>
        <p:spPr>
          <a:xfrm>
            <a:off x="1096092" y="896033"/>
            <a:ext cx="6258438" cy="50856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solidFill>
                  <a:srgbClr val="03807F"/>
                </a:solidFill>
                <a:latin typeface="Arial" panose="020B0604020202020204" pitchFamily="34" charset="0"/>
                <a:cs typeface="Arial" panose="020B0604020202020204" pitchFamily="34" charset="0"/>
              </a:rPr>
              <a:t>What is Classification?</a:t>
            </a:r>
            <a:endParaRPr lang="en-US" sz="3200" dirty="0">
              <a:solidFill>
                <a:srgbClr val="03807F"/>
              </a:solidFill>
              <a:latin typeface="Arial" panose="020B0604020202020204" pitchFamily="34" charset="0"/>
              <a:cs typeface="Arial" panose="020B0604020202020204" pitchFamily="34" charset="0"/>
            </a:endParaRPr>
          </a:p>
        </p:txBody>
      </p:sp>
      <p:pic>
        <p:nvPicPr>
          <p:cNvPr id="2050" name="Picture 2" descr="3d minimal dartboard with a lightbulb. gold archivement concept. 3d  illustration. 18742253 PNG">
            <a:extLst>
              <a:ext uri="{FF2B5EF4-FFF2-40B4-BE49-F238E27FC236}">
                <a16:creationId xmlns:a16="http://schemas.microsoft.com/office/drawing/2014/main" id="{BB40D0CD-0E5B-45E4-3964-7343A45CDC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8878" y="1592567"/>
            <a:ext cx="5987517" cy="448985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25B8794-0D76-E4BE-461A-B1BEB7A034CB}"/>
              </a:ext>
            </a:extLst>
          </p:cNvPr>
          <p:cNvSpPr txBox="1"/>
          <p:nvPr/>
        </p:nvSpPr>
        <p:spPr>
          <a:xfrm>
            <a:off x="1096092" y="2197768"/>
            <a:ext cx="6507866" cy="2031325"/>
          </a:xfrm>
          <a:prstGeom prst="rect">
            <a:avLst/>
          </a:prstGeom>
          <a:noFill/>
        </p:spPr>
        <p:txBody>
          <a:bodyPr wrap="square" rtlCol="0">
            <a:spAutoFit/>
          </a:bodyPr>
          <a:lstStyle/>
          <a:p>
            <a:r>
              <a:rPr lang="en-GB" dirty="0"/>
              <a:t>Classification is a supervised machine learning task that predicts categorical outcomes by learning patterns from </a:t>
            </a:r>
            <a:r>
              <a:rPr lang="en-GB" dirty="0" err="1"/>
              <a:t>labeled</a:t>
            </a:r>
            <a:r>
              <a:rPr lang="en-GB" dirty="0"/>
              <a:t> data.</a:t>
            </a:r>
          </a:p>
          <a:p>
            <a:endParaRPr lang="en-GB" dirty="0"/>
          </a:p>
          <a:p>
            <a:r>
              <a:rPr lang="en-GB" dirty="0"/>
              <a:t>Unlike regression (predicting continuous values), classification assigns data points to discrete categories or classes.</a:t>
            </a:r>
            <a:endParaRPr lang="en-NG" dirty="0"/>
          </a:p>
        </p:txBody>
      </p:sp>
    </p:spTree>
    <p:extLst>
      <p:ext uri="{BB962C8B-B14F-4D97-AF65-F5344CB8AC3E}">
        <p14:creationId xmlns:p14="http://schemas.microsoft.com/office/powerpoint/2010/main" val="3968130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A94CE-EC61-391E-8E16-BA18E9F6B8B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3DA4AA98-D4DA-BE54-EE8C-CD276159C553}"/>
              </a:ext>
            </a:extLst>
          </p:cNvPr>
          <p:cNvSpPr txBox="1">
            <a:spLocks/>
          </p:cNvSpPr>
          <p:nvPr/>
        </p:nvSpPr>
        <p:spPr>
          <a:xfrm>
            <a:off x="1096092" y="1474086"/>
            <a:ext cx="8420049" cy="39160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2000" dirty="0">
                <a:latin typeface="Arial" panose="020B0604020202020204" pitchFamily="34" charset="0"/>
                <a:cs typeface="Arial" panose="020B0604020202020204" pitchFamily="34" charset="0"/>
              </a:rPr>
              <a:t>Introduction to Classification</a:t>
            </a:r>
          </a:p>
          <a:p>
            <a:endParaRPr lang="en-GB" sz="2000" dirty="0">
              <a:latin typeface="Arial" panose="020B0604020202020204" pitchFamily="34" charset="0"/>
              <a:cs typeface="Arial" panose="020B0604020202020204" pitchFamily="34" charset="0"/>
            </a:endParaRPr>
          </a:p>
        </p:txBody>
      </p:sp>
      <p:sp>
        <p:nvSpPr>
          <p:cNvPr id="11" name="Title 1">
            <a:extLst>
              <a:ext uri="{FF2B5EF4-FFF2-40B4-BE49-F238E27FC236}">
                <a16:creationId xmlns:a16="http://schemas.microsoft.com/office/drawing/2014/main" id="{F3C0FDA5-414B-96BD-63CA-8E00F2E13F45}"/>
              </a:ext>
            </a:extLst>
          </p:cNvPr>
          <p:cNvSpPr txBox="1">
            <a:spLocks/>
          </p:cNvSpPr>
          <p:nvPr/>
        </p:nvSpPr>
        <p:spPr>
          <a:xfrm>
            <a:off x="1096092" y="896033"/>
            <a:ext cx="6258438" cy="50856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solidFill>
                  <a:srgbClr val="03807F"/>
                </a:solidFill>
                <a:latin typeface="Arial" panose="020B0604020202020204" pitchFamily="34" charset="0"/>
                <a:cs typeface="Arial" panose="020B0604020202020204" pitchFamily="34" charset="0"/>
              </a:rPr>
              <a:t>What is Classification?</a:t>
            </a:r>
            <a:endParaRPr lang="en-US" sz="3200" dirty="0">
              <a:solidFill>
                <a:srgbClr val="03807F"/>
              </a:solidFill>
              <a:latin typeface="Arial" panose="020B0604020202020204" pitchFamily="34" charset="0"/>
              <a:cs typeface="Arial" panose="020B0604020202020204" pitchFamily="34" charset="0"/>
            </a:endParaRPr>
          </a:p>
        </p:txBody>
      </p:sp>
      <p:pic>
        <p:nvPicPr>
          <p:cNvPr id="2050" name="Picture 2" descr="3d minimal dartboard with a lightbulb. gold archivement concept. 3d  illustration. 18742253 PNG">
            <a:extLst>
              <a:ext uri="{FF2B5EF4-FFF2-40B4-BE49-F238E27FC236}">
                <a16:creationId xmlns:a16="http://schemas.microsoft.com/office/drawing/2014/main" id="{7C9FEB29-6CB5-E7F3-0D04-3DB0192325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8878" y="1592567"/>
            <a:ext cx="5987517" cy="448985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3C2199F-5925-F56E-B181-235B0628F491}"/>
              </a:ext>
            </a:extLst>
          </p:cNvPr>
          <p:cNvSpPr txBox="1"/>
          <p:nvPr/>
        </p:nvSpPr>
        <p:spPr>
          <a:xfrm>
            <a:off x="1096092" y="2197768"/>
            <a:ext cx="6507866" cy="2031325"/>
          </a:xfrm>
          <a:prstGeom prst="rect">
            <a:avLst/>
          </a:prstGeom>
          <a:noFill/>
        </p:spPr>
        <p:txBody>
          <a:bodyPr wrap="square" rtlCol="0">
            <a:spAutoFit/>
          </a:bodyPr>
          <a:lstStyle/>
          <a:p>
            <a:r>
              <a:rPr lang="en-GB" b="1" dirty="0"/>
              <a:t>Example:</a:t>
            </a:r>
          </a:p>
          <a:p>
            <a:endParaRPr lang="en-GB" dirty="0"/>
          </a:p>
          <a:p>
            <a:endParaRPr lang="en-GB" dirty="0"/>
          </a:p>
          <a:p>
            <a:pPr marL="285750" indent="-285750">
              <a:buFont typeface="Arial" panose="020B0604020202020204" pitchFamily="34" charset="0"/>
              <a:buChar char="•"/>
            </a:pPr>
            <a:r>
              <a:rPr lang="en-GB" dirty="0"/>
              <a:t>Regression: predicting house prices (#45,000,000)</a:t>
            </a:r>
          </a:p>
          <a:p>
            <a:pPr marL="285750" indent="-285750">
              <a:buFont typeface="Arial" panose="020B0604020202020204" pitchFamily="34" charset="0"/>
              <a:buChar char="•"/>
            </a:pPr>
            <a:r>
              <a:rPr lang="en-GB" dirty="0"/>
              <a:t>Classification: Predicting loan approval (Approved/Rejected)</a:t>
            </a:r>
          </a:p>
          <a:p>
            <a:pPr marL="285750" indent="-285750">
              <a:buFont typeface="Arial" panose="020B0604020202020204" pitchFamily="34" charset="0"/>
              <a:buChar char="•"/>
            </a:pPr>
            <a:endParaRPr lang="en-NG" dirty="0"/>
          </a:p>
        </p:txBody>
      </p:sp>
      <p:sp>
        <p:nvSpPr>
          <p:cNvPr id="3" name="Rectangle 1">
            <a:extLst>
              <a:ext uri="{FF2B5EF4-FFF2-40B4-BE49-F238E27FC236}">
                <a16:creationId xmlns:a16="http://schemas.microsoft.com/office/drawing/2014/main" id="{0E78FEEB-4389-FCBA-39D5-F91B77D6918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NG" altLang="en-NG"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G" altLang="en-NG" sz="1800" b="0" i="0" u="none" strike="noStrike" cap="none" normalizeH="0" baseline="0">
                <a:ln>
                  <a:noFill/>
                </a:ln>
                <a:solidFill>
                  <a:schemeClr val="tx1"/>
                </a:solidFill>
                <a:effectLst/>
                <a:latin typeface="Arial" panose="020B0604020202020204" pitchFamily="34" charset="0"/>
              </a:rPr>
              <a:t>Regression: Predicting house prices (₦45,000,000)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G" altLang="en-NG" sz="1800" b="0" i="0" u="none" strike="noStrike" cap="none" normalizeH="0" baseline="0">
                <a:ln>
                  <a:noFill/>
                </a:ln>
                <a:solidFill>
                  <a:schemeClr val="tx1"/>
                </a:solidFill>
                <a:effectLst/>
                <a:latin typeface="Arial" panose="020B0604020202020204" pitchFamily="34" charset="0"/>
              </a:rPr>
              <a:t>Classification: Predicting loan approval (Approved/Rejected) </a:t>
            </a:r>
          </a:p>
        </p:txBody>
      </p:sp>
    </p:spTree>
    <p:extLst>
      <p:ext uri="{BB962C8B-B14F-4D97-AF65-F5344CB8AC3E}">
        <p14:creationId xmlns:p14="http://schemas.microsoft.com/office/powerpoint/2010/main" val="469787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4E0F263-1744-DA40-EB2C-81295D73AC07}"/>
              </a:ext>
            </a:extLst>
          </p:cNvPr>
          <p:cNvSpPr txBox="1">
            <a:spLocks/>
          </p:cNvSpPr>
          <p:nvPr/>
        </p:nvSpPr>
        <p:spPr>
          <a:xfrm>
            <a:off x="1066595" y="595645"/>
            <a:ext cx="9385506" cy="111642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highlight>
                  <a:srgbClr val="FBA31C"/>
                </a:highlight>
                <a:latin typeface="Arial" panose="020B0604020202020204" pitchFamily="34" charset="0"/>
                <a:cs typeface="Arial" panose="020B0604020202020204" pitchFamily="34" charset="0"/>
              </a:rPr>
              <a:t>Classification vs. Regression: </a:t>
            </a:r>
            <a:r>
              <a:rPr lang="en-GB" sz="3200" dirty="0">
                <a:latin typeface="Arial" panose="020B0604020202020204" pitchFamily="34" charset="0"/>
                <a:cs typeface="Arial" panose="020B0604020202020204" pitchFamily="34" charset="0"/>
              </a:rPr>
              <a:t> </a:t>
            </a:r>
            <a:r>
              <a:rPr lang="en-GB" sz="3200" dirty="0">
                <a:solidFill>
                  <a:srgbClr val="03807F"/>
                </a:solidFill>
                <a:latin typeface="Arial" panose="020B0604020202020204" pitchFamily="34" charset="0"/>
                <a:cs typeface="Arial" panose="020B0604020202020204" pitchFamily="34" charset="0"/>
              </a:rPr>
              <a:t>Understanding the Difference</a:t>
            </a:r>
            <a:endParaRPr lang="en-GB" sz="3200" dirty="0">
              <a:solidFill>
                <a:srgbClr val="45C2CA"/>
              </a:solidFill>
              <a:latin typeface="Arial" panose="020B0604020202020204" pitchFamily="34" charset="0"/>
              <a:cs typeface="Arial" panose="020B0604020202020204" pitchFamily="34" charset="0"/>
            </a:endParaRPr>
          </a:p>
        </p:txBody>
      </p:sp>
      <p:graphicFrame>
        <p:nvGraphicFramePr>
          <p:cNvPr id="6" name="Table 5">
            <a:extLst>
              <a:ext uri="{FF2B5EF4-FFF2-40B4-BE49-F238E27FC236}">
                <a16:creationId xmlns:a16="http://schemas.microsoft.com/office/drawing/2014/main" id="{D7228E1E-DF17-B5E2-1059-15C5688334D2}"/>
              </a:ext>
            </a:extLst>
          </p:cNvPr>
          <p:cNvGraphicFramePr>
            <a:graphicFrameLocks noGrp="1"/>
          </p:cNvGraphicFramePr>
          <p:nvPr>
            <p:extLst>
              <p:ext uri="{D42A27DB-BD31-4B8C-83A1-F6EECF244321}">
                <p14:modId xmlns:p14="http://schemas.microsoft.com/office/powerpoint/2010/main" val="1961334567"/>
              </p:ext>
            </p:extLst>
          </p:nvPr>
        </p:nvGraphicFramePr>
        <p:xfrm>
          <a:off x="1066595" y="1912362"/>
          <a:ext cx="10183779" cy="3360029"/>
        </p:xfrm>
        <a:graphic>
          <a:graphicData uri="http://schemas.openxmlformats.org/drawingml/2006/table">
            <a:tbl>
              <a:tblPr firstRow="1" bandRow="1">
                <a:tableStyleId>{5C22544A-7EE6-4342-B048-85BDC9FD1C3A}</a:tableStyleId>
              </a:tblPr>
              <a:tblGrid>
                <a:gridCol w="3394593">
                  <a:extLst>
                    <a:ext uri="{9D8B030D-6E8A-4147-A177-3AD203B41FA5}">
                      <a16:colId xmlns:a16="http://schemas.microsoft.com/office/drawing/2014/main" val="2979321703"/>
                    </a:ext>
                  </a:extLst>
                </a:gridCol>
                <a:gridCol w="3394593">
                  <a:extLst>
                    <a:ext uri="{9D8B030D-6E8A-4147-A177-3AD203B41FA5}">
                      <a16:colId xmlns:a16="http://schemas.microsoft.com/office/drawing/2014/main" val="3268754998"/>
                    </a:ext>
                  </a:extLst>
                </a:gridCol>
                <a:gridCol w="3394593">
                  <a:extLst>
                    <a:ext uri="{9D8B030D-6E8A-4147-A177-3AD203B41FA5}">
                      <a16:colId xmlns:a16="http://schemas.microsoft.com/office/drawing/2014/main" val="3012064744"/>
                    </a:ext>
                  </a:extLst>
                </a:gridCol>
              </a:tblGrid>
              <a:tr h="573901">
                <a:tc>
                  <a:txBody>
                    <a:bodyPr/>
                    <a:lstStyle/>
                    <a:p>
                      <a:pPr>
                        <a:buNone/>
                      </a:pPr>
                      <a:r>
                        <a:rPr lang="en-GB" dirty="0"/>
                        <a:t>Aspect</a:t>
                      </a:r>
                    </a:p>
                  </a:txBody>
                  <a:tcPr anchor="ctr"/>
                </a:tc>
                <a:tc>
                  <a:txBody>
                    <a:bodyPr/>
                    <a:lstStyle/>
                    <a:p>
                      <a:pPr>
                        <a:buNone/>
                      </a:pPr>
                      <a:r>
                        <a:rPr lang="en-GB"/>
                        <a:t>Regression</a:t>
                      </a:r>
                    </a:p>
                  </a:txBody>
                  <a:tcPr anchor="ctr"/>
                </a:tc>
                <a:tc>
                  <a:txBody>
                    <a:bodyPr/>
                    <a:lstStyle/>
                    <a:p>
                      <a:pPr>
                        <a:buNone/>
                      </a:pPr>
                      <a:r>
                        <a:rPr lang="en-GB"/>
                        <a:t>Classification</a:t>
                      </a:r>
                    </a:p>
                  </a:txBody>
                  <a:tcPr anchor="ctr"/>
                </a:tc>
                <a:extLst>
                  <a:ext uri="{0D108BD9-81ED-4DB2-BD59-A6C34878D82A}">
                    <a16:rowId xmlns:a16="http://schemas.microsoft.com/office/drawing/2014/main" val="3670608755"/>
                  </a:ext>
                </a:extLst>
              </a:tr>
              <a:tr h="573901">
                <a:tc>
                  <a:txBody>
                    <a:bodyPr/>
                    <a:lstStyle/>
                    <a:p>
                      <a:pPr>
                        <a:buNone/>
                      </a:pPr>
                      <a:r>
                        <a:rPr lang="en-GB" b="1" dirty="0"/>
                        <a:t>Output Type</a:t>
                      </a:r>
                      <a:endParaRPr lang="en-GB" dirty="0"/>
                    </a:p>
                  </a:txBody>
                  <a:tcPr anchor="ctr"/>
                </a:tc>
                <a:tc>
                  <a:txBody>
                    <a:bodyPr/>
                    <a:lstStyle/>
                    <a:p>
                      <a:pPr>
                        <a:buNone/>
                      </a:pPr>
                      <a:r>
                        <a:rPr lang="en-GB"/>
                        <a:t>Continuous numerical values</a:t>
                      </a:r>
                    </a:p>
                  </a:txBody>
                  <a:tcPr anchor="ctr"/>
                </a:tc>
                <a:tc>
                  <a:txBody>
                    <a:bodyPr/>
                    <a:lstStyle/>
                    <a:p>
                      <a:pPr>
                        <a:buNone/>
                      </a:pPr>
                      <a:r>
                        <a:rPr lang="en-GB"/>
                        <a:t>Discrete categories/labels</a:t>
                      </a:r>
                    </a:p>
                  </a:txBody>
                  <a:tcPr anchor="ctr"/>
                </a:tc>
                <a:extLst>
                  <a:ext uri="{0D108BD9-81ED-4DB2-BD59-A6C34878D82A}">
                    <a16:rowId xmlns:a16="http://schemas.microsoft.com/office/drawing/2014/main" val="456214213"/>
                  </a:ext>
                </a:extLst>
              </a:tr>
              <a:tr h="737409">
                <a:tc>
                  <a:txBody>
                    <a:bodyPr/>
                    <a:lstStyle/>
                    <a:p>
                      <a:pPr>
                        <a:buNone/>
                      </a:pPr>
                      <a:r>
                        <a:rPr lang="en-GB" b="1"/>
                        <a:t>Examples</a:t>
                      </a:r>
                      <a:endParaRPr lang="en-GB"/>
                    </a:p>
                  </a:txBody>
                  <a:tcPr anchor="ctr"/>
                </a:tc>
                <a:tc>
                  <a:txBody>
                    <a:bodyPr/>
                    <a:lstStyle/>
                    <a:p>
                      <a:pPr>
                        <a:buNone/>
                      </a:pPr>
                      <a:r>
                        <a:rPr lang="en-GB"/>
                        <a:t>House prices, temperature, sales</a:t>
                      </a:r>
                    </a:p>
                  </a:txBody>
                  <a:tcPr anchor="ctr"/>
                </a:tc>
                <a:tc>
                  <a:txBody>
                    <a:bodyPr/>
                    <a:lstStyle/>
                    <a:p>
                      <a:pPr>
                        <a:buNone/>
                      </a:pPr>
                      <a:r>
                        <a:rPr lang="en-GB"/>
                        <a:t>Email spam/not spam, disease present/absent</a:t>
                      </a:r>
                    </a:p>
                  </a:txBody>
                  <a:tcPr anchor="ctr"/>
                </a:tc>
                <a:extLst>
                  <a:ext uri="{0D108BD9-81ED-4DB2-BD59-A6C34878D82A}">
                    <a16:rowId xmlns:a16="http://schemas.microsoft.com/office/drawing/2014/main" val="3279549776"/>
                  </a:ext>
                </a:extLst>
              </a:tr>
              <a:tr h="737409">
                <a:tc>
                  <a:txBody>
                    <a:bodyPr/>
                    <a:lstStyle/>
                    <a:p>
                      <a:pPr>
                        <a:buNone/>
                      </a:pPr>
                      <a:r>
                        <a:rPr lang="en-GB" b="1"/>
                        <a:t>Evaluation</a:t>
                      </a:r>
                      <a:endParaRPr lang="en-GB"/>
                    </a:p>
                  </a:txBody>
                  <a:tcPr anchor="ctr"/>
                </a:tc>
                <a:tc>
                  <a:txBody>
                    <a:bodyPr/>
                    <a:lstStyle/>
                    <a:p>
                      <a:pPr>
                        <a:buNone/>
                      </a:pPr>
                      <a:r>
                        <a:rPr lang="en-GB"/>
                        <a:t>MSE, RMSE, R²</a:t>
                      </a:r>
                    </a:p>
                  </a:txBody>
                  <a:tcPr anchor="ctr"/>
                </a:tc>
                <a:tc>
                  <a:txBody>
                    <a:bodyPr/>
                    <a:lstStyle/>
                    <a:p>
                      <a:pPr>
                        <a:buNone/>
                      </a:pPr>
                      <a:r>
                        <a:rPr lang="en-GB"/>
                        <a:t>Accuracy, precision, recall, F1-score</a:t>
                      </a:r>
                    </a:p>
                  </a:txBody>
                  <a:tcPr anchor="ctr"/>
                </a:tc>
                <a:extLst>
                  <a:ext uri="{0D108BD9-81ED-4DB2-BD59-A6C34878D82A}">
                    <a16:rowId xmlns:a16="http://schemas.microsoft.com/office/drawing/2014/main" val="2114606966"/>
                  </a:ext>
                </a:extLst>
              </a:tr>
              <a:tr h="737409">
                <a:tc>
                  <a:txBody>
                    <a:bodyPr/>
                    <a:lstStyle/>
                    <a:p>
                      <a:pPr>
                        <a:buNone/>
                      </a:pPr>
                      <a:r>
                        <a:rPr lang="en-GB" b="1"/>
                        <a:t>Algorithms</a:t>
                      </a:r>
                      <a:endParaRPr lang="en-GB"/>
                    </a:p>
                  </a:txBody>
                  <a:tcPr anchor="ctr"/>
                </a:tc>
                <a:tc>
                  <a:txBody>
                    <a:bodyPr/>
                    <a:lstStyle/>
                    <a:p>
                      <a:pPr>
                        <a:buNone/>
                      </a:pPr>
                      <a:r>
                        <a:rPr lang="en-GB"/>
                        <a:t>Linear regression, polynomial regression</a:t>
                      </a:r>
                    </a:p>
                  </a:txBody>
                  <a:tcPr anchor="ctr"/>
                </a:tc>
                <a:tc>
                  <a:txBody>
                    <a:bodyPr/>
                    <a:lstStyle/>
                    <a:p>
                      <a:pPr>
                        <a:buNone/>
                      </a:pPr>
                      <a:r>
                        <a:rPr lang="en-GB" dirty="0"/>
                        <a:t>Logistic regression, decision trees, SVM</a:t>
                      </a:r>
                    </a:p>
                  </a:txBody>
                  <a:tcPr anchor="ctr"/>
                </a:tc>
                <a:extLst>
                  <a:ext uri="{0D108BD9-81ED-4DB2-BD59-A6C34878D82A}">
                    <a16:rowId xmlns:a16="http://schemas.microsoft.com/office/drawing/2014/main" val="3572011112"/>
                  </a:ext>
                </a:extLst>
              </a:tr>
            </a:tbl>
          </a:graphicData>
        </a:graphic>
      </p:graphicFrame>
    </p:spTree>
    <p:extLst>
      <p:ext uri="{BB962C8B-B14F-4D97-AF65-F5344CB8AC3E}">
        <p14:creationId xmlns:p14="http://schemas.microsoft.com/office/powerpoint/2010/main" val="883240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F0E57-433A-3427-286A-7DFBB8DC79D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510B122-3103-2A32-4F52-102222A68651}"/>
              </a:ext>
            </a:extLst>
          </p:cNvPr>
          <p:cNvSpPr txBox="1">
            <a:spLocks/>
          </p:cNvSpPr>
          <p:nvPr/>
        </p:nvSpPr>
        <p:spPr>
          <a:xfrm>
            <a:off x="1066595" y="595645"/>
            <a:ext cx="9385506" cy="111642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highlight>
                  <a:srgbClr val="FBA31C"/>
                </a:highlight>
                <a:latin typeface="Arial" panose="020B0604020202020204" pitchFamily="34" charset="0"/>
                <a:cs typeface="Arial" panose="020B0604020202020204" pitchFamily="34" charset="0"/>
              </a:rPr>
              <a:t>Binary vs. Multiclass Classification: </a:t>
            </a:r>
            <a:r>
              <a:rPr lang="en-GB" sz="3200" dirty="0">
                <a:latin typeface="Arial" panose="020B0604020202020204" pitchFamily="34" charset="0"/>
                <a:cs typeface="Arial" panose="020B0604020202020204" pitchFamily="34" charset="0"/>
              </a:rPr>
              <a:t> </a:t>
            </a:r>
            <a:r>
              <a:rPr lang="en-GB" sz="3200" dirty="0">
                <a:solidFill>
                  <a:srgbClr val="03807F"/>
                </a:solidFill>
                <a:latin typeface="Arial" panose="020B0604020202020204" pitchFamily="34" charset="0"/>
                <a:cs typeface="Arial" panose="020B0604020202020204" pitchFamily="34" charset="0"/>
              </a:rPr>
              <a:t>Types of Classification Problems</a:t>
            </a:r>
            <a:endParaRPr lang="en-GB" sz="3200" dirty="0">
              <a:solidFill>
                <a:srgbClr val="45C2CA"/>
              </a:solidFill>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BE23FF56-B02F-F9F6-A2E4-7E62A666D42B}"/>
              </a:ext>
            </a:extLst>
          </p:cNvPr>
          <p:cNvGraphicFramePr>
            <a:graphicFrameLocks noGrp="1"/>
          </p:cNvGraphicFramePr>
          <p:nvPr>
            <p:extLst>
              <p:ext uri="{D42A27DB-BD31-4B8C-83A1-F6EECF244321}">
                <p14:modId xmlns:p14="http://schemas.microsoft.com/office/powerpoint/2010/main" val="2043248818"/>
              </p:ext>
            </p:extLst>
          </p:nvPr>
        </p:nvGraphicFramePr>
        <p:xfrm>
          <a:off x="1181808" y="1912363"/>
          <a:ext cx="9828384" cy="3015239"/>
        </p:xfrm>
        <a:graphic>
          <a:graphicData uri="http://schemas.openxmlformats.org/drawingml/2006/table">
            <a:tbl>
              <a:tblPr firstRow="1" bandRow="1">
                <a:tableStyleId>{5C22544A-7EE6-4342-B048-85BDC9FD1C3A}</a:tableStyleId>
              </a:tblPr>
              <a:tblGrid>
                <a:gridCol w="4914192">
                  <a:extLst>
                    <a:ext uri="{9D8B030D-6E8A-4147-A177-3AD203B41FA5}">
                      <a16:colId xmlns:a16="http://schemas.microsoft.com/office/drawing/2014/main" val="2979321703"/>
                    </a:ext>
                  </a:extLst>
                </a:gridCol>
                <a:gridCol w="4914192">
                  <a:extLst>
                    <a:ext uri="{9D8B030D-6E8A-4147-A177-3AD203B41FA5}">
                      <a16:colId xmlns:a16="http://schemas.microsoft.com/office/drawing/2014/main" val="3268754998"/>
                    </a:ext>
                  </a:extLst>
                </a:gridCol>
              </a:tblGrid>
              <a:tr h="515010">
                <a:tc>
                  <a:txBody>
                    <a:bodyPr/>
                    <a:lstStyle/>
                    <a:p>
                      <a:pPr>
                        <a:buNone/>
                      </a:pPr>
                      <a:r>
                        <a:rPr lang="en-GB" dirty="0"/>
                        <a:t>Binary Classification</a:t>
                      </a:r>
                    </a:p>
                  </a:txBody>
                  <a:tcPr anchor="ctr"/>
                </a:tc>
                <a:tc>
                  <a:txBody>
                    <a:bodyPr/>
                    <a:lstStyle/>
                    <a:p>
                      <a:pPr>
                        <a:buNone/>
                      </a:pPr>
                      <a:r>
                        <a:rPr lang="en-GB" dirty="0"/>
                        <a:t>Multiclass Classification</a:t>
                      </a:r>
                    </a:p>
                  </a:txBody>
                  <a:tcPr anchor="ctr"/>
                </a:tc>
                <a:extLst>
                  <a:ext uri="{0D108BD9-81ED-4DB2-BD59-A6C34878D82A}">
                    <a16:rowId xmlns:a16="http://schemas.microsoft.com/office/drawing/2014/main" val="3670608755"/>
                  </a:ext>
                </a:extLst>
              </a:tr>
              <a:tr h="515010">
                <a:tc>
                  <a:txBody>
                    <a:bodyPr/>
                    <a:lstStyle/>
                    <a:p>
                      <a:pPr>
                        <a:buNone/>
                      </a:pPr>
                      <a:r>
                        <a:rPr lang="en-GB" dirty="0"/>
                        <a:t>Two possible outcomes (0 or 1, Yes or No) </a:t>
                      </a:r>
                    </a:p>
                  </a:txBody>
                  <a:tcPr anchor="ctr"/>
                </a:tc>
                <a:tc>
                  <a:txBody>
                    <a:bodyPr/>
                    <a:lstStyle/>
                    <a:p>
                      <a:pPr>
                        <a:buNone/>
                      </a:pPr>
                      <a:r>
                        <a:rPr lang="en-GB" dirty="0"/>
                        <a:t>Three or more possible outcomes</a:t>
                      </a:r>
                    </a:p>
                  </a:txBody>
                  <a:tcPr anchor="ctr"/>
                </a:tc>
                <a:extLst>
                  <a:ext uri="{0D108BD9-81ED-4DB2-BD59-A6C34878D82A}">
                    <a16:rowId xmlns:a16="http://schemas.microsoft.com/office/drawing/2014/main" val="456214213"/>
                  </a:ext>
                </a:extLst>
              </a:tr>
              <a:tr h="1985219">
                <a:tc>
                  <a:txBody>
                    <a:bodyPr/>
                    <a:lstStyle/>
                    <a:p>
                      <a:r>
                        <a:rPr lang="en-GB" b="1" dirty="0"/>
                        <a:t>Examples: </a:t>
                      </a:r>
                    </a:p>
                    <a:p>
                      <a:pPr marL="285750" indent="-285750">
                        <a:buFont typeface="Courier New" panose="02070309020205020404" pitchFamily="49" charset="0"/>
                        <a:buChar char="o"/>
                      </a:pPr>
                      <a:r>
                        <a:rPr lang="en-GB" dirty="0"/>
                        <a:t>Customer will churn: Yes/No</a:t>
                      </a:r>
                    </a:p>
                    <a:p>
                      <a:pPr marL="285750" indent="-285750">
                        <a:buFont typeface="Courier New" panose="02070309020205020404" pitchFamily="49" charset="0"/>
                        <a:buChar char="o"/>
                      </a:pPr>
                      <a:r>
                        <a:rPr lang="en-GB" dirty="0"/>
                        <a:t>Email is spam: Spam/Not Spam</a:t>
                      </a:r>
                    </a:p>
                    <a:p>
                      <a:pPr marL="285750" indent="-285750">
                        <a:buFont typeface="Courier New" panose="02070309020205020404" pitchFamily="49" charset="0"/>
                        <a:buChar char="o"/>
                      </a:pPr>
                      <a:r>
                        <a:rPr lang="en-GB" dirty="0"/>
                        <a:t>Loan default: Default/No </a:t>
                      </a:r>
                      <a:r>
                        <a:rPr lang="en-GB" dirty="0" err="1"/>
                        <a:t>Defaul</a:t>
                      </a:r>
                      <a:endParaRPr lang="en-GB" dirty="0"/>
                    </a:p>
                    <a:p>
                      <a:pPr>
                        <a:buNone/>
                      </a:pPr>
                      <a:endParaRPr lang="en-GB" dirty="0"/>
                    </a:p>
                  </a:txBody>
                  <a:tcPr/>
                </a:tc>
                <a:tc>
                  <a:txBody>
                    <a:bodyPr/>
                    <a:lstStyle/>
                    <a:p>
                      <a:r>
                        <a:rPr lang="en-GB" b="1" dirty="0"/>
                        <a:t>Examples:</a:t>
                      </a:r>
                    </a:p>
                    <a:p>
                      <a:pPr marL="285750" indent="-285750">
                        <a:buFont typeface="Courier New" panose="02070309020205020404" pitchFamily="49" charset="0"/>
                        <a:buChar char="o"/>
                      </a:pPr>
                      <a:r>
                        <a:rPr lang="en-GB" dirty="0"/>
                        <a:t>Product rating: 1★, 2★, 3★, 4★, 5★</a:t>
                      </a:r>
                    </a:p>
                    <a:p>
                      <a:pPr marL="285750" indent="-285750">
                        <a:buFont typeface="Courier New" panose="02070309020205020404" pitchFamily="49" charset="0"/>
                        <a:buChar char="o"/>
                      </a:pPr>
                      <a:r>
                        <a:rPr lang="en-GB" dirty="0"/>
                        <a:t>Disease type: Malaria, Typhoid, None</a:t>
                      </a:r>
                    </a:p>
                    <a:p>
                      <a:pPr marL="285750" indent="-285750">
                        <a:buFont typeface="Courier New" panose="02070309020205020404" pitchFamily="49" charset="0"/>
                        <a:buChar char="o"/>
                      </a:pPr>
                      <a:r>
                        <a:rPr lang="en-GB" dirty="0"/>
                        <a:t>Customer segment: Bronze, Silver, Gold, Platinum</a:t>
                      </a:r>
                    </a:p>
                    <a:p>
                      <a:pPr>
                        <a:buNone/>
                      </a:pPr>
                      <a:endParaRPr lang="en-GB" dirty="0"/>
                    </a:p>
                  </a:txBody>
                  <a:tcPr/>
                </a:tc>
                <a:extLst>
                  <a:ext uri="{0D108BD9-81ED-4DB2-BD59-A6C34878D82A}">
                    <a16:rowId xmlns:a16="http://schemas.microsoft.com/office/drawing/2014/main" val="3279549776"/>
                  </a:ext>
                </a:extLst>
              </a:tr>
            </a:tbl>
          </a:graphicData>
        </a:graphic>
      </p:graphicFrame>
    </p:spTree>
    <p:extLst>
      <p:ext uri="{BB962C8B-B14F-4D97-AF65-F5344CB8AC3E}">
        <p14:creationId xmlns:p14="http://schemas.microsoft.com/office/powerpoint/2010/main" val="2745203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6AD38-A451-04B1-55C9-9015990D931C}"/>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7D5EFAB3-C195-E093-5FF0-0BFD2C1D7217}"/>
              </a:ext>
            </a:extLst>
          </p:cNvPr>
          <p:cNvSpPr txBox="1">
            <a:spLocks/>
          </p:cNvSpPr>
          <p:nvPr/>
        </p:nvSpPr>
        <p:spPr>
          <a:xfrm>
            <a:off x="317306" y="240175"/>
            <a:ext cx="9724310" cy="610725"/>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highlight>
                  <a:srgbClr val="FBA31C"/>
                </a:highlight>
                <a:latin typeface="Arial" panose="020B0604020202020204" pitchFamily="34" charset="0"/>
                <a:cs typeface="Arial" panose="020B0604020202020204" pitchFamily="34" charset="0"/>
              </a:rPr>
              <a:t>Classification in Action: Nigerian Context </a:t>
            </a:r>
            <a:endParaRPr lang="en-NG" sz="3200" dirty="0"/>
          </a:p>
          <a:p>
            <a:endParaRPr lang="en-US" sz="3200" dirty="0">
              <a:solidFill>
                <a:srgbClr val="03807F"/>
              </a:solidFill>
              <a:latin typeface="Arial" panose="020B0604020202020204" pitchFamily="34" charset="0"/>
              <a:cs typeface="Arial" panose="020B0604020202020204" pitchFamily="34" charset="0"/>
            </a:endParaRPr>
          </a:p>
        </p:txBody>
      </p:sp>
      <p:sp>
        <p:nvSpPr>
          <p:cNvPr id="12" name="Rectangle: Rounded Corners 11">
            <a:extLst>
              <a:ext uri="{FF2B5EF4-FFF2-40B4-BE49-F238E27FC236}">
                <a16:creationId xmlns:a16="http://schemas.microsoft.com/office/drawing/2014/main" id="{0E74B4D2-92D1-17BA-6906-04E5ED43C2A2}"/>
              </a:ext>
            </a:extLst>
          </p:cNvPr>
          <p:cNvSpPr/>
          <p:nvPr/>
        </p:nvSpPr>
        <p:spPr>
          <a:xfrm>
            <a:off x="599440" y="1046480"/>
            <a:ext cx="2377440" cy="523220"/>
          </a:xfrm>
          <a:prstGeom prst="roundRect">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r>
              <a:rPr lang="en-GB" b="1" dirty="0"/>
              <a:t>Financial Services</a:t>
            </a:r>
            <a:endParaRPr lang="en-NG" b="1" dirty="0"/>
          </a:p>
        </p:txBody>
      </p:sp>
      <p:sp>
        <p:nvSpPr>
          <p:cNvPr id="16" name="TextBox 15">
            <a:extLst>
              <a:ext uri="{FF2B5EF4-FFF2-40B4-BE49-F238E27FC236}">
                <a16:creationId xmlns:a16="http://schemas.microsoft.com/office/drawing/2014/main" id="{39ECD98B-EB73-0325-3D33-156BB82351D9}"/>
              </a:ext>
            </a:extLst>
          </p:cNvPr>
          <p:cNvSpPr txBox="1"/>
          <p:nvPr/>
        </p:nvSpPr>
        <p:spPr>
          <a:xfrm>
            <a:off x="468709" y="1669156"/>
            <a:ext cx="5647608" cy="584775"/>
          </a:xfrm>
          <a:prstGeom prst="rect">
            <a:avLst/>
          </a:prstGeom>
          <a:noFill/>
        </p:spPr>
        <p:txBody>
          <a:bodyPr wrap="square" rtlCol="0">
            <a:spAutoFit/>
          </a:bodyPr>
          <a:lstStyle/>
          <a:p>
            <a:r>
              <a:rPr lang="en-GB" sz="1600" b="1" dirty="0">
                <a:highlight>
                  <a:srgbClr val="FBA31C"/>
                </a:highlight>
              </a:rPr>
              <a:t>Credit Risk for Microfinance</a:t>
            </a:r>
            <a:r>
              <a:rPr lang="en-GB" sz="1600" dirty="0">
                <a:highlight>
                  <a:srgbClr val="FBA31C"/>
                </a:highlight>
              </a:rPr>
              <a:t> (LAPO, Accion, Grooming Centre)</a:t>
            </a:r>
            <a:endParaRPr lang="en-NG" sz="1600" dirty="0">
              <a:highlight>
                <a:srgbClr val="FBA31C"/>
              </a:highlight>
            </a:endParaRPr>
          </a:p>
        </p:txBody>
      </p:sp>
      <p:sp>
        <p:nvSpPr>
          <p:cNvPr id="22" name="Rectangle 4">
            <a:extLst>
              <a:ext uri="{FF2B5EF4-FFF2-40B4-BE49-F238E27FC236}">
                <a16:creationId xmlns:a16="http://schemas.microsoft.com/office/drawing/2014/main" id="{369559D8-B100-4BFB-D46D-916DDCF984EF}"/>
              </a:ext>
            </a:extLst>
          </p:cNvPr>
          <p:cNvSpPr>
            <a:spLocks noChangeArrowheads="1"/>
          </p:cNvSpPr>
          <p:nvPr/>
        </p:nvSpPr>
        <p:spPr bwMode="auto">
          <a:xfrm>
            <a:off x="468709" y="2253931"/>
            <a:ext cx="536313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effectLst/>
                <a:latin typeface="Arial" panose="020B0604020202020204" pitchFamily="34" charset="0"/>
              </a:rPr>
              <a:t>Model:</a:t>
            </a:r>
            <a:r>
              <a:rPr kumimoji="0" lang="en-NG" altLang="en-NG" sz="1400" b="0" i="0" u="none" strike="noStrike" cap="none" normalizeH="0" baseline="0" dirty="0">
                <a:ln>
                  <a:noFill/>
                </a:ln>
                <a:effectLst/>
                <a:latin typeface="Arial" panose="020B0604020202020204" pitchFamily="34" charset="0"/>
              </a:rPr>
              <a:t> Logistic Regression</a:t>
            </a:r>
            <a:r>
              <a:rPr lang="en-GB" altLang="en-NG" sz="1400" dirty="0">
                <a:latin typeface="Arial" panose="020B0604020202020204" pitchFamily="34" charset="0"/>
              </a:rPr>
              <a:t> </a:t>
            </a:r>
            <a:r>
              <a:rPr kumimoji="0" lang="en-NG" altLang="en-NG" sz="1400" b="0" i="0" u="none" strike="noStrike" cap="none" normalizeH="0" baseline="0" dirty="0">
                <a:ln>
                  <a:noFill/>
                </a:ln>
                <a:effectLst/>
                <a:latin typeface="Arial" panose="020B0604020202020204" pitchFamily="34" charset="0"/>
              </a:rPr>
              <a:t>(interpretability required by CBN)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effectLst/>
                <a:latin typeface="Arial" panose="020B0604020202020204" pitchFamily="34" charset="0"/>
              </a:rPr>
              <a:t>Features:</a:t>
            </a:r>
            <a:r>
              <a:rPr kumimoji="0" lang="en-NG" altLang="en-NG" sz="1400" b="0" i="0" u="none" strike="noStrike" cap="none" normalizeH="0" baseline="0" dirty="0">
                <a:ln>
                  <a:noFill/>
                </a:ln>
                <a:effectLst/>
                <a:latin typeface="Arial" panose="020B0604020202020204" pitchFamily="34" charset="0"/>
              </a:rPr>
              <a:t> Credit bureau score, business type,</a:t>
            </a:r>
            <a:endParaRPr kumimoji="0" lang="en-GB" altLang="en-NG" sz="1400" b="0" i="0" u="none" strike="noStrike" cap="none" normalizeH="0" baseline="0" dirty="0">
              <a:ln>
                <a:noFill/>
              </a:ln>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lang="en-GB" altLang="en-NG" sz="1400" dirty="0">
                <a:latin typeface="Arial" panose="020B0604020202020204" pitchFamily="34" charset="0"/>
              </a:rPr>
              <a:t>      </a:t>
            </a:r>
            <a:r>
              <a:rPr kumimoji="0" lang="en-NG" altLang="en-NG" sz="1400" b="0" i="0" u="none" strike="noStrike" cap="none" normalizeH="0" baseline="0" dirty="0">
                <a:ln>
                  <a:noFill/>
                </a:ln>
                <a:effectLst/>
                <a:latin typeface="Arial" panose="020B0604020202020204" pitchFamily="34" charset="0"/>
              </a:rPr>
              <a:t>repayment history, guarantor reliability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effectLst/>
                <a:latin typeface="Arial" panose="020B0604020202020204" pitchFamily="34" charset="0"/>
              </a:rPr>
              <a:t>Accuracy:</a:t>
            </a:r>
            <a:r>
              <a:rPr kumimoji="0" lang="en-NG" altLang="en-NG" sz="1400" b="0" i="0" u="none" strike="noStrike" cap="none" normalizeH="0" baseline="0" dirty="0">
                <a:ln>
                  <a:noFill/>
                </a:ln>
                <a:effectLst/>
                <a:latin typeface="Arial" panose="020B0604020202020204" pitchFamily="34" charset="0"/>
              </a:rPr>
              <a:t> 78% with emphasis on recall to</a:t>
            </a:r>
            <a:endParaRPr lang="en-GB" altLang="en-NG" sz="1400" dirty="0">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GB" altLang="en-NG" sz="1400" b="0" i="0" u="none" strike="noStrike" cap="none" normalizeH="0" baseline="0" dirty="0">
                <a:ln>
                  <a:noFill/>
                </a:ln>
                <a:effectLst/>
                <a:latin typeface="Arial" panose="020B0604020202020204" pitchFamily="34" charset="0"/>
              </a:rPr>
              <a:t>      </a:t>
            </a:r>
            <a:r>
              <a:rPr kumimoji="0" lang="en-NG" altLang="en-NG" sz="1400" b="0" i="0" u="none" strike="noStrike" cap="none" normalizeH="0" baseline="0" dirty="0">
                <a:ln>
                  <a:noFill/>
                </a:ln>
                <a:effectLst/>
                <a:latin typeface="Arial" panose="020B0604020202020204" pitchFamily="34" charset="0"/>
              </a:rPr>
              <a:t>minimize bad loans </a:t>
            </a:r>
          </a:p>
        </p:txBody>
      </p:sp>
      <p:sp>
        <p:nvSpPr>
          <p:cNvPr id="23" name="TextBox 22">
            <a:extLst>
              <a:ext uri="{FF2B5EF4-FFF2-40B4-BE49-F238E27FC236}">
                <a16:creationId xmlns:a16="http://schemas.microsoft.com/office/drawing/2014/main" id="{27E4AB1A-85E6-7274-D0E2-316657C0FCB9}"/>
              </a:ext>
            </a:extLst>
          </p:cNvPr>
          <p:cNvSpPr txBox="1"/>
          <p:nvPr/>
        </p:nvSpPr>
        <p:spPr>
          <a:xfrm>
            <a:off x="6228080" y="1633914"/>
            <a:ext cx="5647608" cy="338554"/>
          </a:xfrm>
          <a:prstGeom prst="rect">
            <a:avLst/>
          </a:prstGeom>
          <a:noFill/>
        </p:spPr>
        <p:txBody>
          <a:bodyPr wrap="square" rtlCol="0">
            <a:spAutoFit/>
          </a:bodyPr>
          <a:lstStyle/>
          <a:p>
            <a:r>
              <a:rPr lang="en-GB" sz="1600" b="1" dirty="0">
                <a:highlight>
                  <a:srgbClr val="FBA31C"/>
                </a:highlight>
              </a:rPr>
              <a:t>Malaria Rapid Diagnosis</a:t>
            </a:r>
            <a:r>
              <a:rPr lang="en-GB" sz="1600" dirty="0">
                <a:highlight>
                  <a:srgbClr val="FBA31C"/>
                </a:highlight>
              </a:rPr>
              <a:t> (NCDC Partnership)</a:t>
            </a:r>
            <a:endParaRPr lang="en-NG" sz="1600" dirty="0">
              <a:highlight>
                <a:srgbClr val="FBA31C"/>
              </a:highlight>
            </a:endParaRPr>
          </a:p>
        </p:txBody>
      </p:sp>
      <p:sp>
        <p:nvSpPr>
          <p:cNvPr id="24" name="Rectangle: Rounded Corners 23">
            <a:extLst>
              <a:ext uri="{FF2B5EF4-FFF2-40B4-BE49-F238E27FC236}">
                <a16:creationId xmlns:a16="http://schemas.microsoft.com/office/drawing/2014/main" id="{53EBDDA4-E71E-6FD4-0DB6-ABE107562115}"/>
              </a:ext>
            </a:extLst>
          </p:cNvPr>
          <p:cNvSpPr/>
          <p:nvPr/>
        </p:nvSpPr>
        <p:spPr>
          <a:xfrm>
            <a:off x="6319520" y="998418"/>
            <a:ext cx="2377440" cy="523220"/>
          </a:xfrm>
          <a:prstGeom prst="roundRect">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r>
              <a:rPr lang="en-GB" b="1" dirty="0"/>
              <a:t>Healthcare</a:t>
            </a:r>
            <a:endParaRPr lang="en-NG" b="1" dirty="0"/>
          </a:p>
        </p:txBody>
      </p:sp>
      <p:sp>
        <p:nvSpPr>
          <p:cNvPr id="26" name="Rectangle 5">
            <a:extLst>
              <a:ext uri="{FF2B5EF4-FFF2-40B4-BE49-F238E27FC236}">
                <a16:creationId xmlns:a16="http://schemas.microsoft.com/office/drawing/2014/main" id="{A8799DFD-7B28-0633-158A-8DDFA6B61727}"/>
              </a:ext>
            </a:extLst>
          </p:cNvPr>
          <p:cNvSpPr>
            <a:spLocks noChangeArrowheads="1"/>
          </p:cNvSpPr>
          <p:nvPr/>
        </p:nvSpPr>
        <p:spPr bwMode="auto">
          <a:xfrm>
            <a:off x="6197600" y="2062984"/>
            <a:ext cx="5525691" cy="1432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solidFill>
                  <a:schemeClr val="tx1"/>
                </a:solidFill>
                <a:effectLst/>
                <a:latin typeface="Arial" panose="020B0604020202020204" pitchFamily="34" charset="0"/>
              </a:rPr>
              <a:t>Model:</a:t>
            </a:r>
            <a:r>
              <a:rPr kumimoji="0" lang="en-NG" altLang="en-NG" sz="1400" b="0" i="0" u="none" strike="noStrike" cap="none" normalizeH="0" baseline="0" dirty="0">
                <a:ln>
                  <a:noFill/>
                </a:ln>
                <a:solidFill>
                  <a:schemeClr val="tx1"/>
                </a:solidFill>
                <a:effectLst/>
                <a:latin typeface="Arial" panose="020B0604020202020204" pitchFamily="34" charset="0"/>
              </a:rPr>
              <a:t> Gradient Boosting Classifier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solidFill>
                  <a:schemeClr val="tx1"/>
                </a:solidFill>
                <a:effectLst/>
                <a:latin typeface="Arial" panose="020B0604020202020204" pitchFamily="34" charset="0"/>
              </a:rPr>
              <a:t>Features:</a:t>
            </a:r>
            <a:r>
              <a:rPr kumimoji="0" lang="en-NG" altLang="en-NG" sz="1400" b="0" i="0" u="none" strike="noStrike" cap="none" normalizeH="0" baseline="0" dirty="0">
                <a:ln>
                  <a:noFill/>
                </a:ln>
                <a:solidFill>
                  <a:schemeClr val="tx1"/>
                </a:solidFill>
                <a:effectLst/>
                <a:latin typeface="Arial" panose="020B0604020202020204" pitchFamily="34" charset="0"/>
              </a:rPr>
              <a:t> Fever duration, body temperature, geographic zone, recent travel, season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solidFill>
                  <a:schemeClr val="tx1"/>
                </a:solidFill>
                <a:effectLst/>
                <a:latin typeface="Arial" panose="020B0604020202020204" pitchFamily="34" charset="0"/>
              </a:rPr>
              <a:t>Performance:</a:t>
            </a:r>
            <a:r>
              <a:rPr kumimoji="0" lang="en-NG" altLang="en-NG" sz="1400" b="0" i="0" u="none" strike="noStrike" cap="none" normalizeH="0" baseline="0" dirty="0">
                <a:ln>
                  <a:noFill/>
                </a:ln>
                <a:solidFill>
                  <a:schemeClr val="tx1"/>
                </a:solidFill>
                <a:effectLst/>
                <a:latin typeface="Arial" panose="020B0604020202020204" pitchFamily="34" charset="0"/>
              </a:rPr>
              <a:t> 88% sensitivity, 82% specificity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solidFill>
                  <a:schemeClr val="tx1"/>
                </a:solidFill>
                <a:effectLst/>
                <a:latin typeface="Arial" panose="020B0604020202020204" pitchFamily="34" charset="0"/>
              </a:rPr>
              <a:t>Deployment:</a:t>
            </a:r>
            <a:r>
              <a:rPr kumimoji="0" lang="en-NG" altLang="en-NG" sz="1400" b="0" i="0" u="none" strike="noStrike" cap="none" normalizeH="0" baseline="0" dirty="0">
                <a:ln>
                  <a:noFill/>
                </a:ln>
                <a:solidFill>
                  <a:schemeClr val="tx1"/>
                </a:solidFill>
                <a:effectLst/>
                <a:latin typeface="Arial" panose="020B0604020202020204" pitchFamily="34" charset="0"/>
              </a:rPr>
              <a:t> Mobile app for rural health workers, works offline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solidFill>
                  <a:schemeClr val="tx1"/>
                </a:solidFill>
                <a:effectLst/>
                <a:latin typeface="Arial" panose="020B0604020202020204" pitchFamily="34" charset="0"/>
              </a:rPr>
              <a:t>Dataset:</a:t>
            </a:r>
            <a:r>
              <a:rPr kumimoji="0" lang="en-NG" altLang="en-NG" sz="1400" b="0" i="0" u="none" strike="noStrike" cap="none" normalizeH="0" baseline="0" dirty="0">
                <a:ln>
                  <a:noFill/>
                </a:ln>
                <a:solidFill>
                  <a:schemeClr val="tx1"/>
                </a:solidFill>
                <a:effectLst/>
                <a:latin typeface="Arial" panose="020B0604020202020204" pitchFamily="34" charset="0"/>
              </a:rPr>
              <a:t> 156,000 patient records from 12 states </a:t>
            </a:r>
          </a:p>
        </p:txBody>
      </p:sp>
      <p:sp>
        <p:nvSpPr>
          <p:cNvPr id="27" name="Rectangle: Rounded Corners 26">
            <a:extLst>
              <a:ext uri="{FF2B5EF4-FFF2-40B4-BE49-F238E27FC236}">
                <a16:creationId xmlns:a16="http://schemas.microsoft.com/office/drawing/2014/main" id="{BB967788-FEBF-C2BC-CE44-3ED1D27F2174}"/>
              </a:ext>
            </a:extLst>
          </p:cNvPr>
          <p:cNvSpPr/>
          <p:nvPr/>
        </p:nvSpPr>
        <p:spPr>
          <a:xfrm>
            <a:off x="599440" y="3495040"/>
            <a:ext cx="2641600" cy="523220"/>
          </a:xfrm>
          <a:prstGeom prst="roundRect">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r>
              <a:rPr lang="en-GB" b="1" dirty="0"/>
              <a:t>E-Commerce &amp; Retail</a:t>
            </a:r>
            <a:endParaRPr lang="en-NG" b="1" dirty="0"/>
          </a:p>
        </p:txBody>
      </p:sp>
      <p:sp>
        <p:nvSpPr>
          <p:cNvPr id="28" name="Rectangle: Rounded Corners 27">
            <a:extLst>
              <a:ext uri="{FF2B5EF4-FFF2-40B4-BE49-F238E27FC236}">
                <a16:creationId xmlns:a16="http://schemas.microsoft.com/office/drawing/2014/main" id="{F32C6023-951B-3AE1-1A76-85CDC46FD834}"/>
              </a:ext>
            </a:extLst>
          </p:cNvPr>
          <p:cNvSpPr/>
          <p:nvPr/>
        </p:nvSpPr>
        <p:spPr>
          <a:xfrm>
            <a:off x="6228080" y="3547084"/>
            <a:ext cx="2641600" cy="471176"/>
          </a:xfrm>
          <a:prstGeom prst="roundRect">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r>
              <a:rPr lang="en-GB" b="1" dirty="0"/>
              <a:t>Telecommunication</a:t>
            </a:r>
            <a:endParaRPr lang="en-NG" b="1" dirty="0"/>
          </a:p>
        </p:txBody>
      </p:sp>
      <p:sp>
        <p:nvSpPr>
          <p:cNvPr id="29" name="TextBox 28">
            <a:extLst>
              <a:ext uri="{FF2B5EF4-FFF2-40B4-BE49-F238E27FC236}">
                <a16:creationId xmlns:a16="http://schemas.microsoft.com/office/drawing/2014/main" id="{62DB2D87-3677-FB20-A494-FDD0E0F02496}"/>
              </a:ext>
            </a:extLst>
          </p:cNvPr>
          <p:cNvSpPr txBox="1"/>
          <p:nvPr/>
        </p:nvSpPr>
        <p:spPr>
          <a:xfrm>
            <a:off x="468709" y="4070966"/>
            <a:ext cx="4469051" cy="338554"/>
          </a:xfrm>
          <a:prstGeom prst="rect">
            <a:avLst/>
          </a:prstGeom>
          <a:noFill/>
        </p:spPr>
        <p:txBody>
          <a:bodyPr wrap="square" rtlCol="0">
            <a:spAutoFit/>
          </a:bodyPr>
          <a:lstStyle/>
          <a:p>
            <a:r>
              <a:rPr lang="en-GB" sz="1600" b="1" dirty="0">
                <a:highlight>
                  <a:srgbClr val="FBA31C"/>
                </a:highlight>
              </a:rPr>
              <a:t>Customer Churn Prediction</a:t>
            </a:r>
            <a:r>
              <a:rPr lang="en-GB" sz="1600" dirty="0">
                <a:highlight>
                  <a:srgbClr val="FBA31C"/>
                </a:highlight>
              </a:rPr>
              <a:t> (Jumia Nigeria)</a:t>
            </a:r>
            <a:endParaRPr lang="en-NG" sz="1600" dirty="0">
              <a:highlight>
                <a:srgbClr val="FBA31C"/>
              </a:highlight>
            </a:endParaRPr>
          </a:p>
        </p:txBody>
      </p:sp>
      <p:sp>
        <p:nvSpPr>
          <p:cNvPr id="30" name="TextBox 29">
            <a:extLst>
              <a:ext uri="{FF2B5EF4-FFF2-40B4-BE49-F238E27FC236}">
                <a16:creationId xmlns:a16="http://schemas.microsoft.com/office/drawing/2014/main" id="{1659FFC9-C784-18A3-00F0-6EACAE73F187}"/>
              </a:ext>
            </a:extLst>
          </p:cNvPr>
          <p:cNvSpPr txBox="1"/>
          <p:nvPr/>
        </p:nvSpPr>
        <p:spPr>
          <a:xfrm>
            <a:off x="6116317" y="4060887"/>
            <a:ext cx="5647608" cy="584775"/>
          </a:xfrm>
          <a:prstGeom prst="rect">
            <a:avLst/>
          </a:prstGeom>
          <a:noFill/>
        </p:spPr>
        <p:txBody>
          <a:bodyPr wrap="square" rtlCol="0">
            <a:spAutoFit/>
          </a:bodyPr>
          <a:lstStyle/>
          <a:p>
            <a:r>
              <a:rPr lang="en-GB" sz="1600" b="1" dirty="0">
                <a:highlight>
                  <a:srgbClr val="FBA31C"/>
                </a:highlight>
              </a:rPr>
              <a:t>Network Fault Classification</a:t>
            </a:r>
            <a:r>
              <a:rPr lang="en-GB" sz="1600" dirty="0">
                <a:highlight>
                  <a:srgbClr val="FBA31C"/>
                </a:highlight>
              </a:rPr>
              <a:t> (MTN Nigeria)</a:t>
            </a:r>
          </a:p>
          <a:p>
            <a:endParaRPr lang="en-NG" sz="1600" dirty="0">
              <a:highlight>
                <a:srgbClr val="FBA31C"/>
              </a:highlight>
            </a:endParaRPr>
          </a:p>
        </p:txBody>
      </p:sp>
      <p:sp>
        <p:nvSpPr>
          <p:cNvPr id="32" name="Rectangle 6">
            <a:extLst>
              <a:ext uri="{FF2B5EF4-FFF2-40B4-BE49-F238E27FC236}">
                <a16:creationId xmlns:a16="http://schemas.microsoft.com/office/drawing/2014/main" id="{7B32B655-E3E1-E229-BCAB-7ECA63D6C7E8}"/>
              </a:ext>
            </a:extLst>
          </p:cNvPr>
          <p:cNvSpPr>
            <a:spLocks noChangeArrowheads="1"/>
          </p:cNvSpPr>
          <p:nvPr/>
        </p:nvSpPr>
        <p:spPr bwMode="auto">
          <a:xfrm>
            <a:off x="375916" y="4414729"/>
            <a:ext cx="5647609" cy="165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solidFill>
                  <a:schemeClr val="tx1"/>
                </a:solidFill>
                <a:effectLst/>
                <a:latin typeface="Arial" panose="020B0604020202020204" pitchFamily="34" charset="0"/>
              </a:rPr>
              <a:t>Model:</a:t>
            </a:r>
            <a:r>
              <a:rPr kumimoji="0" lang="en-NG" altLang="en-NG" sz="1400" b="0" i="0" u="none" strike="noStrike" cap="none" normalizeH="0" baseline="0" dirty="0">
                <a:ln>
                  <a:noFill/>
                </a:ln>
                <a:solidFill>
                  <a:schemeClr val="tx1"/>
                </a:solidFill>
                <a:effectLst/>
                <a:latin typeface="Arial" panose="020B0604020202020204" pitchFamily="34" charset="0"/>
              </a:rPr>
              <a:t> </a:t>
            </a:r>
            <a:r>
              <a:rPr kumimoji="0" lang="en-NG" altLang="en-NG" sz="1400" b="0" i="0" u="none" strike="noStrike" cap="none" normalizeH="0" baseline="0" dirty="0" err="1">
                <a:ln>
                  <a:noFill/>
                </a:ln>
                <a:solidFill>
                  <a:schemeClr val="tx1"/>
                </a:solidFill>
                <a:effectLst/>
                <a:latin typeface="Arial" panose="020B0604020202020204" pitchFamily="34" charset="0"/>
              </a:rPr>
              <a:t>XGBoost</a:t>
            </a:r>
            <a:r>
              <a:rPr kumimoji="0" lang="en-NG" altLang="en-NG" sz="1400" b="0" i="0" u="none" strike="noStrike" cap="none" normalizeH="0" baseline="0" dirty="0">
                <a:ln>
                  <a:noFill/>
                </a:ln>
                <a:solidFill>
                  <a:schemeClr val="tx1"/>
                </a:solidFill>
                <a:effectLst/>
                <a:latin typeface="Arial" panose="020B0604020202020204" pitchFamily="34" charset="0"/>
              </a:rPr>
              <a:t> Classifier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solidFill>
                  <a:schemeClr val="tx1"/>
                </a:solidFill>
                <a:effectLst/>
                <a:latin typeface="Arial" panose="020B0604020202020204" pitchFamily="34" charset="0"/>
              </a:rPr>
              <a:t>Features:</a:t>
            </a:r>
            <a:r>
              <a:rPr kumimoji="0" lang="en-NG" altLang="en-NG" sz="1400" b="0" i="0" u="none" strike="noStrike" cap="none" normalizeH="0" baseline="0" dirty="0">
                <a:ln>
                  <a:noFill/>
                </a:ln>
                <a:solidFill>
                  <a:schemeClr val="tx1"/>
                </a:solidFill>
                <a:effectLst/>
                <a:latin typeface="Arial" panose="020B0604020202020204" pitchFamily="34" charset="0"/>
              </a:rPr>
              <a:t> Days since last purchase, cart abandonment rate, customer service interactions, discount usage, payment method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solidFill>
                  <a:schemeClr val="tx1"/>
                </a:solidFill>
                <a:effectLst/>
                <a:latin typeface="Arial" panose="020B0604020202020204" pitchFamily="34" charset="0"/>
              </a:rPr>
              <a:t>Class distribution:</a:t>
            </a:r>
            <a:r>
              <a:rPr kumimoji="0" lang="en-NG" altLang="en-NG" sz="1400" b="0" i="0" u="none" strike="noStrike" cap="none" normalizeH="0" baseline="0" dirty="0">
                <a:ln>
                  <a:noFill/>
                </a:ln>
                <a:solidFill>
                  <a:schemeClr val="tx1"/>
                </a:solidFill>
                <a:effectLst/>
                <a:latin typeface="Arial" panose="020B0604020202020204" pitchFamily="34" charset="0"/>
              </a:rPr>
              <a:t> 68% retained, 32% churned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solidFill>
                  <a:schemeClr val="tx1"/>
                </a:solidFill>
                <a:effectLst/>
                <a:latin typeface="Arial" panose="020B0604020202020204" pitchFamily="34" charset="0"/>
              </a:rPr>
              <a:t>Strategy:</a:t>
            </a:r>
            <a:r>
              <a:rPr kumimoji="0" lang="en-NG" altLang="en-NG" sz="1400" b="0" i="0" u="none" strike="noStrike" cap="none" normalizeH="0" baseline="0" dirty="0">
                <a:ln>
                  <a:noFill/>
                </a:ln>
                <a:solidFill>
                  <a:schemeClr val="tx1"/>
                </a:solidFill>
                <a:effectLst/>
                <a:latin typeface="Arial" panose="020B0604020202020204" pitchFamily="34" charset="0"/>
              </a:rPr>
              <a:t> Predict 14 days before likely churn, trigger retention campaign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solidFill>
                  <a:schemeClr val="tx1"/>
                </a:solidFill>
                <a:effectLst/>
                <a:latin typeface="Arial" panose="020B0604020202020204" pitchFamily="34" charset="0"/>
              </a:rPr>
              <a:t>ROI:</a:t>
            </a:r>
            <a:r>
              <a:rPr kumimoji="0" lang="en-NG" altLang="en-NG" sz="1400" b="0" i="0" u="none" strike="noStrike" cap="none" normalizeH="0" baseline="0" dirty="0">
                <a:ln>
                  <a:noFill/>
                </a:ln>
                <a:solidFill>
                  <a:schemeClr val="tx1"/>
                </a:solidFill>
                <a:effectLst/>
                <a:latin typeface="Arial" panose="020B0604020202020204" pitchFamily="34" charset="0"/>
              </a:rPr>
              <a:t> ₦450M saved annually through targeted retention </a:t>
            </a:r>
          </a:p>
        </p:txBody>
      </p:sp>
      <p:sp>
        <p:nvSpPr>
          <p:cNvPr id="33" name="TextBox 32">
            <a:extLst>
              <a:ext uri="{FF2B5EF4-FFF2-40B4-BE49-F238E27FC236}">
                <a16:creationId xmlns:a16="http://schemas.microsoft.com/office/drawing/2014/main" id="{10A52E39-EC50-B4AB-6826-99EA0D3B4667}"/>
              </a:ext>
            </a:extLst>
          </p:cNvPr>
          <p:cNvSpPr txBox="1"/>
          <p:nvPr/>
        </p:nvSpPr>
        <p:spPr>
          <a:xfrm>
            <a:off x="6023525" y="4409520"/>
            <a:ext cx="5953752" cy="1600438"/>
          </a:xfrm>
          <a:prstGeom prst="rect">
            <a:avLst/>
          </a:prstGeom>
          <a:noFill/>
        </p:spPr>
        <p:txBody>
          <a:bodyPr wrap="square" rtlCol="0">
            <a:spAutoFit/>
          </a:bodyPr>
          <a:lstStyle/>
          <a:p>
            <a:pPr marL="285750" indent="-285750">
              <a:buFont typeface="Courier New" panose="02070309020205020404" pitchFamily="49" charset="0"/>
              <a:buChar char="o"/>
            </a:pPr>
            <a:r>
              <a:rPr lang="en-GB" sz="1400" b="1" dirty="0"/>
              <a:t>Model:</a:t>
            </a:r>
            <a:r>
              <a:rPr lang="en-GB" sz="1400" dirty="0"/>
              <a:t> Decision Tree (multiclass: 8 fault types)</a:t>
            </a:r>
          </a:p>
          <a:p>
            <a:pPr marL="285750" indent="-285750">
              <a:buFont typeface="Courier New" panose="02070309020205020404" pitchFamily="49" charset="0"/>
              <a:buChar char="o"/>
            </a:pPr>
            <a:r>
              <a:rPr lang="en-GB" sz="1400" b="1" dirty="0"/>
              <a:t>Features:</a:t>
            </a:r>
            <a:r>
              <a:rPr lang="en-GB" sz="1400" dirty="0"/>
              <a:t> Signal strength, cell tower load, weather data, time of day, subscriber density</a:t>
            </a:r>
          </a:p>
          <a:p>
            <a:pPr marL="285750" indent="-285750">
              <a:buFont typeface="Courier New" panose="02070309020205020404" pitchFamily="49" charset="0"/>
              <a:buChar char="o"/>
            </a:pPr>
            <a:r>
              <a:rPr lang="en-GB" sz="1400" b="1" dirty="0"/>
              <a:t>Classes:</a:t>
            </a:r>
            <a:r>
              <a:rPr lang="en-GB" sz="1400" dirty="0"/>
              <a:t> Power failure, equipment malfunction, </a:t>
            </a:r>
            <a:r>
              <a:rPr lang="en-GB" sz="1400" dirty="0" err="1"/>
              <a:t>fiber</a:t>
            </a:r>
            <a:r>
              <a:rPr lang="en-GB" sz="1400" dirty="0"/>
              <a:t> cut, congestion, etc.</a:t>
            </a:r>
          </a:p>
          <a:p>
            <a:pPr marL="285750" indent="-285750">
              <a:buFont typeface="Courier New" panose="02070309020205020404" pitchFamily="49" charset="0"/>
              <a:buChar char="o"/>
            </a:pPr>
            <a:r>
              <a:rPr lang="en-GB" sz="1400" b="1" dirty="0"/>
              <a:t>Impact:</a:t>
            </a:r>
            <a:r>
              <a:rPr lang="en-GB" sz="1400" dirty="0"/>
              <a:t> 40% faster fault resolution, automated routing to correct technical team.</a:t>
            </a:r>
          </a:p>
        </p:txBody>
      </p:sp>
    </p:spTree>
    <p:extLst>
      <p:ext uri="{BB962C8B-B14F-4D97-AF65-F5344CB8AC3E}">
        <p14:creationId xmlns:p14="http://schemas.microsoft.com/office/powerpoint/2010/main" val="2674451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3C00B-29A8-4E47-CC58-3EFFAF5E5284}"/>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8B16E4FC-44B7-9264-BDDF-105BD9612D35}"/>
              </a:ext>
            </a:extLst>
          </p:cNvPr>
          <p:cNvSpPr txBox="1">
            <a:spLocks/>
          </p:cNvSpPr>
          <p:nvPr/>
        </p:nvSpPr>
        <p:spPr>
          <a:xfrm>
            <a:off x="317306" y="240175"/>
            <a:ext cx="9385494" cy="1202545"/>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highlight>
                  <a:srgbClr val="FBA31C"/>
                </a:highlight>
                <a:latin typeface="Arial" panose="020B0604020202020204" pitchFamily="34" charset="0"/>
                <a:cs typeface="Arial" panose="020B0604020202020204" pitchFamily="34" charset="0"/>
              </a:rPr>
              <a:t>Classification Overview: The Classification</a:t>
            </a:r>
          </a:p>
          <a:p>
            <a:r>
              <a:rPr lang="en-GB" sz="3200" dirty="0">
                <a:highlight>
                  <a:srgbClr val="FBA31C"/>
                </a:highlight>
                <a:latin typeface="Arial" panose="020B0604020202020204" pitchFamily="34" charset="0"/>
                <a:cs typeface="Arial" panose="020B0604020202020204" pitchFamily="34" charset="0"/>
              </a:rPr>
              <a:t>Toolbox </a:t>
            </a:r>
            <a:endParaRPr lang="en-NG" sz="3200" dirty="0"/>
          </a:p>
          <a:p>
            <a:endParaRPr lang="en-US" sz="3200" dirty="0">
              <a:solidFill>
                <a:srgbClr val="03807F"/>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852344B6-783D-2E41-9683-88AB54BBFF2A}"/>
              </a:ext>
            </a:extLst>
          </p:cNvPr>
          <p:cNvSpPr txBox="1"/>
          <p:nvPr/>
        </p:nvSpPr>
        <p:spPr>
          <a:xfrm>
            <a:off x="317306" y="1351280"/>
            <a:ext cx="4783014" cy="375920"/>
          </a:xfrm>
          <a:prstGeom prst="rect">
            <a:avLst/>
          </a:prstGeom>
          <a:noFill/>
        </p:spPr>
        <p:txBody>
          <a:bodyPr wrap="square" rtlCol="0">
            <a:spAutoFit/>
          </a:bodyPr>
          <a:lstStyle/>
          <a:p>
            <a:r>
              <a:rPr lang="en-GB" b="1" dirty="0">
                <a:highlight>
                  <a:srgbClr val="48C3CB"/>
                </a:highlight>
              </a:rPr>
              <a:t>Algorithm Spectrum: Simple → Complex</a:t>
            </a:r>
            <a:endParaRPr lang="en-NG" b="1" dirty="0">
              <a:highlight>
                <a:srgbClr val="48C3CB"/>
              </a:highlight>
            </a:endParaRPr>
          </a:p>
        </p:txBody>
      </p:sp>
      <p:sp>
        <p:nvSpPr>
          <p:cNvPr id="4" name="Rectangle: Rounded Corners 3">
            <a:extLst>
              <a:ext uri="{FF2B5EF4-FFF2-40B4-BE49-F238E27FC236}">
                <a16:creationId xmlns:a16="http://schemas.microsoft.com/office/drawing/2014/main" id="{EFB32EC2-8D73-6ACC-64F7-EE2627469797}"/>
              </a:ext>
            </a:extLst>
          </p:cNvPr>
          <p:cNvSpPr/>
          <p:nvPr/>
        </p:nvSpPr>
        <p:spPr>
          <a:xfrm>
            <a:off x="276667" y="1828800"/>
            <a:ext cx="2234027" cy="2895601"/>
          </a:xfrm>
          <a:prstGeom prst="roundRect">
            <a:avLst/>
          </a:prstGeom>
          <a:solidFill>
            <a:srgbClr val="45C2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t>Logistic Regression</a:t>
            </a:r>
          </a:p>
          <a:p>
            <a:endParaRPr lang="en-GB" i="1" dirty="0"/>
          </a:p>
          <a:p>
            <a:pPr marL="285750" indent="-285750">
              <a:buFont typeface="Courier New" panose="02070309020205020404" pitchFamily="49" charset="0"/>
              <a:buChar char="o"/>
            </a:pPr>
            <a:r>
              <a:rPr lang="en-GB" sz="1400" b="1" dirty="0"/>
              <a:t>Interpretable, fast, probabilistic outputs</a:t>
            </a:r>
          </a:p>
          <a:p>
            <a:pPr marL="285750" indent="-285750">
              <a:buFont typeface="Courier New" panose="02070309020205020404" pitchFamily="49" charset="0"/>
              <a:buChar char="o"/>
            </a:pPr>
            <a:r>
              <a:rPr lang="en-GB" sz="1400" b="1" dirty="0"/>
              <a:t>Best for: Linear relationships</a:t>
            </a:r>
          </a:p>
          <a:p>
            <a:pPr algn="ctr"/>
            <a:endParaRPr lang="en-GB" i="1" dirty="0"/>
          </a:p>
          <a:p>
            <a:pPr algn="ctr"/>
            <a:endParaRPr lang="en-NG" dirty="0"/>
          </a:p>
        </p:txBody>
      </p:sp>
      <p:sp>
        <p:nvSpPr>
          <p:cNvPr id="5" name="Rectangle: Rounded Corners 4">
            <a:extLst>
              <a:ext uri="{FF2B5EF4-FFF2-40B4-BE49-F238E27FC236}">
                <a16:creationId xmlns:a16="http://schemas.microsoft.com/office/drawing/2014/main" id="{6E8D0006-B76C-45F1-778E-4019B4E24B77}"/>
              </a:ext>
            </a:extLst>
          </p:cNvPr>
          <p:cNvSpPr/>
          <p:nvPr/>
        </p:nvSpPr>
        <p:spPr>
          <a:xfrm>
            <a:off x="2675406" y="1828801"/>
            <a:ext cx="2234027" cy="2895600"/>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t>Decision Trees</a:t>
            </a:r>
          </a:p>
          <a:p>
            <a:pPr algn="ctr"/>
            <a:endParaRPr lang="en-GB" b="1" dirty="0"/>
          </a:p>
          <a:p>
            <a:pPr marL="285750" indent="-285750">
              <a:buFont typeface="Courier New" panose="02070309020205020404" pitchFamily="49" charset="0"/>
              <a:buChar char="o"/>
            </a:pPr>
            <a:r>
              <a:rPr lang="en-GB" sz="1400" dirty="0"/>
              <a:t>Visual, handles non-linear data</a:t>
            </a:r>
          </a:p>
          <a:p>
            <a:pPr marL="285750" indent="-285750">
              <a:buFont typeface="Courier New" panose="02070309020205020404" pitchFamily="49" charset="0"/>
              <a:buChar char="o"/>
            </a:pPr>
            <a:r>
              <a:rPr lang="en-GB" sz="1400" dirty="0"/>
              <a:t>Best for: Interpretable rules</a:t>
            </a:r>
          </a:p>
          <a:p>
            <a:pPr marL="285750" indent="-285750">
              <a:buFont typeface="Courier New" panose="02070309020205020404" pitchFamily="49" charset="0"/>
              <a:buChar char="o"/>
            </a:pPr>
            <a:endParaRPr lang="en-GB" sz="1400" dirty="0"/>
          </a:p>
          <a:p>
            <a:endParaRPr lang="en-GB" sz="1400" dirty="0"/>
          </a:p>
          <a:p>
            <a:pPr algn="ctr"/>
            <a:endParaRPr lang="en-NG" b="1" dirty="0"/>
          </a:p>
        </p:txBody>
      </p:sp>
      <p:sp>
        <p:nvSpPr>
          <p:cNvPr id="6" name="Rectangle: Rounded Corners 5">
            <a:extLst>
              <a:ext uri="{FF2B5EF4-FFF2-40B4-BE49-F238E27FC236}">
                <a16:creationId xmlns:a16="http://schemas.microsoft.com/office/drawing/2014/main" id="{ACC9070F-8B62-86A3-9B57-93DA49C84948}"/>
              </a:ext>
            </a:extLst>
          </p:cNvPr>
          <p:cNvSpPr/>
          <p:nvPr/>
        </p:nvSpPr>
        <p:spPr>
          <a:xfrm>
            <a:off x="5074145" y="1828801"/>
            <a:ext cx="2234027" cy="2895600"/>
          </a:xfrm>
          <a:prstGeom prst="roundRect">
            <a:avLst/>
          </a:prstGeom>
          <a:solidFill>
            <a:srgbClr val="48C3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t>Random Forest</a:t>
            </a:r>
          </a:p>
          <a:p>
            <a:pPr algn="ctr"/>
            <a:endParaRPr lang="en-GB" b="1" dirty="0"/>
          </a:p>
          <a:p>
            <a:pPr marL="285750" indent="-285750">
              <a:buFont typeface="Courier New" panose="02070309020205020404" pitchFamily="49" charset="0"/>
              <a:buChar char="o"/>
            </a:pPr>
            <a:r>
              <a:rPr lang="en-GB" sz="1400" dirty="0"/>
              <a:t>Ensemble method, robust</a:t>
            </a:r>
          </a:p>
          <a:p>
            <a:pPr marL="285750" indent="-285750">
              <a:buFont typeface="Courier New" panose="02070309020205020404" pitchFamily="49" charset="0"/>
              <a:buChar char="o"/>
            </a:pPr>
            <a:r>
              <a:rPr lang="en-GB" sz="1400" dirty="0"/>
              <a:t>Best for: High accuracy needs</a:t>
            </a:r>
          </a:p>
          <a:p>
            <a:pPr algn="ctr"/>
            <a:endParaRPr lang="en-GB" b="1" dirty="0"/>
          </a:p>
          <a:p>
            <a:pPr algn="ctr"/>
            <a:endParaRPr lang="en-GB" b="1" dirty="0"/>
          </a:p>
          <a:p>
            <a:pPr algn="ctr"/>
            <a:endParaRPr lang="en-NG" b="1" dirty="0"/>
          </a:p>
        </p:txBody>
      </p:sp>
      <p:sp>
        <p:nvSpPr>
          <p:cNvPr id="8" name="Rectangle: Rounded Corners 7">
            <a:extLst>
              <a:ext uri="{FF2B5EF4-FFF2-40B4-BE49-F238E27FC236}">
                <a16:creationId xmlns:a16="http://schemas.microsoft.com/office/drawing/2014/main" id="{0991F99E-17CA-ACFF-84C0-BBE0FE3A5240}"/>
              </a:ext>
            </a:extLst>
          </p:cNvPr>
          <p:cNvSpPr/>
          <p:nvPr/>
        </p:nvSpPr>
        <p:spPr>
          <a:xfrm>
            <a:off x="7472884" y="1828800"/>
            <a:ext cx="2234027" cy="2895600"/>
          </a:xfrm>
          <a:prstGeom prst="roundRect">
            <a:avLst/>
          </a:prstGeom>
          <a:solidFill>
            <a:srgbClr val="FBA31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t>Neural Networks</a:t>
            </a:r>
          </a:p>
          <a:p>
            <a:endParaRPr lang="en-GB" b="1" dirty="0"/>
          </a:p>
          <a:p>
            <a:pPr marL="285750" indent="-285750">
              <a:buFont typeface="Courier New" panose="02070309020205020404" pitchFamily="49" charset="0"/>
              <a:buChar char="o"/>
            </a:pPr>
            <a:r>
              <a:rPr lang="en-GB" sz="1400" dirty="0"/>
              <a:t>Deep learning capable</a:t>
            </a:r>
          </a:p>
          <a:p>
            <a:pPr marL="285750" indent="-285750">
              <a:buFont typeface="Courier New" panose="02070309020205020404" pitchFamily="49" charset="0"/>
              <a:buChar char="o"/>
            </a:pPr>
            <a:r>
              <a:rPr lang="en-GB" sz="1400" dirty="0"/>
              <a:t>Best for: Large, complex datasets</a:t>
            </a:r>
          </a:p>
          <a:p>
            <a:endParaRPr lang="en-GB" sz="1400" dirty="0"/>
          </a:p>
          <a:p>
            <a:endParaRPr lang="en-GB" sz="1400" dirty="0"/>
          </a:p>
          <a:p>
            <a:pPr marL="285750" indent="-285750">
              <a:buFont typeface="Courier New" panose="02070309020205020404" pitchFamily="49" charset="0"/>
              <a:buChar char="o"/>
            </a:pPr>
            <a:endParaRPr lang="en-NG" sz="1400" dirty="0"/>
          </a:p>
        </p:txBody>
      </p:sp>
      <p:sp>
        <p:nvSpPr>
          <p:cNvPr id="19" name="Rectangle: Rounded Corners 18">
            <a:extLst>
              <a:ext uri="{FF2B5EF4-FFF2-40B4-BE49-F238E27FC236}">
                <a16:creationId xmlns:a16="http://schemas.microsoft.com/office/drawing/2014/main" id="{EE81FE1F-5CE0-16F7-409C-AE6A7BEF8D70}"/>
              </a:ext>
            </a:extLst>
          </p:cNvPr>
          <p:cNvSpPr/>
          <p:nvPr/>
        </p:nvSpPr>
        <p:spPr>
          <a:xfrm>
            <a:off x="9871623" y="1798320"/>
            <a:ext cx="2234027" cy="2895600"/>
          </a:xfrm>
          <a:prstGeom prst="roundRect">
            <a:avLst/>
          </a:prstGeom>
          <a:solidFill>
            <a:srgbClr val="48C3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t>Support Vector Machines (SVM)</a:t>
            </a:r>
          </a:p>
          <a:p>
            <a:pPr algn="ctr"/>
            <a:endParaRPr lang="en-GB" b="1" dirty="0"/>
          </a:p>
          <a:p>
            <a:pPr marL="285750" indent="-285750">
              <a:buFont typeface="Courier New" panose="02070309020205020404" pitchFamily="49" charset="0"/>
              <a:buChar char="o"/>
            </a:pPr>
            <a:r>
              <a:rPr lang="en-GB" sz="1400" dirty="0"/>
              <a:t>Effective in high dimensions</a:t>
            </a:r>
          </a:p>
          <a:p>
            <a:pPr marL="285750" indent="-285750">
              <a:buFont typeface="Courier New" panose="02070309020205020404" pitchFamily="49" charset="0"/>
              <a:buChar char="o"/>
            </a:pPr>
            <a:r>
              <a:rPr lang="en-GB" sz="1400" dirty="0"/>
              <a:t>Best for: Complex boundaries</a:t>
            </a:r>
          </a:p>
          <a:p>
            <a:endParaRPr lang="en-GB" sz="1400" dirty="0"/>
          </a:p>
          <a:p>
            <a:pPr algn="ctr"/>
            <a:endParaRPr lang="en-NG" b="1" dirty="0"/>
          </a:p>
        </p:txBody>
      </p:sp>
    </p:spTree>
    <p:extLst>
      <p:ext uri="{BB962C8B-B14F-4D97-AF65-F5344CB8AC3E}">
        <p14:creationId xmlns:p14="http://schemas.microsoft.com/office/powerpoint/2010/main" val="113175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11E8C-636A-2A7F-E072-F4F098BCA02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D36E592-FC6A-D567-DF68-926667CD7D7E}"/>
              </a:ext>
            </a:extLst>
          </p:cNvPr>
          <p:cNvSpPr/>
          <p:nvPr/>
        </p:nvSpPr>
        <p:spPr>
          <a:xfrm>
            <a:off x="276667" y="1828800"/>
            <a:ext cx="2234027" cy="2895601"/>
          </a:xfrm>
          <a:prstGeom prst="roundRect">
            <a:avLst/>
          </a:prstGeom>
          <a:solidFill>
            <a:srgbClr val="45C2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t>Customer Churn Prediction</a:t>
            </a:r>
          </a:p>
          <a:p>
            <a:endParaRPr lang="en-GB" dirty="0"/>
          </a:p>
          <a:p>
            <a:pPr marL="285750" indent="-285750">
              <a:buFont typeface="Courier New" panose="02070309020205020404" pitchFamily="49" charset="0"/>
              <a:buChar char="o"/>
            </a:pPr>
            <a:r>
              <a:rPr lang="en-GB" sz="1400" dirty="0"/>
              <a:t>Telecom/banking sector focus</a:t>
            </a:r>
            <a:endParaRPr lang="en-GB" i="1" dirty="0"/>
          </a:p>
          <a:p>
            <a:pPr algn="ctr"/>
            <a:endParaRPr lang="en-NG" dirty="0"/>
          </a:p>
        </p:txBody>
      </p:sp>
      <p:sp>
        <p:nvSpPr>
          <p:cNvPr id="5" name="Rectangle: Rounded Corners 4">
            <a:extLst>
              <a:ext uri="{FF2B5EF4-FFF2-40B4-BE49-F238E27FC236}">
                <a16:creationId xmlns:a16="http://schemas.microsoft.com/office/drawing/2014/main" id="{EA76462C-0C3B-802B-1A04-8ABE9AB543EE}"/>
              </a:ext>
            </a:extLst>
          </p:cNvPr>
          <p:cNvSpPr/>
          <p:nvPr/>
        </p:nvSpPr>
        <p:spPr>
          <a:xfrm>
            <a:off x="2675406" y="1828801"/>
            <a:ext cx="2234027" cy="2895600"/>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t>Disease Diagnosis</a:t>
            </a:r>
          </a:p>
          <a:p>
            <a:pPr algn="ctr"/>
            <a:endParaRPr lang="en-GB" b="1" dirty="0"/>
          </a:p>
          <a:p>
            <a:pPr marL="285750" indent="-285750">
              <a:buFont typeface="Courier New" panose="02070309020205020404" pitchFamily="49" charset="0"/>
              <a:buChar char="o"/>
            </a:pPr>
            <a:r>
              <a:rPr lang="en-GB" sz="1400" dirty="0"/>
              <a:t>Healthcare classification problem</a:t>
            </a:r>
          </a:p>
          <a:p>
            <a:endParaRPr lang="en-GB" sz="1400" dirty="0"/>
          </a:p>
          <a:p>
            <a:pPr algn="ctr"/>
            <a:endParaRPr lang="en-NG" b="1" dirty="0"/>
          </a:p>
        </p:txBody>
      </p:sp>
      <p:sp>
        <p:nvSpPr>
          <p:cNvPr id="6" name="Rectangle: Rounded Corners 5">
            <a:extLst>
              <a:ext uri="{FF2B5EF4-FFF2-40B4-BE49-F238E27FC236}">
                <a16:creationId xmlns:a16="http://schemas.microsoft.com/office/drawing/2014/main" id="{65AE0915-CA29-66B4-DA2F-CEF2872F3BFC}"/>
              </a:ext>
            </a:extLst>
          </p:cNvPr>
          <p:cNvSpPr/>
          <p:nvPr/>
        </p:nvSpPr>
        <p:spPr>
          <a:xfrm>
            <a:off x="5074145" y="1828801"/>
            <a:ext cx="2234027" cy="2895600"/>
          </a:xfrm>
          <a:prstGeom prst="roundRect">
            <a:avLst/>
          </a:prstGeom>
          <a:solidFill>
            <a:srgbClr val="48C3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t>Fraud Detection</a:t>
            </a:r>
          </a:p>
          <a:p>
            <a:pPr algn="ctr"/>
            <a:endParaRPr lang="en-GB" b="1" dirty="0"/>
          </a:p>
          <a:p>
            <a:pPr marL="285750" indent="-285750">
              <a:buFont typeface="Courier New" panose="02070309020205020404" pitchFamily="49" charset="0"/>
              <a:buChar char="o"/>
            </a:pPr>
            <a:r>
              <a:rPr lang="en-GB" sz="1400" dirty="0"/>
              <a:t>Financial transactions analysis</a:t>
            </a:r>
            <a:endParaRPr lang="en-GB" b="1" dirty="0"/>
          </a:p>
          <a:p>
            <a:pPr algn="ctr"/>
            <a:endParaRPr lang="en-GB" b="1" dirty="0"/>
          </a:p>
          <a:p>
            <a:pPr algn="ctr"/>
            <a:endParaRPr lang="en-NG" b="1" dirty="0"/>
          </a:p>
        </p:txBody>
      </p:sp>
      <p:sp>
        <p:nvSpPr>
          <p:cNvPr id="8" name="Rectangle: Rounded Corners 7">
            <a:extLst>
              <a:ext uri="{FF2B5EF4-FFF2-40B4-BE49-F238E27FC236}">
                <a16:creationId xmlns:a16="http://schemas.microsoft.com/office/drawing/2014/main" id="{8E7A3FAE-71B3-6B9C-D3F5-4485A43E8269}"/>
              </a:ext>
            </a:extLst>
          </p:cNvPr>
          <p:cNvSpPr/>
          <p:nvPr/>
        </p:nvSpPr>
        <p:spPr>
          <a:xfrm>
            <a:off x="7472884" y="1828800"/>
            <a:ext cx="2234027" cy="2895600"/>
          </a:xfrm>
          <a:prstGeom prst="roundRect">
            <a:avLst/>
          </a:prstGeom>
          <a:solidFill>
            <a:srgbClr val="FBA31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t>Credit Risk Assessment</a:t>
            </a:r>
          </a:p>
          <a:p>
            <a:endParaRPr lang="en-GB" b="1" dirty="0"/>
          </a:p>
          <a:p>
            <a:pPr marL="285750" indent="-285750">
              <a:buFont typeface="Courier New" panose="02070309020205020404" pitchFamily="49" charset="0"/>
              <a:buChar char="o"/>
            </a:pPr>
            <a:r>
              <a:rPr lang="en-GB" sz="1400" dirty="0"/>
              <a:t>Loan approval prediction</a:t>
            </a:r>
          </a:p>
          <a:p>
            <a:endParaRPr lang="en-GB" sz="1400" dirty="0"/>
          </a:p>
          <a:p>
            <a:pPr marL="285750" indent="-285750">
              <a:buFont typeface="Courier New" panose="02070309020205020404" pitchFamily="49" charset="0"/>
              <a:buChar char="o"/>
            </a:pPr>
            <a:endParaRPr lang="en-NG" sz="1400" dirty="0"/>
          </a:p>
        </p:txBody>
      </p:sp>
      <p:sp>
        <p:nvSpPr>
          <p:cNvPr id="19" name="Rectangle: Rounded Corners 18">
            <a:extLst>
              <a:ext uri="{FF2B5EF4-FFF2-40B4-BE49-F238E27FC236}">
                <a16:creationId xmlns:a16="http://schemas.microsoft.com/office/drawing/2014/main" id="{BB73723D-23ED-075D-5D1D-4B9FE93151D1}"/>
              </a:ext>
            </a:extLst>
          </p:cNvPr>
          <p:cNvSpPr/>
          <p:nvPr/>
        </p:nvSpPr>
        <p:spPr>
          <a:xfrm>
            <a:off x="9871623" y="1798320"/>
            <a:ext cx="2234027" cy="2895600"/>
          </a:xfrm>
          <a:prstGeom prst="roundRect">
            <a:avLst/>
          </a:prstGeom>
          <a:solidFill>
            <a:srgbClr val="48C3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t>Sentiment Analysis</a:t>
            </a:r>
          </a:p>
          <a:p>
            <a:pPr algn="ctr"/>
            <a:endParaRPr lang="en-GB" b="1" dirty="0"/>
          </a:p>
          <a:p>
            <a:pPr marL="285750" indent="-285750">
              <a:buFont typeface="Courier New" panose="02070309020205020404" pitchFamily="49" charset="0"/>
              <a:buChar char="o"/>
            </a:pPr>
            <a:r>
              <a:rPr lang="en-GB" sz="1400" dirty="0"/>
              <a:t>Social media/review classification</a:t>
            </a:r>
          </a:p>
          <a:p>
            <a:pPr algn="ctr"/>
            <a:endParaRPr lang="en-NG" b="1" dirty="0"/>
          </a:p>
        </p:txBody>
      </p:sp>
      <p:sp>
        <p:nvSpPr>
          <p:cNvPr id="3" name="Title 1">
            <a:extLst>
              <a:ext uri="{FF2B5EF4-FFF2-40B4-BE49-F238E27FC236}">
                <a16:creationId xmlns:a16="http://schemas.microsoft.com/office/drawing/2014/main" id="{05D491FC-7F1F-F0ED-827E-F2EE845A7372}"/>
              </a:ext>
            </a:extLst>
          </p:cNvPr>
          <p:cNvSpPr txBox="1">
            <a:spLocks/>
          </p:cNvSpPr>
          <p:nvPr/>
        </p:nvSpPr>
        <p:spPr>
          <a:xfrm>
            <a:off x="317306" y="240175"/>
            <a:ext cx="7637974" cy="653905"/>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NG" sz="3200" dirty="0">
                <a:highlight>
                  <a:srgbClr val="FBA31C"/>
                </a:highlight>
              </a:rPr>
              <a:t>Classification project domain options</a:t>
            </a:r>
            <a:endParaRPr lang="en-US" sz="3200" dirty="0">
              <a:solidFill>
                <a:srgbClr val="03807F"/>
              </a:solidFill>
              <a:latin typeface="Arial" panose="020B0604020202020204" pitchFamily="34" charset="0"/>
              <a:cs typeface="Arial" panose="020B0604020202020204" pitchFamily="34" charset="0"/>
            </a:endParaRPr>
          </a:p>
        </p:txBody>
      </p:sp>
      <p:cxnSp>
        <p:nvCxnSpPr>
          <p:cNvPr id="11" name="Connector: Curved 10">
            <a:extLst>
              <a:ext uri="{FF2B5EF4-FFF2-40B4-BE49-F238E27FC236}">
                <a16:creationId xmlns:a16="http://schemas.microsoft.com/office/drawing/2014/main" id="{0E88A9FA-EA06-1E3C-3AB3-EF935752C5B5}"/>
              </a:ext>
            </a:extLst>
          </p:cNvPr>
          <p:cNvCxnSpPr/>
          <p:nvPr/>
        </p:nvCxnSpPr>
        <p:spPr>
          <a:xfrm rot="16200000" flipH="1">
            <a:off x="7640320" y="751840"/>
            <a:ext cx="1087120" cy="1066800"/>
          </a:xfrm>
          <a:prstGeom prst="curvedConnector3">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7830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57A16-FFDA-543E-4E18-0B09E673457C}"/>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1F007C9D-6C1E-334B-D912-10AC435440C9}"/>
              </a:ext>
            </a:extLst>
          </p:cNvPr>
          <p:cNvSpPr txBox="1">
            <a:spLocks/>
          </p:cNvSpPr>
          <p:nvPr/>
        </p:nvSpPr>
        <p:spPr>
          <a:xfrm>
            <a:off x="317306" y="240175"/>
            <a:ext cx="9659814" cy="653905"/>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highlight>
                  <a:srgbClr val="FBA31C"/>
                </a:highlight>
              </a:rPr>
              <a:t>Logistic Regression: Predicting Probabilities</a:t>
            </a:r>
          </a:p>
          <a:p>
            <a:endParaRPr lang="en-US" sz="3200" dirty="0">
              <a:solidFill>
                <a:srgbClr val="03807F"/>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AA20DD7E-56FF-1F05-EE49-E3E9D627719A}"/>
              </a:ext>
            </a:extLst>
          </p:cNvPr>
          <p:cNvSpPr txBox="1"/>
          <p:nvPr/>
        </p:nvSpPr>
        <p:spPr>
          <a:xfrm>
            <a:off x="317306" y="1028343"/>
            <a:ext cx="11326054" cy="4801314"/>
          </a:xfrm>
          <a:prstGeom prst="rect">
            <a:avLst/>
          </a:prstGeom>
          <a:noFill/>
        </p:spPr>
        <p:txBody>
          <a:bodyPr wrap="square" rtlCol="0">
            <a:spAutoFit/>
          </a:bodyPr>
          <a:lstStyle/>
          <a:p>
            <a:r>
              <a:rPr lang="en-GB" dirty="0"/>
              <a:t>Despite its name, logistic regression is a </a:t>
            </a:r>
            <a:r>
              <a:rPr lang="en-GB" b="1" dirty="0"/>
              <a:t>classification</a:t>
            </a:r>
            <a:r>
              <a:rPr lang="en-GB" dirty="0"/>
              <a:t> algorithm that predicts the probability of an outcome belonging to a particular class.</a:t>
            </a:r>
          </a:p>
          <a:p>
            <a:endParaRPr lang="en-GB" dirty="0"/>
          </a:p>
          <a:p>
            <a:r>
              <a:rPr lang="en-GB" b="1" dirty="0"/>
              <a:t>Key Components:</a:t>
            </a:r>
          </a:p>
          <a:p>
            <a:endParaRPr lang="en-GB" dirty="0"/>
          </a:p>
          <a:p>
            <a:r>
              <a:rPr lang="en-GB" b="1" dirty="0"/>
              <a:t>1. Sigmoid Function</a:t>
            </a:r>
            <a:endParaRPr lang="en-GB" dirty="0"/>
          </a:p>
          <a:p>
            <a:r>
              <a:rPr lang="en-GB" dirty="0"/>
              <a:t>Transforms linear output to probability (0 to 1)</a:t>
            </a:r>
          </a:p>
          <a:p>
            <a:r>
              <a:rPr lang="en-GB" dirty="0"/>
              <a:t>Formula: σ(z) = 1 / (1 + e^(-z))</a:t>
            </a:r>
          </a:p>
          <a:p>
            <a:endParaRPr lang="en-GB" dirty="0"/>
          </a:p>
          <a:p>
            <a:r>
              <a:rPr lang="en-GB" b="1" dirty="0"/>
              <a:t>2. Decision Boundary</a:t>
            </a:r>
            <a:endParaRPr lang="en-GB" dirty="0"/>
          </a:p>
          <a:p>
            <a:r>
              <a:rPr lang="en-GB" dirty="0"/>
              <a:t>Threshold separating classes (typically 0.5)</a:t>
            </a:r>
          </a:p>
          <a:p>
            <a:r>
              <a:rPr lang="en-GB" dirty="0"/>
              <a:t>Customizable based on business needs</a:t>
            </a:r>
          </a:p>
          <a:p>
            <a:endParaRPr lang="en-GB" dirty="0"/>
          </a:p>
          <a:p>
            <a:r>
              <a:rPr lang="en-GB" b="1" dirty="0"/>
              <a:t>3. Probability Output</a:t>
            </a:r>
            <a:endParaRPr lang="en-GB" dirty="0"/>
          </a:p>
          <a:p>
            <a:r>
              <a:rPr lang="en-GB" dirty="0"/>
              <a:t>P(Y=1|X): Probability of positive class</a:t>
            </a:r>
          </a:p>
          <a:p>
            <a:r>
              <a:rPr lang="en-GB" dirty="0"/>
              <a:t>Interpretable confidence scores</a:t>
            </a:r>
          </a:p>
          <a:p>
            <a:endParaRPr lang="en-NG" dirty="0"/>
          </a:p>
        </p:txBody>
      </p:sp>
    </p:spTree>
    <p:extLst>
      <p:ext uri="{BB962C8B-B14F-4D97-AF65-F5344CB8AC3E}">
        <p14:creationId xmlns:p14="http://schemas.microsoft.com/office/powerpoint/2010/main" val="23430738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B1583-2D56-02F8-C77B-3DF6AA884F3E}"/>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771D5321-B5C7-7B1E-B60B-50789D0341A0}"/>
              </a:ext>
            </a:extLst>
          </p:cNvPr>
          <p:cNvSpPr txBox="1">
            <a:spLocks/>
          </p:cNvSpPr>
          <p:nvPr/>
        </p:nvSpPr>
        <p:spPr>
          <a:xfrm>
            <a:off x="317306" y="240175"/>
            <a:ext cx="9659814" cy="653905"/>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highlight>
                  <a:srgbClr val="FBA31C"/>
                </a:highlight>
              </a:rPr>
              <a:t>Binary vs. Multiclass Logistic Regression</a:t>
            </a:r>
            <a:endParaRPr lang="en-US" sz="3200" dirty="0">
              <a:solidFill>
                <a:srgbClr val="03807F"/>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151C9F99-FAEF-7C52-BF0C-B08C65AADF83}"/>
              </a:ext>
            </a:extLst>
          </p:cNvPr>
          <p:cNvSpPr txBox="1"/>
          <p:nvPr/>
        </p:nvSpPr>
        <p:spPr>
          <a:xfrm>
            <a:off x="317306" y="1028343"/>
            <a:ext cx="11326054" cy="923330"/>
          </a:xfrm>
          <a:prstGeom prst="rect">
            <a:avLst/>
          </a:prstGeom>
          <a:noFill/>
        </p:spPr>
        <p:txBody>
          <a:bodyPr wrap="square" rtlCol="0">
            <a:spAutoFit/>
          </a:bodyPr>
          <a:lstStyle/>
          <a:p>
            <a:r>
              <a:rPr lang="en-GB" b="1" dirty="0"/>
              <a:t>Scaling Logistic Regression</a:t>
            </a:r>
          </a:p>
          <a:p>
            <a:endParaRPr lang="en-GB" b="1" dirty="0"/>
          </a:p>
          <a:p>
            <a:endParaRPr lang="en-NG" b="1" dirty="0"/>
          </a:p>
        </p:txBody>
      </p:sp>
      <p:graphicFrame>
        <p:nvGraphicFramePr>
          <p:cNvPr id="2" name="Table 1">
            <a:extLst>
              <a:ext uri="{FF2B5EF4-FFF2-40B4-BE49-F238E27FC236}">
                <a16:creationId xmlns:a16="http://schemas.microsoft.com/office/drawing/2014/main" id="{5925E46B-0746-A306-5F61-1E3FF45B47AC}"/>
              </a:ext>
            </a:extLst>
          </p:cNvPr>
          <p:cNvGraphicFramePr>
            <a:graphicFrameLocks noGrp="1"/>
          </p:cNvGraphicFramePr>
          <p:nvPr>
            <p:extLst>
              <p:ext uri="{D42A27DB-BD31-4B8C-83A1-F6EECF244321}">
                <p14:modId xmlns:p14="http://schemas.microsoft.com/office/powerpoint/2010/main" val="2773798606"/>
              </p:ext>
            </p:extLst>
          </p:nvPr>
        </p:nvGraphicFramePr>
        <p:xfrm>
          <a:off x="548639" y="1731341"/>
          <a:ext cx="10404706" cy="3599416"/>
        </p:xfrm>
        <a:graphic>
          <a:graphicData uri="http://schemas.openxmlformats.org/drawingml/2006/table">
            <a:tbl>
              <a:tblPr firstRow="1" bandRow="1">
                <a:tableStyleId>{5C22544A-7EE6-4342-B048-85BDC9FD1C3A}</a:tableStyleId>
              </a:tblPr>
              <a:tblGrid>
                <a:gridCol w="5202353">
                  <a:extLst>
                    <a:ext uri="{9D8B030D-6E8A-4147-A177-3AD203B41FA5}">
                      <a16:colId xmlns:a16="http://schemas.microsoft.com/office/drawing/2014/main" val="1550415924"/>
                    </a:ext>
                  </a:extLst>
                </a:gridCol>
                <a:gridCol w="5202353">
                  <a:extLst>
                    <a:ext uri="{9D8B030D-6E8A-4147-A177-3AD203B41FA5}">
                      <a16:colId xmlns:a16="http://schemas.microsoft.com/office/drawing/2014/main" val="4261192134"/>
                    </a:ext>
                  </a:extLst>
                </a:gridCol>
              </a:tblGrid>
              <a:tr h="680441">
                <a:tc>
                  <a:txBody>
                    <a:bodyPr/>
                    <a:lstStyle/>
                    <a:p>
                      <a:pPr algn="l"/>
                      <a:r>
                        <a:rPr lang="en-GB" dirty="0"/>
                        <a:t>Binary Logistic Regression</a:t>
                      </a:r>
                      <a:endParaRPr lang="en-NG" dirty="0"/>
                    </a:p>
                  </a:txBody>
                  <a:tcPr/>
                </a:tc>
                <a:tc>
                  <a:txBody>
                    <a:bodyPr/>
                    <a:lstStyle/>
                    <a:p>
                      <a:pPr algn="l"/>
                      <a:r>
                        <a:rPr lang="en-GB" dirty="0"/>
                        <a:t>Multiclass Logistic Regression</a:t>
                      </a:r>
                      <a:endParaRPr lang="en-NG" dirty="0"/>
                    </a:p>
                  </a:txBody>
                  <a:tcPr/>
                </a:tc>
                <a:extLst>
                  <a:ext uri="{0D108BD9-81ED-4DB2-BD59-A6C34878D82A}">
                    <a16:rowId xmlns:a16="http://schemas.microsoft.com/office/drawing/2014/main" val="3675908404"/>
                  </a:ext>
                </a:extLst>
              </a:tr>
              <a:tr h="746178">
                <a:tc>
                  <a:txBody>
                    <a:bodyPr/>
                    <a:lstStyle/>
                    <a:p>
                      <a:pPr algn="l"/>
                      <a:r>
                        <a:rPr lang="en-GB" dirty="0"/>
                        <a:t>Single sigmoid function</a:t>
                      </a:r>
                      <a:endParaRPr lang="en-NG" dirty="0"/>
                    </a:p>
                  </a:txBody>
                  <a:tcPr/>
                </a:tc>
                <a:tc>
                  <a:txBody>
                    <a:bodyPr/>
                    <a:lstStyle/>
                    <a:p>
                      <a:pPr algn="l"/>
                      <a:r>
                        <a:rPr lang="en-GB" dirty="0"/>
                        <a:t>Multiple sigmoid functions (One-vs-Rest or </a:t>
                      </a:r>
                      <a:r>
                        <a:rPr lang="en-GB" dirty="0" err="1"/>
                        <a:t>Softmax</a:t>
                      </a:r>
                      <a:r>
                        <a:rPr lang="en-GB" dirty="0"/>
                        <a:t>)</a:t>
                      </a:r>
                      <a:endParaRPr lang="en-NG" dirty="0"/>
                    </a:p>
                  </a:txBody>
                  <a:tcPr/>
                </a:tc>
                <a:extLst>
                  <a:ext uri="{0D108BD9-81ED-4DB2-BD59-A6C34878D82A}">
                    <a16:rowId xmlns:a16="http://schemas.microsoft.com/office/drawing/2014/main" val="1028757740"/>
                  </a:ext>
                </a:extLst>
              </a:tr>
              <a:tr h="680441">
                <a:tc>
                  <a:txBody>
                    <a:bodyPr/>
                    <a:lstStyle/>
                    <a:p>
                      <a:pPr algn="l"/>
                      <a:r>
                        <a:rPr lang="en-GB" dirty="0"/>
                        <a:t>One probability: P(class = 1)</a:t>
                      </a:r>
                      <a:endParaRPr lang="en-NG" dirty="0"/>
                    </a:p>
                  </a:txBody>
                  <a:tcPr/>
                </a:tc>
                <a:tc>
                  <a:txBody>
                    <a:bodyPr/>
                    <a:lstStyle/>
                    <a:p>
                      <a:pPr algn="l"/>
                      <a:r>
                        <a:rPr lang="en-GB" dirty="0"/>
                        <a:t>Probability distribution across all classes</a:t>
                      </a:r>
                      <a:endParaRPr lang="en-NG" dirty="0"/>
                    </a:p>
                  </a:txBody>
                  <a:tcPr/>
                </a:tc>
                <a:extLst>
                  <a:ext uri="{0D108BD9-81ED-4DB2-BD59-A6C34878D82A}">
                    <a16:rowId xmlns:a16="http://schemas.microsoft.com/office/drawing/2014/main" val="1310356427"/>
                  </a:ext>
                </a:extLst>
              </a:tr>
              <a:tr h="746178">
                <a:tc>
                  <a:txBody>
                    <a:bodyPr/>
                    <a:lstStyle/>
                    <a:p>
                      <a:pPr algn="l"/>
                      <a:r>
                        <a:rPr lang="en-GB" dirty="0"/>
                        <a:t>Decision: If P &gt; 0.5 → Class 1, else Class 0</a:t>
                      </a:r>
                      <a:endParaRPr lang="en-NG" dirty="0"/>
                    </a:p>
                  </a:txBody>
                  <a:tcPr/>
                </a:tc>
                <a:tc>
                  <a:txBody>
                    <a:bodyPr/>
                    <a:lstStyle/>
                    <a:p>
                      <a:pPr algn="l"/>
                      <a:r>
                        <a:rPr lang="en-GB" dirty="0"/>
                        <a:t>Decision: Choose class with highest probability</a:t>
                      </a:r>
                      <a:endParaRPr lang="en-NG" dirty="0"/>
                    </a:p>
                  </a:txBody>
                  <a:tcPr/>
                </a:tc>
                <a:extLst>
                  <a:ext uri="{0D108BD9-81ED-4DB2-BD59-A6C34878D82A}">
                    <a16:rowId xmlns:a16="http://schemas.microsoft.com/office/drawing/2014/main" val="3873373049"/>
                  </a:ext>
                </a:extLst>
              </a:tr>
              <a:tr h="746178">
                <a:tc>
                  <a:txBody>
                    <a:bodyPr/>
                    <a:lstStyle/>
                    <a:p>
                      <a:pPr algn="l"/>
                      <a:r>
                        <a:rPr lang="en-GB" dirty="0"/>
                        <a:t>Example: Email is spam? (Yes/No)</a:t>
                      </a:r>
                      <a:endParaRPr lang="en-NG" dirty="0"/>
                    </a:p>
                  </a:txBody>
                  <a:tcPr/>
                </a:tc>
                <a:tc>
                  <a:txBody>
                    <a:bodyPr/>
                    <a:lstStyle/>
                    <a:p>
                      <a:pPr algn="l"/>
                      <a:r>
                        <a:rPr lang="en-GB" dirty="0"/>
                        <a:t>Example: Disease type? (Malaria/Typhoid/Dengue/None)</a:t>
                      </a:r>
                      <a:endParaRPr lang="en-NG" dirty="0"/>
                    </a:p>
                  </a:txBody>
                  <a:tcPr/>
                </a:tc>
                <a:extLst>
                  <a:ext uri="{0D108BD9-81ED-4DB2-BD59-A6C34878D82A}">
                    <a16:rowId xmlns:a16="http://schemas.microsoft.com/office/drawing/2014/main" val="4170735028"/>
                  </a:ext>
                </a:extLst>
              </a:tr>
            </a:tbl>
          </a:graphicData>
        </a:graphic>
      </p:graphicFrame>
    </p:spTree>
    <p:extLst>
      <p:ext uri="{BB962C8B-B14F-4D97-AF65-F5344CB8AC3E}">
        <p14:creationId xmlns:p14="http://schemas.microsoft.com/office/powerpoint/2010/main" val="84839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893DA-7388-73F6-4D6B-E371DAE431DD}"/>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033B4E70-BFFD-E232-621F-9E31743BCD5C}"/>
              </a:ext>
            </a:extLst>
          </p:cNvPr>
          <p:cNvSpPr txBox="1">
            <a:spLocks/>
          </p:cNvSpPr>
          <p:nvPr/>
        </p:nvSpPr>
        <p:spPr>
          <a:xfrm>
            <a:off x="317306" y="240175"/>
            <a:ext cx="9659814" cy="653905"/>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highlight>
                  <a:srgbClr val="FBA31C"/>
                </a:highlight>
              </a:rPr>
              <a:t>Decision Thresholds &amp; Business Impact</a:t>
            </a:r>
            <a:endParaRPr lang="en-US" sz="3200" dirty="0">
              <a:solidFill>
                <a:srgbClr val="03807F"/>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A4FE3EE0-302E-4F37-36AB-5EF7CB38C88C}"/>
              </a:ext>
            </a:extLst>
          </p:cNvPr>
          <p:cNvSpPr txBox="1"/>
          <p:nvPr/>
        </p:nvSpPr>
        <p:spPr>
          <a:xfrm>
            <a:off x="583660" y="1303506"/>
            <a:ext cx="9202366" cy="646331"/>
          </a:xfrm>
          <a:prstGeom prst="rect">
            <a:avLst/>
          </a:prstGeom>
          <a:noFill/>
        </p:spPr>
        <p:txBody>
          <a:bodyPr wrap="square" rtlCol="0">
            <a:spAutoFit/>
          </a:bodyPr>
          <a:lstStyle/>
          <a:p>
            <a:r>
              <a:rPr lang="en-GB" b="1" dirty="0"/>
              <a:t>Default Threshold: 0.5</a:t>
            </a:r>
            <a:endParaRPr lang="en-GB" dirty="0"/>
          </a:p>
          <a:p>
            <a:pPr marL="285750" indent="-285750">
              <a:buFont typeface="Arial" panose="020B0604020202020204" pitchFamily="34" charset="0"/>
              <a:buChar char="•"/>
            </a:pPr>
            <a:r>
              <a:rPr lang="en-GB" dirty="0"/>
              <a:t>Predict positive class if P(Y=1) ≥ 0.5</a:t>
            </a:r>
          </a:p>
        </p:txBody>
      </p:sp>
      <p:sp>
        <p:nvSpPr>
          <p:cNvPr id="3" name="TextBox 2">
            <a:extLst>
              <a:ext uri="{FF2B5EF4-FFF2-40B4-BE49-F238E27FC236}">
                <a16:creationId xmlns:a16="http://schemas.microsoft.com/office/drawing/2014/main" id="{0B48837F-10A0-4B2E-696C-6DCC5741A646}"/>
              </a:ext>
            </a:extLst>
          </p:cNvPr>
          <p:cNvSpPr txBox="1"/>
          <p:nvPr/>
        </p:nvSpPr>
        <p:spPr>
          <a:xfrm>
            <a:off x="317307" y="2431915"/>
            <a:ext cx="3418114" cy="369332"/>
          </a:xfrm>
          <a:prstGeom prst="rect">
            <a:avLst/>
          </a:prstGeom>
          <a:noFill/>
        </p:spPr>
        <p:txBody>
          <a:bodyPr wrap="square" rtlCol="0">
            <a:spAutoFit/>
          </a:bodyPr>
          <a:lstStyle/>
          <a:p>
            <a:r>
              <a:rPr lang="en-GB" b="1" dirty="0"/>
              <a:t>Why Adjust Thresholds?</a:t>
            </a:r>
            <a:endParaRPr lang="en-NG" b="1" dirty="0"/>
          </a:p>
        </p:txBody>
      </p:sp>
      <p:sp>
        <p:nvSpPr>
          <p:cNvPr id="6" name="TextBox 5">
            <a:extLst>
              <a:ext uri="{FF2B5EF4-FFF2-40B4-BE49-F238E27FC236}">
                <a16:creationId xmlns:a16="http://schemas.microsoft.com/office/drawing/2014/main" id="{6960FDFE-B851-F752-F9C7-AD6D51F8E01B}"/>
              </a:ext>
            </a:extLst>
          </p:cNvPr>
          <p:cNvSpPr txBox="1"/>
          <p:nvPr/>
        </p:nvSpPr>
        <p:spPr>
          <a:xfrm>
            <a:off x="317306" y="2960159"/>
            <a:ext cx="7140102" cy="646331"/>
          </a:xfrm>
          <a:prstGeom prst="rect">
            <a:avLst/>
          </a:prstGeom>
          <a:noFill/>
        </p:spPr>
        <p:txBody>
          <a:bodyPr wrap="square" rtlCol="0">
            <a:spAutoFit/>
          </a:bodyPr>
          <a:lstStyle/>
          <a:p>
            <a:r>
              <a:rPr lang="en-GB" dirty="0"/>
              <a:t>Lower threshold (0.3): Catch more fraud, more false alarms</a:t>
            </a:r>
          </a:p>
          <a:p>
            <a:r>
              <a:rPr lang="en-GB" dirty="0"/>
              <a:t>Higher threshold (0.7): Fewer false alarms, miss some fraud</a:t>
            </a:r>
            <a:endParaRPr lang="en-NG" dirty="0"/>
          </a:p>
        </p:txBody>
      </p:sp>
      <p:sp>
        <p:nvSpPr>
          <p:cNvPr id="8" name="TextBox 7">
            <a:extLst>
              <a:ext uri="{FF2B5EF4-FFF2-40B4-BE49-F238E27FC236}">
                <a16:creationId xmlns:a16="http://schemas.microsoft.com/office/drawing/2014/main" id="{DD255B0E-5781-F3FF-82A6-6C90A649A471}"/>
              </a:ext>
            </a:extLst>
          </p:cNvPr>
          <p:cNvSpPr txBox="1"/>
          <p:nvPr/>
        </p:nvSpPr>
        <p:spPr>
          <a:xfrm>
            <a:off x="317306" y="3811569"/>
            <a:ext cx="3638144" cy="369332"/>
          </a:xfrm>
          <a:prstGeom prst="rect">
            <a:avLst/>
          </a:prstGeom>
          <a:noFill/>
        </p:spPr>
        <p:txBody>
          <a:bodyPr wrap="square" rtlCol="0">
            <a:spAutoFit/>
          </a:bodyPr>
          <a:lstStyle/>
          <a:p>
            <a:r>
              <a:rPr lang="en-GB" b="1" dirty="0"/>
              <a:t>Scenario: Disease Screening</a:t>
            </a:r>
            <a:endParaRPr lang="en-NG" b="1" dirty="0"/>
          </a:p>
        </p:txBody>
      </p:sp>
      <p:sp>
        <p:nvSpPr>
          <p:cNvPr id="9" name="TextBox 8">
            <a:extLst>
              <a:ext uri="{FF2B5EF4-FFF2-40B4-BE49-F238E27FC236}">
                <a16:creationId xmlns:a16="http://schemas.microsoft.com/office/drawing/2014/main" id="{40F3DAB0-876B-60DF-3EE3-BB2DDEA28C16}"/>
              </a:ext>
            </a:extLst>
          </p:cNvPr>
          <p:cNvSpPr txBox="1"/>
          <p:nvPr/>
        </p:nvSpPr>
        <p:spPr>
          <a:xfrm>
            <a:off x="317306" y="4155785"/>
            <a:ext cx="9202366" cy="646331"/>
          </a:xfrm>
          <a:prstGeom prst="rect">
            <a:avLst/>
          </a:prstGeom>
          <a:noFill/>
        </p:spPr>
        <p:txBody>
          <a:bodyPr wrap="square" rtlCol="0">
            <a:spAutoFit/>
          </a:bodyPr>
          <a:lstStyle/>
          <a:p>
            <a:r>
              <a:rPr lang="en-GB" dirty="0"/>
              <a:t>Lower threshold (0.3): Don't miss sick patients (fewer false negatives)</a:t>
            </a:r>
          </a:p>
          <a:p>
            <a:r>
              <a:rPr lang="en-GB" dirty="0"/>
              <a:t>Higher threshold (0.7): Reduce unnecessary treatments (fewer false positives)</a:t>
            </a:r>
            <a:endParaRPr lang="en-NG" dirty="0"/>
          </a:p>
        </p:txBody>
      </p:sp>
    </p:spTree>
    <p:extLst>
      <p:ext uri="{BB962C8B-B14F-4D97-AF65-F5344CB8AC3E}">
        <p14:creationId xmlns:p14="http://schemas.microsoft.com/office/powerpoint/2010/main" val="2500836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DC27B-52AD-DF94-E35A-1BD08C91649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B2A3D9-061F-2A06-4E93-B1D52635E1CD}"/>
              </a:ext>
            </a:extLst>
          </p:cNvPr>
          <p:cNvSpPr txBox="1"/>
          <p:nvPr/>
        </p:nvSpPr>
        <p:spPr>
          <a:xfrm>
            <a:off x="317306" y="894080"/>
            <a:ext cx="6926093" cy="369332"/>
          </a:xfrm>
          <a:prstGeom prst="rect">
            <a:avLst/>
          </a:prstGeom>
          <a:noFill/>
        </p:spPr>
        <p:txBody>
          <a:bodyPr wrap="square" rtlCol="0">
            <a:spAutoFit/>
          </a:bodyPr>
          <a:lstStyle/>
          <a:p>
            <a:r>
              <a:rPr lang="en-GB" b="1" dirty="0">
                <a:highlight>
                  <a:srgbClr val="FBA31C"/>
                </a:highlight>
              </a:rPr>
              <a:t>Understanding What Drives Predictions</a:t>
            </a:r>
            <a:endParaRPr lang="en-NG" b="1" dirty="0">
              <a:highlight>
                <a:srgbClr val="FBA31C"/>
              </a:highlight>
            </a:endParaRPr>
          </a:p>
        </p:txBody>
      </p:sp>
      <p:sp>
        <p:nvSpPr>
          <p:cNvPr id="10" name="Title 1">
            <a:extLst>
              <a:ext uri="{FF2B5EF4-FFF2-40B4-BE49-F238E27FC236}">
                <a16:creationId xmlns:a16="http://schemas.microsoft.com/office/drawing/2014/main" id="{7617F196-C0EE-392A-AF92-CDB4914281AD}"/>
              </a:ext>
            </a:extLst>
          </p:cNvPr>
          <p:cNvSpPr txBox="1">
            <a:spLocks/>
          </p:cNvSpPr>
          <p:nvPr/>
        </p:nvSpPr>
        <p:spPr>
          <a:xfrm>
            <a:off x="317306" y="240175"/>
            <a:ext cx="9659814" cy="653905"/>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highlight>
                  <a:srgbClr val="FBA31C"/>
                </a:highlight>
              </a:rPr>
              <a:t>Feature Importance in Logistic Models</a:t>
            </a:r>
          </a:p>
          <a:p>
            <a:endParaRPr lang="en-US" sz="3200" dirty="0">
              <a:solidFill>
                <a:srgbClr val="03807F"/>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F172754-8D27-EBF5-A5C7-066650EBCDE6}"/>
              </a:ext>
            </a:extLst>
          </p:cNvPr>
          <p:cNvSpPr txBox="1"/>
          <p:nvPr/>
        </p:nvSpPr>
        <p:spPr>
          <a:xfrm>
            <a:off x="317306" y="1504023"/>
            <a:ext cx="11074400" cy="369332"/>
          </a:xfrm>
          <a:prstGeom prst="rect">
            <a:avLst/>
          </a:prstGeom>
          <a:noFill/>
        </p:spPr>
        <p:txBody>
          <a:bodyPr wrap="square" rtlCol="0">
            <a:spAutoFit/>
          </a:bodyPr>
          <a:lstStyle/>
          <a:p>
            <a:r>
              <a:rPr lang="en-GB" b="1" dirty="0"/>
              <a:t>There are basically three methods involved in driving the model outcome of a logistic regression.</a:t>
            </a:r>
            <a:endParaRPr lang="en-NG" b="1" dirty="0"/>
          </a:p>
        </p:txBody>
      </p:sp>
      <p:sp>
        <p:nvSpPr>
          <p:cNvPr id="14" name="TextBox 13">
            <a:extLst>
              <a:ext uri="{FF2B5EF4-FFF2-40B4-BE49-F238E27FC236}">
                <a16:creationId xmlns:a16="http://schemas.microsoft.com/office/drawing/2014/main" id="{D890FAB4-ACE2-8F13-E5E0-4567117E5556}"/>
              </a:ext>
            </a:extLst>
          </p:cNvPr>
          <p:cNvSpPr txBox="1"/>
          <p:nvPr/>
        </p:nvSpPr>
        <p:spPr>
          <a:xfrm>
            <a:off x="483326" y="2113966"/>
            <a:ext cx="8659743" cy="584775"/>
          </a:xfrm>
          <a:prstGeom prst="rect">
            <a:avLst/>
          </a:prstGeom>
          <a:noFill/>
        </p:spPr>
        <p:txBody>
          <a:bodyPr wrap="none">
            <a:spAutoFit/>
          </a:bodyPr>
          <a:lstStyle/>
          <a:p>
            <a:pPr>
              <a:defRPr sz="3200" b="1"/>
            </a:pPr>
            <a:r>
              <a:rPr dirty="0"/>
              <a:t> Impurity-Based Importance (Tree-Based)</a:t>
            </a:r>
          </a:p>
        </p:txBody>
      </p:sp>
      <p:sp>
        <p:nvSpPr>
          <p:cNvPr id="15" name="TextBox 14">
            <a:extLst>
              <a:ext uri="{FF2B5EF4-FFF2-40B4-BE49-F238E27FC236}">
                <a16:creationId xmlns:a16="http://schemas.microsoft.com/office/drawing/2014/main" id="{E93D14E2-EDB8-D5F0-B15D-947F4BE81A40}"/>
              </a:ext>
            </a:extLst>
          </p:cNvPr>
          <p:cNvSpPr txBox="1"/>
          <p:nvPr/>
        </p:nvSpPr>
        <p:spPr>
          <a:xfrm>
            <a:off x="437651" y="2720913"/>
            <a:ext cx="7230291" cy="2031325"/>
          </a:xfrm>
          <a:prstGeom prst="rect">
            <a:avLst/>
          </a:prstGeom>
          <a:noFill/>
        </p:spPr>
        <p:txBody>
          <a:bodyPr wrap="square">
            <a:spAutoFit/>
          </a:bodyPr>
          <a:lstStyle/>
          <a:p>
            <a:pPr lvl="1"/>
            <a:r>
              <a:rPr dirty="0"/>
              <a:t>Measures total impurity reduction (Gini/MSE) from splits using a feature.</a:t>
            </a:r>
            <a:endParaRPr lang="en-GB" dirty="0"/>
          </a:p>
          <a:p>
            <a:endParaRPr lang="en-GB" b="1" dirty="0"/>
          </a:p>
          <a:p>
            <a:r>
              <a:rPr lang="en-GB" b="1" dirty="0"/>
              <a:t>        </a:t>
            </a:r>
            <a:r>
              <a:rPr b="1" dirty="0"/>
              <a:t>How it works:</a:t>
            </a:r>
          </a:p>
          <a:p>
            <a:pPr lvl="1"/>
            <a:r>
              <a:rPr dirty="0"/>
              <a:t>Each split reduces impurity.</a:t>
            </a:r>
          </a:p>
          <a:p>
            <a:pPr lvl="1"/>
            <a:r>
              <a:rPr dirty="0"/>
              <a:t>Reduction credited to splitting feature.</a:t>
            </a:r>
          </a:p>
          <a:p>
            <a:pPr lvl="1"/>
            <a:r>
              <a:rPr dirty="0"/>
              <a:t>Averaged across all trees in Random Forest.</a:t>
            </a:r>
          </a:p>
        </p:txBody>
      </p:sp>
      <p:sp>
        <p:nvSpPr>
          <p:cNvPr id="16" name="Rounded Rectangle 4">
            <a:extLst>
              <a:ext uri="{FF2B5EF4-FFF2-40B4-BE49-F238E27FC236}">
                <a16:creationId xmlns:a16="http://schemas.microsoft.com/office/drawing/2014/main" id="{F1E33497-03D3-6517-0C0E-E60EF7D82307}"/>
              </a:ext>
            </a:extLst>
          </p:cNvPr>
          <p:cNvSpPr/>
          <p:nvPr/>
        </p:nvSpPr>
        <p:spPr>
          <a:xfrm>
            <a:off x="8573588" y="3349494"/>
            <a:ext cx="2286000" cy="731520"/>
          </a:xfrm>
          <a:prstGeom prst="round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r>
              <a:t>Feature A</a:t>
            </a:r>
          </a:p>
          <a:p>
            <a:r>
              <a:t>(Split)</a:t>
            </a:r>
          </a:p>
        </p:txBody>
      </p:sp>
      <p:sp>
        <p:nvSpPr>
          <p:cNvPr id="17" name="Rounded Rectangle 5">
            <a:extLst>
              <a:ext uri="{FF2B5EF4-FFF2-40B4-BE49-F238E27FC236}">
                <a16:creationId xmlns:a16="http://schemas.microsoft.com/office/drawing/2014/main" id="{210A4744-9A11-51B4-BECB-4F9F3AFA94ED}"/>
              </a:ext>
            </a:extLst>
          </p:cNvPr>
          <p:cNvSpPr/>
          <p:nvPr/>
        </p:nvSpPr>
        <p:spPr>
          <a:xfrm>
            <a:off x="7713617" y="4357511"/>
            <a:ext cx="1828800" cy="731520"/>
          </a:xfrm>
          <a:prstGeom prst="round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r>
              <a:t>Low Impurity</a:t>
            </a:r>
          </a:p>
        </p:txBody>
      </p:sp>
      <p:sp>
        <p:nvSpPr>
          <p:cNvPr id="18" name="Rounded Rectangle 6">
            <a:extLst>
              <a:ext uri="{FF2B5EF4-FFF2-40B4-BE49-F238E27FC236}">
                <a16:creationId xmlns:a16="http://schemas.microsoft.com/office/drawing/2014/main" id="{9FEFCE72-B6A3-5B7A-C2DF-4F2600EB8E5D}"/>
              </a:ext>
            </a:extLst>
          </p:cNvPr>
          <p:cNvSpPr/>
          <p:nvPr/>
        </p:nvSpPr>
        <p:spPr>
          <a:xfrm>
            <a:off x="9879874" y="4357511"/>
            <a:ext cx="1828800" cy="731520"/>
          </a:xfrm>
          <a:prstGeom prst="round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r>
              <a:t>High Impurity</a:t>
            </a:r>
          </a:p>
        </p:txBody>
      </p:sp>
      <p:pic>
        <p:nvPicPr>
          <p:cNvPr id="20" name="Picture 19">
            <a:extLst>
              <a:ext uri="{FF2B5EF4-FFF2-40B4-BE49-F238E27FC236}">
                <a16:creationId xmlns:a16="http://schemas.microsoft.com/office/drawing/2014/main" id="{5F21A23B-E2AD-8C03-5780-2109E7D7E3FF}"/>
              </a:ext>
            </a:extLst>
          </p:cNvPr>
          <p:cNvPicPr>
            <a:picLocks noChangeAspect="1"/>
          </p:cNvPicPr>
          <p:nvPr/>
        </p:nvPicPr>
        <p:blipFill>
          <a:blip r:embed="rId3"/>
          <a:stretch>
            <a:fillRect/>
          </a:stretch>
        </p:blipFill>
        <p:spPr>
          <a:xfrm>
            <a:off x="483326" y="4941713"/>
            <a:ext cx="7553735" cy="824527"/>
          </a:xfrm>
          <a:prstGeom prst="rect">
            <a:avLst/>
          </a:prstGeom>
        </p:spPr>
      </p:pic>
    </p:spTree>
    <p:extLst>
      <p:ext uri="{BB962C8B-B14F-4D97-AF65-F5344CB8AC3E}">
        <p14:creationId xmlns:p14="http://schemas.microsoft.com/office/powerpoint/2010/main" val="3377694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0FC746-BCC2-F2B5-272B-449033F4861F}"/>
              </a:ext>
            </a:extLst>
          </p:cNvPr>
          <p:cNvPicPr>
            <a:picLocks noChangeAspect="1"/>
          </p:cNvPicPr>
          <p:nvPr/>
        </p:nvPicPr>
        <p:blipFill>
          <a:blip r:embed="rId2"/>
          <a:stretch>
            <a:fillRect/>
          </a:stretch>
        </p:blipFill>
        <p:spPr>
          <a:xfrm>
            <a:off x="1031966" y="4924696"/>
            <a:ext cx="9418320" cy="731521"/>
          </a:xfrm>
          <a:prstGeom prst="rect">
            <a:avLst/>
          </a:prstGeom>
        </p:spPr>
      </p:pic>
      <p:sp>
        <p:nvSpPr>
          <p:cNvPr id="6" name="TextBox 5">
            <a:extLst>
              <a:ext uri="{FF2B5EF4-FFF2-40B4-BE49-F238E27FC236}">
                <a16:creationId xmlns:a16="http://schemas.microsoft.com/office/drawing/2014/main" id="{CF75BEF2-21D5-E858-5704-9F1F7585FEAD}"/>
              </a:ext>
            </a:extLst>
          </p:cNvPr>
          <p:cNvSpPr txBox="1"/>
          <p:nvPr/>
        </p:nvSpPr>
        <p:spPr>
          <a:xfrm>
            <a:off x="701039" y="777240"/>
            <a:ext cx="8972328" cy="584775"/>
          </a:xfrm>
          <a:prstGeom prst="rect">
            <a:avLst/>
          </a:prstGeom>
          <a:noFill/>
        </p:spPr>
        <p:txBody>
          <a:bodyPr wrap="none">
            <a:spAutoFit/>
          </a:bodyPr>
          <a:lstStyle/>
          <a:p>
            <a:pPr>
              <a:defRPr sz="3200" b="1"/>
            </a:pPr>
            <a:r>
              <a:rPr dirty="0"/>
              <a:t> Permutation Importance (Model-Agnostic)</a:t>
            </a:r>
          </a:p>
        </p:txBody>
      </p:sp>
      <p:sp>
        <p:nvSpPr>
          <p:cNvPr id="7" name="TextBox 6">
            <a:extLst>
              <a:ext uri="{FF2B5EF4-FFF2-40B4-BE49-F238E27FC236}">
                <a16:creationId xmlns:a16="http://schemas.microsoft.com/office/drawing/2014/main" id="{98089FA1-ACA3-DA60-0939-5E266FBC5877}"/>
              </a:ext>
            </a:extLst>
          </p:cNvPr>
          <p:cNvSpPr txBox="1"/>
          <p:nvPr/>
        </p:nvSpPr>
        <p:spPr>
          <a:xfrm>
            <a:off x="701039" y="2148840"/>
            <a:ext cx="6535784" cy="2308324"/>
          </a:xfrm>
          <a:prstGeom prst="rect">
            <a:avLst/>
          </a:prstGeom>
          <a:noFill/>
        </p:spPr>
        <p:txBody>
          <a:bodyPr wrap="square">
            <a:spAutoFit/>
          </a:bodyPr>
          <a:lstStyle/>
          <a:p>
            <a:r>
              <a:rPr b="1" dirty="0"/>
              <a:t>Definition:</a:t>
            </a:r>
          </a:p>
          <a:p>
            <a:pPr lvl="1"/>
            <a:r>
              <a:rPr dirty="0"/>
              <a:t>Measures performance drop after shuffling a feature.</a:t>
            </a:r>
            <a:endParaRPr lang="en-GB" dirty="0"/>
          </a:p>
          <a:p>
            <a:pPr lvl="1"/>
            <a:endParaRPr dirty="0"/>
          </a:p>
          <a:p>
            <a:r>
              <a:rPr b="1" dirty="0"/>
              <a:t>Steps:</a:t>
            </a:r>
          </a:p>
          <a:p>
            <a:pPr lvl="1"/>
            <a:r>
              <a:rPr dirty="0"/>
              <a:t>Train model normally.</a:t>
            </a:r>
          </a:p>
          <a:p>
            <a:pPr lvl="1"/>
            <a:r>
              <a:rPr dirty="0"/>
              <a:t>Record baseline accuracy.</a:t>
            </a:r>
          </a:p>
          <a:p>
            <a:pPr lvl="1"/>
            <a:r>
              <a:rPr dirty="0"/>
              <a:t>Shuffle one feature column.</a:t>
            </a:r>
          </a:p>
          <a:p>
            <a:pPr lvl="1"/>
            <a:r>
              <a:rPr dirty="0"/>
              <a:t>Measure performance decrease.</a:t>
            </a:r>
          </a:p>
        </p:txBody>
      </p:sp>
      <p:sp>
        <p:nvSpPr>
          <p:cNvPr id="8" name="Rounded Rectangle 4">
            <a:extLst>
              <a:ext uri="{FF2B5EF4-FFF2-40B4-BE49-F238E27FC236}">
                <a16:creationId xmlns:a16="http://schemas.microsoft.com/office/drawing/2014/main" id="{47228520-3968-1D63-163A-EB024B02BBAB}"/>
              </a:ext>
            </a:extLst>
          </p:cNvPr>
          <p:cNvSpPr/>
          <p:nvPr/>
        </p:nvSpPr>
        <p:spPr>
          <a:xfrm>
            <a:off x="8460376" y="1962979"/>
            <a:ext cx="2743200" cy="914400"/>
          </a:xfrm>
          <a:prstGeom prst="round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r>
              <a:t>Original Data</a:t>
            </a:r>
          </a:p>
          <a:p>
            <a:r>
              <a:t>Accuracy = 92%</a:t>
            </a:r>
          </a:p>
        </p:txBody>
      </p:sp>
      <p:sp>
        <p:nvSpPr>
          <p:cNvPr id="9" name="Rounded Rectangle 5">
            <a:extLst>
              <a:ext uri="{FF2B5EF4-FFF2-40B4-BE49-F238E27FC236}">
                <a16:creationId xmlns:a16="http://schemas.microsoft.com/office/drawing/2014/main" id="{3F156648-EC32-3808-81D9-4DA8BAAE1CAB}"/>
              </a:ext>
            </a:extLst>
          </p:cNvPr>
          <p:cNvSpPr/>
          <p:nvPr/>
        </p:nvSpPr>
        <p:spPr>
          <a:xfrm>
            <a:off x="8460376" y="3243139"/>
            <a:ext cx="2743200" cy="914400"/>
          </a:xfrm>
          <a:prstGeom prst="round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r>
              <a:t>Shuffled Feature</a:t>
            </a:r>
          </a:p>
          <a:p>
            <a:r>
              <a:t>Accuracy = 75%</a:t>
            </a:r>
          </a:p>
        </p:txBody>
      </p:sp>
    </p:spTree>
    <p:extLst>
      <p:ext uri="{BB962C8B-B14F-4D97-AF65-F5344CB8AC3E}">
        <p14:creationId xmlns:p14="http://schemas.microsoft.com/office/powerpoint/2010/main" val="1635565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7E40B74-F46D-878F-3D88-EE560C6AD64E}"/>
              </a:ext>
            </a:extLst>
          </p:cNvPr>
          <p:cNvSpPr txBox="1"/>
          <p:nvPr/>
        </p:nvSpPr>
        <p:spPr>
          <a:xfrm>
            <a:off x="1099457" y="1994538"/>
            <a:ext cx="5431972" cy="2862322"/>
          </a:xfrm>
          <a:prstGeom prst="rect">
            <a:avLst/>
          </a:prstGeom>
          <a:noFill/>
        </p:spPr>
        <p:txBody>
          <a:bodyPr wrap="square">
            <a:spAutoFit/>
          </a:bodyPr>
          <a:lstStyle/>
          <a:p>
            <a:r>
              <a:rPr b="1" dirty="0"/>
              <a:t>Definition:</a:t>
            </a:r>
          </a:p>
          <a:p>
            <a:pPr lvl="1"/>
            <a:r>
              <a:rPr dirty="0"/>
              <a:t>Assigns fair contribution to each feature using Shapley values.</a:t>
            </a:r>
            <a:endParaRPr lang="en-GB" dirty="0"/>
          </a:p>
          <a:p>
            <a:pPr lvl="1"/>
            <a:endParaRPr lang="en-GB" dirty="0"/>
          </a:p>
          <a:p>
            <a:pPr lvl="1"/>
            <a:endParaRPr dirty="0"/>
          </a:p>
          <a:p>
            <a:r>
              <a:rPr b="1" dirty="0"/>
              <a:t>Core Idea:</a:t>
            </a:r>
          </a:p>
          <a:p>
            <a:pPr lvl="1"/>
            <a:r>
              <a:rPr dirty="0"/>
              <a:t>Features are 'players' in a prediction game.</a:t>
            </a:r>
          </a:p>
          <a:p>
            <a:pPr lvl="1"/>
            <a:r>
              <a:rPr dirty="0"/>
              <a:t>Contribution calculated across all feature combinations.</a:t>
            </a:r>
          </a:p>
          <a:p>
            <a:pPr lvl="1"/>
            <a:r>
              <a:rPr dirty="0"/>
              <a:t>Provides both local and global explanations.</a:t>
            </a:r>
          </a:p>
        </p:txBody>
      </p:sp>
      <p:sp>
        <p:nvSpPr>
          <p:cNvPr id="9" name="Rectangle 8">
            <a:extLst>
              <a:ext uri="{FF2B5EF4-FFF2-40B4-BE49-F238E27FC236}">
                <a16:creationId xmlns:a16="http://schemas.microsoft.com/office/drawing/2014/main" id="{73ADAA75-4432-9D59-9D66-AAF8BA9C6674}"/>
              </a:ext>
            </a:extLst>
          </p:cNvPr>
          <p:cNvSpPr/>
          <p:nvPr/>
        </p:nvSpPr>
        <p:spPr>
          <a:xfrm>
            <a:off x="7413172" y="1668133"/>
            <a:ext cx="2100943" cy="652809"/>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r>
              <a:rPr dirty="0"/>
              <a:t>Feature A +0.35</a:t>
            </a:r>
          </a:p>
        </p:txBody>
      </p:sp>
      <p:sp>
        <p:nvSpPr>
          <p:cNvPr id="10" name="Rectangle 9">
            <a:extLst>
              <a:ext uri="{FF2B5EF4-FFF2-40B4-BE49-F238E27FC236}">
                <a16:creationId xmlns:a16="http://schemas.microsoft.com/office/drawing/2014/main" id="{3AA520D3-F3DA-600B-F291-66729290C928}"/>
              </a:ext>
            </a:extLst>
          </p:cNvPr>
          <p:cNvSpPr/>
          <p:nvPr/>
        </p:nvSpPr>
        <p:spPr>
          <a:xfrm>
            <a:off x="7413172" y="2634785"/>
            <a:ext cx="2736668" cy="652809"/>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r>
              <a:t>Feature B +0.18</a:t>
            </a:r>
          </a:p>
        </p:txBody>
      </p:sp>
      <p:sp>
        <p:nvSpPr>
          <p:cNvPr id="11" name="Rectangle 10">
            <a:extLst>
              <a:ext uri="{FF2B5EF4-FFF2-40B4-BE49-F238E27FC236}">
                <a16:creationId xmlns:a16="http://schemas.microsoft.com/office/drawing/2014/main" id="{757E4508-9DEC-9A3A-753E-FEFD08D60E5D}"/>
              </a:ext>
            </a:extLst>
          </p:cNvPr>
          <p:cNvSpPr/>
          <p:nvPr/>
        </p:nvSpPr>
        <p:spPr>
          <a:xfrm>
            <a:off x="7413172" y="3805873"/>
            <a:ext cx="2307771" cy="652809"/>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r>
              <a:t>Feature C -0.12</a:t>
            </a:r>
          </a:p>
        </p:txBody>
      </p:sp>
      <p:sp>
        <p:nvSpPr>
          <p:cNvPr id="16" name="TextBox 15">
            <a:extLst>
              <a:ext uri="{FF2B5EF4-FFF2-40B4-BE49-F238E27FC236}">
                <a16:creationId xmlns:a16="http://schemas.microsoft.com/office/drawing/2014/main" id="{C3449798-BABC-A373-19DF-60EF6B4363DD}"/>
              </a:ext>
            </a:extLst>
          </p:cNvPr>
          <p:cNvSpPr txBox="1"/>
          <p:nvPr/>
        </p:nvSpPr>
        <p:spPr>
          <a:xfrm>
            <a:off x="979714" y="622770"/>
            <a:ext cx="7295587" cy="584775"/>
          </a:xfrm>
          <a:prstGeom prst="rect">
            <a:avLst/>
          </a:prstGeom>
          <a:noFill/>
        </p:spPr>
        <p:txBody>
          <a:bodyPr wrap="none">
            <a:spAutoFit/>
          </a:bodyPr>
          <a:lstStyle/>
          <a:p>
            <a:pPr>
              <a:defRPr sz="3200" b="1"/>
            </a:pPr>
            <a:r>
              <a:rPr dirty="0"/>
              <a:t>SHAP Values (Game Theory-Based)</a:t>
            </a:r>
          </a:p>
        </p:txBody>
      </p:sp>
    </p:spTree>
    <p:extLst>
      <p:ext uri="{BB962C8B-B14F-4D97-AF65-F5344CB8AC3E}">
        <p14:creationId xmlns:p14="http://schemas.microsoft.com/office/powerpoint/2010/main" val="95124470"/>
      </p:ext>
    </p:extLst>
  </p:cSld>
  <p:clrMapOvr>
    <a:masterClrMapping/>
  </p:clrMapOvr>
</p:sld>
</file>

<file path=ppt/theme/theme1.xml><?xml version="1.0" encoding="utf-8"?>
<a:theme xmlns:a="http://schemas.openxmlformats.org/drawingml/2006/main" name="PunchcardVTI">
  <a:themeElements>
    <a:clrScheme name="Punchcard">
      <a:dk1>
        <a:srgbClr val="000000"/>
      </a:dk1>
      <a:lt1>
        <a:srgbClr val="FFFFFF"/>
      </a:lt1>
      <a:dk2>
        <a:srgbClr val="00224B"/>
      </a:dk2>
      <a:lt2>
        <a:srgbClr val="EFF0EF"/>
      </a:lt2>
      <a:accent1>
        <a:srgbClr val="00B2F3"/>
      </a:accent1>
      <a:accent2>
        <a:srgbClr val="0471CC"/>
      </a:accent2>
      <a:accent3>
        <a:srgbClr val="14BBA9"/>
      </a:accent3>
      <a:accent4>
        <a:srgbClr val="8BB93B"/>
      </a:accent4>
      <a:accent5>
        <a:srgbClr val="EC970C"/>
      </a:accent5>
      <a:accent6>
        <a:srgbClr val="F55822"/>
      </a:accent6>
      <a:hlink>
        <a:srgbClr val="008EE6"/>
      </a:hlink>
      <a:folHlink>
        <a:srgbClr val="808C8E"/>
      </a:folHlink>
    </a:clrScheme>
    <a:fontScheme name="Punchcard">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unchcardVTI" id="{C7262591-AF98-8F48-B56D-6342D2439B1A}" vid="{261D9F73-974A-B14E-9EAF-4871CCA60B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23218</TotalTime>
  <Words>1146</Words>
  <Application>Microsoft Office PowerPoint</Application>
  <PresentationFormat>Widescreen</PresentationFormat>
  <Paragraphs>206</Paragraphs>
  <Slides>16</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Courier New</vt:lpstr>
      <vt:lpstr>Neue Haas Grotesk Text Pro</vt:lpstr>
      <vt:lpstr>PunchcardVTI</vt:lpstr>
      <vt:lpstr>PowerPoint Presentation</vt:lpstr>
      <vt:lpstr>PowerPoint Presentation</vt:lpstr>
      <vt:lpstr>Regression Project Presentations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Liberty</dc:creator>
  <cp:lastModifiedBy>Uthman Abdulrahman</cp:lastModifiedBy>
  <cp:revision>5</cp:revision>
  <dcterms:created xsi:type="dcterms:W3CDTF">2025-11-05T12:47:24Z</dcterms:created>
  <dcterms:modified xsi:type="dcterms:W3CDTF">2026-03-05T19:13:47Z</dcterms:modified>
</cp:coreProperties>
</file>