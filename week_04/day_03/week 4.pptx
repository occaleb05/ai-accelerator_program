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79" r:id="rId3"/>
    <p:sldId id="307" r:id="rId4"/>
    <p:sldId id="281" r:id="rId5"/>
    <p:sldId id="282" r:id="rId6"/>
    <p:sldId id="308" r:id="rId7"/>
    <p:sldId id="283" r:id="rId8"/>
    <p:sldId id="309" r:id="rId9"/>
    <p:sldId id="284" r:id="rId10"/>
    <p:sldId id="310" r:id="rId11"/>
    <p:sldId id="285" r:id="rId12"/>
    <p:sldId id="311" r:id="rId13"/>
    <p:sldId id="286" r:id="rId14"/>
    <p:sldId id="312" r:id="rId15"/>
    <p:sldId id="313" r:id="rId16"/>
    <p:sldId id="288" r:id="rId17"/>
    <p:sldId id="314" r:id="rId18"/>
    <p:sldId id="289" r:id="rId19"/>
    <p:sldId id="290" r:id="rId20"/>
    <p:sldId id="291" r:id="rId21"/>
    <p:sldId id="315" r:id="rId22"/>
    <p:sldId id="293" r:id="rId23"/>
    <p:sldId id="316" r:id="rId24"/>
    <p:sldId id="294" r:id="rId25"/>
    <p:sldId id="317" r:id="rId26"/>
    <p:sldId id="295" r:id="rId27"/>
    <p:sldId id="296" r:id="rId28"/>
    <p:sldId id="297" r:id="rId29"/>
    <p:sldId id="298" r:id="rId30"/>
    <p:sldId id="299" r:id="rId31"/>
    <p:sldId id="300" r:id="rId32"/>
    <p:sldId id="301" r:id="rId33"/>
    <p:sldId id="302" r:id="rId34"/>
    <p:sldId id="303" r:id="rId35"/>
    <p:sldId id="304" r:id="rId36"/>
    <p:sldId id="30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3/6/2026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2191" y="1505242"/>
            <a:ext cx="7948246" cy="584775"/>
          </a:xfrm>
          <a:prstGeom prst="rect">
            <a:avLst/>
          </a:prstGeom>
        </p:spPr>
        <p:txBody>
          <a:bodyPr wrap="square">
            <a:spAutoFit/>
          </a:bodyPr>
          <a:lstStyle/>
          <a:p>
            <a:pPr algn="ctr"/>
            <a:r>
              <a:rPr lang="en-US" sz="3200" b="1" dirty="0" smtClean="0">
                <a:latin typeface="Georgia" pitchFamily="34" charset="0"/>
                <a:ea typeface="Georgia" pitchFamily="34" charset="-122"/>
                <a:cs typeface="Georgia" pitchFamily="34" charset="-120"/>
              </a:rPr>
              <a:t>Classification </a:t>
            </a:r>
            <a:r>
              <a:rPr lang="en-US" sz="3200" b="1" dirty="0">
                <a:latin typeface="Georgia" pitchFamily="34" charset="0"/>
                <a:ea typeface="Georgia" pitchFamily="34" charset="-122"/>
                <a:cs typeface="Georgia" pitchFamily="34" charset="-120"/>
              </a:rPr>
              <a:t>Evaluation </a:t>
            </a:r>
            <a:r>
              <a:rPr lang="en-US" sz="3200" b="1" dirty="0" smtClean="0">
                <a:latin typeface="Georgia" pitchFamily="34" charset="0"/>
                <a:ea typeface="Georgia" pitchFamily="34" charset="-122"/>
                <a:cs typeface="Georgia" pitchFamily="34" charset="-120"/>
              </a:rPr>
              <a:t>Metrics</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84957"/>
            <a:ext cx="9746468" cy="649947"/>
          </a:xfrm>
        </p:spPr>
        <p:txBody>
          <a:bodyPr>
            <a:normAutofit fontScale="90000"/>
          </a:bodyPr>
          <a:lstStyle/>
          <a:p>
            <a:r>
              <a:rPr lang="en-US" dirty="0" smtClean="0">
                <a:solidFill>
                  <a:schemeClr val="tx1">
                    <a:lumMod val="95000"/>
                    <a:lumOff val="5000"/>
                  </a:schemeClr>
                </a:solidFill>
                <a:latin typeface="Georgia" pitchFamily="34" charset="0"/>
                <a:ea typeface="Georgia" pitchFamily="34" charset="-122"/>
                <a:cs typeface="Georgia" pitchFamily="34" charset="-120"/>
              </a:rPr>
              <a:t>Learning Objectives</a:t>
            </a: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822391"/>
            <a:ext cx="7439367" cy="3601212"/>
          </a:xfrm>
        </p:spPr>
        <p:txBody>
          <a:bodyPr>
            <a:normAutofit fontScale="62500" lnSpcReduction="20000"/>
          </a:bodyPr>
          <a:lstStyle/>
          <a:p>
            <a:pPr marL="0" indent="0">
              <a:buNone/>
            </a:pPr>
            <a:r>
              <a:rPr lang="en-US" sz="2800" dirty="0"/>
              <a:t>By the end of this session, participants will be able to</a:t>
            </a:r>
            <a:r>
              <a:rPr lang="en-US" sz="2800" dirty="0" smtClean="0"/>
              <a:t>:</a:t>
            </a:r>
          </a:p>
          <a:p>
            <a:pPr marL="0" indent="0">
              <a:buNone/>
            </a:pPr>
            <a:endParaRPr lang="en-US" sz="2800" dirty="0"/>
          </a:p>
          <a:p>
            <a:r>
              <a:rPr lang="en-US" sz="2800" dirty="0"/>
              <a:t>Understand why accuracy can be misleading in classification tasks</a:t>
            </a:r>
          </a:p>
          <a:p>
            <a:r>
              <a:rPr lang="en-US" sz="2800" dirty="0"/>
              <a:t>Interpret confusion matrices and error types (TP, TN, FP, FN)</a:t>
            </a:r>
          </a:p>
          <a:p>
            <a:r>
              <a:rPr lang="en-US" sz="2800" dirty="0"/>
              <a:t>Calculate and apply precision, recall, and F1-score effectively</a:t>
            </a:r>
          </a:p>
          <a:p>
            <a:r>
              <a:rPr lang="en-US" sz="2800" dirty="0"/>
              <a:t>Interpret ROC and Precision-Recall curves</a:t>
            </a:r>
          </a:p>
          <a:p>
            <a:r>
              <a:rPr lang="en-US" sz="2800" dirty="0"/>
              <a:t>Calibrate model probability outputs for reliability</a:t>
            </a:r>
          </a:p>
          <a:p>
            <a:r>
              <a:rPr lang="en-US" sz="2800" dirty="0"/>
              <a:t>Optimize decision thresholds based on business needs</a:t>
            </a:r>
          </a:p>
          <a:p>
            <a:r>
              <a:rPr lang="en-US" sz="2800" dirty="0"/>
              <a:t>Select the most appropriate evaluation metrics for a given problem</a:t>
            </a:r>
          </a:p>
        </p:txBody>
      </p:sp>
    </p:spTree>
    <p:extLst>
      <p:ext uri="{BB962C8B-B14F-4D97-AF65-F5344CB8AC3E}">
        <p14:creationId xmlns:p14="http://schemas.microsoft.com/office/powerpoint/2010/main" val="764434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48860"/>
            <a:ext cx="8072413" cy="1268984"/>
          </a:xfrm>
        </p:spPr>
        <p:txBody>
          <a:bodyPr>
            <a:normAutofit fontScale="90000"/>
          </a:bodyPr>
          <a:lstStyle/>
          <a:p>
            <a:pPr algn="ctr"/>
            <a:r>
              <a:rPr lang="en-US" dirty="0"/>
              <a:t>Introduction to Classification Evaluation Metrics</a:t>
            </a:r>
          </a:p>
        </p:txBody>
      </p:sp>
      <p:sp>
        <p:nvSpPr>
          <p:cNvPr id="3" name="Content Placeholder 2"/>
          <p:cNvSpPr>
            <a:spLocks noGrp="1"/>
          </p:cNvSpPr>
          <p:nvPr>
            <p:ph idx="1"/>
          </p:nvPr>
        </p:nvSpPr>
        <p:spPr>
          <a:xfrm>
            <a:off x="933438" y="2039874"/>
            <a:ext cx="7999547" cy="3601212"/>
          </a:xfrm>
        </p:spPr>
        <p:txBody>
          <a:bodyPr>
            <a:normAutofit/>
          </a:bodyPr>
          <a:lstStyle/>
          <a:p>
            <a:pPr marL="0" indent="0">
              <a:buNone/>
            </a:pPr>
            <a:r>
              <a:rPr lang="en-US" sz="2000" dirty="0"/>
              <a:t>Evaluating a classification model goes beyond simply checking how many predictions are correct. While accuracy is often the first metric considered, it can hide important limitations, particularly when class distributions are imbalanced. A thorough assessment examines different aspects of model performance, including the types of errors made and their potential impact on business or operational decisions. Understanding these metrics is essential to make informed choices and optimize model outcomes effectively.</a:t>
            </a:r>
          </a:p>
        </p:txBody>
      </p:sp>
    </p:spTree>
    <p:extLst>
      <p:ext uri="{BB962C8B-B14F-4D97-AF65-F5344CB8AC3E}">
        <p14:creationId xmlns:p14="http://schemas.microsoft.com/office/powerpoint/2010/main" val="2139526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49" y="770890"/>
            <a:ext cx="9155625" cy="734353"/>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Why Accuracy Can Be Misleading</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2160016"/>
            <a:ext cx="9155625" cy="3601212"/>
          </a:xfrm>
        </p:spPr>
        <p:txBody>
          <a:bodyPr>
            <a:normAutofit fontScale="55000" lnSpcReduction="20000"/>
          </a:bodyPr>
          <a:lstStyle/>
          <a:p>
            <a:pPr marL="0" indent="0">
              <a:buNone/>
            </a:pPr>
            <a:r>
              <a:rPr lang="en-US" sz="2800" b="1" dirty="0">
                <a:solidFill>
                  <a:srgbClr val="1E293B"/>
                </a:solidFill>
              </a:rPr>
              <a:t>Scenario: Email Spam Detection</a:t>
            </a:r>
            <a:endParaRPr lang="en-US" dirty="0"/>
          </a:p>
          <a:p>
            <a:pPr marL="0" indent="0">
              <a:buNone/>
            </a:pPr>
            <a:r>
              <a:rPr lang="en-US" dirty="0">
                <a:solidFill>
                  <a:srgbClr val="1E293B"/>
                </a:solidFill>
              </a:rPr>
              <a:t>• 1000 emails: 950 legitimate, 50 spam (5% spam rate)</a:t>
            </a:r>
            <a:endParaRPr lang="en-US" dirty="0"/>
          </a:p>
          <a:p>
            <a:pPr marL="0" indent="0">
              <a:buNone/>
            </a:pPr>
            <a:r>
              <a:rPr lang="en-US" dirty="0">
                <a:solidFill>
                  <a:srgbClr val="1E293B"/>
                </a:solidFill>
              </a:rPr>
              <a:t>• Model that predicts 'not spam' for everything: </a:t>
            </a:r>
            <a:r>
              <a:rPr lang="en-US" b="1" dirty="0">
                <a:solidFill>
                  <a:srgbClr val="DC2626"/>
                </a:solidFill>
              </a:rPr>
              <a:t>95% accurate!</a:t>
            </a:r>
            <a:endParaRPr lang="en-US" dirty="0"/>
          </a:p>
          <a:p>
            <a:pPr marL="0" indent="0">
              <a:buNone/>
            </a:pPr>
            <a:r>
              <a:rPr lang="en-US" dirty="0">
                <a:solidFill>
                  <a:srgbClr val="1E293B"/>
                </a:solidFill>
              </a:rPr>
              <a:t>• But catches </a:t>
            </a:r>
            <a:r>
              <a:rPr lang="en-US" b="1" dirty="0">
                <a:solidFill>
                  <a:srgbClr val="DC2626"/>
                </a:solidFill>
              </a:rPr>
              <a:t>ZERO spam emails</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The Problem:</a:t>
            </a:r>
            <a:endParaRPr lang="en-US" dirty="0"/>
          </a:p>
          <a:p>
            <a:pPr marL="0" indent="0">
              <a:buNone/>
            </a:pPr>
            <a:r>
              <a:rPr lang="en-US" i="1" dirty="0">
                <a:solidFill>
                  <a:srgbClr val="1E293B"/>
                </a:solidFill>
              </a:rPr>
              <a:t>Accuracy doesn't account for class imbalance</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Real-World Impact:</a:t>
            </a:r>
            <a:endParaRPr lang="en-US" dirty="0"/>
          </a:p>
          <a:p>
            <a:pPr marL="0" indent="0">
              <a:buNone/>
            </a:pPr>
            <a:r>
              <a:rPr lang="en-US" dirty="0">
                <a:solidFill>
                  <a:srgbClr val="1E293B"/>
                </a:solidFill>
              </a:rPr>
              <a:t>• Medical diagnosis: Missing rare diseases</a:t>
            </a:r>
            <a:endParaRPr lang="en-US" dirty="0"/>
          </a:p>
          <a:p>
            <a:pPr marL="0" indent="0">
              <a:buNone/>
            </a:pPr>
            <a:r>
              <a:rPr lang="en-US" dirty="0">
                <a:solidFill>
                  <a:srgbClr val="1E293B"/>
                </a:solidFill>
              </a:rPr>
              <a:t>• Fraud detection: Missing fraudulent transactions</a:t>
            </a:r>
            <a:endParaRPr lang="en-US" dirty="0"/>
          </a:p>
          <a:p>
            <a:pPr marL="0" indent="0">
              <a:buNone/>
            </a:pPr>
            <a:r>
              <a:rPr lang="en-US" dirty="0">
                <a:solidFill>
                  <a:srgbClr val="1E293B"/>
                </a:solidFill>
              </a:rPr>
              <a:t>• Quality control: Missing defective products</a:t>
            </a:r>
            <a:endParaRPr lang="en-US" dirty="0"/>
          </a:p>
          <a:p>
            <a:endParaRPr lang="en-US" dirty="0"/>
          </a:p>
        </p:txBody>
      </p:sp>
    </p:spTree>
    <p:extLst>
      <p:ext uri="{BB962C8B-B14F-4D97-AF65-F5344CB8AC3E}">
        <p14:creationId xmlns:p14="http://schemas.microsoft.com/office/powerpoint/2010/main" val="300887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11896" cy="748421"/>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The Confusion Matrix</a:t>
            </a:r>
            <a:r>
              <a:rPr lang="en-US" dirty="0">
                <a:solidFill>
                  <a:schemeClr val="tx1">
                    <a:lumMod val="95000"/>
                    <a:lumOff val="5000"/>
                  </a:schemeClr>
                </a:solidFill>
              </a:rPr>
              <a:t/>
            </a:r>
            <a:br>
              <a:rPr lang="en-US" dirty="0">
                <a:solidFill>
                  <a:schemeClr val="tx1">
                    <a:lumMod val="95000"/>
                    <a:lumOff val="5000"/>
                  </a:schemeClr>
                </a:solidFill>
              </a:rPr>
            </a:b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Rectangle 2"/>
          <p:cNvSpPr/>
          <p:nvPr/>
        </p:nvSpPr>
        <p:spPr>
          <a:xfrm>
            <a:off x="722379" y="1806872"/>
            <a:ext cx="6096000" cy="2862322"/>
          </a:xfrm>
          <a:prstGeom prst="rect">
            <a:avLst/>
          </a:prstGeom>
        </p:spPr>
        <p:txBody>
          <a:bodyPr>
            <a:spAutoFit/>
          </a:bodyPr>
          <a:lstStyle/>
          <a:p>
            <a:r>
              <a:rPr lang="en-US" dirty="0"/>
              <a:t>A confusion matrix is a table that summarizes the performance of a classification model by comparing predicted labels against the true labels. It clearly shows how many predictions were correct and how many were misclassified, distinguishing between true positives, true negatives, false positives, and false negatives. This framework provides the basis for calculating key evaluation metrics such as precision, recall, and F1-score, allowing for a deeper understanding of model behavior beyond simple accuracy.</a:t>
            </a:r>
          </a:p>
        </p:txBody>
      </p:sp>
    </p:spTree>
    <p:extLst>
      <p:ext uri="{BB962C8B-B14F-4D97-AF65-F5344CB8AC3E}">
        <p14:creationId xmlns:p14="http://schemas.microsoft.com/office/powerpoint/2010/main" val="1821286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947" y="222250"/>
            <a:ext cx="7335835" cy="1268984"/>
          </a:xfrm>
        </p:spPr>
        <p:txBody>
          <a:bodyPr/>
          <a:lstStyle/>
          <a:p>
            <a:r>
              <a:rPr lang="en-US" dirty="0" smtClean="0"/>
              <a:t>Confusion matrix</a:t>
            </a:r>
            <a:endParaRPr lang="en-US" dirty="0"/>
          </a:p>
        </p:txBody>
      </p:sp>
      <p:sp>
        <p:nvSpPr>
          <p:cNvPr id="5" name="Rectangle 4"/>
          <p:cNvSpPr/>
          <p:nvPr/>
        </p:nvSpPr>
        <p:spPr>
          <a:xfrm>
            <a:off x="1185067" y="3996682"/>
            <a:ext cx="6096000" cy="1477328"/>
          </a:xfrm>
          <a:prstGeom prst="rect">
            <a:avLst/>
          </a:prstGeom>
        </p:spPr>
        <p:txBody>
          <a:bodyPr>
            <a:spAutoFit/>
          </a:bodyPr>
          <a:lstStyle/>
          <a:p>
            <a:r>
              <a:rPr lang="en-US" b="1" dirty="0">
                <a:solidFill>
                  <a:srgbClr val="1E293B"/>
                </a:solidFill>
              </a:rPr>
              <a:t>Key Concepts:</a:t>
            </a:r>
            <a:endParaRPr lang="en-US" dirty="0"/>
          </a:p>
          <a:p>
            <a:r>
              <a:rPr lang="en-US" dirty="0">
                <a:solidFill>
                  <a:srgbClr val="1E293B"/>
                </a:solidFill>
              </a:rPr>
              <a:t>• TP: Correctly identified positives</a:t>
            </a:r>
            <a:endParaRPr lang="en-US" dirty="0"/>
          </a:p>
          <a:p>
            <a:r>
              <a:rPr lang="en-US" dirty="0">
                <a:solidFill>
                  <a:srgbClr val="1E293B"/>
                </a:solidFill>
              </a:rPr>
              <a:t>• TN: Correctly identified negatives</a:t>
            </a:r>
            <a:endParaRPr lang="en-US" dirty="0"/>
          </a:p>
          <a:p>
            <a:r>
              <a:rPr lang="en-US" dirty="0">
                <a:solidFill>
                  <a:srgbClr val="1E293B"/>
                </a:solidFill>
              </a:rPr>
              <a:t>• FP: False alarm (Type I Error)</a:t>
            </a:r>
            <a:endParaRPr lang="en-US" dirty="0"/>
          </a:p>
          <a:p>
            <a:r>
              <a:rPr lang="en-US" dirty="0">
                <a:solidFill>
                  <a:srgbClr val="1E293B"/>
                </a:solidFill>
              </a:rPr>
              <a:t>• FN: Missed detection (Type II Error)</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9131" y="1294228"/>
            <a:ext cx="6386733" cy="2688444"/>
          </a:xfrm>
        </p:spPr>
      </p:pic>
    </p:spTree>
    <p:extLst>
      <p:ext uri="{BB962C8B-B14F-4D97-AF65-F5344CB8AC3E}">
        <p14:creationId xmlns:p14="http://schemas.microsoft.com/office/powerpoint/2010/main" val="247290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48284"/>
            <a:ext cx="9451047" cy="1268984"/>
          </a:xfrm>
        </p:spPr>
        <p:txBody>
          <a:bodyPr>
            <a:normAutofit fontScale="90000"/>
          </a:bodyPr>
          <a:lstStyle/>
          <a:p>
            <a:r>
              <a:rPr lang="en-US" dirty="0">
                <a:solidFill>
                  <a:srgbClr val="1E3A8A"/>
                </a:solidFill>
                <a:latin typeface="Georgia" pitchFamily="34" charset="0"/>
                <a:ea typeface="Georgia" pitchFamily="34" charset="-122"/>
                <a:cs typeface="Georgia" pitchFamily="34" charset="-120"/>
              </a:rPr>
              <a:t>Understanding Error Types</a:t>
            </a:r>
            <a:r>
              <a:rPr lang="en-US" dirty="0"/>
              <a:t/>
            </a:r>
            <a:br>
              <a:rPr lang="en-US" dirty="0"/>
            </a:br>
            <a:endParaRPr lang="en-US" dirty="0"/>
          </a:p>
        </p:txBody>
      </p:sp>
      <p:sp>
        <p:nvSpPr>
          <p:cNvPr id="3" name="Content Placeholder 2"/>
          <p:cNvSpPr>
            <a:spLocks noGrp="1"/>
          </p:cNvSpPr>
          <p:nvPr>
            <p:ph idx="1"/>
          </p:nvPr>
        </p:nvSpPr>
        <p:spPr>
          <a:xfrm>
            <a:off x="565150" y="2160016"/>
            <a:ext cx="9451047" cy="3601212"/>
          </a:xfrm>
        </p:spPr>
        <p:txBody>
          <a:bodyPr/>
          <a:lstStyle/>
          <a:p>
            <a:endParaRPr lang="en-US" dirty="0" smtClean="0"/>
          </a:p>
          <a:p>
            <a:endParaRPr lang="en-US" dirty="0"/>
          </a:p>
          <a:p>
            <a:endParaRPr lang="en-US" dirty="0" smtClean="0"/>
          </a:p>
          <a:p>
            <a:endParaRPr lang="en-US" dirty="0"/>
          </a:p>
          <a:p>
            <a:pPr marL="0" indent="0">
              <a:buNone/>
            </a:pPr>
            <a:endParaRPr lang="en-US" dirty="0" smtClean="0"/>
          </a:p>
        </p:txBody>
      </p:sp>
      <p:sp>
        <p:nvSpPr>
          <p:cNvPr id="4" name="Shape 1"/>
          <p:cNvSpPr/>
          <p:nvPr/>
        </p:nvSpPr>
        <p:spPr>
          <a:xfrm>
            <a:off x="1111347" y="2539218"/>
            <a:ext cx="3657600" cy="1371600"/>
          </a:xfrm>
          <a:prstGeom prst="rect">
            <a:avLst/>
          </a:prstGeom>
          <a:solidFill>
            <a:srgbClr val="FEF2F2"/>
          </a:solidFill>
          <a:ln w="25400">
            <a:solidFill>
              <a:srgbClr val="DC2626"/>
            </a:solidFill>
            <a:prstDash val="solid"/>
          </a:ln>
        </p:spPr>
      </p:sp>
      <p:sp>
        <p:nvSpPr>
          <p:cNvPr id="5" name="Text 2"/>
          <p:cNvSpPr/>
          <p:nvPr/>
        </p:nvSpPr>
        <p:spPr>
          <a:xfrm>
            <a:off x="1294227" y="2722098"/>
            <a:ext cx="3291840" cy="1005840"/>
          </a:xfrm>
          <a:prstGeom prst="rect">
            <a:avLst/>
          </a:prstGeom>
          <a:noFill/>
          <a:ln/>
        </p:spPr>
        <p:txBody>
          <a:bodyPr wrap="square" rtlCol="0" anchor="ctr"/>
          <a:lstStyle/>
          <a:p>
            <a:pPr marL="0" indent="0">
              <a:buNone/>
            </a:pPr>
            <a:r>
              <a:rPr lang="en-US" sz="1500" b="1" dirty="0">
                <a:solidFill>
                  <a:srgbClr val="1E293B"/>
                </a:solidFill>
              </a:rPr>
              <a:t>Type I Error (False Positive)</a:t>
            </a:r>
            <a:endParaRPr lang="en-US" sz="1300" dirty="0"/>
          </a:p>
          <a:p>
            <a:pPr marL="0" indent="0">
              <a:buNone/>
            </a:pPr>
            <a:r>
              <a:rPr lang="en-US" sz="1300" dirty="0">
                <a:solidFill>
                  <a:srgbClr val="1E293B"/>
                </a:solidFill>
              </a:rPr>
              <a:t>Predicting positive when actually negative</a:t>
            </a:r>
            <a:endParaRPr lang="en-US" sz="1300" dirty="0"/>
          </a:p>
          <a:p>
            <a:pPr marL="0" indent="0">
              <a:buNone/>
            </a:pPr>
            <a:r>
              <a:rPr lang="en-US" sz="1300" i="1" dirty="0">
                <a:solidFill>
                  <a:srgbClr val="1E293B"/>
                </a:solidFill>
              </a:rPr>
              <a:t>Example: Healthy patient diagnosed with disease</a:t>
            </a:r>
            <a:endParaRPr lang="en-US" sz="1300" dirty="0"/>
          </a:p>
          <a:p>
            <a:pPr marL="0" indent="0">
              <a:buNone/>
            </a:pPr>
            <a:r>
              <a:rPr lang="en-US" sz="1300" b="1" dirty="0">
                <a:solidFill>
                  <a:srgbClr val="DC2626"/>
                </a:solidFill>
              </a:rPr>
              <a:t>"False alarm"</a:t>
            </a:r>
            <a:endParaRPr lang="en-US" sz="1300" dirty="0"/>
          </a:p>
        </p:txBody>
      </p:sp>
      <p:sp>
        <p:nvSpPr>
          <p:cNvPr id="6" name="Shape 3"/>
          <p:cNvSpPr/>
          <p:nvPr/>
        </p:nvSpPr>
        <p:spPr>
          <a:xfrm>
            <a:off x="5134707" y="2539218"/>
            <a:ext cx="3657600" cy="1371600"/>
          </a:xfrm>
          <a:prstGeom prst="rect">
            <a:avLst/>
          </a:prstGeom>
          <a:solidFill>
            <a:srgbClr val="FEF2F2"/>
          </a:solidFill>
          <a:ln w="25400">
            <a:solidFill>
              <a:srgbClr val="DC2626"/>
            </a:solidFill>
            <a:prstDash val="solid"/>
          </a:ln>
        </p:spPr>
      </p:sp>
      <p:sp>
        <p:nvSpPr>
          <p:cNvPr id="7" name="Text 4"/>
          <p:cNvSpPr/>
          <p:nvPr/>
        </p:nvSpPr>
        <p:spPr>
          <a:xfrm>
            <a:off x="5317587" y="2722098"/>
            <a:ext cx="3291840" cy="1005840"/>
          </a:xfrm>
          <a:prstGeom prst="rect">
            <a:avLst/>
          </a:prstGeom>
          <a:noFill/>
          <a:ln/>
        </p:spPr>
        <p:txBody>
          <a:bodyPr wrap="square" rtlCol="0" anchor="ctr"/>
          <a:lstStyle/>
          <a:p>
            <a:pPr marL="0" indent="0">
              <a:buNone/>
            </a:pPr>
            <a:r>
              <a:rPr lang="en-US" sz="1500" b="1" dirty="0">
                <a:solidFill>
                  <a:srgbClr val="1E293B"/>
                </a:solidFill>
              </a:rPr>
              <a:t>Type II Error (False Negative)</a:t>
            </a:r>
            <a:endParaRPr lang="en-US" sz="1300" dirty="0"/>
          </a:p>
          <a:p>
            <a:pPr marL="0" indent="0">
              <a:buNone/>
            </a:pPr>
            <a:r>
              <a:rPr lang="en-US" sz="1300" dirty="0">
                <a:solidFill>
                  <a:srgbClr val="1E293B"/>
                </a:solidFill>
              </a:rPr>
              <a:t>Predicting negative when actually positive</a:t>
            </a:r>
            <a:endParaRPr lang="en-US" sz="1300" dirty="0"/>
          </a:p>
          <a:p>
            <a:pPr marL="0" indent="0">
              <a:buNone/>
            </a:pPr>
            <a:r>
              <a:rPr lang="en-US" sz="1300" i="1" dirty="0">
                <a:solidFill>
                  <a:srgbClr val="1E293B"/>
                </a:solidFill>
              </a:rPr>
              <a:t>Example: Sick patient diagnosed as healthy</a:t>
            </a:r>
            <a:endParaRPr lang="en-US" sz="1300" dirty="0"/>
          </a:p>
          <a:p>
            <a:pPr marL="0" indent="0">
              <a:buNone/>
            </a:pPr>
            <a:r>
              <a:rPr lang="en-US" sz="1300" b="1" dirty="0">
                <a:solidFill>
                  <a:srgbClr val="DC2626"/>
                </a:solidFill>
              </a:rPr>
              <a:t>"Missed detection"</a:t>
            </a:r>
            <a:endParaRPr lang="en-US" sz="1300" dirty="0"/>
          </a:p>
        </p:txBody>
      </p:sp>
    </p:spTree>
    <p:extLst>
      <p:ext uri="{BB962C8B-B14F-4D97-AF65-F5344CB8AC3E}">
        <p14:creationId xmlns:p14="http://schemas.microsoft.com/office/powerpoint/2010/main" val="2713411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49" y="756823"/>
            <a:ext cx="7335835" cy="804691"/>
          </a:xfrm>
        </p:spPr>
        <p:txBody>
          <a:bodyPr/>
          <a:lstStyle/>
          <a:p>
            <a:r>
              <a:rPr lang="en-US" dirty="0" smtClean="0"/>
              <a:t>Precision</a:t>
            </a:r>
            <a:endParaRPr lang="en-US" dirty="0"/>
          </a:p>
        </p:txBody>
      </p:sp>
      <p:sp>
        <p:nvSpPr>
          <p:cNvPr id="3" name="Content Placeholder 2"/>
          <p:cNvSpPr>
            <a:spLocks noGrp="1"/>
          </p:cNvSpPr>
          <p:nvPr>
            <p:ph idx="1"/>
          </p:nvPr>
        </p:nvSpPr>
        <p:spPr>
          <a:xfrm>
            <a:off x="565149" y="1766121"/>
            <a:ext cx="7335835" cy="3601212"/>
          </a:xfrm>
        </p:spPr>
        <p:txBody>
          <a:bodyPr/>
          <a:lstStyle/>
          <a:p>
            <a:pPr marL="0" indent="0">
              <a:buNone/>
            </a:pPr>
            <a:r>
              <a:rPr lang="en-US" i="1" dirty="0"/>
              <a:t>Minimizing False Positives</a:t>
            </a:r>
            <a:endParaRPr lang="en-US" dirty="0"/>
          </a:p>
          <a:p>
            <a:r>
              <a:rPr lang="en-US" dirty="0"/>
              <a:t>Measures the proportion of positive predictions that are actually correct</a:t>
            </a:r>
          </a:p>
          <a:p>
            <a:r>
              <a:rPr lang="en-US" dirty="0"/>
              <a:t>Answers: “Of all instances labeled positive, how many are truly positive?”</a:t>
            </a:r>
          </a:p>
          <a:p>
            <a:r>
              <a:rPr lang="en-US" dirty="0"/>
              <a:t>High precision → few false positives</a:t>
            </a:r>
          </a:p>
          <a:p>
            <a:r>
              <a:rPr lang="en-US" dirty="0"/>
              <a:t>Provides insight into the reliability of positive predictions</a:t>
            </a:r>
          </a:p>
          <a:p>
            <a:endParaRPr lang="en-US" dirty="0"/>
          </a:p>
        </p:txBody>
      </p:sp>
      <p:grpSp>
        <p:nvGrpSpPr>
          <p:cNvPr id="5" name="Group 4"/>
          <p:cNvGrpSpPr/>
          <p:nvPr/>
        </p:nvGrpSpPr>
        <p:grpSpPr>
          <a:xfrm>
            <a:off x="6928339" y="3700137"/>
            <a:ext cx="3945988" cy="640080"/>
            <a:chOff x="1920240" y="2454812"/>
            <a:chExt cx="6400800" cy="731520"/>
          </a:xfrm>
        </p:grpSpPr>
        <p:sp>
          <p:nvSpPr>
            <p:cNvPr id="6" name="Shape 2"/>
            <p:cNvSpPr/>
            <p:nvPr/>
          </p:nvSpPr>
          <p:spPr>
            <a:xfrm>
              <a:off x="1920240" y="2454812"/>
              <a:ext cx="6400800" cy="731520"/>
            </a:xfrm>
            <a:prstGeom prst="rect">
              <a:avLst/>
            </a:prstGeom>
            <a:solidFill>
              <a:srgbClr val="F8FAFC"/>
            </a:solidFill>
            <a:ln w="25400">
              <a:solidFill>
                <a:srgbClr val="1E3A8A"/>
              </a:solidFill>
              <a:prstDash val="solid"/>
            </a:ln>
          </p:spPr>
        </p:sp>
        <p:sp>
          <p:nvSpPr>
            <p:cNvPr id="7" name="Text 3"/>
            <p:cNvSpPr/>
            <p:nvPr/>
          </p:nvSpPr>
          <p:spPr>
            <a:xfrm>
              <a:off x="1920240" y="2591972"/>
              <a:ext cx="6400800" cy="457200"/>
            </a:xfrm>
            <a:prstGeom prst="rect">
              <a:avLst/>
            </a:prstGeom>
            <a:noFill/>
            <a:ln/>
          </p:spPr>
          <p:txBody>
            <a:bodyPr wrap="square" rtlCol="0" anchor="ctr"/>
            <a:lstStyle/>
            <a:p>
              <a:pPr marL="0" indent="0" algn="ctr">
                <a:buNone/>
              </a:pPr>
              <a:r>
                <a:rPr lang="en-US" sz="2000" b="1" dirty="0">
                  <a:solidFill>
                    <a:srgbClr val="000000"/>
                  </a:solidFill>
                  <a:latin typeface="Courier New" pitchFamily="34" charset="0"/>
                  <a:ea typeface="Courier New" pitchFamily="34" charset="-122"/>
                  <a:cs typeface="Courier New" pitchFamily="34" charset="-120"/>
                </a:rPr>
                <a:t>Precision = TP / (TP + FP)</a:t>
              </a:r>
              <a:endParaRPr lang="en-US" sz="2000" dirty="0"/>
            </a:p>
          </p:txBody>
        </p:sp>
      </p:grpSp>
    </p:spTree>
    <p:extLst>
      <p:ext uri="{BB962C8B-B14F-4D97-AF65-F5344CB8AC3E}">
        <p14:creationId xmlns:p14="http://schemas.microsoft.com/office/powerpoint/2010/main" val="352493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38505" cy="1268984"/>
          </a:xfrm>
        </p:spPr>
        <p:txBody>
          <a:bodyPr>
            <a:normAutofit/>
          </a:bodyPr>
          <a:lstStyle/>
          <a:p>
            <a:r>
              <a:rPr lang="en-US" dirty="0" smtClean="0">
                <a:solidFill>
                  <a:schemeClr val="tx1">
                    <a:lumMod val="95000"/>
                    <a:lumOff val="5000"/>
                  </a:schemeClr>
                </a:solidFill>
                <a:latin typeface="Georgia" pitchFamily="34" charset="0"/>
                <a:ea typeface="Georgia" pitchFamily="34" charset="-122"/>
                <a:cs typeface="Georgia" pitchFamily="34" charset="-120"/>
              </a:rPr>
              <a:t>When to prioritize precision</a:t>
            </a:r>
            <a:endParaRPr lang="en-US" dirty="0">
              <a:solidFill>
                <a:schemeClr val="tx1">
                  <a:lumMod val="95000"/>
                  <a:lumOff val="5000"/>
                </a:schemeClr>
              </a:solidFill>
            </a:endParaRPr>
          </a:p>
        </p:txBody>
      </p:sp>
      <p:sp>
        <p:nvSpPr>
          <p:cNvPr id="3" name="Rectangle 1"/>
          <p:cNvSpPr>
            <a:spLocks noChangeArrowheads="1"/>
          </p:cNvSpPr>
          <p:nvPr/>
        </p:nvSpPr>
        <p:spPr bwMode="auto">
          <a:xfrm>
            <a:off x="565150" y="1744453"/>
            <a:ext cx="672904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Precision should be prioritized when false positives are more costly or risky than false negatives.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This occurs in situations where incorrectly predicting a positive outcome can lead to wasted resources, unnecessary interventions, or operational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High precision ensures that the model’s positive predictions are trustworthy and reliable.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Use cases for prioritizing precision include scenarios where erroneous positive predictions must be minimized, even if it means missing some true positive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Deciding to prioritize precision requires understanding domain-specific consequences of false alarms and aligning model evaluation with business or operational objectives.</a:t>
            </a:r>
          </a:p>
        </p:txBody>
      </p:sp>
    </p:spTree>
    <p:extLst>
      <p:ext uri="{BB962C8B-B14F-4D97-AF65-F5344CB8AC3E}">
        <p14:creationId xmlns:p14="http://schemas.microsoft.com/office/powerpoint/2010/main" val="22701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1" y="491212"/>
            <a:ext cx="7335835"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Recall (Sensitivity)</a:t>
            </a:r>
            <a:r>
              <a:rPr lang="en-US" dirty="0">
                <a:solidFill>
                  <a:schemeClr val="tx1">
                    <a:lumMod val="95000"/>
                    <a:lumOff val="5000"/>
                  </a:schemeClr>
                </a:solidFill>
              </a:rPr>
              <a:t/>
            </a:r>
            <a:br>
              <a:rPr lang="en-US" dirty="0">
                <a:solidFill>
                  <a:schemeClr val="tx1">
                    <a:lumMod val="95000"/>
                    <a:lumOff val="5000"/>
                  </a:schemeClr>
                </a:solidFill>
              </a:rPr>
            </a:br>
            <a:r>
              <a:rPr lang="en-US" i="1" dirty="0">
                <a:solidFill>
                  <a:schemeClr val="tx1">
                    <a:lumMod val="95000"/>
                    <a:lumOff val="5000"/>
                  </a:schemeClr>
                </a:solidFill>
              </a:rPr>
              <a:t>Minimizing False Negatives</a:t>
            </a:r>
            <a:r>
              <a:rPr lang="en-US" dirty="0">
                <a:solidFill>
                  <a:schemeClr val="tx1">
                    <a:lumMod val="95000"/>
                    <a:lumOff val="5000"/>
                  </a:schemeClr>
                </a:solidFill>
              </a:rPr>
              <a:t/>
            </a:r>
            <a:br>
              <a:rPr lang="en-US" dirty="0">
                <a:solidFill>
                  <a:schemeClr val="tx1">
                    <a:lumMod val="95000"/>
                    <a:lumOff val="5000"/>
                  </a:schemeClr>
                </a:solidFill>
              </a:rPr>
            </a:br>
            <a:endParaRPr lang="en-US" b="0" dirty="0">
              <a:solidFill>
                <a:schemeClr val="tx1">
                  <a:lumMod val="95000"/>
                  <a:lumOff val="5000"/>
                </a:schemeClr>
              </a:solidFill>
            </a:endParaRPr>
          </a:p>
        </p:txBody>
      </p:sp>
      <p:sp>
        <p:nvSpPr>
          <p:cNvPr id="4" name="Rectangle 1"/>
          <p:cNvSpPr>
            <a:spLocks noGrp="1" noChangeArrowheads="1"/>
          </p:cNvSpPr>
          <p:nvPr>
            <p:ph idx="1"/>
          </p:nvPr>
        </p:nvSpPr>
        <p:spPr bwMode="auto">
          <a:xfrm>
            <a:off x="565151" y="1760196"/>
            <a:ext cx="77629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Measures the proportion of actual positive cases that are correctly identified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Answers the question, “Of all true positive instances, how many did the model successfully detect?”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High recall indicates the model makes very few false negative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Particularly important when missing positive cases carries serious consequences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Helps evaluate the model’s ability to capture all relevant instances in a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Complements precision to provide a more complete understanding of model performance</a:t>
            </a:r>
          </a:p>
        </p:txBody>
      </p:sp>
      <p:grpSp>
        <p:nvGrpSpPr>
          <p:cNvPr id="5" name="Group 4"/>
          <p:cNvGrpSpPr/>
          <p:nvPr/>
        </p:nvGrpSpPr>
        <p:grpSpPr>
          <a:xfrm>
            <a:off x="786483" y="5149849"/>
            <a:ext cx="6893169" cy="731520"/>
            <a:chOff x="682283" y="2261382"/>
            <a:chExt cx="6893169" cy="731520"/>
          </a:xfrm>
        </p:grpSpPr>
        <p:sp>
          <p:nvSpPr>
            <p:cNvPr id="6" name="Shape 2"/>
            <p:cNvSpPr/>
            <p:nvPr/>
          </p:nvSpPr>
          <p:spPr>
            <a:xfrm>
              <a:off x="682283" y="2261382"/>
              <a:ext cx="6400800" cy="731520"/>
            </a:xfrm>
            <a:prstGeom prst="rect">
              <a:avLst/>
            </a:prstGeom>
            <a:solidFill>
              <a:srgbClr val="F8FAFC"/>
            </a:solidFill>
            <a:ln w="25400">
              <a:solidFill>
                <a:srgbClr val="1E3A8A"/>
              </a:solidFill>
              <a:prstDash val="solid"/>
            </a:ln>
          </p:spPr>
        </p:sp>
        <p:sp>
          <p:nvSpPr>
            <p:cNvPr id="7" name="Text 3"/>
            <p:cNvSpPr/>
            <p:nvPr/>
          </p:nvSpPr>
          <p:spPr>
            <a:xfrm>
              <a:off x="1174652" y="2535702"/>
              <a:ext cx="6400800" cy="457200"/>
            </a:xfrm>
            <a:prstGeom prst="rect">
              <a:avLst/>
            </a:prstGeom>
            <a:noFill/>
            <a:ln/>
          </p:spPr>
          <p:txBody>
            <a:bodyPr wrap="square" rtlCol="0" anchor="ctr"/>
            <a:lstStyle/>
            <a:p>
              <a:pPr marL="0" indent="0" algn="ctr">
                <a:buNone/>
              </a:pPr>
              <a:r>
                <a:rPr lang="en-US" sz="2000" b="1" dirty="0">
                  <a:solidFill>
                    <a:srgbClr val="000000"/>
                  </a:solidFill>
                  <a:latin typeface="Courier New" pitchFamily="34" charset="0"/>
                  <a:ea typeface="Courier New" pitchFamily="34" charset="-122"/>
                  <a:cs typeface="Courier New" pitchFamily="34" charset="-120"/>
                </a:rPr>
                <a:t>Recall = TP / (TP + FN)</a:t>
              </a:r>
              <a:endParaRPr lang="en-US" sz="2000" dirty="0"/>
            </a:p>
          </p:txBody>
        </p:sp>
      </p:grpSp>
    </p:spTree>
    <p:extLst>
      <p:ext uri="{BB962C8B-B14F-4D97-AF65-F5344CB8AC3E}">
        <p14:creationId xmlns:p14="http://schemas.microsoft.com/office/powerpoint/2010/main" val="318099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130" y="784957"/>
            <a:ext cx="7335835" cy="1268984"/>
          </a:xfrm>
        </p:spPr>
        <p:txBody>
          <a:bodyPr>
            <a:normAutofit/>
          </a:bodyPr>
          <a:lstStyle/>
          <a:p>
            <a:r>
              <a:rPr lang="en-US" dirty="0">
                <a:solidFill>
                  <a:schemeClr val="tx1">
                    <a:lumMod val="95000"/>
                    <a:lumOff val="5000"/>
                  </a:schemeClr>
                </a:solidFill>
                <a:latin typeface="Georgia" pitchFamily="34" charset="0"/>
                <a:ea typeface="Georgia" pitchFamily="34" charset="-122"/>
                <a:cs typeface="Georgia" pitchFamily="34" charset="-120"/>
              </a:rPr>
              <a:t>When to </a:t>
            </a:r>
            <a:r>
              <a:rPr lang="en-US" dirty="0" smtClean="0">
                <a:solidFill>
                  <a:schemeClr val="tx1">
                    <a:lumMod val="95000"/>
                    <a:lumOff val="5000"/>
                  </a:schemeClr>
                </a:solidFill>
                <a:latin typeface="Georgia" pitchFamily="34" charset="0"/>
                <a:ea typeface="Georgia" pitchFamily="34" charset="-122"/>
                <a:cs typeface="Georgia" pitchFamily="34" charset="-120"/>
              </a:rPr>
              <a:t>prioritize Recall</a:t>
            </a:r>
            <a:endParaRPr lang="en-US" dirty="0"/>
          </a:p>
        </p:txBody>
      </p:sp>
      <p:sp>
        <p:nvSpPr>
          <p:cNvPr id="7" name="Rectangle 1"/>
          <p:cNvSpPr>
            <a:spLocks noChangeArrowheads="1"/>
          </p:cNvSpPr>
          <p:nvPr/>
        </p:nvSpPr>
        <p:spPr bwMode="auto">
          <a:xfrm>
            <a:off x="858130" y="1797376"/>
            <a:ext cx="939721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Recall should be prioritized when missing positive cases is more costly or dangerous than raising false alarms.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This is common in domains where failing to detect a true positive can lead to severe consequences or irreversible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High recall ensures that the model captures as many true positive instances as possible, even if it increases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Prioritizing recall is appropriate when early detection, risk reduction, or coverage is more important than prediction precision.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Metric selection should reflect domain risk tolerance, regulatory requirements, and real world impact of missed cases.</a:t>
            </a:r>
          </a:p>
        </p:txBody>
      </p:sp>
    </p:spTree>
    <p:extLst>
      <p:ext uri="{BB962C8B-B14F-4D97-AF65-F5344CB8AC3E}">
        <p14:creationId xmlns:p14="http://schemas.microsoft.com/office/powerpoint/2010/main" val="188190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60774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The Precision-Recall Tradeoff</a:t>
            </a:r>
            <a:r>
              <a:rPr lang="en-US" dirty="0">
                <a:solidFill>
                  <a:schemeClr val="tx1">
                    <a:lumMod val="95000"/>
                    <a:lumOff val="5000"/>
                  </a:schemeClr>
                </a:solidFill>
              </a:rPr>
              <a:t/>
            </a:r>
            <a:br>
              <a:rPr lang="en-US" dirty="0">
                <a:solidFill>
                  <a:schemeClr val="tx1">
                    <a:lumMod val="95000"/>
                    <a:lumOff val="5000"/>
                  </a:schemeClr>
                </a:solidFill>
              </a:rPr>
            </a:b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780188"/>
            <a:ext cx="8184955" cy="3601212"/>
          </a:xfrm>
        </p:spPr>
        <p:txBody>
          <a:bodyPr>
            <a:normAutofit fontScale="85000" lnSpcReduction="20000"/>
          </a:bodyPr>
          <a:lstStyle/>
          <a:p>
            <a:pPr marL="0" indent="0">
              <a:buNone/>
            </a:pPr>
            <a:r>
              <a:rPr lang="en-US" i="1" dirty="0"/>
              <a:t>Y</a:t>
            </a:r>
            <a:r>
              <a:rPr lang="en-US" i="1" dirty="0" smtClean="0"/>
              <a:t>ou </a:t>
            </a:r>
            <a:r>
              <a:rPr lang="en-US" i="1" dirty="0"/>
              <a:t>Can’t Maximize Both</a:t>
            </a:r>
            <a:endParaRPr lang="en-US" dirty="0"/>
          </a:p>
          <a:p>
            <a:r>
              <a:rPr lang="en-US" dirty="0"/>
              <a:t>Precision and recall are inversely related, improving one often leads to a reduction in the other</a:t>
            </a:r>
          </a:p>
          <a:p>
            <a:r>
              <a:rPr lang="en-US" dirty="0"/>
              <a:t>Increasing the decision threshold typically improves precision but lowers recall</a:t>
            </a:r>
          </a:p>
          <a:p>
            <a:r>
              <a:rPr lang="en-US" dirty="0"/>
              <a:t>Decreasing the decision threshold typically improves recall but lowers precision</a:t>
            </a:r>
          </a:p>
          <a:p>
            <a:r>
              <a:rPr lang="en-US" dirty="0"/>
              <a:t>This tradeoff reflects the balance between minimizing false positives and minimizing false negatives</a:t>
            </a:r>
          </a:p>
          <a:p>
            <a:r>
              <a:rPr lang="en-US" dirty="0"/>
              <a:t>The optimal balance depends on domain requirements, business objectives, and risk tolerance</a:t>
            </a:r>
          </a:p>
        </p:txBody>
      </p:sp>
    </p:spTree>
    <p:extLst>
      <p:ext uri="{BB962C8B-B14F-4D97-AF65-F5344CB8AC3E}">
        <p14:creationId xmlns:p14="http://schemas.microsoft.com/office/powerpoint/2010/main" val="4278211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76994"/>
            <a:ext cx="8860204" cy="1268984"/>
          </a:xfrm>
        </p:spPr>
        <p:txBody>
          <a:bodyPr>
            <a:normAutofit fontScale="90000"/>
          </a:bodyPr>
          <a:lstStyle/>
          <a:p>
            <a:r>
              <a:rPr lang="en-US" dirty="0">
                <a:solidFill>
                  <a:srgbClr val="1E3A8A"/>
                </a:solidFill>
                <a:latin typeface="Georgia" pitchFamily="34" charset="0"/>
                <a:ea typeface="Georgia" pitchFamily="34" charset="-122"/>
                <a:cs typeface="Georgia" pitchFamily="34" charset="-120"/>
              </a:rPr>
              <a:t>The Precision-Recall Tradeoff</a:t>
            </a:r>
            <a:r>
              <a:rPr lang="en-US" dirty="0"/>
              <a:t/>
            </a:r>
            <a:br>
              <a:rPr lang="en-US" dirty="0"/>
            </a:br>
            <a:r>
              <a:rPr lang="en-US" i="1" dirty="0">
                <a:solidFill>
                  <a:srgbClr val="64748B"/>
                </a:solidFill>
              </a:rPr>
              <a:t>You Can't Maximize Both</a:t>
            </a:r>
            <a:r>
              <a:rPr lang="en-US" dirty="0"/>
              <a:t/>
            </a:r>
            <a:br>
              <a:rPr lang="en-US" dirty="0"/>
            </a:br>
            <a:endParaRPr lang="en-US" dirty="0"/>
          </a:p>
        </p:txBody>
      </p:sp>
      <p:sp>
        <p:nvSpPr>
          <p:cNvPr id="3" name="Content Placeholder 2"/>
          <p:cNvSpPr>
            <a:spLocks noGrp="1"/>
          </p:cNvSpPr>
          <p:nvPr>
            <p:ph idx="1"/>
          </p:nvPr>
        </p:nvSpPr>
        <p:spPr>
          <a:xfrm>
            <a:off x="565150" y="1645977"/>
            <a:ext cx="10013756" cy="3432459"/>
          </a:xfrm>
        </p:spPr>
        <p:txBody>
          <a:bodyPr numCol="2">
            <a:noAutofit/>
          </a:bodyPr>
          <a:lstStyle/>
          <a:p>
            <a:pPr marL="0" indent="0">
              <a:buNone/>
            </a:pPr>
            <a:r>
              <a:rPr lang="en-US" sz="1800" b="1" dirty="0">
                <a:solidFill>
                  <a:srgbClr val="1E293B"/>
                </a:solidFill>
                <a:latin typeface="Arial" panose="020B0604020202020204" pitchFamily="34" charset="0"/>
                <a:cs typeface="Arial" panose="020B0604020202020204" pitchFamily="34" charset="0"/>
              </a:rPr>
              <a:t>The Dilemma:</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Increase precision → Decrease recall</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Increase recall → Decrease precision</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pPr marL="0" indent="0">
              <a:buNone/>
            </a:pPr>
            <a:r>
              <a:rPr lang="en-US" sz="1800" b="1" dirty="0">
                <a:solidFill>
                  <a:srgbClr val="1E293B"/>
                </a:solidFill>
                <a:latin typeface="Arial" panose="020B0604020202020204" pitchFamily="34" charset="0"/>
                <a:cs typeface="Arial" panose="020B0604020202020204" pitchFamily="34" charset="0"/>
              </a:rPr>
              <a:t>Example: Medical Test</a:t>
            </a:r>
            <a:endParaRPr lang="en-US" sz="1800" dirty="0">
              <a:latin typeface="Arial" panose="020B0604020202020204" pitchFamily="34" charset="0"/>
              <a:cs typeface="Arial" panose="020B0604020202020204" pitchFamily="34" charset="0"/>
            </a:endParaRPr>
          </a:p>
          <a:p>
            <a:pPr marL="0" indent="0">
              <a:buNone/>
            </a:pPr>
            <a:r>
              <a:rPr lang="en-US" sz="1800" b="1" dirty="0">
                <a:solidFill>
                  <a:srgbClr val="1E293B"/>
                </a:solidFill>
                <a:latin typeface="Arial" panose="020B0604020202020204" pitchFamily="34" charset="0"/>
                <a:cs typeface="Arial" panose="020B0604020202020204" pitchFamily="34" charset="0"/>
              </a:rPr>
              <a:t>• Very strict threshold:</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Few false positives (high precision)</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Many false negatives (low recall)</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pPr marL="0" indent="0">
              <a:buNone/>
            </a:pPr>
            <a:r>
              <a:rPr lang="en-US" sz="1800" b="1" dirty="0">
                <a:solidFill>
                  <a:srgbClr val="1E293B"/>
                </a:solidFill>
                <a:latin typeface="Arial" panose="020B0604020202020204" pitchFamily="34" charset="0"/>
                <a:cs typeface="Arial" panose="020B0604020202020204" pitchFamily="34" charset="0"/>
              </a:rPr>
              <a:t>• Very lenient threshold:</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Few false negatives (high recall)</a:t>
            </a:r>
            <a:endParaRPr lang="en-US" sz="1800" dirty="0">
              <a:latin typeface="Arial" panose="020B0604020202020204" pitchFamily="34" charset="0"/>
              <a:cs typeface="Arial" panose="020B0604020202020204" pitchFamily="34" charset="0"/>
            </a:endParaRPr>
          </a:p>
          <a:p>
            <a:pPr marL="0" indent="0">
              <a:buNone/>
            </a:pPr>
            <a:r>
              <a:rPr lang="en-US" sz="1800" dirty="0">
                <a:solidFill>
                  <a:srgbClr val="1E293B"/>
                </a:solidFill>
                <a:latin typeface="Arial" panose="020B0604020202020204" pitchFamily="34" charset="0"/>
                <a:cs typeface="Arial" panose="020B0604020202020204" pitchFamily="34" charset="0"/>
              </a:rPr>
              <a:t>  Many false positives (low precision</a:t>
            </a:r>
            <a:r>
              <a:rPr lang="en-US" sz="1800" dirty="0" smtClean="0">
                <a:solidFill>
                  <a:srgbClr val="1E293B"/>
                </a:solidFill>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6427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34791"/>
            <a:ext cx="7335835" cy="776557"/>
          </a:xfrm>
        </p:spPr>
        <p:txBody>
          <a:bodyPr/>
          <a:lstStyle/>
          <a:p>
            <a:r>
              <a:rPr lang="en-US" dirty="0"/>
              <a:t>F1-Score</a:t>
            </a:r>
          </a:p>
        </p:txBody>
      </p:sp>
      <p:sp>
        <p:nvSpPr>
          <p:cNvPr id="3" name="Content Placeholder 2"/>
          <p:cNvSpPr>
            <a:spLocks noGrp="1"/>
          </p:cNvSpPr>
          <p:nvPr>
            <p:ph idx="1"/>
          </p:nvPr>
        </p:nvSpPr>
        <p:spPr>
          <a:xfrm>
            <a:off x="565150" y="1301885"/>
            <a:ext cx="8508512" cy="3601212"/>
          </a:xfrm>
        </p:spPr>
        <p:txBody>
          <a:bodyPr>
            <a:normAutofit fontScale="85000" lnSpcReduction="20000"/>
          </a:bodyPr>
          <a:lstStyle/>
          <a:p>
            <a:pPr marL="0" indent="0">
              <a:buNone/>
            </a:pPr>
            <a:r>
              <a:rPr lang="en-US" i="1" dirty="0" smtClean="0"/>
              <a:t>The </a:t>
            </a:r>
            <a:r>
              <a:rPr lang="en-US" i="1" dirty="0"/>
              <a:t>Harmonic Mean of Precision and Recall</a:t>
            </a:r>
            <a:endParaRPr lang="en-US" dirty="0"/>
          </a:p>
          <a:p>
            <a:r>
              <a:rPr lang="en-US" dirty="0"/>
              <a:t>Combines precision and recall into a single evaluation metric</a:t>
            </a:r>
          </a:p>
          <a:p>
            <a:r>
              <a:rPr lang="en-US" dirty="0"/>
              <a:t>Calculated as the harmonic mean, giving equal importance to both metrics</a:t>
            </a:r>
          </a:p>
          <a:p>
            <a:r>
              <a:rPr lang="en-US" dirty="0"/>
              <a:t>Produces a high value only when both precision and recall are high</a:t>
            </a:r>
          </a:p>
          <a:p>
            <a:r>
              <a:rPr lang="en-US" dirty="0"/>
              <a:t>Penalizes extreme imbalances where one metric is strong and the other is weak</a:t>
            </a:r>
          </a:p>
          <a:p>
            <a:r>
              <a:rPr lang="en-US" dirty="0"/>
              <a:t>Useful when a balanced tradeoff between false positives and false negatives is required</a:t>
            </a:r>
          </a:p>
          <a:p>
            <a:r>
              <a:rPr lang="en-US" dirty="0"/>
              <a:t>Provides a concise summary of model performance for imbalanced classification problems</a:t>
            </a:r>
          </a:p>
          <a:p>
            <a:endParaRPr lang="en-US" dirty="0"/>
          </a:p>
        </p:txBody>
      </p:sp>
      <p:grpSp>
        <p:nvGrpSpPr>
          <p:cNvPr id="4" name="Group 3"/>
          <p:cNvGrpSpPr/>
          <p:nvPr/>
        </p:nvGrpSpPr>
        <p:grpSpPr>
          <a:xfrm>
            <a:off x="886265" y="5093634"/>
            <a:ext cx="7315200" cy="731520"/>
            <a:chOff x="900333" y="2188972"/>
            <a:chExt cx="7315200" cy="731520"/>
          </a:xfrm>
        </p:grpSpPr>
        <p:sp>
          <p:nvSpPr>
            <p:cNvPr id="5" name="Shape 2"/>
            <p:cNvSpPr/>
            <p:nvPr/>
          </p:nvSpPr>
          <p:spPr>
            <a:xfrm>
              <a:off x="900333" y="2188972"/>
              <a:ext cx="7315200" cy="731520"/>
            </a:xfrm>
            <a:prstGeom prst="rect">
              <a:avLst/>
            </a:prstGeom>
            <a:solidFill>
              <a:srgbClr val="F8FAFC"/>
            </a:solidFill>
            <a:ln w="25400">
              <a:solidFill>
                <a:srgbClr val="1E3A8A"/>
              </a:solidFill>
              <a:prstDash val="solid"/>
            </a:ln>
          </p:spPr>
        </p:sp>
        <p:sp>
          <p:nvSpPr>
            <p:cNvPr id="6" name="Text 3"/>
            <p:cNvSpPr/>
            <p:nvPr/>
          </p:nvSpPr>
          <p:spPr>
            <a:xfrm>
              <a:off x="900333" y="2326132"/>
              <a:ext cx="7315200" cy="457200"/>
            </a:xfrm>
            <a:prstGeom prst="rect">
              <a:avLst/>
            </a:prstGeom>
            <a:noFill/>
            <a:ln/>
          </p:spPr>
          <p:txBody>
            <a:bodyPr wrap="square" rtlCol="0" anchor="ctr"/>
            <a:lstStyle/>
            <a:p>
              <a:pPr marL="0" indent="0" algn="ctr">
                <a:buNone/>
              </a:pPr>
              <a:r>
                <a:rPr lang="en-US" sz="1600" b="1" dirty="0">
                  <a:solidFill>
                    <a:srgbClr val="000000"/>
                  </a:solidFill>
                  <a:latin typeface="Courier New" pitchFamily="34" charset="0"/>
                  <a:ea typeface="Courier New" pitchFamily="34" charset="-122"/>
                  <a:cs typeface="Courier New" pitchFamily="34" charset="-120"/>
                </a:rPr>
                <a:t>F1 = 2 × (Precision × Recall) / (Precision + Recall)</a:t>
              </a:r>
              <a:endParaRPr lang="en-US" sz="1600" dirty="0"/>
            </a:p>
          </p:txBody>
        </p:sp>
      </p:grpSp>
    </p:spTree>
    <p:extLst>
      <p:ext uri="{BB962C8B-B14F-4D97-AF65-F5344CB8AC3E}">
        <p14:creationId xmlns:p14="http://schemas.microsoft.com/office/powerpoint/2010/main" val="1089231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When to Prioritize F1-Score</a:t>
            </a:r>
          </a:p>
        </p:txBody>
      </p:sp>
      <p:sp>
        <p:nvSpPr>
          <p:cNvPr id="3" name="Content Placeholder 2"/>
          <p:cNvSpPr>
            <a:spLocks noGrp="1"/>
          </p:cNvSpPr>
          <p:nvPr>
            <p:ph idx="1"/>
          </p:nvPr>
        </p:nvSpPr>
        <p:spPr>
          <a:xfrm>
            <a:off x="565150" y="1850527"/>
            <a:ext cx="7335835" cy="3601212"/>
          </a:xfrm>
        </p:spPr>
        <p:txBody>
          <a:bodyPr>
            <a:normAutofit fontScale="92500" lnSpcReduction="20000"/>
          </a:bodyPr>
          <a:lstStyle/>
          <a:p>
            <a:r>
              <a:rPr lang="en-US" dirty="0" smtClean="0"/>
              <a:t>F1-score </a:t>
            </a:r>
            <a:r>
              <a:rPr lang="en-US" dirty="0"/>
              <a:t>should be prioritized when both false positives and false negatives are important and neither can be ignored.</a:t>
            </a:r>
          </a:p>
          <a:p>
            <a:r>
              <a:rPr lang="en-US" dirty="0"/>
              <a:t>It is appropriate when the dataset is imbalanced and accuracy is not a reliable measure of performance.</a:t>
            </a:r>
          </a:p>
          <a:p>
            <a:r>
              <a:rPr lang="en-US" dirty="0"/>
              <a:t>F1-score is useful when a single summary metric is needed to compare models objectively.</a:t>
            </a:r>
          </a:p>
          <a:p>
            <a:r>
              <a:rPr lang="en-US" dirty="0"/>
              <a:t>It works best when precision and recall are considered equally important in decision-making.</a:t>
            </a:r>
          </a:p>
          <a:p>
            <a:r>
              <a:rPr lang="en-US" dirty="0"/>
              <a:t>F1-score is commonly used during model selection and benchmarking, before fine-tuning decision thresholds.</a:t>
            </a:r>
          </a:p>
          <a:p>
            <a:endParaRPr lang="en-US" dirty="0"/>
          </a:p>
        </p:txBody>
      </p:sp>
    </p:spTree>
    <p:extLst>
      <p:ext uri="{BB962C8B-B14F-4D97-AF65-F5344CB8AC3E}">
        <p14:creationId xmlns:p14="http://schemas.microsoft.com/office/powerpoint/2010/main" val="3616022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91063"/>
            <a:ext cx="8494444"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ROC </a:t>
            </a:r>
            <a:r>
              <a:rPr lang="en-US" dirty="0" smtClean="0">
                <a:solidFill>
                  <a:schemeClr val="tx1">
                    <a:lumMod val="95000"/>
                    <a:lumOff val="5000"/>
                  </a:schemeClr>
                </a:solidFill>
                <a:latin typeface="Georgia" pitchFamily="34" charset="0"/>
                <a:ea typeface="Georgia" pitchFamily="34" charset="-122"/>
                <a:cs typeface="Georgia" pitchFamily="34" charset="-120"/>
              </a:rPr>
              <a:t>Curve</a:t>
            </a:r>
            <a:br>
              <a:rPr lang="en-US" dirty="0" smtClean="0">
                <a:solidFill>
                  <a:schemeClr val="tx1">
                    <a:lumMod val="95000"/>
                    <a:lumOff val="5000"/>
                  </a:schemeClr>
                </a:solidFill>
                <a:latin typeface="Georgia" pitchFamily="34" charset="0"/>
                <a:ea typeface="Georgia" pitchFamily="34" charset="-122"/>
                <a:cs typeface="Georgia" pitchFamily="34" charset="-120"/>
              </a:rPr>
            </a:br>
            <a:r>
              <a:rPr lang="en-US" i="1" dirty="0">
                <a:solidFill>
                  <a:schemeClr val="tx1">
                    <a:lumMod val="95000"/>
                    <a:lumOff val="5000"/>
                  </a:schemeClr>
                </a:solidFill>
              </a:rPr>
              <a:t>Receiver Operating Characteristic</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424473" y="1822391"/>
            <a:ext cx="6904795" cy="3601212"/>
          </a:xfrm>
        </p:spPr>
        <p:txBody>
          <a:bodyPr>
            <a:normAutofit fontScale="77500" lnSpcReduction="20000"/>
          </a:bodyPr>
          <a:lstStyle/>
          <a:p>
            <a:r>
              <a:rPr lang="en-US" sz="2800" dirty="0" smtClean="0"/>
              <a:t>Visualizes </a:t>
            </a:r>
            <a:r>
              <a:rPr lang="en-US" sz="2800" dirty="0"/>
              <a:t>the tradeoff between the true positive rate and the false positive rate across different decision thresholds</a:t>
            </a:r>
          </a:p>
          <a:p>
            <a:r>
              <a:rPr lang="en-US" sz="2800" dirty="0"/>
              <a:t>Plots true positive rate (recall) on the y-axis against false positive rate on the x-axis</a:t>
            </a:r>
          </a:p>
          <a:p>
            <a:r>
              <a:rPr lang="en-US" sz="2800" dirty="0"/>
              <a:t>Illustrates how model performance changes as the classification threshold is adjusted</a:t>
            </a:r>
          </a:p>
          <a:p>
            <a:r>
              <a:rPr lang="en-US" sz="2800" dirty="0"/>
              <a:t>A curve closer to the top-left corner indicates better discriminatory performance</a:t>
            </a:r>
          </a:p>
          <a:p>
            <a:r>
              <a:rPr lang="en-US" sz="2800" dirty="0"/>
              <a:t>A diagonal line represents the performance of a random classifier</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825" y="2025747"/>
            <a:ext cx="3972153" cy="2433712"/>
          </a:xfrm>
          <a:prstGeom prst="rect">
            <a:avLst/>
          </a:prstGeom>
        </p:spPr>
      </p:pic>
    </p:spTree>
    <p:extLst>
      <p:ext uri="{BB962C8B-B14F-4D97-AF65-F5344CB8AC3E}">
        <p14:creationId xmlns:p14="http://schemas.microsoft.com/office/powerpoint/2010/main" val="116905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624" y="288797"/>
            <a:ext cx="7335835" cy="692150"/>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AUC - Area Under ROC </a:t>
            </a:r>
            <a:r>
              <a:rPr lang="en-US" dirty="0" smtClean="0">
                <a:solidFill>
                  <a:schemeClr val="tx1">
                    <a:lumMod val="95000"/>
                    <a:lumOff val="5000"/>
                  </a:schemeClr>
                </a:solidFill>
                <a:latin typeface="Georgia" pitchFamily="34" charset="0"/>
                <a:ea typeface="Georgia" pitchFamily="34" charset="-122"/>
                <a:cs typeface="Georgia" pitchFamily="34" charset="-120"/>
              </a:rPr>
              <a:t>Curve</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6" name="Rectangle 2"/>
          <p:cNvSpPr>
            <a:spLocks noChangeArrowheads="1"/>
          </p:cNvSpPr>
          <p:nvPr/>
        </p:nvSpPr>
        <p:spPr bwMode="auto">
          <a:xfrm>
            <a:off x="763975" y="1290437"/>
            <a:ext cx="617139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Summarizes the performance of the ROC curve into a single numerical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Measures the </a:t>
            </a:r>
            <a:r>
              <a:rPr kumimoji="0" lang="en-US" altLang="en-US" sz="1800" b="0" i="1" u="none" strike="noStrike" cap="none" normalizeH="0" baseline="0" dirty="0" smtClean="0">
                <a:ln>
                  <a:noFill/>
                </a:ln>
                <a:solidFill>
                  <a:schemeClr val="tx1"/>
                </a:solidFill>
                <a:effectLst/>
                <a:latin typeface="Arial" panose="020B0604020202020204" pitchFamily="34" charset="0"/>
              </a:rPr>
              <a:t>model’s</a:t>
            </a:r>
            <a:r>
              <a:rPr kumimoji="0" lang="en-US" altLang="en-US" sz="1800" b="0" i="0" u="none" strike="noStrike" cap="none" normalizeH="0" baseline="0" dirty="0" smtClean="0">
                <a:ln>
                  <a:noFill/>
                </a:ln>
                <a:solidFill>
                  <a:schemeClr val="tx1"/>
                </a:solidFill>
                <a:effectLst/>
                <a:latin typeface="Arial" panose="020B0604020202020204" pitchFamily="34" charset="0"/>
              </a:rPr>
              <a:t> ability to distinguish between positive and negative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Interpreted as the probability that a randomly chosen positive instance is ranked higher than a randomly chosen negative instance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Values range from 0.0 to 1.0, where higher values indicate better discriminatory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An AUC of 0.5 represents random performance, while 1.0 indicates perfect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Enables objective comparison of different classification models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9213" y="1461282"/>
            <a:ext cx="4468836" cy="3351628"/>
          </a:xfrm>
          <a:prstGeom prst="rect">
            <a:avLst/>
          </a:prstGeom>
        </p:spPr>
      </p:pic>
    </p:spTree>
    <p:extLst>
      <p:ext uri="{BB962C8B-B14F-4D97-AF65-F5344CB8AC3E}">
        <p14:creationId xmlns:p14="http://schemas.microsoft.com/office/powerpoint/2010/main" val="1943374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44610" cy="720285"/>
          </a:xfrm>
        </p:spPr>
        <p:txBody>
          <a:bodyPr>
            <a:normAutofit fontScale="90000"/>
          </a:bodyPr>
          <a:lstStyle/>
          <a:p>
            <a:r>
              <a:rPr lang="en-US" i="1" dirty="0" smtClean="0">
                <a:solidFill>
                  <a:schemeClr val="tx1">
                    <a:lumMod val="95000"/>
                    <a:lumOff val="5000"/>
                  </a:schemeClr>
                </a:solidFill>
              </a:rPr>
              <a:t>Single </a:t>
            </a:r>
            <a:r>
              <a:rPr lang="en-US" i="1" dirty="0">
                <a:solidFill>
                  <a:schemeClr val="tx1">
                    <a:lumMod val="95000"/>
                    <a:lumOff val="5000"/>
                  </a:schemeClr>
                </a:solidFill>
              </a:rPr>
              <a:t>Number Summary</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4523" y="1617784"/>
            <a:ext cx="8845237" cy="3085353"/>
          </a:xfrm>
        </p:spPr>
      </p:pic>
      <p:sp>
        <p:nvSpPr>
          <p:cNvPr id="5" name="Rectangle 4"/>
          <p:cNvSpPr/>
          <p:nvPr/>
        </p:nvSpPr>
        <p:spPr>
          <a:xfrm>
            <a:off x="1821219" y="5235421"/>
            <a:ext cx="6096000" cy="646331"/>
          </a:xfrm>
          <a:prstGeom prst="rect">
            <a:avLst/>
          </a:prstGeom>
        </p:spPr>
        <p:txBody>
          <a:bodyPr>
            <a:spAutoFit/>
          </a:bodyPr>
          <a:lstStyle/>
          <a:p>
            <a:pPr algn="ctr"/>
            <a:r>
              <a:rPr lang="en-US" i="1" dirty="0">
                <a:solidFill>
                  <a:srgbClr val="64748B"/>
                </a:solidFill>
              </a:rPr>
              <a:t>What It Measures: Probability that classifier ranks random positive higher than random negative</a:t>
            </a:r>
            <a:endParaRPr lang="en-US" dirty="0"/>
          </a:p>
        </p:txBody>
      </p:sp>
    </p:spTree>
    <p:extLst>
      <p:ext uri="{BB962C8B-B14F-4D97-AF65-F5344CB8AC3E}">
        <p14:creationId xmlns:p14="http://schemas.microsoft.com/office/powerpoint/2010/main" val="1333189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82235" cy="1268984"/>
          </a:xfrm>
        </p:spPr>
        <p:txBody>
          <a:bodyPr>
            <a:normAutofit fontScale="90000"/>
          </a:bodyPr>
          <a:lstStyle/>
          <a:p>
            <a:r>
              <a:rPr lang="en-US" dirty="0">
                <a:solidFill>
                  <a:srgbClr val="1E3A8A"/>
                </a:solidFill>
                <a:latin typeface="Georgia" pitchFamily="34" charset="0"/>
                <a:ea typeface="Georgia" pitchFamily="34" charset="-122"/>
                <a:cs typeface="Georgia" pitchFamily="34" charset="-120"/>
              </a:rPr>
              <a:t>Precision-Recall Curves</a:t>
            </a:r>
            <a:r>
              <a:rPr lang="en-US" dirty="0"/>
              <a:t/>
            </a:r>
            <a:br>
              <a:rPr lang="en-US" dirty="0"/>
            </a:br>
            <a:r>
              <a:rPr lang="en-US" i="1" dirty="0">
                <a:solidFill>
                  <a:srgbClr val="64748B"/>
                </a:solidFill>
              </a:rPr>
              <a:t>Better for Imbalanced Data</a:t>
            </a:r>
            <a:r>
              <a:rPr lang="en-US" dirty="0"/>
              <a:t/>
            </a:r>
            <a:br>
              <a:rPr lang="en-US" dirty="0"/>
            </a:br>
            <a:endParaRPr lang="en-US" dirty="0"/>
          </a:p>
        </p:txBody>
      </p:sp>
      <p:sp>
        <p:nvSpPr>
          <p:cNvPr id="3" name="Content Placeholder 2"/>
          <p:cNvSpPr>
            <a:spLocks noGrp="1"/>
          </p:cNvSpPr>
          <p:nvPr>
            <p:ph idx="1"/>
          </p:nvPr>
        </p:nvSpPr>
        <p:spPr>
          <a:xfrm>
            <a:off x="565150" y="2160016"/>
            <a:ext cx="9282235" cy="3601212"/>
          </a:xfrm>
        </p:spPr>
        <p:txBody>
          <a:bodyPr>
            <a:normAutofit fontScale="55000" lnSpcReduction="20000"/>
          </a:bodyPr>
          <a:lstStyle/>
          <a:p>
            <a:pPr marL="0" indent="0">
              <a:buNone/>
            </a:pPr>
            <a:r>
              <a:rPr lang="en-US" sz="2800" b="1" dirty="0">
                <a:solidFill>
                  <a:srgbClr val="1E293B"/>
                </a:solidFill>
              </a:rPr>
              <a:t>When to Use PR Curves:</a:t>
            </a:r>
            <a:endParaRPr lang="en-US" dirty="0"/>
          </a:p>
          <a:p>
            <a:pPr marL="0" indent="0">
              <a:buNone/>
            </a:pPr>
            <a:r>
              <a:rPr lang="en-US" dirty="0">
                <a:solidFill>
                  <a:srgbClr val="1E293B"/>
                </a:solidFill>
              </a:rPr>
              <a:t>• Highly imbalanced datasets</a:t>
            </a:r>
            <a:endParaRPr lang="en-US" dirty="0"/>
          </a:p>
          <a:p>
            <a:pPr marL="0" indent="0">
              <a:buNone/>
            </a:pPr>
            <a:r>
              <a:rPr lang="en-US" dirty="0">
                <a:solidFill>
                  <a:srgbClr val="1E293B"/>
                </a:solidFill>
              </a:rPr>
              <a:t>• Care more about positive class</a:t>
            </a:r>
            <a:endParaRPr lang="en-US" dirty="0"/>
          </a:p>
          <a:p>
            <a:pPr marL="0" indent="0">
              <a:buNone/>
            </a:pPr>
            <a:r>
              <a:rPr lang="en-US" dirty="0">
                <a:solidFill>
                  <a:srgbClr val="1E293B"/>
                </a:solidFill>
              </a:rPr>
              <a:t>• False positives are very costly</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Why Better Than ROC:</a:t>
            </a:r>
            <a:endParaRPr lang="en-US" dirty="0"/>
          </a:p>
          <a:p>
            <a:pPr marL="0" indent="0">
              <a:buNone/>
            </a:pPr>
            <a:r>
              <a:rPr lang="en-US" dirty="0">
                <a:solidFill>
                  <a:srgbClr val="1E293B"/>
                </a:solidFill>
              </a:rPr>
              <a:t>• Not influenced by large number of true negatives</a:t>
            </a:r>
            <a:endParaRPr lang="en-US" dirty="0"/>
          </a:p>
          <a:p>
            <a:pPr marL="0" indent="0">
              <a:buNone/>
            </a:pPr>
            <a:r>
              <a:rPr lang="en-US" dirty="0">
                <a:solidFill>
                  <a:srgbClr val="1E293B"/>
                </a:solidFill>
              </a:rPr>
              <a:t>• Focuses on performance on minority class</a:t>
            </a:r>
            <a:endParaRPr lang="en-US" dirty="0"/>
          </a:p>
          <a:p>
            <a:pPr marL="0" indent="0">
              <a:buNone/>
            </a:pPr>
            <a:r>
              <a:rPr lang="en-US" dirty="0">
                <a:solidFill>
                  <a:srgbClr val="1E293B"/>
                </a:solidFill>
              </a:rPr>
              <a:t>• More informative for imbalanced problems</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Use Cases:</a:t>
            </a:r>
            <a:endParaRPr lang="en-US" dirty="0"/>
          </a:p>
          <a:p>
            <a:pPr marL="0" indent="0">
              <a:buNone/>
            </a:pPr>
            <a:r>
              <a:rPr lang="en-US" i="1" dirty="0">
                <a:solidFill>
                  <a:srgbClr val="1E293B"/>
                </a:solidFill>
              </a:rPr>
              <a:t>Medical diagnosis, fraud detection, rare event prediction</a:t>
            </a:r>
            <a:endParaRPr lang="en-US" dirty="0"/>
          </a:p>
          <a:p>
            <a:endParaRPr lang="en-US" dirty="0"/>
          </a:p>
        </p:txBody>
      </p:sp>
    </p:spTree>
    <p:extLst>
      <p:ext uri="{BB962C8B-B14F-4D97-AF65-F5344CB8AC3E}">
        <p14:creationId xmlns:p14="http://schemas.microsoft.com/office/powerpoint/2010/main" val="134936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812" y="236318"/>
            <a:ext cx="9422912"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Choosing the Right Metric</a:t>
            </a:r>
            <a:r>
              <a:rPr lang="en-US" dirty="0">
                <a:solidFill>
                  <a:schemeClr val="tx1">
                    <a:lumMod val="95000"/>
                    <a:lumOff val="5000"/>
                  </a:schemeClr>
                </a:solidFill>
              </a:rPr>
              <a:t/>
            </a:r>
            <a:br>
              <a:rPr lang="en-US" dirty="0">
                <a:solidFill>
                  <a:schemeClr val="tx1">
                    <a:lumMod val="95000"/>
                    <a:lumOff val="5000"/>
                  </a:schemeClr>
                </a:solidFill>
              </a:rPr>
            </a:br>
            <a:r>
              <a:rPr lang="en-US" i="1" dirty="0">
                <a:solidFill>
                  <a:schemeClr val="tx1">
                    <a:lumMod val="95000"/>
                    <a:lumOff val="5000"/>
                  </a:schemeClr>
                </a:solidFill>
              </a:rPr>
              <a:t>Decision Framework</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4" name="Rectangle 3"/>
          <p:cNvSpPr/>
          <p:nvPr/>
        </p:nvSpPr>
        <p:spPr>
          <a:xfrm>
            <a:off x="494812" y="1505302"/>
            <a:ext cx="9781735" cy="4524315"/>
          </a:xfrm>
          <a:prstGeom prst="rect">
            <a:avLst/>
          </a:prstGeom>
        </p:spPr>
        <p:txBody>
          <a:bodyPr wrap="square">
            <a:spAutoFit/>
          </a:bodyPr>
          <a:lstStyle/>
          <a:p>
            <a:r>
              <a:rPr lang="en-US" b="1" dirty="0">
                <a:solidFill>
                  <a:srgbClr val="1E293B"/>
                </a:solidFill>
                <a:latin typeface="Arial" panose="020B0604020202020204" pitchFamily="34" charset="0"/>
                <a:cs typeface="Arial" panose="020B0604020202020204" pitchFamily="34" charset="0"/>
              </a:rPr>
              <a:t>1. Is the dataset balanced?</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Yes → Accuracy acceptable</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No → Use precision, recall, F1, or AUC</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r>
              <a:rPr lang="en-US" b="1" dirty="0">
                <a:solidFill>
                  <a:srgbClr val="1E293B"/>
                </a:solidFill>
                <a:latin typeface="Arial" panose="020B0604020202020204" pitchFamily="34" charset="0"/>
                <a:cs typeface="Arial" panose="020B0604020202020204" pitchFamily="34" charset="0"/>
              </a:rPr>
              <a:t>2. Which error is more costly?</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FP more costly → Maximize precision</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FN more costly → Maximize recall</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Both important → F1-score</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r>
              <a:rPr lang="en-US" b="1" dirty="0">
                <a:solidFill>
                  <a:srgbClr val="1E293B"/>
                </a:solidFill>
                <a:latin typeface="Arial" panose="020B0604020202020204" pitchFamily="34" charset="0"/>
                <a:cs typeface="Arial" panose="020B0604020202020204" pitchFamily="34" charset="0"/>
              </a:rPr>
              <a:t>3. Need single metric?</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Balanced data → Accuracy or F1</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Imbalanced data → PR-AUC or MCC</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r>
              <a:rPr lang="en-US" b="1" dirty="0">
                <a:solidFill>
                  <a:srgbClr val="1E293B"/>
                </a:solidFill>
                <a:latin typeface="Arial" panose="020B0604020202020204" pitchFamily="34" charset="0"/>
                <a:cs typeface="Arial" panose="020B0604020202020204" pitchFamily="34" charset="0"/>
              </a:rPr>
              <a:t>4. Business constraints?</a:t>
            </a:r>
            <a:endParaRPr lang="en-US" dirty="0">
              <a:latin typeface="Arial" panose="020B0604020202020204" pitchFamily="34" charset="0"/>
              <a:cs typeface="Arial" panose="020B0604020202020204" pitchFamily="34" charset="0"/>
            </a:endParaRPr>
          </a:p>
          <a:p>
            <a:r>
              <a:rPr lang="en-US" dirty="0">
                <a:solidFill>
                  <a:srgbClr val="1E293B"/>
                </a:solidFill>
                <a:latin typeface="Arial" panose="020B0604020202020204" pitchFamily="34" charset="0"/>
                <a:cs typeface="Arial" panose="020B0604020202020204" pitchFamily="34" charset="0"/>
              </a:rPr>
              <a:t>   Yes → Optimize threshold for business metric</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52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917233"/>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Probability Calibration</a:t>
            </a:r>
            <a:r>
              <a:rPr lang="en-US" dirty="0">
                <a:solidFill>
                  <a:schemeClr val="tx1">
                    <a:lumMod val="95000"/>
                    <a:lumOff val="5000"/>
                  </a:schemeClr>
                </a:solidFill>
              </a:rPr>
              <a:t/>
            </a:r>
            <a:br>
              <a:rPr lang="en-US" dirty="0">
                <a:solidFill>
                  <a:schemeClr val="tx1">
                    <a:lumMod val="95000"/>
                    <a:lumOff val="5000"/>
                  </a:schemeClr>
                </a:solidFill>
              </a:rPr>
            </a:br>
            <a:r>
              <a:rPr lang="en-US" dirty="0">
                <a:solidFill>
                  <a:schemeClr val="tx1">
                    <a:lumMod val="95000"/>
                    <a:lumOff val="5000"/>
                  </a:schemeClr>
                </a:solidFill>
              </a:rPr>
              <a:t/>
            </a:r>
            <a:br>
              <a:rPr lang="en-US" dirty="0">
                <a:solidFill>
                  <a:schemeClr val="tx1">
                    <a:lumMod val="95000"/>
                    <a:lumOff val="5000"/>
                  </a:schemeClr>
                </a:solidFill>
              </a:rPr>
            </a:br>
            <a:endParaRPr lang="en-US" dirty="0"/>
          </a:p>
        </p:txBody>
      </p:sp>
      <p:sp>
        <p:nvSpPr>
          <p:cNvPr id="4" name="Rectangle 1"/>
          <p:cNvSpPr>
            <a:spLocks noChangeArrowheads="1"/>
          </p:cNvSpPr>
          <p:nvPr/>
        </p:nvSpPr>
        <p:spPr bwMode="auto">
          <a:xfrm>
            <a:off x="703385" y="1773594"/>
            <a:ext cx="88345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Predicted probabilities may not reflect true likelihoods; calibration ensures predictions are reliable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Platt Scaling: Fits a logistic regression model to map scores to calibrated probabilities; simple and effective for small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Isotonic Regression: Non-parametric approach that learns a flexible monotonic mapping; requires more data but can handle complex distributions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Decision Threshold Adjustment: Default threshold (0.5) may not be optimal; adjust based on business costs or risk tolerance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Optimizing thresholds can reduce costly misclassifications and align model outputs with operational objectives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Calibration and threshold tuning are critical when deploying models in real-world, high-stakes scenarios</a:t>
            </a:r>
          </a:p>
        </p:txBody>
      </p:sp>
    </p:spTree>
    <p:extLst>
      <p:ext uri="{BB962C8B-B14F-4D97-AF65-F5344CB8AC3E}">
        <p14:creationId xmlns:p14="http://schemas.microsoft.com/office/powerpoint/2010/main" val="3357642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11896"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Decision Threshold Optimization</a:t>
            </a:r>
            <a:r>
              <a:rPr lang="en-US" dirty="0">
                <a:solidFill>
                  <a:schemeClr val="tx1">
                    <a:lumMod val="95000"/>
                    <a:lumOff val="5000"/>
                  </a:schemeClr>
                </a:solidFill>
              </a:rPr>
              <a:t/>
            </a:r>
            <a:br>
              <a:rPr lang="en-US" dirty="0">
                <a:solidFill>
                  <a:schemeClr val="tx1">
                    <a:lumMod val="95000"/>
                    <a:lumOff val="5000"/>
                  </a:schemeClr>
                </a:solidFill>
              </a:rPr>
            </a:br>
            <a:r>
              <a:rPr lang="en-US" i="1" dirty="0">
                <a:solidFill>
                  <a:schemeClr val="tx1">
                    <a:lumMod val="95000"/>
                    <a:lumOff val="5000"/>
                  </a:schemeClr>
                </a:solidFill>
              </a:rPr>
              <a:t>Beyond Default 0.5</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2160016"/>
            <a:ext cx="9211896" cy="3601212"/>
          </a:xfrm>
        </p:spPr>
        <p:txBody>
          <a:bodyPr>
            <a:normAutofit fontScale="55000" lnSpcReduction="20000"/>
          </a:bodyPr>
          <a:lstStyle/>
          <a:p>
            <a:pPr marL="0" indent="0">
              <a:buNone/>
            </a:pPr>
            <a:r>
              <a:rPr lang="en-US" sz="3200" b="1" dirty="0">
                <a:solidFill>
                  <a:srgbClr val="1E293B"/>
                </a:solidFill>
              </a:rPr>
              <a:t>Why Adjust Threshold:</a:t>
            </a:r>
            <a:endParaRPr lang="en-US" dirty="0"/>
          </a:p>
          <a:p>
            <a:pPr marL="0" indent="0">
              <a:buNone/>
            </a:pPr>
            <a:r>
              <a:rPr lang="en-US" dirty="0">
                <a:solidFill>
                  <a:srgbClr val="1E293B"/>
                </a:solidFill>
              </a:rPr>
              <a:t>• Default 0.5 rarely optimal</a:t>
            </a:r>
            <a:endParaRPr lang="en-US" dirty="0"/>
          </a:p>
          <a:p>
            <a:pPr marL="0" indent="0">
              <a:buNone/>
            </a:pPr>
            <a:r>
              <a:rPr lang="en-US" dirty="0">
                <a:solidFill>
                  <a:srgbClr val="1E293B"/>
                </a:solidFill>
              </a:rPr>
              <a:t>• Business costs are asymmetric</a:t>
            </a:r>
            <a:endParaRPr lang="en-US" dirty="0"/>
          </a:p>
          <a:p>
            <a:pPr marL="0" indent="0">
              <a:buNone/>
            </a:pPr>
            <a:r>
              <a:rPr lang="en-US" dirty="0">
                <a:solidFill>
                  <a:srgbClr val="1E293B"/>
                </a:solidFill>
              </a:rPr>
              <a:t>• Different operating points for different scenarios</a:t>
            </a:r>
            <a:endParaRPr lang="en-US" dirty="0"/>
          </a:p>
          <a:p>
            <a:pPr marL="0" indent="0">
              <a:buNone/>
            </a:pPr>
            <a:r>
              <a:rPr lang="en-US" dirty="0">
                <a:solidFill>
                  <a:srgbClr val="1E293B"/>
                </a:solidFill>
              </a:rPr>
              <a:t> </a:t>
            </a:r>
            <a:endParaRPr lang="en-US" dirty="0"/>
          </a:p>
          <a:p>
            <a:pPr marL="0" indent="0">
              <a:buNone/>
            </a:pPr>
            <a:r>
              <a:rPr lang="en-US" sz="3200" b="1" dirty="0">
                <a:solidFill>
                  <a:srgbClr val="1E293B"/>
                </a:solidFill>
              </a:rPr>
              <a:t>Optimization Approaches:</a:t>
            </a:r>
            <a:endParaRPr lang="en-US" dirty="0"/>
          </a:p>
          <a:p>
            <a:pPr marL="0" indent="0">
              <a:buNone/>
            </a:pPr>
            <a:r>
              <a:rPr lang="en-US" dirty="0">
                <a:solidFill>
                  <a:srgbClr val="1E293B"/>
                </a:solidFill>
              </a:rPr>
              <a:t>1. Cost-Based: Minimize Cost(FP) × FP + Cost(FN) × FN</a:t>
            </a:r>
            <a:endParaRPr lang="en-US" dirty="0"/>
          </a:p>
          <a:p>
            <a:pPr marL="0" indent="0">
              <a:buNone/>
            </a:pPr>
            <a:r>
              <a:rPr lang="en-US" dirty="0">
                <a:solidFill>
                  <a:srgbClr val="1E293B"/>
                </a:solidFill>
              </a:rPr>
              <a:t>2. Business Metric: Maximize profit, minimize risk</a:t>
            </a:r>
            <a:endParaRPr lang="en-US" dirty="0"/>
          </a:p>
          <a:p>
            <a:pPr marL="0" indent="0">
              <a:buNone/>
            </a:pPr>
            <a:r>
              <a:rPr lang="en-US" dirty="0">
                <a:solidFill>
                  <a:srgbClr val="1E293B"/>
                </a:solidFill>
              </a:rPr>
              <a:t>3. Fixed Constraint: Achieve minimum recall, maximize precision</a:t>
            </a:r>
            <a:endParaRPr lang="en-US" dirty="0"/>
          </a:p>
          <a:p>
            <a:pPr marL="0" indent="0">
              <a:buNone/>
            </a:pPr>
            <a:r>
              <a:rPr lang="en-US" dirty="0">
                <a:solidFill>
                  <a:srgbClr val="1E293B"/>
                </a:solidFill>
              </a:rPr>
              <a:t>4. F-Beta Optimization: Optimize weighted F-score</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Example:</a:t>
            </a:r>
            <a:r>
              <a:rPr lang="en-US" sz="2800" i="1" dirty="0">
                <a:solidFill>
                  <a:srgbClr val="1E293B"/>
                </a:solidFill>
              </a:rPr>
              <a:t> Fraud detection - Missing fraud costs $1000, false alarm costs $10</a:t>
            </a:r>
            <a:endParaRPr lang="en-US" dirty="0"/>
          </a:p>
          <a:p>
            <a:endParaRPr lang="en-US" dirty="0"/>
          </a:p>
        </p:txBody>
      </p:sp>
    </p:spTree>
    <p:extLst>
      <p:ext uri="{BB962C8B-B14F-4D97-AF65-F5344CB8AC3E}">
        <p14:creationId xmlns:p14="http://schemas.microsoft.com/office/powerpoint/2010/main" val="3166058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734353"/>
          </a:xfrm>
        </p:spPr>
        <p:txBody>
          <a:bodyPr/>
          <a:lstStyle/>
          <a:p>
            <a:r>
              <a:rPr lang="en-US" dirty="0" smtClean="0"/>
              <a:t>Cost sensitive analysis</a:t>
            </a:r>
            <a:endParaRPr lang="en-US" dirty="0"/>
          </a:p>
        </p:txBody>
      </p:sp>
      <p:sp>
        <p:nvSpPr>
          <p:cNvPr id="4" name="Rectangle 3"/>
          <p:cNvSpPr/>
          <p:nvPr/>
        </p:nvSpPr>
        <p:spPr>
          <a:xfrm>
            <a:off x="565150" y="1668924"/>
            <a:ext cx="7158013" cy="3693319"/>
          </a:xfrm>
          <a:prstGeom prst="rect">
            <a:avLst/>
          </a:prstGeom>
        </p:spPr>
        <p:txBody>
          <a:bodyPr wrap="square">
            <a:spAutoFit/>
          </a:bodyPr>
          <a:lstStyle/>
          <a:p>
            <a:r>
              <a:rPr lang="en-US" i="1" dirty="0"/>
              <a:t>Understanding the Real-World Impact of Errors</a:t>
            </a:r>
            <a:endParaRPr lang="en-US" dirty="0"/>
          </a:p>
          <a:p>
            <a:pPr>
              <a:buFont typeface="Arial" panose="020B0604020202020204" pitchFamily="34" charset="0"/>
              <a:buChar char="•"/>
            </a:pPr>
            <a:r>
              <a:rPr lang="en-US" dirty="0"/>
              <a:t>In many applications, not all errors are equally costly; some misclassifications can have serious financial, operational, or safety consequences</a:t>
            </a:r>
          </a:p>
          <a:p>
            <a:pPr>
              <a:buFont typeface="Arial" panose="020B0604020202020204" pitchFamily="34" charset="0"/>
              <a:buChar char="•"/>
            </a:pPr>
            <a:r>
              <a:rPr lang="en-US" dirty="0"/>
              <a:t>Standard evaluation metrics treat all errors equally, which may misalign model performance with business objectives</a:t>
            </a:r>
          </a:p>
          <a:p>
            <a:pPr>
              <a:buFont typeface="Arial" panose="020B0604020202020204" pitchFamily="34" charset="0"/>
              <a:buChar char="•"/>
            </a:pPr>
            <a:r>
              <a:rPr lang="en-US" dirty="0"/>
              <a:t>Cost-sensitive analysis explicitly accounts for the varying impact of false positives and false negatives</a:t>
            </a:r>
          </a:p>
          <a:p>
            <a:pPr>
              <a:buFont typeface="Arial" panose="020B0604020202020204" pitchFamily="34" charset="0"/>
              <a:buChar char="•"/>
            </a:pPr>
            <a:r>
              <a:rPr lang="en-US" dirty="0"/>
              <a:t>This approach ensures that model decisions reflect real-world priorities, making predictions actionable and aligned with organizational goals</a:t>
            </a:r>
          </a:p>
          <a:p>
            <a:pPr>
              <a:buFont typeface="Arial" panose="020B0604020202020204" pitchFamily="34" charset="0"/>
              <a:buChar char="•"/>
            </a:pPr>
            <a:r>
              <a:rPr lang="en-US" dirty="0"/>
              <a:t>Provides the foundation for techniques like threshold moving, class weighting, and custom loss functions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6720" y="2434250"/>
            <a:ext cx="3892209" cy="1885667"/>
          </a:xfrm>
          <a:prstGeom prst="rect">
            <a:avLst/>
          </a:prstGeom>
        </p:spPr>
      </p:pic>
    </p:spTree>
    <p:extLst>
      <p:ext uri="{BB962C8B-B14F-4D97-AF65-F5344CB8AC3E}">
        <p14:creationId xmlns:p14="http://schemas.microsoft.com/office/powerpoint/2010/main" val="2531035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69693" cy="664015"/>
          </a:xfrm>
        </p:spPr>
        <p:txBody>
          <a:bodyPr>
            <a:normAutofit fontScale="90000"/>
          </a:bodyPr>
          <a:lstStyle/>
          <a:p>
            <a:r>
              <a:rPr lang="en-US" dirty="0"/>
              <a:t>Cost-Sensitive Learning Techniques</a:t>
            </a:r>
            <a:endParaRPr lang="en-US" dirty="0">
              <a:solidFill>
                <a:schemeClr val="tx1">
                  <a:lumMod val="95000"/>
                  <a:lumOff val="5000"/>
                </a:schemeClr>
              </a:solidFill>
            </a:endParaRPr>
          </a:p>
        </p:txBody>
      </p:sp>
      <p:sp>
        <p:nvSpPr>
          <p:cNvPr id="4" name="Rectangle 3"/>
          <p:cNvSpPr/>
          <p:nvPr/>
        </p:nvSpPr>
        <p:spPr>
          <a:xfrm>
            <a:off x="565149" y="1617785"/>
            <a:ext cx="8002075" cy="3416320"/>
          </a:xfrm>
          <a:prstGeom prst="rect">
            <a:avLst/>
          </a:prstGeom>
        </p:spPr>
        <p:txBody>
          <a:bodyPr wrap="square">
            <a:spAutoFit/>
          </a:bodyPr>
          <a:lstStyle/>
          <a:p>
            <a:r>
              <a:rPr lang="en-US" i="1" dirty="0"/>
              <a:t>Applying Business Priorities to Model Training</a:t>
            </a:r>
            <a:endParaRPr lang="en-US" dirty="0"/>
          </a:p>
          <a:p>
            <a:pPr>
              <a:buFont typeface="Arial" panose="020B0604020202020204" pitchFamily="34" charset="0"/>
              <a:buChar char="•"/>
            </a:pPr>
            <a:r>
              <a:rPr lang="en-US" dirty="0"/>
              <a:t>Threshold Adjustment: Move the decision boundary post-training to minimize costly misclassifications</a:t>
            </a:r>
          </a:p>
          <a:p>
            <a:pPr>
              <a:buFont typeface="Arial" panose="020B0604020202020204" pitchFamily="34" charset="0"/>
              <a:buChar char="•"/>
            </a:pPr>
            <a:r>
              <a:rPr lang="en-US" dirty="0"/>
              <a:t>Class Weights: Assign higher penalty to misclassifications of more critical classes during training</a:t>
            </a:r>
          </a:p>
          <a:p>
            <a:pPr>
              <a:buFont typeface="Arial" panose="020B0604020202020204" pitchFamily="34" charset="0"/>
              <a:buChar char="•"/>
            </a:pPr>
            <a:r>
              <a:rPr lang="en-US" dirty="0"/>
              <a:t>Sampling Methods:</a:t>
            </a:r>
          </a:p>
          <a:p>
            <a:pPr marL="742950" lvl="1" indent="-285750">
              <a:buFont typeface="Arial" panose="020B0604020202020204" pitchFamily="34" charset="0"/>
              <a:buChar char="•"/>
            </a:pPr>
            <a:r>
              <a:rPr lang="en-US" dirty="0"/>
              <a:t>Oversample minority class to reduce false negatives</a:t>
            </a:r>
          </a:p>
          <a:p>
            <a:pPr marL="742950" lvl="1" indent="-285750">
              <a:buFont typeface="Arial" panose="020B0604020202020204" pitchFamily="34" charset="0"/>
              <a:buChar char="•"/>
            </a:pPr>
            <a:r>
              <a:rPr lang="en-US" dirty="0" err="1"/>
              <a:t>Undersample</a:t>
            </a:r>
            <a:r>
              <a:rPr lang="en-US" dirty="0"/>
              <a:t> majority class to reduce false positives</a:t>
            </a:r>
          </a:p>
          <a:p>
            <a:pPr>
              <a:buFont typeface="Arial" panose="020B0604020202020204" pitchFamily="34" charset="0"/>
              <a:buChar char="•"/>
            </a:pPr>
            <a:r>
              <a:rPr lang="en-US" dirty="0"/>
              <a:t>Custom Loss Functions: Directly incorporate business costs into the model’s optimization process</a:t>
            </a:r>
          </a:p>
          <a:p>
            <a:pPr>
              <a:buFont typeface="Arial" panose="020B0604020202020204" pitchFamily="34" charset="0"/>
              <a:buChar char="•"/>
            </a:pPr>
            <a:r>
              <a:rPr lang="en-US" dirty="0"/>
              <a:t>These techniques ensure model behavior aligns with real-world operational and financial priorities</a:t>
            </a:r>
          </a:p>
        </p:txBody>
      </p:sp>
    </p:spTree>
    <p:extLst>
      <p:ext uri="{BB962C8B-B14F-4D97-AF65-F5344CB8AC3E}">
        <p14:creationId xmlns:p14="http://schemas.microsoft.com/office/powerpoint/2010/main" val="3234797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082" y="320724"/>
            <a:ext cx="7335835" cy="889098"/>
          </a:xfrm>
        </p:spPr>
        <p:txBody>
          <a:bodyPr>
            <a:normAutofit fontScale="90000"/>
          </a:bodyPr>
          <a:lstStyle/>
          <a:p>
            <a:r>
              <a:rPr lang="en-US" dirty="0"/>
              <a:t>Multi-Class Metric Aggregation</a:t>
            </a:r>
          </a:p>
        </p:txBody>
      </p:sp>
      <p:sp>
        <p:nvSpPr>
          <p:cNvPr id="4" name="Rectangle 3"/>
          <p:cNvSpPr/>
          <p:nvPr/>
        </p:nvSpPr>
        <p:spPr>
          <a:xfrm>
            <a:off x="551082" y="1420895"/>
            <a:ext cx="8107680" cy="3416320"/>
          </a:xfrm>
          <a:prstGeom prst="rect">
            <a:avLst/>
          </a:prstGeom>
        </p:spPr>
        <p:txBody>
          <a:bodyPr wrap="square">
            <a:spAutoFit/>
          </a:bodyPr>
          <a:lstStyle/>
          <a:p>
            <a:r>
              <a:rPr lang="en-US" dirty="0"/>
              <a:t/>
            </a:r>
            <a:br>
              <a:rPr lang="en-US" dirty="0"/>
            </a:br>
            <a:r>
              <a:rPr lang="en-US" i="1" dirty="0"/>
              <a:t>Macro, Micro, and Weighted Approaches</a:t>
            </a:r>
            <a:endParaRPr lang="en-US" dirty="0"/>
          </a:p>
          <a:p>
            <a:pPr>
              <a:buFont typeface="Arial" panose="020B0604020202020204" pitchFamily="34" charset="0"/>
              <a:buChar char="•"/>
            </a:pPr>
            <a:r>
              <a:rPr lang="en-US" dirty="0"/>
              <a:t>In multi-class problems, performance metrics must account for all classes and their distribution</a:t>
            </a:r>
          </a:p>
          <a:p>
            <a:pPr>
              <a:buFont typeface="Arial" panose="020B0604020202020204" pitchFamily="34" charset="0"/>
              <a:buChar char="•"/>
            </a:pPr>
            <a:r>
              <a:rPr lang="en-US" dirty="0"/>
              <a:t>Macro Averaging: Computes metric independently for each class, then averages; treats all classes equally</a:t>
            </a:r>
          </a:p>
          <a:p>
            <a:pPr>
              <a:buFont typeface="Arial" panose="020B0604020202020204" pitchFamily="34" charset="0"/>
              <a:buChar char="•"/>
            </a:pPr>
            <a:r>
              <a:rPr lang="en-US" dirty="0"/>
              <a:t>Micro Averaging: Aggregates contributions of all classes to compute a single metric; favors classes with more samples</a:t>
            </a:r>
          </a:p>
          <a:p>
            <a:pPr>
              <a:buFont typeface="Arial" panose="020B0604020202020204" pitchFamily="34" charset="0"/>
              <a:buChar char="•"/>
            </a:pPr>
            <a:r>
              <a:rPr lang="en-US" dirty="0"/>
              <a:t>Weighted Averaging: Averages metrics for each class, weighted by the number of instances; balances class importance and sample size</a:t>
            </a:r>
          </a:p>
          <a:p>
            <a:pPr>
              <a:buFont typeface="Arial" panose="020B0604020202020204" pitchFamily="34" charset="0"/>
              <a:buChar char="•"/>
            </a:pPr>
            <a:r>
              <a:rPr lang="en-US" dirty="0"/>
              <a:t>Choosing the right aggregation method depends on class distribution, business priorities, and whether all classes are equally important</a:t>
            </a:r>
          </a:p>
        </p:txBody>
      </p:sp>
    </p:spTree>
    <p:extLst>
      <p:ext uri="{BB962C8B-B14F-4D97-AF65-F5344CB8AC3E}">
        <p14:creationId xmlns:p14="http://schemas.microsoft.com/office/powerpoint/2010/main" val="1416396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96302" cy="1268984"/>
          </a:xfrm>
        </p:spPr>
        <p:txBody>
          <a:bodyPr>
            <a:normAutofit fontScale="90000"/>
          </a:bodyPr>
          <a:lstStyle/>
          <a:p>
            <a:r>
              <a:rPr lang="en-US" dirty="0">
                <a:solidFill>
                  <a:srgbClr val="1E3A8A"/>
                </a:solidFill>
                <a:latin typeface="Georgia" pitchFamily="34" charset="0"/>
                <a:ea typeface="Georgia" pitchFamily="34" charset="-122"/>
                <a:cs typeface="Georgia" pitchFamily="34" charset="-120"/>
              </a:rPr>
              <a:t>Multi-Class Metric Aggregation</a:t>
            </a:r>
            <a:r>
              <a:rPr lang="en-US" dirty="0"/>
              <a:t/>
            </a:r>
            <a:br>
              <a:rPr lang="en-US" dirty="0"/>
            </a:br>
            <a:r>
              <a:rPr lang="en-US" i="1" dirty="0">
                <a:solidFill>
                  <a:srgbClr val="64748B"/>
                </a:solidFill>
              </a:rPr>
              <a:t>Macro vs Micro vs Weighted</a:t>
            </a: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619" y="2222695"/>
            <a:ext cx="8385104" cy="1551079"/>
          </a:xfrm>
        </p:spPr>
      </p:pic>
      <p:sp>
        <p:nvSpPr>
          <p:cNvPr id="5" name="Rectangle 4"/>
          <p:cNvSpPr/>
          <p:nvPr/>
        </p:nvSpPr>
        <p:spPr>
          <a:xfrm>
            <a:off x="1838179" y="4153603"/>
            <a:ext cx="6096000" cy="1200329"/>
          </a:xfrm>
          <a:prstGeom prst="rect">
            <a:avLst/>
          </a:prstGeom>
        </p:spPr>
        <p:txBody>
          <a:bodyPr>
            <a:spAutoFit/>
          </a:bodyPr>
          <a:lstStyle/>
          <a:p>
            <a:r>
              <a:rPr lang="en-US" b="1" dirty="0">
                <a:solidFill>
                  <a:srgbClr val="1E293B"/>
                </a:solidFill>
              </a:rPr>
              <a:t>Choose Based On:</a:t>
            </a:r>
            <a:endParaRPr lang="en-US" dirty="0"/>
          </a:p>
          <a:p>
            <a:r>
              <a:rPr lang="en-US" dirty="0">
                <a:solidFill>
                  <a:srgbClr val="1E293B"/>
                </a:solidFill>
              </a:rPr>
              <a:t>• Class distribution in your data</a:t>
            </a:r>
            <a:endParaRPr lang="en-US" dirty="0"/>
          </a:p>
          <a:p>
            <a:r>
              <a:rPr lang="en-US" dirty="0">
                <a:solidFill>
                  <a:srgbClr val="1E293B"/>
                </a:solidFill>
              </a:rPr>
              <a:t>• Business importance of each class</a:t>
            </a:r>
            <a:endParaRPr lang="en-US" dirty="0"/>
          </a:p>
          <a:p>
            <a:r>
              <a:rPr lang="en-US" dirty="0">
                <a:solidFill>
                  <a:srgbClr val="1E293B"/>
                </a:solidFill>
              </a:rPr>
              <a:t>• Whether all classes matter equally</a:t>
            </a:r>
            <a:endParaRPr lang="en-US" dirty="0"/>
          </a:p>
        </p:txBody>
      </p:sp>
    </p:spTree>
    <p:extLst>
      <p:ext uri="{BB962C8B-B14F-4D97-AF65-F5344CB8AC3E}">
        <p14:creationId xmlns:p14="http://schemas.microsoft.com/office/powerpoint/2010/main" val="3611695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082" y="334792"/>
            <a:ext cx="9352573"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Matthews Correlation Coefficient</a:t>
            </a:r>
            <a:r>
              <a:rPr lang="en-US" dirty="0">
                <a:solidFill>
                  <a:schemeClr val="tx1">
                    <a:lumMod val="95000"/>
                    <a:lumOff val="5000"/>
                  </a:schemeClr>
                </a:solidFill>
              </a:rPr>
              <a:t/>
            </a:r>
            <a:br>
              <a:rPr lang="en-US" dirty="0">
                <a:solidFill>
                  <a:schemeClr val="tx1">
                    <a:lumMod val="95000"/>
                    <a:lumOff val="5000"/>
                  </a:schemeClr>
                </a:solidFill>
              </a:rPr>
            </a:br>
            <a:r>
              <a:rPr lang="en-US" i="1" dirty="0">
                <a:solidFill>
                  <a:schemeClr val="tx1">
                    <a:lumMod val="95000"/>
                    <a:lumOff val="5000"/>
                  </a:schemeClr>
                </a:solidFill>
              </a:rPr>
              <a:t>Balanced Metric for Imbalanced Data</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grpSp>
        <p:nvGrpSpPr>
          <p:cNvPr id="4" name="Group 3"/>
          <p:cNvGrpSpPr/>
          <p:nvPr/>
        </p:nvGrpSpPr>
        <p:grpSpPr>
          <a:xfrm>
            <a:off x="4304714" y="3743627"/>
            <a:ext cx="7315200" cy="640080"/>
            <a:chOff x="1195754" y="2039874"/>
            <a:chExt cx="7315200" cy="640080"/>
          </a:xfrm>
        </p:grpSpPr>
        <p:sp>
          <p:nvSpPr>
            <p:cNvPr id="5" name="Shape 2"/>
            <p:cNvSpPr/>
            <p:nvPr/>
          </p:nvSpPr>
          <p:spPr>
            <a:xfrm>
              <a:off x="1195754" y="2039874"/>
              <a:ext cx="7315200" cy="640080"/>
            </a:xfrm>
            <a:prstGeom prst="rect">
              <a:avLst/>
            </a:prstGeom>
            <a:solidFill>
              <a:srgbClr val="F8FAFC"/>
            </a:solidFill>
            <a:ln w="25400">
              <a:solidFill>
                <a:srgbClr val="1E3A8A"/>
              </a:solidFill>
              <a:prstDash val="solid"/>
            </a:ln>
          </p:spPr>
        </p:sp>
        <p:sp>
          <p:nvSpPr>
            <p:cNvPr id="6" name="Text 3"/>
            <p:cNvSpPr/>
            <p:nvPr/>
          </p:nvSpPr>
          <p:spPr>
            <a:xfrm>
              <a:off x="1195754" y="2177034"/>
              <a:ext cx="7315200" cy="365760"/>
            </a:xfrm>
            <a:prstGeom prst="rect">
              <a:avLst/>
            </a:prstGeom>
            <a:noFill/>
            <a:ln/>
          </p:spPr>
          <p:txBody>
            <a:bodyPr wrap="square" rtlCol="0" anchor="ctr"/>
            <a:lstStyle/>
            <a:p>
              <a:pPr marL="0" indent="0" algn="ctr">
                <a:buNone/>
              </a:pPr>
              <a:r>
                <a:rPr lang="en-US" sz="1200" b="1" dirty="0">
                  <a:solidFill>
                    <a:srgbClr val="000000"/>
                  </a:solidFill>
                  <a:latin typeface="Courier New" pitchFamily="34" charset="0"/>
                  <a:ea typeface="Courier New" pitchFamily="34" charset="-122"/>
                  <a:cs typeface="Courier New" pitchFamily="34" charset="-120"/>
                </a:rPr>
                <a:t>MCC = (TP×TN - FP×FN) / √[(TP+FP)(TP+FN)(TN+FP)(TN+FN)]</a:t>
              </a:r>
              <a:endParaRPr lang="en-US" sz="1200" dirty="0"/>
            </a:p>
          </p:txBody>
        </p:sp>
      </p:grpSp>
      <p:sp>
        <p:nvSpPr>
          <p:cNvPr id="7" name="Rectangle 6"/>
          <p:cNvSpPr/>
          <p:nvPr/>
        </p:nvSpPr>
        <p:spPr>
          <a:xfrm>
            <a:off x="551082" y="2814047"/>
            <a:ext cx="5566117" cy="3139321"/>
          </a:xfrm>
          <a:prstGeom prst="rect">
            <a:avLst/>
          </a:prstGeom>
        </p:spPr>
        <p:txBody>
          <a:bodyPr wrap="square">
            <a:spAutoFit/>
          </a:bodyPr>
          <a:lstStyle/>
          <a:p>
            <a:r>
              <a:rPr lang="en-US" b="1" dirty="0">
                <a:solidFill>
                  <a:srgbClr val="1E293B"/>
                </a:solidFill>
              </a:rPr>
              <a:t>Range: -1.0 to +1.0</a:t>
            </a:r>
            <a:endParaRPr lang="en-US" dirty="0"/>
          </a:p>
          <a:p>
            <a:r>
              <a:rPr lang="en-US" dirty="0">
                <a:solidFill>
                  <a:srgbClr val="1E293B"/>
                </a:solidFill>
              </a:rPr>
              <a:t> </a:t>
            </a:r>
            <a:endParaRPr lang="en-US" dirty="0"/>
          </a:p>
          <a:p>
            <a:r>
              <a:rPr lang="en-US" b="1" dirty="0">
                <a:solidFill>
                  <a:srgbClr val="1E293B"/>
                </a:solidFill>
              </a:rPr>
              <a:t>Interpretation:</a:t>
            </a:r>
            <a:endParaRPr lang="en-US" dirty="0"/>
          </a:p>
          <a:p>
            <a:r>
              <a:rPr lang="en-US" dirty="0">
                <a:solidFill>
                  <a:srgbClr val="1E293B"/>
                </a:solidFill>
              </a:rPr>
              <a:t>• +1: Perfect prediction</a:t>
            </a:r>
            <a:endParaRPr lang="en-US" dirty="0"/>
          </a:p>
          <a:p>
            <a:r>
              <a:rPr lang="en-US" dirty="0">
                <a:solidFill>
                  <a:srgbClr val="1E293B"/>
                </a:solidFill>
              </a:rPr>
              <a:t>•  0: No better than random</a:t>
            </a:r>
            <a:endParaRPr lang="en-US" dirty="0"/>
          </a:p>
          <a:p>
            <a:r>
              <a:rPr lang="en-US" dirty="0">
                <a:solidFill>
                  <a:srgbClr val="1E293B"/>
                </a:solidFill>
              </a:rPr>
              <a:t>• -1: Total disagreement</a:t>
            </a:r>
            <a:endParaRPr lang="en-US" dirty="0"/>
          </a:p>
          <a:p>
            <a:r>
              <a:rPr lang="en-US" dirty="0">
                <a:solidFill>
                  <a:srgbClr val="1E293B"/>
                </a:solidFill>
              </a:rPr>
              <a:t> </a:t>
            </a:r>
            <a:endParaRPr lang="en-US" dirty="0"/>
          </a:p>
          <a:p>
            <a:r>
              <a:rPr lang="en-US" b="1" dirty="0">
                <a:solidFill>
                  <a:srgbClr val="1E293B"/>
                </a:solidFill>
              </a:rPr>
              <a:t>Advantages:</a:t>
            </a:r>
            <a:endParaRPr lang="en-US" dirty="0"/>
          </a:p>
          <a:p>
            <a:r>
              <a:rPr lang="en-US" dirty="0">
                <a:solidFill>
                  <a:srgbClr val="1E293B"/>
                </a:solidFill>
              </a:rPr>
              <a:t>• Works well with imbalanced classes</a:t>
            </a:r>
            <a:endParaRPr lang="en-US" dirty="0"/>
          </a:p>
          <a:p>
            <a:r>
              <a:rPr lang="en-US" dirty="0">
                <a:solidFill>
                  <a:srgbClr val="1E293B"/>
                </a:solidFill>
              </a:rPr>
              <a:t>• Takes all confusion matrix elements into account</a:t>
            </a:r>
            <a:endParaRPr lang="en-US" dirty="0"/>
          </a:p>
          <a:p>
            <a:r>
              <a:rPr lang="en-US" dirty="0">
                <a:solidFill>
                  <a:srgbClr val="1E293B"/>
                </a:solidFill>
              </a:rPr>
              <a:t>• Symmetric measure</a:t>
            </a:r>
            <a:endParaRPr lang="en-US" dirty="0"/>
          </a:p>
        </p:txBody>
      </p:sp>
      <p:sp>
        <p:nvSpPr>
          <p:cNvPr id="3" name="Rectangle 2"/>
          <p:cNvSpPr/>
          <p:nvPr/>
        </p:nvSpPr>
        <p:spPr>
          <a:xfrm>
            <a:off x="579218" y="1676189"/>
            <a:ext cx="9838007" cy="646331"/>
          </a:xfrm>
          <a:prstGeom prst="rect">
            <a:avLst/>
          </a:prstGeom>
        </p:spPr>
        <p:txBody>
          <a:bodyPr wrap="square">
            <a:spAutoFit/>
          </a:bodyPr>
          <a:lstStyle/>
          <a:p>
            <a:r>
              <a:rPr lang="en-US" dirty="0"/>
              <a:t>MCC evaluates the quality of binary classifications, taking into account true positives, true negatives, false positives, and false negatives</a:t>
            </a:r>
          </a:p>
        </p:txBody>
      </p:sp>
    </p:spTree>
    <p:extLst>
      <p:ext uri="{BB962C8B-B14F-4D97-AF65-F5344CB8AC3E}">
        <p14:creationId xmlns:p14="http://schemas.microsoft.com/office/powerpoint/2010/main" val="269026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488" y="278521"/>
            <a:ext cx="8972745"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Cohen's Kappa Statistic</a:t>
            </a:r>
            <a:r>
              <a:rPr lang="en-US" dirty="0">
                <a:solidFill>
                  <a:schemeClr val="tx1">
                    <a:lumMod val="95000"/>
                    <a:lumOff val="5000"/>
                  </a:schemeClr>
                </a:solidFill>
              </a:rPr>
              <a:t/>
            </a:r>
            <a:br>
              <a:rPr lang="en-US" dirty="0">
                <a:solidFill>
                  <a:schemeClr val="tx1">
                    <a:lumMod val="95000"/>
                    <a:lumOff val="5000"/>
                  </a:schemeClr>
                </a:solidFill>
              </a:rPr>
            </a:br>
            <a:r>
              <a:rPr lang="en-US" i="1" dirty="0">
                <a:solidFill>
                  <a:schemeClr val="tx1">
                    <a:lumMod val="95000"/>
                    <a:lumOff val="5000"/>
                  </a:schemeClr>
                </a:solidFill>
              </a:rPr>
              <a:t>Agreement Beyond Chance</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570" y="2446446"/>
            <a:ext cx="5517358" cy="2243522"/>
          </a:xfrm>
        </p:spPr>
      </p:pic>
      <p:sp>
        <p:nvSpPr>
          <p:cNvPr id="3" name="Rectangle 2"/>
          <p:cNvSpPr/>
          <p:nvPr/>
        </p:nvSpPr>
        <p:spPr>
          <a:xfrm>
            <a:off x="771570" y="1501725"/>
            <a:ext cx="6096000" cy="646331"/>
          </a:xfrm>
          <a:prstGeom prst="rect">
            <a:avLst/>
          </a:prstGeom>
        </p:spPr>
        <p:txBody>
          <a:bodyPr>
            <a:spAutoFit/>
          </a:bodyPr>
          <a:lstStyle/>
          <a:p>
            <a:r>
              <a:rPr lang="en-US" dirty="0"/>
              <a:t>Quantifies how much better a classifier performs compared to random chance</a:t>
            </a:r>
          </a:p>
        </p:txBody>
      </p:sp>
    </p:spTree>
    <p:extLst>
      <p:ext uri="{BB962C8B-B14F-4D97-AF65-F5344CB8AC3E}">
        <p14:creationId xmlns:p14="http://schemas.microsoft.com/office/powerpoint/2010/main" val="144049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531739"/>
            <a:ext cx="8958678" cy="734353"/>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Case Study: Medical Diagnosis</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653579"/>
            <a:ext cx="8958678" cy="3601212"/>
          </a:xfrm>
        </p:spPr>
        <p:txBody>
          <a:bodyPr numCol="2">
            <a:noAutofit/>
          </a:bodyPr>
          <a:lstStyle/>
          <a:p>
            <a:pPr marL="0" indent="0">
              <a:buNone/>
            </a:pPr>
            <a:r>
              <a:rPr lang="en-US" sz="1600" b="1" dirty="0">
                <a:solidFill>
                  <a:srgbClr val="1E293B"/>
                </a:solidFill>
                <a:latin typeface="Arial" panose="020B0604020202020204" pitchFamily="34" charset="0"/>
                <a:cs typeface="Arial" panose="020B0604020202020204" pitchFamily="34" charset="0"/>
              </a:rPr>
              <a:t>Scenario: Cancer Screening Test</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E293B"/>
                </a:solidFill>
                <a:latin typeface="Arial" panose="020B0604020202020204" pitchFamily="34" charset="0"/>
                <a:cs typeface="Arial" panose="020B0604020202020204" pitchFamily="34" charset="0"/>
              </a:rPr>
              <a:t>Priority: </a:t>
            </a:r>
            <a:r>
              <a:rPr lang="en-US" sz="1600" dirty="0">
                <a:solidFill>
                  <a:srgbClr val="DC2626"/>
                </a:solidFill>
                <a:latin typeface="Arial" panose="020B0604020202020204" pitchFamily="34" charset="0"/>
                <a:cs typeface="Arial" panose="020B0604020202020204" pitchFamily="34" charset="0"/>
              </a:rPr>
              <a:t>Maximize Recall (catch all cases)</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E293B"/>
                </a:solidFill>
                <a:latin typeface="Arial" panose="020B0604020202020204" pitchFamily="34" charset="0"/>
                <a:cs typeface="Arial" panose="020B0604020202020204" pitchFamily="34" charset="0"/>
              </a:rPr>
              <a:t>Why:</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FN (missing cancer) = life-threatening</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FP (false alarm) = additional tests, manageable</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E293B"/>
                </a:solidFill>
                <a:latin typeface="Arial" panose="020B0604020202020204" pitchFamily="34" charset="0"/>
                <a:cs typeface="Arial" panose="020B0604020202020204" pitchFamily="34" charset="0"/>
              </a:rPr>
              <a:t>Metrics to Track:</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Primary: Recall (must be ≥ 95%)</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Secondary: Precision (optimize within recall constraint)</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Monitor: F2-score (recall-weighted)</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E293B"/>
                </a:solidFill>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E293B"/>
                </a:solidFill>
                <a:latin typeface="Arial" panose="020B0604020202020204" pitchFamily="34" charset="0"/>
                <a:cs typeface="Arial" panose="020B0604020202020204" pitchFamily="34" charset="0"/>
              </a:rPr>
              <a:t>Threshold Decision:</a:t>
            </a:r>
            <a:endParaRPr lang="en-US" sz="1600" dirty="0">
              <a:latin typeface="Arial" panose="020B0604020202020204" pitchFamily="34" charset="0"/>
              <a:cs typeface="Arial" panose="020B0604020202020204" pitchFamily="34" charset="0"/>
            </a:endParaRPr>
          </a:p>
          <a:p>
            <a:pPr marL="0" indent="0">
              <a:buNone/>
            </a:pPr>
            <a:r>
              <a:rPr lang="en-US" sz="1600" i="1" dirty="0">
                <a:solidFill>
                  <a:srgbClr val="1E293B"/>
                </a:solidFill>
                <a:latin typeface="Arial" panose="020B0604020202020204" pitchFamily="34" charset="0"/>
                <a:cs typeface="Arial" panose="020B0604020202020204" pitchFamily="34" charset="0"/>
              </a:rPr>
              <a:t>Lower threshold to 0.3 → Recall 98%, Precision 65%</a:t>
            </a: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8679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60035"/>
            <a:ext cx="9014948"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Case Study: Email Spam Filter</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603717"/>
            <a:ext cx="9014948" cy="4157511"/>
          </a:xfrm>
        </p:spPr>
        <p:txBody>
          <a:bodyPr numCol="2">
            <a:noAutofit/>
          </a:bodyPr>
          <a:lstStyle/>
          <a:p>
            <a:pPr marL="0" indent="0">
              <a:buNone/>
            </a:pPr>
            <a:r>
              <a:rPr lang="en-US" sz="1400" b="1" dirty="0">
                <a:solidFill>
                  <a:srgbClr val="1E293B"/>
                </a:solidFill>
                <a:latin typeface="Arial" panose="020B0604020202020204" pitchFamily="34" charset="0"/>
                <a:cs typeface="Arial" panose="020B0604020202020204" pitchFamily="34" charset="0"/>
              </a:rPr>
              <a:t>Scenario: Email Classification System</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0" indent="0">
              <a:buNone/>
            </a:pPr>
            <a:r>
              <a:rPr lang="en-US" sz="1400" b="1" dirty="0">
                <a:solidFill>
                  <a:srgbClr val="1E293B"/>
                </a:solidFill>
                <a:latin typeface="Arial" panose="020B0604020202020204" pitchFamily="34" charset="0"/>
                <a:cs typeface="Arial" panose="020B0604020202020204" pitchFamily="34" charset="0"/>
              </a:rPr>
              <a:t>Priority: </a:t>
            </a:r>
            <a:r>
              <a:rPr lang="en-US" sz="1400" dirty="0">
                <a:solidFill>
                  <a:srgbClr val="DC2626"/>
                </a:solidFill>
                <a:latin typeface="Arial" panose="020B0604020202020204" pitchFamily="34" charset="0"/>
                <a:cs typeface="Arial" panose="020B0604020202020204" pitchFamily="34" charset="0"/>
              </a:rPr>
              <a:t>Maximize Precision (avoid blocking important emails)</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0" indent="0">
              <a:buNone/>
            </a:pPr>
            <a:r>
              <a:rPr lang="en-US" sz="1400" b="1" dirty="0">
                <a:solidFill>
                  <a:srgbClr val="1E293B"/>
                </a:solidFill>
                <a:latin typeface="Arial" panose="020B0604020202020204" pitchFamily="34" charset="0"/>
                <a:cs typeface="Arial" panose="020B0604020202020204" pitchFamily="34" charset="0"/>
              </a:rPr>
              <a:t>Why:</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FP (blocking important email) = critical business impact</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FN (letting spam through) = minor annoyance</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0" indent="0">
              <a:buNone/>
            </a:pPr>
            <a:r>
              <a:rPr lang="en-US" sz="1400" b="1" dirty="0">
                <a:solidFill>
                  <a:srgbClr val="1E293B"/>
                </a:solidFill>
                <a:latin typeface="Arial" panose="020B0604020202020204" pitchFamily="34" charset="0"/>
                <a:cs typeface="Arial" panose="020B0604020202020204" pitchFamily="34" charset="0"/>
              </a:rPr>
              <a:t>Metrics to Track:</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Primary: Precision (must be ≥ </a:t>
            </a:r>
            <a:r>
              <a:rPr lang="en-US" sz="1400" dirty="0" smtClean="0">
                <a:solidFill>
                  <a:srgbClr val="1E293B"/>
                </a:solidFill>
                <a:latin typeface="Arial" panose="020B0604020202020204" pitchFamily="34" charset="0"/>
                <a:cs typeface="Arial" panose="020B0604020202020204" pitchFamily="34" charset="0"/>
              </a:rPr>
              <a:t>95%)</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Secondary: Recall (optimize within precision constraint)</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Monitor: F0.5-score (precision-weighted)</a:t>
            </a:r>
            <a:endParaRPr lang="en-US" sz="1400" dirty="0">
              <a:latin typeface="Arial" panose="020B0604020202020204" pitchFamily="34" charset="0"/>
              <a:cs typeface="Arial" panose="020B0604020202020204" pitchFamily="34" charset="0"/>
            </a:endParaRPr>
          </a:p>
          <a:p>
            <a:pPr marL="0" indent="0">
              <a:buNone/>
            </a:pPr>
            <a:r>
              <a:rPr lang="en-US" sz="1400" dirty="0">
                <a:solidFill>
                  <a:srgbClr val="1E293B"/>
                </a:solidFill>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0" indent="0">
              <a:buNone/>
            </a:pPr>
            <a:r>
              <a:rPr lang="en-US" sz="1400" b="1" dirty="0">
                <a:solidFill>
                  <a:srgbClr val="1E293B"/>
                </a:solidFill>
                <a:latin typeface="Arial" panose="020B0604020202020204" pitchFamily="34" charset="0"/>
                <a:cs typeface="Arial" panose="020B0604020202020204" pitchFamily="34" charset="0"/>
              </a:rPr>
              <a:t>Threshold Decision:</a:t>
            </a:r>
            <a:endParaRPr lang="en-US" sz="1400" dirty="0">
              <a:latin typeface="Arial" panose="020B0604020202020204" pitchFamily="34" charset="0"/>
              <a:cs typeface="Arial" panose="020B0604020202020204" pitchFamily="34" charset="0"/>
            </a:endParaRPr>
          </a:p>
          <a:p>
            <a:pPr marL="0" indent="0">
              <a:buNone/>
            </a:pPr>
            <a:r>
              <a:rPr lang="en-US" sz="1400" i="1" dirty="0">
                <a:solidFill>
                  <a:srgbClr val="1E293B"/>
                </a:solidFill>
                <a:latin typeface="Arial" panose="020B0604020202020204" pitchFamily="34" charset="0"/>
                <a:cs typeface="Arial" panose="020B0604020202020204" pitchFamily="34" charset="0"/>
              </a:rPr>
              <a:t>Raise threshold to 0.85 → Precision 99.5%, Recall 75%</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1995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00188"/>
            <a:ext cx="9422912"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Common Mistakes to Avoid</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569172"/>
            <a:ext cx="10492056" cy="4381461"/>
          </a:xfrm>
        </p:spPr>
        <p:txBody>
          <a:bodyPr numCol="2">
            <a:noAutofit/>
          </a:bodyPr>
          <a:lstStyle/>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1. Using Accuracy on Imbalanced Data</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Always check class distribution first</a:t>
            </a: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a:t>
            </a:r>
          </a:p>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2. Optimizing Threshold on Test Set</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Use validation set, then apply to test set</a:t>
            </a: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a:t>
            </a:r>
          </a:p>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3. Ignoring Business Costs</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Always align metrics with business objectives</a:t>
            </a: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a:t>
            </a:r>
          </a:p>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4. Not Calibrating Probabilities</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Calibrate before deployment if using probabilities</a:t>
            </a: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a:t>
            </a:r>
          </a:p>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5. Choosing Metrics Before Understanding Problem</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Understand business context first, then select metrics</a:t>
            </a: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a:t>
            </a:r>
          </a:p>
          <a:p>
            <a:pPr marL="0" indent="0">
              <a:buNone/>
            </a:pPr>
            <a:r>
              <a:rPr lang="en-US" sz="1400" b="1" dirty="0">
                <a:solidFill>
                  <a:schemeClr val="tx1">
                    <a:lumMod val="95000"/>
                    <a:lumOff val="5000"/>
                  </a:schemeClr>
                </a:solidFill>
                <a:latin typeface="Arial" panose="020B0604020202020204" pitchFamily="34" charset="0"/>
                <a:cs typeface="Arial" panose="020B0604020202020204" pitchFamily="34" charset="0"/>
              </a:rPr>
              <a:t>6. Relying on Single Metric</a:t>
            </a:r>
            <a:endParaRPr lang="en-US" sz="14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r>
              <a:rPr lang="en-US" sz="1400" dirty="0">
                <a:solidFill>
                  <a:schemeClr val="tx1">
                    <a:lumMod val="95000"/>
                    <a:lumOff val="5000"/>
                  </a:schemeClr>
                </a:solidFill>
                <a:latin typeface="Arial" panose="020B0604020202020204" pitchFamily="34" charset="0"/>
                <a:cs typeface="Arial" panose="020B0604020202020204" pitchFamily="34" charset="0"/>
              </a:rPr>
              <a:t>   → Report multiple metrics for comprehensive view</a:t>
            </a:r>
          </a:p>
          <a:p>
            <a:endParaRPr lang="en-US" sz="1400"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5651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30" y="361421"/>
            <a:ext cx="9014948" cy="714756"/>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Metric Selection Flowchart</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grpSp>
        <p:nvGrpSpPr>
          <p:cNvPr id="3" name="Group 2"/>
          <p:cNvGrpSpPr/>
          <p:nvPr/>
        </p:nvGrpSpPr>
        <p:grpSpPr>
          <a:xfrm>
            <a:off x="1350498" y="1441937"/>
            <a:ext cx="8229600" cy="3347487"/>
            <a:chOff x="1350498" y="1441937"/>
            <a:chExt cx="8229600" cy="3347487"/>
          </a:xfrm>
        </p:grpSpPr>
        <p:sp>
          <p:nvSpPr>
            <p:cNvPr id="4" name="Shape 1"/>
            <p:cNvSpPr/>
            <p:nvPr/>
          </p:nvSpPr>
          <p:spPr>
            <a:xfrm>
              <a:off x="1828800" y="1441937"/>
              <a:ext cx="5486400" cy="548640"/>
            </a:xfrm>
            <a:prstGeom prst="rect">
              <a:avLst/>
            </a:prstGeom>
            <a:solidFill>
              <a:srgbClr val="1E3A8A"/>
            </a:solidFill>
            <a:ln w="12700">
              <a:solidFill>
                <a:srgbClr val="1E3A8A"/>
              </a:solidFill>
              <a:prstDash val="solid"/>
            </a:ln>
          </p:spPr>
        </p:sp>
        <p:sp>
          <p:nvSpPr>
            <p:cNvPr id="5" name="Text 2"/>
            <p:cNvSpPr/>
            <p:nvPr/>
          </p:nvSpPr>
          <p:spPr>
            <a:xfrm>
              <a:off x="1828800" y="1508760"/>
              <a:ext cx="5486400" cy="274320"/>
            </a:xfrm>
            <a:prstGeom prst="rect">
              <a:avLst/>
            </a:prstGeom>
            <a:noFill/>
            <a:ln/>
          </p:spPr>
          <p:txBody>
            <a:bodyPr wrap="square" rtlCol="0" anchor="ctr"/>
            <a:lstStyle/>
            <a:p>
              <a:pPr marL="0" indent="0" algn="ctr">
                <a:buNone/>
              </a:pPr>
              <a:r>
                <a:rPr lang="en-US" sz="1400" b="1" dirty="0">
                  <a:solidFill>
                    <a:srgbClr val="FFFFFF"/>
                  </a:solidFill>
                </a:rPr>
                <a:t>Balanced Classes?</a:t>
              </a:r>
              <a:endParaRPr lang="en-US" sz="1400" dirty="0"/>
            </a:p>
          </p:txBody>
        </p:sp>
        <p:sp>
          <p:nvSpPr>
            <p:cNvPr id="6" name="Text 3"/>
            <p:cNvSpPr/>
            <p:nvPr/>
          </p:nvSpPr>
          <p:spPr>
            <a:xfrm>
              <a:off x="1807698" y="2503424"/>
              <a:ext cx="1828800" cy="274320"/>
            </a:xfrm>
            <a:prstGeom prst="rect">
              <a:avLst/>
            </a:prstGeom>
            <a:noFill/>
            <a:ln/>
          </p:spPr>
          <p:txBody>
            <a:bodyPr wrap="square" rtlCol="0" anchor="ctr"/>
            <a:lstStyle/>
            <a:p>
              <a:pPr marL="0" indent="0">
                <a:buNone/>
              </a:pPr>
              <a:r>
                <a:rPr lang="en-US" sz="1300" b="1" dirty="0">
                  <a:solidFill>
                    <a:srgbClr val="059669"/>
                  </a:solidFill>
                </a:rPr>
                <a:t>YES</a:t>
              </a:r>
              <a:endParaRPr lang="en-US" sz="1300" dirty="0"/>
            </a:p>
          </p:txBody>
        </p:sp>
        <p:sp>
          <p:nvSpPr>
            <p:cNvPr id="7" name="Shape 4"/>
            <p:cNvSpPr/>
            <p:nvPr/>
          </p:nvSpPr>
          <p:spPr>
            <a:xfrm>
              <a:off x="1350498" y="2869184"/>
              <a:ext cx="2743200" cy="457200"/>
            </a:xfrm>
            <a:prstGeom prst="rect">
              <a:avLst/>
            </a:prstGeom>
            <a:solidFill>
              <a:srgbClr val="ECFDF5"/>
            </a:solidFill>
            <a:ln w="25400">
              <a:solidFill>
                <a:srgbClr val="059669"/>
              </a:solidFill>
              <a:prstDash val="solid"/>
            </a:ln>
          </p:spPr>
        </p:sp>
        <p:sp>
          <p:nvSpPr>
            <p:cNvPr id="8" name="Text 5"/>
            <p:cNvSpPr/>
            <p:nvPr/>
          </p:nvSpPr>
          <p:spPr>
            <a:xfrm>
              <a:off x="1350498" y="2960624"/>
              <a:ext cx="2743200" cy="274320"/>
            </a:xfrm>
            <a:prstGeom prst="rect">
              <a:avLst/>
            </a:prstGeom>
            <a:noFill/>
            <a:ln/>
          </p:spPr>
          <p:txBody>
            <a:bodyPr wrap="square" rtlCol="0" anchor="ctr"/>
            <a:lstStyle/>
            <a:p>
              <a:pPr marL="0" indent="0" algn="ctr">
                <a:buNone/>
              </a:pPr>
              <a:r>
                <a:rPr lang="en-US" sz="1200" dirty="0">
                  <a:solidFill>
                    <a:srgbClr val="000000"/>
                  </a:solidFill>
                </a:rPr>
                <a:t>Use: Accuracy, F1</a:t>
              </a:r>
              <a:endParaRPr lang="en-US" sz="1200" dirty="0"/>
            </a:p>
          </p:txBody>
        </p:sp>
        <p:sp>
          <p:nvSpPr>
            <p:cNvPr id="9" name="Text 6"/>
            <p:cNvSpPr/>
            <p:nvPr/>
          </p:nvSpPr>
          <p:spPr>
            <a:xfrm>
              <a:off x="7294098" y="2503424"/>
              <a:ext cx="1828800" cy="274320"/>
            </a:xfrm>
            <a:prstGeom prst="rect">
              <a:avLst/>
            </a:prstGeom>
            <a:noFill/>
            <a:ln/>
          </p:spPr>
          <p:txBody>
            <a:bodyPr wrap="square" rtlCol="0" anchor="ctr"/>
            <a:lstStyle/>
            <a:p>
              <a:pPr marL="0" indent="0">
                <a:buNone/>
              </a:pPr>
              <a:r>
                <a:rPr lang="en-US" sz="1300" b="1" dirty="0">
                  <a:solidFill>
                    <a:srgbClr val="DC2626"/>
                  </a:solidFill>
                </a:rPr>
                <a:t>NO</a:t>
              </a:r>
              <a:endParaRPr lang="en-US" sz="1300" dirty="0"/>
            </a:p>
          </p:txBody>
        </p:sp>
        <p:sp>
          <p:nvSpPr>
            <p:cNvPr id="10" name="Shape 7"/>
            <p:cNvSpPr/>
            <p:nvPr/>
          </p:nvSpPr>
          <p:spPr>
            <a:xfrm>
              <a:off x="5922498" y="2869184"/>
              <a:ext cx="3657600" cy="457200"/>
            </a:xfrm>
            <a:prstGeom prst="rect">
              <a:avLst/>
            </a:prstGeom>
            <a:solidFill>
              <a:srgbClr val="FEF2F2"/>
            </a:solidFill>
            <a:ln w="25400">
              <a:solidFill>
                <a:srgbClr val="DC2626"/>
              </a:solidFill>
              <a:prstDash val="solid"/>
            </a:ln>
          </p:spPr>
        </p:sp>
        <p:sp>
          <p:nvSpPr>
            <p:cNvPr id="11" name="Text 8"/>
            <p:cNvSpPr/>
            <p:nvPr/>
          </p:nvSpPr>
          <p:spPr>
            <a:xfrm>
              <a:off x="5922498" y="2960624"/>
              <a:ext cx="3657600" cy="274320"/>
            </a:xfrm>
            <a:prstGeom prst="rect">
              <a:avLst/>
            </a:prstGeom>
            <a:noFill/>
            <a:ln/>
          </p:spPr>
          <p:txBody>
            <a:bodyPr wrap="square" rtlCol="0" anchor="ctr"/>
            <a:lstStyle/>
            <a:p>
              <a:pPr marL="0" indent="0" algn="ctr">
                <a:buNone/>
              </a:pPr>
              <a:r>
                <a:rPr lang="en-US" sz="1200" dirty="0">
                  <a:solidFill>
                    <a:srgbClr val="000000"/>
                  </a:solidFill>
                </a:rPr>
                <a:t>Which Error Costlier?</a:t>
              </a:r>
              <a:endParaRPr lang="en-US" sz="1200" dirty="0"/>
            </a:p>
          </p:txBody>
        </p:sp>
        <p:sp>
          <p:nvSpPr>
            <p:cNvPr id="12" name="Shape 9"/>
            <p:cNvSpPr/>
            <p:nvPr/>
          </p:nvSpPr>
          <p:spPr>
            <a:xfrm>
              <a:off x="5465298" y="3600704"/>
              <a:ext cx="1828800" cy="365760"/>
            </a:xfrm>
            <a:prstGeom prst="rect">
              <a:avLst/>
            </a:prstGeom>
            <a:solidFill>
              <a:srgbClr val="F8FAFC"/>
            </a:solidFill>
            <a:ln w="12700">
              <a:solidFill>
                <a:srgbClr val="1E293B"/>
              </a:solidFill>
              <a:prstDash val="solid"/>
            </a:ln>
          </p:spPr>
        </p:sp>
        <p:sp>
          <p:nvSpPr>
            <p:cNvPr id="13" name="Text 10"/>
            <p:cNvSpPr/>
            <p:nvPr/>
          </p:nvSpPr>
          <p:spPr>
            <a:xfrm>
              <a:off x="5465298" y="3692144"/>
              <a:ext cx="1828800" cy="182880"/>
            </a:xfrm>
            <a:prstGeom prst="rect">
              <a:avLst/>
            </a:prstGeom>
            <a:noFill/>
            <a:ln/>
          </p:spPr>
          <p:txBody>
            <a:bodyPr wrap="square" rtlCol="0" anchor="ctr"/>
            <a:lstStyle/>
            <a:p>
              <a:pPr marL="0" indent="0" algn="ctr">
                <a:buNone/>
              </a:pPr>
              <a:r>
                <a:rPr lang="en-US" sz="1100" dirty="0">
                  <a:solidFill>
                    <a:srgbClr val="000000"/>
                  </a:solidFill>
                </a:rPr>
                <a:t>FP → Precision</a:t>
              </a:r>
              <a:endParaRPr lang="en-US" sz="1100" dirty="0"/>
            </a:p>
          </p:txBody>
        </p:sp>
        <p:sp>
          <p:nvSpPr>
            <p:cNvPr id="14" name="Shape 11"/>
            <p:cNvSpPr/>
            <p:nvPr/>
          </p:nvSpPr>
          <p:spPr>
            <a:xfrm>
              <a:off x="7476978" y="3600704"/>
              <a:ext cx="1828800" cy="365760"/>
            </a:xfrm>
            <a:prstGeom prst="rect">
              <a:avLst/>
            </a:prstGeom>
            <a:solidFill>
              <a:srgbClr val="F8FAFC"/>
            </a:solidFill>
            <a:ln w="12700">
              <a:solidFill>
                <a:srgbClr val="1E293B"/>
              </a:solidFill>
              <a:prstDash val="solid"/>
            </a:ln>
          </p:spPr>
        </p:sp>
        <p:sp>
          <p:nvSpPr>
            <p:cNvPr id="15" name="Text 12"/>
            <p:cNvSpPr/>
            <p:nvPr/>
          </p:nvSpPr>
          <p:spPr>
            <a:xfrm>
              <a:off x="7476978" y="3692144"/>
              <a:ext cx="1828800" cy="182880"/>
            </a:xfrm>
            <a:prstGeom prst="rect">
              <a:avLst/>
            </a:prstGeom>
            <a:noFill/>
            <a:ln/>
          </p:spPr>
          <p:txBody>
            <a:bodyPr wrap="square" rtlCol="0" anchor="ctr"/>
            <a:lstStyle/>
            <a:p>
              <a:pPr marL="0" indent="0" algn="ctr">
                <a:buNone/>
              </a:pPr>
              <a:r>
                <a:rPr lang="en-US" sz="1100" dirty="0">
                  <a:solidFill>
                    <a:srgbClr val="000000"/>
                  </a:solidFill>
                </a:rPr>
                <a:t>FN → Recall</a:t>
              </a:r>
              <a:endParaRPr lang="en-US" sz="1100" dirty="0"/>
            </a:p>
          </p:txBody>
        </p:sp>
        <p:sp>
          <p:nvSpPr>
            <p:cNvPr id="16" name="Text 13"/>
            <p:cNvSpPr/>
            <p:nvPr/>
          </p:nvSpPr>
          <p:spPr>
            <a:xfrm>
              <a:off x="1807698" y="4515104"/>
              <a:ext cx="7315200" cy="274320"/>
            </a:xfrm>
            <a:prstGeom prst="rect">
              <a:avLst/>
            </a:prstGeom>
            <a:noFill/>
            <a:ln/>
          </p:spPr>
          <p:txBody>
            <a:bodyPr wrap="square" rtlCol="0" anchor="ctr"/>
            <a:lstStyle/>
            <a:p>
              <a:pPr marL="0" indent="0" algn="ctr">
                <a:buNone/>
              </a:pPr>
              <a:r>
                <a:rPr lang="en-US" sz="1100" i="1" dirty="0">
                  <a:solidFill>
                    <a:srgbClr val="64748B"/>
                  </a:solidFill>
                </a:rPr>
                <a:t>Always consider: PR-AUC, ROC-AUC, MCC for imbalanced data</a:t>
              </a:r>
              <a:endParaRPr lang="en-US" sz="1100" dirty="0"/>
            </a:p>
          </p:txBody>
        </p:sp>
      </p:grpSp>
    </p:spTree>
    <p:extLst>
      <p:ext uri="{BB962C8B-B14F-4D97-AF65-F5344CB8AC3E}">
        <p14:creationId xmlns:p14="http://schemas.microsoft.com/office/powerpoint/2010/main" val="3725048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49" y="461400"/>
            <a:ext cx="9282235"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Monitoring Metrics in Production</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477107"/>
            <a:ext cx="9282235" cy="4417255"/>
          </a:xfrm>
        </p:spPr>
        <p:txBody>
          <a:bodyPr numCol="2">
            <a:noAutofit/>
          </a:bodyPr>
          <a:lstStyle/>
          <a:p>
            <a:pPr marL="0" indent="0">
              <a:buNone/>
            </a:pPr>
            <a:r>
              <a:rPr lang="en-US" sz="1200" b="1" dirty="0">
                <a:solidFill>
                  <a:srgbClr val="1E293B"/>
                </a:solidFill>
                <a:latin typeface="Arial" panose="020B0604020202020204" pitchFamily="34" charset="0"/>
                <a:cs typeface="Arial" panose="020B0604020202020204" pitchFamily="34" charset="0"/>
              </a:rPr>
              <a:t>Key Principles:</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a:p>
            <a:pPr marL="0" indent="0">
              <a:buNone/>
            </a:pPr>
            <a:r>
              <a:rPr lang="en-US" sz="1200" b="1" dirty="0">
                <a:solidFill>
                  <a:srgbClr val="1E293B"/>
                </a:solidFill>
                <a:latin typeface="Arial" panose="020B0604020202020204" pitchFamily="34" charset="0"/>
                <a:cs typeface="Arial" panose="020B0604020202020204" pitchFamily="34" charset="0"/>
              </a:rPr>
              <a:t>1. Track Multiple Metrics</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Don't rely on single metric - monitor precision, recall, F1</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a:p>
            <a:pPr marL="0" indent="0">
              <a:buNone/>
            </a:pPr>
            <a:r>
              <a:rPr lang="en-US" sz="1200" b="1" dirty="0">
                <a:solidFill>
                  <a:srgbClr val="1E293B"/>
                </a:solidFill>
                <a:latin typeface="Arial" panose="020B0604020202020204" pitchFamily="34" charset="0"/>
                <a:cs typeface="Arial" panose="020B0604020202020204" pitchFamily="34" charset="0"/>
              </a:rPr>
              <a:t>2. Set Alert Thresholds</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Define acceptable ranges (e.g., Recall &lt; 85% triggers alert)</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a:p>
            <a:pPr marL="0" indent="0">
              <a:buNone/>
            </a:pPr>
            <a:r>
              <a:rPr lang="en-US" sz="1200" b="1" dirty="0">
                <a:solidFill>
                  <a:srgbClr val="1E293B"/>
                </a:solidFill>
                <a:latin typeface="Arial" panose="020B0604020202020204" pitchFamily="34" charset="0"/>
                <a:cs typeface="Arial" panose="020B0604020202020204" pitchFamily="34" charset="0"/>
              </a:rPr>
              <a:t>3. Monitor by Segment</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Track metrics across different user groups, time periods</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a:p>
            <a:pPr marL="0" indent="0">
              <a:buNone/>
            </a:pPr>
            <a:r>
              <a:rPr lang="en-US" sz="1200" b="1" dirty="0">
                <a:solidFill>
                  <a:srgbClr val="1E293B"/>
                </a:solidFill>
                <a:latin typeface="Arial" panose="020B0604020202020204" pitchFamily="34" charset="0"/>
                <a:cs typeface="Arial" panose="020B0604020202020204" pitchFamily="34" charset="0"/>
              </a:rPr>
              <a:t>4. Re-calibrate Periodically</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Data distribution shifts - recalibrate probabilities quarterly</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a:p>
            <a:pPr marL="0" indent="0">
              <a:buNone/>
            </a:pPr>
            <a:r>
              <a:rPr lang="en-US" sz="1200" b="1" dirty="0">
                <a:solidFill>
                  <a:srgbClr val="1E293B"/>
                </a:solidFill>
                <a:latin typeface="Arial" panose="020B0604020202020204" pitchFamily="34" charset="0"/>
                <a:cs typeface="Arial" panose="020B0604020202020204" pitchFamily="34" charset="0"/>
              </a:rPr>
              <a:t>5. A/B Test Threshold Changes</a:t>
            </a:r>
            <a:endParaRPr lang="en-US" sz="1200" dirty="0">
              <a:latin typeface="Arial" panose="020B0604020202020204" pitchFamily="34" charset="0"/>
              <a:cs typeface="Arial" panose="020B0604020202020204" pitchFamily="34" charset="0"/>
            </a:endParaRPr>
          </a:p>
          <a:p>
            <a:pPr marL="0" indent="0">
              <a:buNone/>
            </a:pPr>
            <a:r>
              <a:rPr lang="en-US" sz="1200" dirty="0">
                <a:solidFill>
                  <a:srgbClr val="1E293B"/>
                </a:solidFill>
                <a:latin typeface="Arial" panose="020B0604020202020204" pitchFamily="34" charset="0"/>
                <a:cs typeface="Arial" panose="020B0604020202020204" pitchFamily="34" charset="0"/>
              </a:rPr>
              <a:t>   Test new thresholds on subset before full deployment</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6105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479182"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Tools for Metric Calculation</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758462"/>
            <a:ext cx="9479182" cy="4002766"/>
          </a:xfrm>
        </p:spPr>
        <p:txBody>
          <a:bodyPr>
            <a:normAutofit fontScale="62500" lnSpcReduction="20000"/>
          </a:bodyPr>
          <a:lstStyle/>
          <a:p>
            <a:pPr marL="0" indent="0">
              <a:buNone/>
            </a:pPr>
            <a:r>
              <a:rPr lang="en-US" sz="2800" b="1" dirty="0" err="1">
                <a:solidFill>
                  <a:srgbClr val="1E293B"/>
                </a:solidFill>
              </a:rPr>
              <a:t>Scikit</a:t>
            </a:r>
            <a:r>
              <a:rPr lang="en-US" sz="2800" b="1" dirty="0">
                <a:solidFill>
                  <a:srgbClr val="1E293B"/>
                </a:solidFill>
              </a:rPr>
              <a:t>-learn Metrics:</a:t>
            </a:r>
            <a:endParaRPr lang="en-US" dirty="0"/>
          </a:p>
          <a:p>
            <a:pPr marL="0" indent="0">
              <a:buNone/>
            </a:pPr>
            <a:r>
              <a:rPr lang="en-US" dirty="0">
                <a:solidFill>
                  <a:srgbClr val="1E293B"/>
                </a:solidFill>
              </a:rPr>
              <a:t>• </a:t>
            </a:r>
            <a:r>
              <a:rPr lang="en-US" dirty="0" err="1">
                <a:solidFill>
                  <a:srgbClr val="1E293B"/>
                </a:solidFill>
              </a:rPr>
              <a:t>classification_report</a:t>
            </a:r>
            <a:r>
              <a:rPr lang="en-US" dirty="0">
                <a:solidFill>
                  <a:srgbClr val="1E293B"/>
                </a:solidFill>
              </a:rPr>
              <a:t> - Comprehensive metrics table</a:t>
            </a:r>
            <a:endParaRPr lang="en-US" dirty="0"/>
          </a:p>
          <a:p>
            <a:pPr marL="0" indent="0">
              <a:buNone/>
            </a:pPr>
            <a:r>
              <a:rPr lang="en-US" dirty="0">
                <a:solidFill>
                  <a:srgbClr val="1E293B"/>
                </a:solidFill>
              </a:rPr>
              <a:t>• </a:t>
            </a:r>
            <a:r>
              <a:rPr lang="en-US" dirty="0" err="1">
                <a:solidFill>
                  <a:srgbClr val="1E293B"/>
                </a:solidFill>
              </a:rPr>
              <a:t>confusion_matrix</a:t>
            </a:r>
            <a:r>
              <a:rPr lang="en-US" dirty="0">
                <a:solidFill>
                  <a:srgbClr val="1E293B"/>
                </a:solidFill>
              </a:rPr>
              <a:t> - Confusion matrix generation</a:t>
            </a:r>
            <a:endParaRPr lang="en-US" dirty="0"/>
          </a:p>
          <a:p>
            <a:pPr marL="0" indent="0">
              <a:buNone/>
            </a:pPr>
            <a:r>
              <a:rPr lang="en-US" dirty="0">
                <a:solidFill>
                  <a:srgbClr val="1E293B"/>
                </a:solidFill>
              </a:rPr>
              <a:t>• </a:t>
            </a:r>
            <a:r>
              <a:rPr lang="en-US" dirty="0" err="1">
                <a:solidFill>
                  <a:srgbClr val="1E293B"/>
                </a:solidFill>
              </a:rPr>
              <a:t>roc_auc_score</a:t>
            </a:r>
            <a:r>
              <a:rPr lang="en-US" dirty="0">
                <a:solidFill>
                  <a:srgbClr val="1E293B"/>
                </a:solidFill>
              </a:rPr>
              <a:t>, </a:t>
            </a:r>
            <a:r>
              <a:rPr lang="en-US" dirty="0" err="1">
                <a:solidFill>
                  <a:srgbClr val="1E293B"/>
                </a:solidFill>
              </a:rPr>
              <a:t>roc_curve</a:t>
            </a:r>
            <a:r>
              <a:rPr lang="en-US" dirty="0">
                <a:solidFill>
                  <a:srgbClr val="1E293B"/>
                </a:solidFill>
              </a:rPr>
              <a:t> - ROC analysis</a:t>
            </a:r>
            <a:endParaRPr lang="en-US" dirty="0"/>
          </a:p>
          <a:p>
            <a:pPr marL="0" indent="0">
              <a:buNone/>
            </a:pPr>
            <a:r>
              <a:rPr lang="en-US" dirty="0">
                <a:solidFill>
                  <a:srgbClr val="1E293B"/>
                </a:solidFill>
              </a:rPr>
              <a:t>• </a:t>
            </a:r>
            <a:r>
              <a:rPr lang="en-US" dirty="0" err="1">
                <a:solidFill>
                  <a:srgbClr val="1E293B"/>
                </a:solidFill>
              </a:rPr>
              <a:t>precision_recall_curve</a:t>
            </a:r>
            <a:r>
              <a:rPr lang="en-US" dirty="0">
                <a:solidFill>
                  <a:srgbClr val="1E293B"/>
                </a:solidFill>
              </a:rPr>
              <a:t> - PR curve plotting</a:t>
            </a:r>
            <a:endParaRPr lang="en-US" dirty="0"/>
          </a:p>
          <a:p>
            <a:pPr marL="0" indent="0">
              <a:buNone/>
            </a:pPr>
            <a:r>
              <a:rPr lang="en-US" dirty="0">
                <a:solidFill>
                  <a:srgbClr val="1E293B"/>
                </a:solidFill>
              </a:rPr>
              <a:t>• </a:t>
            </a:r>
            <a:r>
              <a:rPr lang="en-US" dirty="0" err="1">
                <a:solidFill>
                  <a:srgbClr val="1E293B"/>
                </a:solidFill>
              </a:rPr>
              <a:t>calibration_curve</a:t>
            </a:r>
            <a:r>
              <a:rPr lang="en-US" dirty="0">
                <a:solidFill>
                  <a:srgbClr val="1E293B"/>
                </a:solidFill>
              </a:rPr>
              <a:t> - Probability calibration assessment</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Visualization Libraries:</a:t>
            </a:r>
            <a:endParaRPr lang="en-US" dirty="0"/>
          </a:p>
          <a:p>
            <a:pPr marL="0" indent="0">
              <a:buNone/>
            </a:pPr>
            <a:r>
              <a:rPr lang="en-US" dirty="0">
                <a:solidFill>
                  <a:srgbClr val="1E293B"/>
                </a:solidFill>
              </a:rPr>
              <a:t>• </a:t>
            </a:r>
            <a:r>
              <a:rPr lang="en-US" dirty="0" err="1">
                <a:solidFill>
                  <a:srgbClr val="1E293B"/>
                </a:solidFill>
              </a:rPr>
              <a:t>Matplotlib</a:t>
            </a:r>
            <a:r>
              <a:rPr lang="en-US" dirty="0">
                <a:solidFill>
                  <a:srgbClr val="1E293B"/>
                </a:solidFill>
              </a:rPr>
              <a:t> - Custom plots</a:t>
            </a:r>
            <a:endParaRPr lang="en-US" dirty="0"/>
          </a:p>
          <a:p>
            <a:pPr marL="0" indent="0">
              <a:buNone/>
            </a:pPr>
            <a:r>
              <a:rPr lang="en-US" dirty="0">
                <a:solidFill>
                  <a:srgbClr val="1E293B"/>
                </a:solidFill>
              </a:rPr>
              <a:t>• </a:t>
            </a:r>
            <a:r>
              <a:rPr lang="en-US" dirty="0" err="1">
                <a:solidFill>
                  <a:srgbClr val="1E293B"/>
                </a:solidFill>
              </a:rPr>
              <a:t>Seaborn</a:t>
            </a:r>
            <a:r>
              <a:rPr lang="en-US" dirty="0">
                <a:solidFill>
                  <a:srgbClr val="1E293B"/>
                </a:solidFill>
              </a:rPr>
              <a:t> - Confusion matrix </a:t>
            </a:r>
            <a:r>
              <a:rPr lang="en-US" dirty="0" err="1">
                <a:solidFill>
                  <a:srgbClr val="1E293B"/>
                </a:solidFill>
              </a:rPr>
              <a:t>heatmaps</a:t>
            </a:r>
            <a:endParaRPr lang="en-US" dirty="0"/>
          </a:p>
          <a:p>
            <a:pPr marL="0" indent="0">
              <a:buNone/>
            </a:pPr>
            <a:r>
              <a:rPr lang="en-US" dirty="0">
                <a:solidFill>
                  <a:srgbClr val="1E293B"/>
                </a:solidFill>
              </a:rPr>
              <a:t>• </a:t>
            </a:r>
            <a:r>
              <a:rPr lang="en-US" dirty="0" err="1">
                <a:solidFill>
                  <a:srgbClr val="1E293B"/>
                </a:solidFill>
              </a:rPr>
              <a:t>Plotly</a:t>
            </a:r>
            <a:r>
              <a:rPr lang="en-US" dirty="0">
                <a:solidFill>
                  <a:srgbClr val="1E293B"/>
                </a:solidFill>
              </a:rPr>
              <a:t> - Interactive metric dashboards</a:t>
            </a:r>
            <a:endParaRPr lang="en-US" dirty="0"/>
          </a:p>
          <a:p>
            <a:pPr marL="0" indent="0">
              <a:buNone/>
            </a:pPr>
            <a:r>
              <a:rPr lang="en-US" dirty="0">
                <a:solidFill>
                  <a:srgbClr val="1E293B"/>
                </a:solidFill>
              </a:rPr>
              <a:t> </a:t>
            </a:r>
            <a:endParaRPr lang="en-US" dirty="0"/>
          </a:p>
          <a:p>
            <a:pPr marL="0" indent="0">
              <a:buNone/>
            </a:pPr>
            <a:r>
              <a:rPr lang="en-US" b="1" dirty="0">
                <a:solidFill>
                  <a:srgbClr val="DC2626"/>
                </a:solidFill>
              </a:rPr>
              <a:t>Best Practice:</a:t>
            </a:r>
            <a:r>
              <a:rPr lang="en-US" dirty="0">
                <a:solidFill>
                  <a:srgbClr val="1E293B"/>
                </a:solidFill>
              </a:rPr>
              <a:t> Create reusable evaluation functions</a:t>
            </a:r>
            <a:endParaRPr lang="en-US" dirty="0"/>
          </a:p>
          <a:p>
            <a:endParaRPr lang="en-US" dirty="0"/>
          </a:p>
        </p:txBody>
      </p:sp>
    </p:spTree>
    <p:extLst>
      <p:ext uri="{BB962C8B-B14F-4D97-AF65-F5344CB8AC3E}">
        <p14:creationId xmlns:p14="http://schemas.microsoft.com/office/powerpoint/2010/main" val="2744463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68167" cy="1268984"/>
          </a:xfrm>
        </p:spPr>
        <p:txBody>
          <a:bodyPr>
            <a:normAutofit fontScale="90000"/>
          </a:bodyPr>
          <a:lstStyle/>
          <a:p>
            <a:r>
              <a:rPr lang="en-US" dirty="0">
                <a:solidFill>
                  <a:schemeClr val="tx1">
                    <a:lumMod val="95000"/>
                    <a:lumOff val="5000"/>
                  </a:schemeClr>
                </a:solidFill>
                <a:latin typeface="Georgia" pitchFamily="34" charset="0"/>
                <a:ea typeface="Georgia" pitchFamily="34" charset="-122"/>
                <a:cs typeface="Georgia" pitchFamily="34" charset="-120"/>
              </a:rPr>
              <a:t>Practice Exercise</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Content Placeholder 2"/>
          <p:cNvSpPr>
            <a:spLocks noGrp="1"/>
          </p:cNvSpPr>
          <p:nvPr>
            <p:ph idx="1"/>
          </p:nvPr>
        </p:nvSpPr>
        <p:spPr>
          <a:xfrm>
            <a:off x="565150" y="1519311"/>
            <a:ext cx="9268167" cy="4241917"/>
          </a:xfrm>
        </p:spPr>
        <p:txBody>
          <a:bodyPr>
            <a:normAutofit fontScale="55000" lnSpcReduction="20000"/>
          </a:bodyPr>
          <a:lstStyle/>
          <a:p>
            <a:pPr marL="0" indent="0">
              <a:buNone/>
            </a:pPr>
            <a:r>
              <a:rPr lang="en-US" sz="2800" b="1" dirty="0">
                <a:solidFill>
                  <a:srgbClr val="1E293B"/>
                </a:solidFill>
              </a:rPr>
              <a:t>Scenario: Credit Card Fraud Detection</a:t>
            </a:r>
            <a:endParaRPr lang="en-US" dirty="0"/>
          </a:p>
          <a:p>
            <a:pPr marL="0" indent="0">
              <a:buNone/>
            </a:pPr>
            <a:r>
              <a:rPr lang="en-US" dirty="0">
                <a:solidFill>
                  <a:srgbClr val="1E293B"/>
                </a:solidFill>
              </a:rPr>
              <a:t> </a:t>
            </a:r>
            <a:endParaRPr lang="en-US" dirty="0"/>
          </a:p>
          <a:p>
            <a:pPr marL="0" indent="0">
              <a:buNone/>
            </a:pPr>
            <a:r>
              <a:rPr lang="en-US" b="1" dirty="0">
                <a:solidFill>
                  <a:srgbClr val="1E293B"/>
                </a:solidFill>
              </a:rPr>
              <a:t>Dataset:</a:t>
            </a:r>
            <a:endParaRPr lang="en-US" dirty="0"/>
          </a:p>
          <a:p>
            <a:pPr marL="0" indent="0">
              <a:buNone/>
            </a:pPr>
            <a:r>
              <a:rPr lang="en-US" dirty="0">
                <a:solidFill>
                  <a:srgbClr val="1E293B"/>
                </a:solidFill>
              </a:rPr>
              <a:t>• 100,000 transactions</a:t>
            </a:r>
            <a:endParaRPr lang="en-US" dirty="0"/>
          </a:p>
          <a:p>
            <a:pPr marL="0" indent="0">
              <a:buNone/>
            </a:pPr>
            <a:r>
              <a:rPr lang="en-US" dirty="0">
                <a:solidFill>
                  <a:srgbClr val="1E293B"/>
                </a:solidFill>
              </a:rPr>
              <a:t>• 500 fraudulent (0.5% fraud rate)</a:t>
            </a:r>
            <a:endParaRPr lang="en-US" dirty="0"/>
          </a:p>
          <a:p>
            <a:pPr marL="0" indent="0">
              <a:buNone/>
            </a:pPr>
            <a:r>
              <a:rPr lang="en-US" dirty="0">
                <a:solidFill>
                  <a:srgbClr val="1E293B"/>
                </a:solidFill>
              </a:rPr>
              <a:t> </a:t>
            </a:r>
            <a:endParaRPr lang="en-US" dirty="0"/>
          </a:p>
          <a:p>
            <a:pPr marL="0" indent="0">
              <a:buNone/>
            </a:pPr>
            <a:r>
              <a:rPr lang="en-US" b="1" dirty="0">
                <a:solidFill>
                  <a:srgbClr val="1E293B"/>
                </a:solidFill>
              </a:rPr>
              <a:t>Business Costs:</a:t>
            </a:r>
            <a:endParaRPr lang="en-US" dirty="0"/>
          </a:p>
          <a:p>
            <a:pPr marL="0" indent="0">
              <a:buNone/>
            </a:pPr>
            <a:r>
              <a:rPr lang="en-US" dirty="0">
                <a:solidFill>
                  <a:srgbClr val="1E293B"/>
                </a:solidFill>
              </a:rPr>
              <a:t>• Missed fraud (FN): $500 average loss</a:t>
            </a:r>
            <a:endParaRPr lang="en-US" dirty="0"/>
          </a:p>
          <a:p>
            <a:pPr marL="0" indent="0">
              <a:buNone/>
            </a:pPr>
            <a:r>
              <a:rPr lang="en-US" dirty="0">
                <a:solidFill>
                  <a:srgbClr val="1E293B"/>
                </a:solidFill>
              </a:rPr>
              <a:t>• False alarm (FP): $25 investigation cost</a:t>
            </a:r>
            <a:endParaRPr lang="en-US" dirty="0"/>
          </a:p>
          <a:p>
            <a:pPr marL="0" indent="0">
              <a:buNone/>
            </a:pPr>
            <a:r>
              <a:rPr lang="en-US" dirty="0">
                <a:solidFill>
                  <a:srgbClr val="1E293B"/>
                </a:solidFill>
              </a:rPr>
              <a:t> </a:t>
            </a:r>
            <a:endParaRPr lang="en-US" dirty="0"/>
          </a:p>
          <a:p>
            <a:pPr marL="0" indent="0">
              <a:buNone/>
            </a:pPr>
            <a:r>
              <a:rPr lang="en-US" sz="2800" b="1" dirty="0">
                <a:solidFill>
                  <a:srgbClr val="1E293B"/>
                </a:solidFill>
              </a:rPr>
              <a:t>Your Tasks:</a:t>
            </a:r>
            <a:endParaRPr lang="en-US" dirty="0"/>
          </a:p>
          <a:p>
            <a:pPr marL="0" indent="0">
              <a:buNone/>
            </a:pPr>
            <a:r>
              <a:rPr lang="en-US" dirty="0">
                <a:solidFill>
                  <a:srgbClr val="1E293B"/>
                </a:solidFill>
              </a:rPr>
              <a:t>1. Which metric should be primary?</a:t>
            </a:r>
            <a:endParaRPr lang="en-US" dirty="0"/>
          </a:p>
          <a:p>
            <a:pPr marL="0" indent="0">
              <a:buNone/>
            </a:pPr>
            <a:r>
              <a:rPr lang="en-US" dirty="0">
                <a:solidFill>
                  <a:srgbClr val="1E293B"/>
                </a:solidFill>
              </a:rPr>
              <a:t>2. What threshold would you choose?</a:t>
            </a:r>
            <a:endParaRPr lang="en-US" dirty="0"/>
          </a:p>
          <a:p>
            <a:pPr marL="0" indent="0">
              <a:buNone/>
            </a:pPr>
            <a:r>
              <a:rPr lang="en-US" dirty="0">
                <a:solidFill>
                  <a:srgbClr val="1E293B"/>
                </a:solidFill>
              </a:rPr>
              <a:t>3. Calculate expected cost at different thresholds</a:t>
            </a:r>
            <a:endParaRPr lang="en-US" dirty="0"/>
          </a:p>
          <a:p>
            <a:pPr marL="0" indent="0">
              <a:buNone/>
            </a:pPr>
            <a:r>
              <a:rPr lang="en-US" dirty="0">
                <a:solidFill>
                  <a:srgbClr val="1E293B"/>
                </a:solidFill>
              </a:rPr>
              <a:t>4. Would you use ROC-AUC or PR-AUC? Why?</a:t>
            </a:r>
            <a:endParaRPr lang="en-US" dirty="0"/>
          </a:p>
          <a:p>
            <a:endParaRPr lang="en-US" dirty="0"/>
          </a:p>
        </p:txBody>
      </p:sp>
    </p:spTree>
    <p:extLst>
      <p:ext uri="{BB962C8B-B14F-4D97-AF65-F5344CB8AC3E}">
        <p14:creationId xmlns:p14="http://schemas.microsoft.com/office/powerpoint/2010/main" val="4253236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405130"/>
            <a:ext cx="9197828" cy="714986"/>
          </a:xfrm>
        </p:spPr>
        <p:txBody>
          <a:bodyPr>
            <a:normAutofit fontScale="90000"/>
          </a:bodyPr>
          <a:lstStyle/>
          <a:p>
            <a:pPr algn="ctr"/>
            <a:r>
              <a:rPr lang="en-US" dirty="0">
                <a:solidFill>
                  <a:schemeClr val="tx1">
                    <a:lumMod val="95000"/>
                    <a:lumOff val="5000"/>
                  </a:schemeClr>
                </a:solidFill>
                <a:latin typeface="Georgia" pitchFamily="34" charset="0"/>
                <a:ea typeface="Georgia" pitchFamily="34" charset="-122"/>
                <a:cs typeface="Georgia" pitchFamily="34" charset="-120"/>
              </a:rPr>
              <a:t>Key Takeaways</a:t>
            </a:r>
            <a:r>
              <a:rPr lang="en-US" dirty="0">
                <a:solidFill>
                  <a:schemeClr val="tx1">
                    <a:lumMod val="95000"/>
                    <a:lumOff val="5000"/>
                  </a:schemeClr>
                </a:solidFill>
              </a:rPr>
              <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4" name="Rectangle 1"/>
          <p:cNvSpPr>
            <a:spLocks noChangeArrowheads="1"/>
          </p:cNvSpPr>
          <p:nvPr/>
        </p:nvSpPr>
        <p:spPr bwMode="auto">
          <a:xfrm>
            <a:off x="1029383" y="1514011"/>
            <a:ext cx="87335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Accuracy can be misleading on imbalanced datasets; always check class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Precision vs. Recall: Choose based on which type of error (false positive or false negative) is more costly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F1-Score balances precision and recall when both are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ROC and AUC visualize and summarize model performance across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Precision-Recall Curves are more informative for highly imbalanced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Probability calibration and threshold adjustment ensure predictions align with business priorities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Cost-sensitive learning incorporates real-world error costs into model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Advanced metrics (MCC, Cohen’s Kappa) provide robust evaluation for imbalanced or multi-class problems</a:t>
            </a:r>
          </a:p>
        </p:txBody>
      </p:sp>
    </p:spTree>
    <p:extLst>
      <p:ext uri="{BB962C8B-B14F-4D97-AF65-F5344CB8AC3E}">
        <p14:creationId xmlns:p14="http://schemas.microsoft.com/office/powerpoint/2010/main" val="1451509371"/>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25612</TotalTime>
  <Words>2724</Words>
  <Application>Microsoft Office PowerPoint</Application>
  <PresentationFormat>Widescreen</PresentationFormat>
  <Paragraphs>331</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Courier New</vt:lpstr>
      <vt:lpstr>Georgia</vt:lpstr>
      <vt:lpstr>Neue Haas Grotesk Text Pro</vt:lpstr>
      <vt:lpstr>PunchcardVTI</vt:lpstr>
      <vt:lpstr>PowerPoint Presentation</vt:lpstr>
      <vt:lpstr>Learning Objectives</vt:lpstr>
      <vt:lpstr>Introduction to Classification Evaluation Metrics</vt:lpstr>
      <vt:lpstr>Why Accuracy Can Be Misleading </vt:lpstr>
      <vt:lpstr>The Confusion Matrix  </vt:lpstr>
      <vt:lpstr>Confusion matrix</vt:lpstr>
      <vt:lpstr>Understanding Error Types </vt:lpstr>
      <vt:lpstr>Precision</vt:lpstr>
      <vt:lpstr>When to prioritize precision</vt:lpstr>
      <vt:lpstr>Recall (Sensitivity) Minimizing False Negatives </vt:lpstr>
      <vt:lpstr>When to prioritize Recall</vt:lpstr>
      <vt:lpstr>The Precision-Recall Tradeoff  </vt:lpstr>
      <vt:lpstr>The Precision-Recall Tradeoff You Can't Maximize Both </vt:lpstr>
      <vt:lpstr>F1-Score</vt:lpstr>
      <vt:lpstr>When to Prioritize F1-Score</vt:lpstr>
      <vt:lpstr>ROC Curve Receiver Operating Characteristic </vt:lpstr>
      <vt:lpstr>AUC - Area Under ROC Curve </vt:lpstr>
      <vt:lpstr>Single Number Summary </vt:lpstr>
      <vt:lpstr>Precision-Recall Curves Better for Imbalanced Data </vt:lpstr>
      <vt:lpstr>Choosing the Right Metric Decision Framework </vt:lpstr>
      <vt:lpstr>Probability Calibration  </vt:lpstr>
      <vt:lpstr>Decision Threshold Optimization Beyond Default 0.5 </vt:lpstr>
      <vt:lpstr>Cost sensitive analysis</vt:lpstr>
      <vt:lpstr>Cost-Sensitive Learning Techniques</vt:lpstr>
      <vt:lpstr>Multi-Class Metric Aggregation</vt:lpstr>
      <vt:lpstr>Multi-Class Metric Aggregation Macro vs Micro vs Weighted </vt:lpstr>
      <vt:lpstr>Matthews Correlation Coefficient Balanced Metric for Imbalanced Data </vt:lpstr>
      <vt:lpstr>Cohen's Kappa Statistic Agreement Beyond Chance </vt:lpstr>
      <vt:lpstr>Case Study: Medical Diagnosis </vt:lpstr>
      <vt:lpstr>Case Study: Email Spam Filter </vt:lpstr>
      <vt:lpstr>Common Mistakes to Avoid </vt:lpstr>
      <vt:lpstr>Metric Selection Flowchart </vt:lpstr>
      <vt:lpstr>Monitoring Metrics in Production </vt:lpstr>
      <vt:lpstr>Tools for Metric Calculation </vt:lpstr>
      <vt:lpstr>Practice Exercise </vt:lpstr>
      <vt:lpstr>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32</cp:revision>
  <dcterms:created xsi:type="dcterms:W3CDTF">2025-11-05T12:47:00Z</dcterms:created>
  <dcterms:modified xsi:type="dcterms:W3CDTF">2026-03-09T11:57:51Z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