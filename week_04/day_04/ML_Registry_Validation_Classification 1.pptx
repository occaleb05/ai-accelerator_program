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13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2286000" cy="22174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926080"/>
            <a:ext cx="2286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02920"/>
            <a:ext cx="182880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02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F3C"/>
                </a:solidFill>
              </a:rPr>
              <a:t>ACCELERATOR PROGRAM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Registry,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" y="2185416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Sprint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 |  </a:t>
            </a: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– 11:00 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Registry · Model Lifecycle · Validation Frameworks · Classification Projects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References: MLflow Docs (2024) · Rainio et al., Scientific Reports (2024) · Géron, Hands-On ML, 3rd Ed.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502920" cy="6675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987552"/>
            <a:ext cx="7498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model registry for systematic version management using MLflow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09928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709928"/>
            <a:ext cx="502920" cy="6675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09928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783080"/>
            <a:ext cx="7498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robust model validation frameworks using holdout sets and statistical 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505456"/>
            <a:ext cx="502920" cy="6675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05456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578608"/>
            <a:ext cx="7498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models across lifecycle stages: Development → Staging → Production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300984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300984"/>
            <a:ext cx="502920" cy="6675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00984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374136"/>
            <a:ext cx="7498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A/B testing concepts to compare competing ML model versions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096512"/>
            <a:ext cx="82296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096512"/>
            <a:ext cx="502920" cy="66751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96512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169664"/>
            <a:ext cx="74980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Finalize, document, and present a complete classification project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 – 11:00 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3703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051560"/>
            <a:ext cx="14630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051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60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– 9:00 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&amp; 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concepts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lifecycle stages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strategies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comparison tests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27832" y="1051560"/>
            <a:ext cx="2834640" cy="3703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1051560"/>
            <a:ext cx="283464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99432" y="1051560"/>
            <a:ext cx="14630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1051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90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27832" y="1627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– 10:30 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27832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Project Sprint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64992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optimization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64992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versioning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64992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reporting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64992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81344" y="1051560"/>
            <a:ext cx="2834640" cy="3703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1051560"/>
            <a:ext cx="2834640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1344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 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52944" y="1051560"/>
            <a:ext cx="146304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2944" y="1051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30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81344" y="16276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– 11:00 AM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81344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 &amp; Wrap-Up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18504" y="2377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18504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18504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18504" y="3474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 ·  8:00 – 9:00 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30552"/>
            <a:ext cx="8229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&amp; Validation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Model Registry?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hub for managing the complete ML model lifecycle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82296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0058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Model Registry is a centralized model store with APIs and UI to collaboratively manage the full lifecycle of ML models — from experiment to production deployment."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1965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965960"/>
            <a:ext cx="19659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03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127248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model iteration automatically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87752" y="1965960"/>
            <a:ext cx="1965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87752" y="1965960"/>
            <a:ext cx="19659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2103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87752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Tracking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9192" y="3127248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models to experiments and datasets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2584" y="1965960"/>
            <a:ext cx="1965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72584" y="1965960"/>
            <a:ext cx="19659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2103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🚦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72584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64024" y="3127248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models through lifecycle gates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57416" y="1965960"/>
            <a:ext cx="1965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57416" y="1965960"/>
            <a:ext cx="19659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21031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57416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Tags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48856" y="3127248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with descriptions and metrics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Model Registry Documentation (2024) · Neptune.ai Model Registry Guide (2025)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 Registry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structure, ML deployment becomes error-prone and chaotic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3749040" cy="3749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914400"/>
            <a:ext cx="37490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144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❌  WITHOUT Registry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417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unclear naming conventions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189280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of who deployed what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36829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rollback when models fail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84378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environments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3192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team collaboration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420624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914400"/>
            <a:ext cx="42062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14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WITH Registry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versioning and lineage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1892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every deployment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23682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rollback to any version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284378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environments via conda.yaml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33192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governance and access control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Neptune.ai, 'ML Model Registry: The Ultimate Guide' (2025) · MLflow Docs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Lifecycle Stages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defines four key stages every model passes through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1965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196596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144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DEVELOPMENT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898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2029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Stage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350008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and iterate. Models trained here are candidates. Not yet validated for production use.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1874520"/>
            <a:ext cx="1828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73736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49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06040" y="914400"/>
            <a:ext cx="1965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914400"/>
            <a:ext cx="196596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9144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STAGING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13898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🧪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606040" y="2029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</a:rPr>
              <a:t>Stage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2350008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testing. Models validated against holdout sets and performance benchmarks.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874520"/>
            <a:ext cx="1828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173736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490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1965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19659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144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PRODUCTION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3898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754880" y="2029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Stage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350008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serving. Only one version should be in Production at a time for a given use case.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1874520"/>
            <a:ext cx="1828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173736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490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03720" y="914400"/>
            <a:ext cx="1965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914400"/>
            <a:ext cx="1965960" cy="384048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9144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ARCHIVED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03720" y="138988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903720" y="20299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8350F"/>
                </a:solidFill>
              </a:rPr>
              <a:t>Stage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95160" y="2350008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models kept for audit, compliance, and future reference. Not serving traffic.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773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Model Registry Docs (2024) · Nexumo, '7 MLflow Registry Practices That Age Well', Medium (2025)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Model Registry —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centralized store for managing the full ML model lifecycle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0058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005840"/>
            <a:ext cx="50292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0584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1704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Model Store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53619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repository where all model versions are stored, versioned, and shared across teams and environments.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0058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05840"/>
            <a:ext cx="50292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0584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40680" y="11704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&amp; UI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153619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and visual access to create, read, update, and delete registered models and their versions.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880360"/>
            <a:ext cx="50292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8036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30449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Tracking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41071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registered model links back to the MLflow Run, experiment, and dataset that produced 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8803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880360"/>
            <a:ext cx="50292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88036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40680" y="30449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Transitions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410712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models between Development, Staging, Production, and Archived states with approval workflows.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Documentation (mlflow.org, 2024) · Databricks Unity Catalog Integration Guide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Models in MLflow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primary methods to register a model to the MLflow registry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Register During Training Run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261872"/>
            <a:ext cx="82296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98448"/>
            <a:ext cx="79552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mlflow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mlflow.models import infer_signature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mlflow.start_run():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mlflow.sklearn.log_model(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model, name="my_classifier",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registered_model_name="ClassificationModel"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Register After Logging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822960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62656"/>
            <a:ext cx="7955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mlflow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Register an already-logged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mlflow.register_model(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model_uri="runs:/&lt;RUN_ID&gt;/model",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name="ClassificationModel"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858768"/>
            <a:ext cx="822960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1363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When a new model is added to the registry, it automatically receives version 1. Subsequent registrations with the same name auto-increment the version number.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Registry Workflow Docs · Databricks Model Logging Guide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Between Stages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models through lifecycle stages via API or UI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8229600" cy="221284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69264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mlflow import MlflowClient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MlflowClient()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Transition model version 1 to Staging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client.transition_model_version_stage(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name="ClassificationModel",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version=1,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stage="Staging"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Promote to Production (with archiving old version)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client.transition_model_version_stage(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name="ClassificationModel", version=2,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stage="Production", archive_existing_versions=True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246120"/>
            <a:ext cx="26517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64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Best Practice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63931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Only one model version should be in Production at any time per use case.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9272" y="3246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9272" y="3246120"/>
            <a:ext cx="26517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3364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0712" y="363931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Add stage transition comments to document reasons for promoting or archiving.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35624" y="32461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35624" y="3246120"/>
            <a:ext cx="265176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3364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</a:rPr>
              <a:t>CI/CD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27064" y="363931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Automate transitions using CI/CD gates that require passing validation thresholds.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Registry Workflow (mlflow.org) · Nexumo Medium (2025)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Annotations &amp; Descriptions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models is critical for team knowledge transfer and governance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3C"/>
                </a:solidFill>
              </a:rPr>
              <a:t>What to Document: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fraud_detector_v2_rf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purpose and algorithm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Auto-incremented by registry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→ Production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lifecycle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trained on Q3 2024 data with F1=0.91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Human-readable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'team': 'risk', 'dataset': 'v4.1' 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Searchable key-value pairs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accuracy=0.93, precision=0.91, recall=0.89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snapshot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142232"/>
            <a:ext cx="82296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160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📝  Pro Tip: Use Markdown in descriptions. Document dataset version, training date, feature list, and known limitations for every registered model.</a:t>
            </a:r>
            <a:endParaRPr lang="en-US" sz="1050" dirty="0"/>
          </a:p>
        </p:txBody>
      </p:sp>
      <p:sp>
        <p:nvSpPr>
          <p:cNvPr id="9" name="Text 9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Docs · lakeFS Blog: 'MLflow Model Registry' (2025) · ProjectPro Model Registry Guide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Strategies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promoting any model, it must survive a rigorous validation 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960120"/>
            <a:ext cx="4069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698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069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</a:rPr>
              <a:t>Holdout Validation Set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15087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stratified 15-20% slice of data untouched during training. Evaluate final models on this set only — never during hyper-parameter tuning.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960120"/>
            <a:ext cx="4069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6984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32120" y="1069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</a:rPr>
              <a:t>k-Fold Cross-Validation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15087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k folds and rotate training/testing. Use stratified k-fold for imbalanced classification to ensure class distribution is preserved.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926080"/>
            <a:ext cx="4069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3580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0358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</a:rPr>
              <a:t>Statistical Significance Tests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McNemar's test (single dataset) or Wilcoxon Signed-Rank test (cross-validation) to confirm that performance improvements are not due to chance.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926080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926080"/>
            <a:ext cx="40690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3580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0358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</a:rPr>
              <a:t>Shadow Mode Testing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83480" y="347472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new model in parallel with production model, logging predictions without serving them. Compare outputs before full promotion.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Rainio et al., 'Evaluation metrics and statistical tests for ML', Scientific Reports (2024) · Géron, Hands-On ML with Scikit-Learn, Keras &amp; TF, 3rd Ed.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Holdout Validation Sets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data splits for unbiased final model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82296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</a:rPr>
              <a:t>Full Dataset  (100%)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493776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173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0680" y="1417320"/>
            <a:ext cx="164592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86600" y="1417320"/>
            <a:ext cx="164592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Holdout Test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240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240280"/>
            <a:ext cx="54864" cy="1828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359152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Training 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" y="2697480"/>
            <a:ext cx="23957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patterns and weights. Used for all training iterations.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9272" y="2240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9272" y="2240280"/>
            <a:ext cx="54864" cy="1828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3864" y="2359152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</a:rPr>
              <a:t>Validation 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83864" y="2697480"/>
            <a:ext cx="23957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Hyper-parameter tuning, early stopping, model selection.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35624" y="224028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5624" y="22402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2359152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Holdout Test 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0216" y="2697480"/>
            <a:ext cx="23957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ONLY. Never touched until the model is locked.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206240"/>
            <a:ext cx="8229600" cy="45720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3367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</a:rPr>
              <a:t>⚠️  Rule: The holdout test set must NEVER be used during model selection or tuning — only for final reporting.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Géron, Hands-On ML (2023) · Rainio et al., Scientific Reports (2024)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for Model Comparison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test to confirm meaningful performance differences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28346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Apply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McNemar's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classifiers on a single test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predictions on same test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Wilcoxon Signed-Rank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Non-parametric paired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 scores across folds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5×2 CV Paired t-Test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two algorithms with low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2-fold cross-validation (Dietterich 1998)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DeLong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AUC values between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curve / binary classification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Friedman + Nemenyi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3+ models across multiple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Tournament-style model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822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The Gold Standard Decision Tree: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dataset?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McNemar's test    </a:t>
            </a: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Cross-validation?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Wilcoxon Signed-Rank    </a:t>
            </a: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models?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Friedman + post-hoc Nemenyi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Rainio, Teuho &amp; Klén, Scientific Reports 14, 6086 (2024) · Dietterich, JMLR (1998) · MachineLearningMastery.com (2020)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Concepts for ML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experiments to compare model variants in production traffic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3474720" cy="3520440"/>
          </a:xfrm>
          <a:prstGeom prst="rect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914400"/>
            <a:ext cx="3474720" cy="411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14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A  (Control)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4173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production model
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Serves 50% of traffic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Established baseline metrics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and known behavior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490"/>
                </a:solidFill>
              </a:rPr>
              <a:t>VS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74920" y="914400"/>
            <a:ext cx="3657600" cy="35204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74920" y="914400"/>
            <a:ext cx="36576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B  (Challenger)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141732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candidate model
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Serves 50% of traffic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input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Monitored for improvements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Statistical test confirms winner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9028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3C"/>
                </a:solidFill>
              </a:rPr>
              <a:t>Key requirement: Both models must receive the SAME type of requests. Use statistical significance testing to declare a winner after sufficient traffic.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JMLR Vol. 25: Network A/B Testing (2024) · MLflow Deployment Docs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HANDS-ON EXERCISE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&amp; Validation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Duration: 25 minutes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475488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463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Best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75564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mlflow.sklearn.log_model() with registered_model_name='&lt;YourModelName&gt;' to register your top-performing classifier.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229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67712"/>
            <a:ext cx="475488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6771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231343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Model Versions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60604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2–3 variants (different hyperparameters/algorithms). Register each and observe how MLflow auto-increments version numbers.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18104"/>
            <a:ext cx="8229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18104"/>
            <a:ext cx="475488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18104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316382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Between Stages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345643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MlflowClient().transition_model_version_stage() to move version 1 → Staging and version 2 → Production.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8229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68496"/>
            <a:ext cx="475488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6849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401421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Validation Framework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430682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holdout test set (20%). Evaluate registered models. Apply McNemar's test to compare top-2 models statistically.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  ·  Exercise 1 of 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Document Your Validation Process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template for recording your model evaluation 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Element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Name &amp;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ClassificationModel v3 (Random Forest)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set hash / timestamp, e.g. data_v4.1_20240901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Train/Val/Test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/ 20% / 20% — stratified by target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F1, Precision, Recall, AUC-ROC (Holdout 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Test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McNemar's test vs. Model v2  →  p-value = 0.032 (sig.)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Transition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Promoted to Staging: outperforms baseline by 4.2%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Limitations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drops for minority class &lt; 5% prevalence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Docs · ProjectPro Model Registry Guide · Rainio et al. (2024)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 ·  9:00 – 10:30 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30552"/>
            <a:ext cx="8229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Project Development Sprint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— Intensive Structured Work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90-minute work session with clear deliverables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8229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144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Goal: Complete your end-to-end classification project ready for presentation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508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08760"/>
            <a:ext cx="960120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08760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463040" y="1508760"/>
            <a:ext cx="1298448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50876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9:00–9:25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80360" y="1554480"/>
            <a:ext cx="5715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Final Optimization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1828800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Tune final hyperparameters, retrain on full training data, lock model config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313432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313432"/>
            <a:ext cx="960120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13432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463040" y="2313432"/>
            <a:ext cx="1298448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2313432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9:25–9:55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80360" y="2359152"/>
            <a:ext cx="5715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Register &amp; Version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2633472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Register final model to MLflow, document metadata, transition to Production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118104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118104"/>
            <a:ext cx="960120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18104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463040" y="3118104"/>
            <a:ext cx="1298448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3118104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9:55–10:20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80360" y="3163824"/>
            <a:ext cx="5715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Evaluation Report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80360" y="343814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Generate comprehensive report: metrics table, confusion matrix, ROC curve, feature importance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922776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3922776"/>
            <a:ext cx="960120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922776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463040" y="3922776"/>
            <a:ext cx="1298448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63040" y="3922776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10:20–10:30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80360" y="3968496"/>
            <a:ext cx="5715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Presentation Prep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880360" y="4242816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Prepare 5-min project summary: problem → approach → results → insights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Docs · Géron, Hands-On ML, 3rd Ed. (O'Reilly, 2023)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Optimization &amp; Tuning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for locking in your best-performing classification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960120"/>
            <a:ext cx="4069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139903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no data leakage between splits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" y="181051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(SMOTE / class_weight)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" y="222199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feature scaling/encoding is fitted on training only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960120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60120"/>
            <a:ext cx="4069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Algorithm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56048" y="139903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or Random Search hyperparameter tuning complete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56048" y="181051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ensemble methods (RF, GBM, Stacking)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6048" y="222199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at least 3 algorithm families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926080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926080"/>
            <a:ext cx="4069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2926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Evaluation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" y="336499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holdout set (first and only time)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" y="377647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Accuracy, F1-macro, Precision, Recall, AUC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" y="418795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confusion matrix and classification report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926080"/>
            <a:ext cx="40690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926080"/>
            <a:ext cx="406908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926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Registry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336499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tuning runs to MLflow with full params &amp; metrics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56048" y="377647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best model with full metadata description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56048" y="4187952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with dataset version, training date, feature set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Géron, Hands-On ML (2023) · Scikit-learn Model Evaluation Docs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Evaluation Metrics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metrics for your classification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3246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TP+TN /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Misleading with imbalance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(TP+FP)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Minimizing false positives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false negatives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/ (TP+FN)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Minimizing false negatives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ignore 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(P×R)/(P+R)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mean of P &amp; 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under ROC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hide threshold issues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(TP×TN−FP×FN)/√...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reliability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intuitive to explain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251960"/>
            <a:ext cx="822960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27024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💡  For multi-class classification, use F1-macro (equal weight per class) or F1-weighted (proportional to support). Report both in your evaluation.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Rainio, Teuho &amp; Klén, Scientific Reports (2024) · Scikit-learn Classification Metrics Docs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Reading Your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all classification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</a:rPr>
              <a:t>Predicted Positive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490"/>
                </a:solidFill>
              </a:rPr>
              <a:t>Predicted Negative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554480"/>
            <a:ext cx="777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Positive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2926080"/>
            <a:ext cx="777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Negative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54480"/>
            <a:ext cx="2286000" cy="123444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5448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</a:rPr>
              <a:t>True Positive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</a:rPr>
              <a:t>(TP)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554480"/>
            <a:ext cx="228600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55448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1D1D"/>
                </a:solidFill>
              </a:rPr>
              <a:t>False Negative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F1D1D"/>
                </a:solidFill>
              </a:rPr>
              <a:t>(FN)  Type II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286000" cy="123444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92608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1D1D"/>
                </a:solidFill>
              </a:rPr>
              <a:t>False Positive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F1D1D"/>
                </a:solidFill>
              </a:rPr>
              <a:t>(FP)  Type 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2926080"/>
            <a:ext cx="2286000" cy="123444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926080"/>
            <a:ext cx="2286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</a:rPr>
              <a:t>True Negative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4532D"/>
                </a:solidFill>
              </a:rPr>
              <a:t>(TN)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315968"/>
            <a:ext cx="25146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159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F3C"/>
                </a:solidFill>
              </a:rPr>
              <a:t>Precision: TP / (TP + FP)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4315968"/>
            <a:ext cx="251460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43159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F3C"/>
                </a:solidFill>
              </a:rPr>
              <a:t>Recall: TP / (TP + FN)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7880" y="4315968"/>
            <a:ext cx="251460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43159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F3C"/>
                </a:solidFill>
              </a:rPr>
              <a:t>Specificity: TN / (TN + FP)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Rainio et al., Scientific Reports (2024) · Géron, Hands-On ML (2023)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Model Interpretability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drives your classification model's decisions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960120"/>
            <a:ext cx="4069080" cy="548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515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1069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</a:rPr>
              <a:t>Permutation Importance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2648" y="15544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each feature and measure accuracy drop. Works for any model. Use sklearn.inspection.permutation_importance().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960120"/>
            <a:ext cx="4069080" cy="548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515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32120" y="1069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</a:rPr>
              <a:t>SHAP Values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56048" y="15544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 — game theory-based. Shows contribution of each feature per prediction. Gold standard for explainability.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953512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953512"/>
            <a:ext cx="4069080" cy="548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449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🌳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30632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</a:rPr>
              <a:t>Built-in Tree Importance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2648" y="354787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and GBMs expose feature_importances_. Fast, but biased toward high-cardinality features. Use with caution.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953512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953512"/>
            <a:ext cx="4069080" cy="548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449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32120" y="30632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F3C"/>
                </a:solidFill>
              </a:rPr>
              <a:t>Partial Dependence Plots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56048" y="3547872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marginal effect of 1–2 features on prediction. Helps identify non-linear relationships and interaction effects.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Géron, Hands-On ML (2023) · Lundberg &amp; Lee, 'A Unified Approach to SHAP Values', NeurIPS (2017)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Evaluation Report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complete classification project report must include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960120"/>
            <a:ext cx="269748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60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" y="14173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statement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1810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 and rationale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22037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figures (3–5 metrics)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64992" y="9601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960120"/>
            <a:ext cx="269748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960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22192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Methodology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14173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 and preprocessing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1810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decisions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2037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process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27064" y="9601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27064" y="960120"/>
            <a:ext cx="269748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960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84264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Results &amp; Metrics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36792" y="14173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visualization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36792" y="1810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metrics table (train/val/test)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36792" y="22037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and AUC comparison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28803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2880360"/>
            <a:ext cx="2697480" cy="3657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880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Interpretability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chart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" y="37307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plot (if applicable)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" y="41239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— where did the model fail?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64992" y="28803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64992" y="2880360"/>
            <a:ext cx="269748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2880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22192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MLflow Registry Record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74720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name, version, stage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74720" y="37307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metrics and tags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74720" y="41239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transition history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27064" y="288036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27064" y="2880360"/>
            <a:ext cx="26974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27064" y="2880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84264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Conclusions &amp; Next Steps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36792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business impact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36792" y="37307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 and risks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36792" y="41239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improvements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Géron (2023) · MLflow Docs · Rainio et al., Scientific Reports (2024)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Your Presentation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your 5-minute project showcase for maximum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8229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144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⏱  5-Minute Presentation Framework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548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15568" y="1481328"/>
            <a:ext cx="54864" cy="5760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1481328"/>
            <a:ext cx="960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0:00–0:45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40280" y="15179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1773936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classification task. What are the classes? What is the business or research impact of getting it right?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822960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48840"/>
            <a:ext cx="548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15568" y="2148840"/>
            <a:ext cx="54864" cy="5760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2148840"/>
            <a:ext cx="960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0:45–1:30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40280" y="2185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Your Approach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244144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data pipeline, feature engineering choices, and which models you compared during development.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816352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16352"/>
            <a:ext cx="548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15568" y="2816352"/>
            <a:ext cx="54864" cy="5760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2816352"/>
            <a:ext cx="960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1:30–3:00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40280" y="2852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Results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310896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best model's metrics on the holdout set. Walk through confusion matrix. Show ROC curve or F1 per class.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483864"/>
            <a:ext cx="822960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483864"/>
            <a:ext cx="548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115568" y="3483864"/>
            <a:ext cx="54864" cy="5760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3483864"/>
            <a:ext cx="960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3:00–4:00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4028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40280" y="377647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feature importance reveal? Where did the model struggle? What surprised you during this project?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151376"/>
            <a:ext cx="822960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151376"/>
            <a:ext cx="548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115568" y="4151376"/>
            <a:ext cx="54864" cy="5760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151376"/>
            <a:ext cx="960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490"/>
                </a:solidFill>
              </a:rPr>
              <a:t>4:00–5:00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40280" y="41879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What's Next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40280" y="4443984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improvement steps: more data, new features, different algorithm, deployment strategy to production.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Communication frameworks in Géron (2023) · ML Project Documentation Standards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Methodology &amp; Findings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a non-negotiable pillar of professional ML practice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</a:rPr>
              <a:t>The 5 Pillars of ML Documentation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325880"/>
            <a:ext cx="54864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70432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Reproducibility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16459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random seeds, library versions (requirements.txt), and exact data splits. Anyone should be able to recreate your results.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04825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048256"/>
            <a:ext cx="54864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482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70432" y="20939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Experiment Log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236829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logged in MLflow with params, metrics, tags. Include failed experiments — they carry important learning.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77063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770632"/>
            <a:ext cx="54864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7063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70432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Model Card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309067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card documents intended use, performance across sub-groups, known biases, and deployment constraints.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49300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493008"/>
            <a:ext cx="54864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930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70432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Data Lineage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70432" y="381304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source, transformation, and version of every dataset used. Link dataset hashes to model versions.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21538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215384"/>
            <a:ext cx="54864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1538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70432" y="4261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Decision Log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70432" y="453542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WHY you chose each modeling decision — not just what you did. Especially important when models reach production.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Gebru et al., 'Model Cards for Model Reporting' (2019) · MLflow Tracking Docs · Géron (2023)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</a:rPr>
              <a:t>🛠️  HANDS-ON EXERCISE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Classification Project Completion Sprint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⏱  Duration: 90 minutes  ·  Individual or pair 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475488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63840" y="1463040"/>
            <a:ext cx="82296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46304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51790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Lock Your Final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81051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Complete hyperparameter tuning. Retrain on full training set. Evaluate on holdout. Record all metrics to MLflow.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8229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13432"/>
            <a:ext cx="475488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134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63840" y="2313432"/>
            <a:ext cx="82296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231343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25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3682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Register &amp; Document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660904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Register model to MLflow registry. Add full metadata. Transition to Staging or Production. Write model card.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8229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63824"/>
            <a:ext cx="475488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63824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63840" y="3163824"/>
            <a:ext cx="82296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316382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 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321868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Build Evaluation Report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511296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Generate: confusion matrix, F1/precision/recall table, ROC curve, feature importance chart. Export to PDF or Jupyter notebook.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014216"/>
            <a:ext cx="82296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14216"/>
            <a:ext cx="475488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14216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863840" y="4014216"/>
            <a:ext cx="82296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401421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" y="40690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Prepare 5-min Presentation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36168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Prepare slides or notebook tour. Cover: problem → data → approach → results → insights → next steps.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  ·  Exercise 2 of 2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 ·  10:30 – 11:00 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30552"/>
            <a:ext cx="8229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Presentations &amp; Wrap-Up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— Showcase Your 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Evaluation Rubric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evaluation criteria for classification project presentations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229600" cy="3749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(4)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Proficient 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Developing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Clear, specific, well-motivated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Adequate context provided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or too broad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Rigorous, well-justified choices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Reasonable approach described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explanation of choices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&amp;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metrics, holdout tested, visual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metrics shown on test 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metrics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 + error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presented without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 Registry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documented, staged, annotated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with basic metadata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registry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Clarity &amp;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flow, compelling narrative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Reasonably organized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to follow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Adapted from ML course rubrics — Géron (2023) · Coursera ML Specialization assessment frameworks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walk away knowing and able to 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914400"/>
            <a:ext cx="41148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1440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Model Registry is Not Optional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2618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As ML projects scale, a registry is the difference between reproducible, collaborative ML and chaos. Adopt it from day 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1719072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719072"/>
            <a:ext cx="411480" cy="7132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1907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1764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</a:rPr>
              <a:t>Lifecycle Stages Drive Discipline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06654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Development → Staging → Production → Archived is not just a naming convention — it enforces quality gates at every transition.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523744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23744"/>
            <a:ext cx="411480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2374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2569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Statistical Tests Matter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87121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Never claim a model is 'better' without statistical evidence. McNemar's test and Wilcoxon Signed-Rank are your go-to tools.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328416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328416"/>
            <a:ext cx="411480" cy="7132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2841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374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Documentation = Professionalism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67588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Model cards, experiment logs, and decision records transform a notebook experiment into production-ready ML engineering.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133088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4133088"/>
            <a:ext cx="41148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33088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5840" y="4178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A/B Tests Close the Loop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480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Production validation through controlled traffic experiments is the final step that confirms model improvements are real.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Docs (2024) · Rainio et al., Sci Reports (2024) · Géron, Hands-On ML (O'Reilly, 2023) · Dietterich JMLR (1998)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to Avoid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Hard-earned lessons that separate professional ML from notebook hacks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2651760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96012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69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</a:rPr>
              <a:t>🚫  Data Leakage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scalers or encoders on the full dataset before splitting. Always fit on training data only, then transform all sets.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960120"/>
            <a:ext cx="2651760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96012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069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</a:rPr>
              <a:t>🚫  Evaluating on Training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463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100% training accuracy and 60% test accuracy has overfit. Always report holdout performance.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651760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698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</a:rPr>
              <a:t>🚫  Ignoring Class Imbalance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accuracy alone on a 95%/5% dataset is misleading. Use F1-macro, AUC, or balanced accuracy instead.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880360"/>
            <a:ext cx="2651760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88036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9900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</a:rPr>
              <a:t>🚫  Not Versioning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383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as 'best_model.pkl' without a registry means you lose history and cannot roll back when things go wrong.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2880360"/>
            <a:ext cx="2651760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88036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29900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</a:rPr>
              <a:t>🚫  Skipping Statistical Tests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383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model A 'beats' model B by 0.3% without a significance test is not a scientific claim.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2880360"/>
            <a:ext cx="2651760" cy="1783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288036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9900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</a:rPr>
              <a:t>🚫  Poor Documentation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383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explain what data was used, which features matter, and what the model's limits are — it is not production-ready.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Géron, Hands-On ML (2023) · MLflow Best Practices · Rainio et al., Scientific Reports (2024)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Quick Reference — Cheat Sheet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code snippets for the hands-on sessions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14400"/>
            <a:ext cx="406908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914400"/>
            <a:ext cx="406908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144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LOGGING &amp; REGISTRATION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234440"/>
            <a:ext cx="38862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mlflow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mlflow.start_run(run_name="RF_v3"):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mlflow.log_params({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"n_estimators": 200,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"max_depth": 10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mlflow.log_metrics({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"f1_macro": 0.91,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"accuracy": 0.93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mlflow.sklearn.log_model(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model, "model",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registered_model_name=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"ClassificationModel"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mlflow.set_tag(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"dataset_version", "v4.1"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02336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914400"/>
            <a:ext cx="402336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REGISTRY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234440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mlflow import MlflowClient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MlflowClient()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Transition to Staging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client.transition_model_version_stage(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name="ClassificationModel",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version=1, stage="Staging"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description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client.update_model_version(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name="ClassificationModel",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version=1,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description="RF model, F1=0.91"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for prediction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mlflow.pyfunc.load_model(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"models:/ClassificationModel/1"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7731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</a:rPr>
              <a:t>Source: MLflow Registry Workflow Docs (mlflow.org, 2024)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Academic, technical, and practical sources cited throughout this session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82296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TEXTBOOKS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2801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Géron, A. (2023). Hands-On Machine Learning with Scikit-Learn, Keras &amp; TensorFlow (3rd ed.). O'Reilly.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60934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Kleppmann, M. (2017). Designing Data-Intensive Applications. O'Reilly Media.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19385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Bishop, C.M. (2006). Pattern Recognition and Machine Learning. Springer.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304288"/>
            <a:ext cx="82296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042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PEER-REVIEWED JOURNALS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6243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Rainio, O., Teuho, J. &amp; Klén, R. (2024). Evaluation metrics and statistical tests for ML. Scientific Reports, 14, 6086.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9535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Dietterich, T. (1998). Approximate Statistical Tests for Comparing Supervised Classification Learning Algorithms. Neural Computation.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28269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Lundberg, S.M. &amp; Lee, S. (2017). A Unified Approach to Interpreting Model Predictions. NeurIPS.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648456"/>
            <a:ext cx="822960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484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TECHNICAL DOCUMENTATION &amp; GUIDES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96849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Model Registry Documentation (mlflow.org, 2024). Registry Workflow and API Reference.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42976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Neptune.ai Blog (2025). ML Model Registry: The Ultimate Guide. neptune.ai/blog/ml-model-registry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6268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Nexumo (2025). 7 MLflow Model Registry Practices That Age Well. Medium.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Complete 🎉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82296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 registry configured in MLflow with versioned models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Models transitioned through lifecycle stages with documentation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54203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Validation framework built with statistical significance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9923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Classification project completed, evaluated, and registered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45643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5-minute project presentation delivered to peers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950208"/>
            <a:ext cx="82296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77640"/>
            <a:ext cx="7955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Apply these skills to your capstone project. Register every model. Validate statistically. Document everything.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Accelerator Program  ·  Model Registry, Validation &amp; Classification Sprint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4298</Words>
  <Application>Microsoft Office PowerPoint</Application>
  <PresentationFormat>On-screen Show (16:9)</PresentationFormat>
  <Paragraphs>699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Model Registry, Validation &amp; Classification Sprint</dc:title>
  <dc:subject>PptxGenJS Presentation</dc:subject>
  <dc:creator>PptxGenJS</dc:creator>
  <cp:lastModifiedBy>Uthman Abdulrahman</cp:lastModifiedBy>
  <cp:revision>1</cp:revision>
  <dcterms:created xsi:type="dcterms:W3CDTF">2026-03-04T16:22:53Z</dcterms:created>
  <dcterms:modified xsi:type="dcterms:W3CDTF">2026-03-07T08:07:24Z</dcterms:modified>
</cp:coreProperties>
</file>