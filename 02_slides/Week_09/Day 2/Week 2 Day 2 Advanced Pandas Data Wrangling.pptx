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78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4651041" y="0"/>
            <a:ext cx="4492959" cy="51435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863" y="576251"/>
            <a:ext cx="3799501" cy="2149804"/>
          </a:xfrm>
        </p:spPr>
        <p:txBody>
          <a:bodyPr anchor="t"/>
          <a:lstStyle>
            <a:lvl1pPr algn="l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3863" y="3212430"/>
            <a:ext cx="3799501" cy="1106383"/>
          </a:xfrm>
        </p:spPr>
        <p:txBody>
          <a:bodyPr anchor="b"/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5196" y="342900"/>
            <a:ext cx="2706154" cy="273844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13001" y="4605814"/>
            <a:ext cx="610362" cy="273844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37995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id="{9E91172A-D17D-C180-F3B1-0141247E2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443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5377" y="4605814"/>
            <a:ext cx="610362" cy="273844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 up of a logo&#10;&#10;AI-generated content may be incorrect.">
            <a:extLst>
              <a:ext uri="{FF2B5EF4-FFF2-40B4-BE49-F238E27FC236}">
                <a16:creationId xmlns:a16="http://schemas.microsoft.com/office/drawing/2014/main" id="{7EC6D666-5D0B-8C45-3F9D-885CF1083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187" y="342900"/>
            <a:ext cx="637941" cy="460594"/>
          </a:xfrm>
          <a:prstGeom prst="rect">
            <a:avLst/>
          </a:prstGeom>
        </p:spPr>
      </p:pic>
      <p:pic>
        <p:nvPicPr>
          <p:cNvPr id="10" name="Picture 9" descr="A blue and orange lines&#10;&#10;AI-generated content may be incorrect.">
            <a:extLst>
              <a:ext uri="{FF2B5EF4-FFF2-40B4-BE49-F238E27FC236}">
                <a16:creationId xmlns:a16="http://schemas.microsoft.com/office/drawing/2014/main" id="{BB434980-A235-A835-9CA9-3906FF866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4282916" y="282416"/>
            <a:ext cx="578168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900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6263"/>
            <a:ext cx="3799501" cy="1751076"/>
          </a:xfrm>
        </p:spPr>
        <p:txBody>
          <a:bodyPr anchor="t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863" y="3191590"/>
            <a:ext cx="3799501" cy="1125140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13001" y="4605814"/>
            <a:ext cx="610362" cy="273844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37995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9497C09-89AE-6371-9DD4-75A5AF8DBC69}"/>
              </a:ext>
            </a:extLst>
          </p:cNvPr>
          <p:cNvGrpSpPr/>
          <p:nvPr/>
        </p:nvGrpSpPr>
        <p:grpSpPr>
          <a:xfrm>
            <a:off x="4651041" y="0"/>
            <a:ext cx="4492959" cy="5143501"/>
            <a:chOff x="6201388" y="0"/>
            <a:chExt cx="5990612" cy="685800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6198FF7-E543-F648-F22D-7A5A5F2906F4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5" name="Freeform 46">
              <a:extLst>
                <a:ext uri="{FF2B5EF4-FFF2-40B4-BE49-F238E27FC236}">
                  <a16:creationId xmlns:a16="http://schemas.microsoft.com/office/drawing/2014/main" id="{07271CCF-0DC3-3BF8-249C-3411FA74D96D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6" name="Freeform 48">
              <a:extLst>
                <a:ext uri="{FF2B5EF4-FFF2-40B4-BE49-F238E27FC236}">
                  <a16:creationId xmlns:a16="http://schemas.microsoft.com/office/drawing/2014/main" id="{CABBBCC2-237F-CBEA-84B0-1079062AC561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6B8E4F2-524D-24A8-86F4-1792F6E50E8B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E0BD260-421F-B483-B4A0-37FEFB3374F9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7D44ADD-B4C5-FBF7-10B0-325421A0D6C9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5" name="Freeform 63">
              <a:extLst>
                <a:ext uri="{FF2B5EF4-FFF2-40B4-BE49-F238E27FC236}">
                  <a16:creationId xmlns:a16="http://schemas.microsoft.com/office/drawing/2014/main" id="{5593C120-03DA-0B74-3A14-C5E66EDC4F9C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66" name="Freeform 64">
              <a:extLst>
                <a:ext uri="{FF2B5EF4-FFF2-40B4-BE49-F238E27FC236}">
                  <a16:creationId xmlns:a16="http://schemas.microsoft.com/office/drawing/2014/main" id="{2E836D48-4A84-EAB5-F726-7655BEFF3EB4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0A3C7E49-0C95-45AB-FF02-F449805F0F82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9F28514-8A8B-6BB2-9BC7-3D9A99443AA9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6FC6122-5293-4627-86DE-6601FA92141B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D443DE6D-7BB4-A4DD-F128-91CF73CEBFBE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DA35F092-ECC3-7737-485B-16E2C5DBBD9C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03BEB774-3617-CD14-3987-72B21781DF42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5958338-951C-A8ED-487F-7A180F97702A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AAD3E28-B829-0A7D-41FB-9F6EC11DF07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80446E0C-7C6F-48A3-9347-464A70687F1E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3E242CA4-6284-C376-4F9A-836D395DD50F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95B8F67F-0DC3-A4B2-71FF-A3483FA75FC1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290C650-6E01-A169-3427-A0621B17A73B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36D4EC3C-D579-E8BB-FE8E-09E88C14B686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55D23B81-F939-BBDA-DD0D-632F19F07160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80FE3946-719E-8689-941C-2DA992DE45D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10F47F19-AA93-0318-795C-11AA315F23CD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pic>
        <p:nvPicPr>
          <p:cNvPr id="83" name="Picture 82" descr="A close up of a logo&#10;&#10;AI-generated content may be incorrect.">
            <a:extLst>
              <a:ext uri="{FF2B5EF4-FFF2-40B4-BE49-F238E27FC236}">
                <a16:creationId xmlns:a16="http://schemas.microsoft.com/office/drawing/2014/main" id="{5AB071D6-F70F-FC27-1E58-03B4EB9BF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156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2138" y="1774317"/>
            <a:ext cx="3929634" cy="2546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92229" y="1774317"/>
            <a:ext cx="3929634" cy="2546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id="{17E75DCB-E0A9-8AE4-118D-B64726840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639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96" y="576072"/>
            <a:ext cx="5500116" cy="9532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1612" y="1774317"/>
            <a:ext cx="3929634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1612" y="2392251"/>
            <a:ext cx="3929634" cy="1928668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87300" y="1774317"/>
            <a:ext cx="3929634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7300" y="2392251"/>
            <a:ext cx="3929634" cy="1928668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 up of a logo&#10;&#10;AI-generated content may be incorrect.">
            <a:extLst>
              <a:ext uri="{FF2B5EF4-FFF2-40B4-BE49-F238E27FC236}">
                <a16:creationId xmlns:a16="http://schemas.microsoft.com/office/drawing/2014/main" id="{A284F8FC-5CB3-2BD1-2B02-652458337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69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AI-generated content may be incorrect.">
            <a:extLst>
              <a:ext uri="{FF2B5EF4-FFF2-40B4-BE49-F238E27FC236}">
                <a16:creationId xmlns:a16="http://schemas.microsoft.com/office/drawing/2014/main" id="{46350139-760A-2B49-EEAB-39A916ACA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743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981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3730"/>
            <a:ext cx="2707487" cy="1046282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624" y="578167"/>
            <a:ext cx="4584388" cy="360042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2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863" y="1620012"/>
            <a:ext cx="2707487" cy="2781729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950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8167"/>
            <a:ext cx="2707487" cy="1041845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917879" y="668113"/>
            <a:ext cx="4545102" cy="365280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863" y="1620013"/>
            <a:ext cx="2707487" cy="270090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03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6696396" y="0"/>
            <a:ext cx="2447604" cy="51435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4860" y="4605814"/>
            <a:ext cx="610362" cy="273844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423862" y="4565333"/>
            <a:ext cx="55013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717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12572" y="732472"/>
            <a:ext cx="1701380" cy="35884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23863" y="732472"/>
            <a:ext cx="6198043" cy="35884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63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8168"/>
            <a:ext cx="5501876" cy="951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863" y="1620012"/>
            <a:ext cx="5501876" cy="2700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5196" y="342900"/>
            <a:ext cx="27061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863" y="4605814"/>
            <a:ext cx="27061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07259" y="4605814"/>
            <a:ext cx="61036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ue and orange lines&#10;&#10;AI-generated content may be incorrect.">
            <a:extLst>
              <a:ext uri="{FF2B5EF4-FFF2-40B4-BE49-F238E27FC236}">
                <a16:creationId xmlns:a16="http://schemas.microsoft.com/office/drawing/2014/main" id="{3AEDF658-40AB-4748-93FC-CC899ED1BD0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4282916" y="282416"/>
            <a:ext cx="578168" cy="9144000"/>
          </a:xfrm>
          <a:prstGeom prst="rect">
            <a:avLst/>
          </a:prstGeom>
        </p:spPr>
      </p:pic>
      <p:pic>
        <p:nvPicPr>
          <p:cNvPr id="8" name="Picture 7" descr="A close up of a logo&#10;&#10;AI-generated content may be incorrect.">
            <a:extLst>
              <a:ext uri="{FF2B5EF4-FFF2-40B4-BE49-F238E27FC236}">
                <a16:creationId xmlns:a16="http://schemas.microsoft.com/office/drawing/2014/main" id="{0FAB2C36-D3E4-4B31-A052-6E7DAF58B67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187" y="342900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186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3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05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34662" y="1571296"/>
            <a:ext cx="570186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Advanced Pandas &amp; Data Wrangling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5831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  <a:latin typeface="Calibri"/>
              </a:defRPr>
            </a:pPr>
            <a:r>
              <a:rPr dirty="0"/>
              <a:t>Session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31631"/>
            <a:ext cx="8229600" cy="77724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600" b="1">
                <a:solidFill>
                  <a:srgbClr val="2C5F2D"/>
                </a:solidFill>
                <a:latin typeface="Calibri"/>
              </a:defRPr>
            </a:pPr>
            <a:endParaRPr dirty="0"/>
          </a:p>
          <a:p>
            <a:pPr>
              <a:defRPr sz="1400">
                <a:solidFill>
                  <a:srgbClr val="2D3748"/>
                </a:solidFill>
                <a:latin typeface="Calibri"/>
              </a:defRPr>
            </a:pPr>
            <a:r>
              <a:rPr b="1" dirty="0"/>
              <a:t>Review &amp; Dataset Showcase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14500"/>
            <a:ext cx="8229600" cy="77724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600" b="1">
                <a:solidFill>
                  <a:srgbClr val="2C5F2D"/>
                </a:solidFill>
                <a:latin typeface="Calibri"/>
              </a:defRPr>
            </a:pPr>
            <a:endParaRPr dirty="0"/>
          </a:p>
          <a:p>
            <a:pPr>
              <a:defRPr sz="1400">
                <a:solidFill>
                  <a:srgbClr val="2D3748"/>
                </a:solidFill>
                <a:latin typeface="Calibri"/>
              </a:defRPr>
            </a:pPr>
            <a:r>
              <a:rPr b="1" dirty="0"/>
              <a:t>Advanced Pandas Operations 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571750"/>
            <a:ext cx="8229600" cy="77724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600" b="1">
                <a:solidFill>
                  <a:srgbClr val="2C5F2D"/>
                </a:solidFill>
                <a:latin typeface="Calibri"/>
              </a:defRPr>
            </a:pPr>
            <a:endParaRPr dirty="0"/>
          </a:p>
          <a:p>
            <a:pPr>
              <a:defRPr sz="1400">
                <a:solidFill>
                  <a:srgbClr val="2D3748"/>
                </a:solidFill>
                <a:latin typeface="Calibri"/>
              </a:defRPr>
            </a:pPr>
            <a:r>
              <a:rPr b="1" dirty="0"/>
              <a:t>Data Wrangling in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29000"/>
            <a:ext cx="8229600" cy="77724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600" b="1">
                <a:solidFill>
                  <a:srgbClr val="2C5F2D"/>
                </a:solidFill>
                <a:latin typeface="Calibri"/>
              </a:defRPr>
            </a:pPr>
            <a:endParaRPr dirty="0"/>
          </a:p>
          <a:p>
            <a:pPr>
              <a:defRPr sz="1400">
                <a:solidFill>
                  <a:srgbClr val="2D3748"/>
                </a:solidFill>
                <a:latin typeface="Calibri"/>
              </a:defRPr>
            </a:pPr>
            <a:r>
              <a:rPr b="1" dirty="0"/>
              <a:t>Wrap-up &amp; Assignment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394903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  <a:latin typeface="Calibri"/>
              </a:defRPr>
            </a:pPr>
            <a:r>
              <a:rPr dirty="0"/>
              <a:t>Learning </a:t>
            </a:r>
            <a:r>
              <a:rPr dirty="0">
                <a:solidFill>
                  <a:schemeClr val="tx2"/>
                </a:solidFill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94A43-C382-4962-B96F-BCEFC0FF25D9}"/>
              </a:ext>
            </a:extLst>
          </p:cNvPr>
          <p:cNvSpPr txBox="1"/>
          <p:nvPr/>
        </p:nvSpPr>
        <p:spPr>
          <a:xfrm>
            <a:off x="457200" y="1600307"/>
            <a:ext cx="5696607" cy="2569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dirty="0">
                <a:solidFill>
                  <a:schemeClr val="tx2"/>
                </a:solidFill>
              </a:rPr>
              <a:t>Master advanced Pandas operations for complex data manipulation</a:t>
            </a:r>
          </a:p>
          <a:p>
            <a:pPr marL="285750" indent="-285750">
              <a:buFont typeface="Arial" panose="020B0604020202020204" pitchFamily="34" charset="0"/>
              <a:buChar char="•"/>
              <a:defRPr sz="1300">
                <a:solidFill>
                  <a:srgbClr val="FFFFFF"/>
                </a:solidFill>
                <a:latin typeface="Calibri"/>
              </a:defRPr>
            </a:pPr>
            <a:endParaRPr lang="en-US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dirty="0">
                <a:solidFill>
                  <a:schemeClr val="tx2"/>
                </a:solidFill>
              </a:rPr>
              <a:t>Understand </a:t>
            </a:r>
            <a:r>
              <a:rPr lang="en-US" dirty="0" err="1">
                <a:solidFill>
                  <a:schemeClr val="tx2"/>
                </a:solidFill>
              </a:rPr>
              <a:t>GroupBy</a:t>
            </a:r>
            <a:r>
              <a:rPr lang="en-US" dirty="0">
                <a:solidFill>
                  <a:schemeClr val="tx2"/>
                </a:solidFill>
              </a:rPr>
              <a:t> mechanics and aggregations</a:t>
            </a:r>
          </a:p>
          <a:p>
            <a:pPr marL="285750" indent="-285750">
              <a:buFont typeface="Arial" panose="020B0604020202020204" pitchFamily="34" charset="0"/>
              <a:buChar char="•"/>
              <a:defRPr sz="1300">
                <a:solidFill>
                  <a:srgbClr val="FFFFFF"/>
                </a:solidFill>
                <a:latin typeface="Calibri"/>
              </a:defRPr>
            </a:pPr>
            <a:endParaRPr lang="en-US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dirty="0">
                <a:solidFill>
                  <a:schemeClr val="tx2"/>
                </a:solidFill>
              </a:rPr>
              <a:t>Merge and join multiple datasets effectively</a:t>
            </a:r>
          </a:p>
          <a:p>
            <a:pPr marL="285750" indent="-285750">
              <a:buFont typeface="Arial" panose="020B0604020202020204" pitchFamily="34" charset="0"/>
              <a:buChar char="•"/>
              <a:defRPr sz="1300">
                <a:solidFill>
                  <a:srgbClr val="FFFFFF"/>
                </a:solidFill>
                <a:latin typeface="Calibri"/>
              </a:defRPr>
            </a:pPr>
            <a:endParaRPr lang="en-US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dirty="0">
                <a:solidFill>
                  <a:schemeClr val="tx2"/>
                </a:solidFill>
              </a:rPr>
              <a:t>Reshape data using pivot tables and melt operations</a:t>
            </a:r>
          </a:p>
          <a:p>
            <a:pPr marL="285750" indent="-285750">
              <a:buFont typeface="Arial" panose="020B0604020202020204" pitchFamily="34" charset="0"/>
              <a:buChar char="•"/>
              <a:defRPr sz="1300">
                <a:solidFill>
                  <a:srgbClr val="FFFFFF"/>
                </a:solidFill>
                <a:latin typeface="Calibri"/>
              </a:defRPr>
            </a:pPr>
            <a:endParaRPr lang="en-US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dirty="0">
                <a:solidFill>
                  <a:schemeClr val="tx2"/>
                </a:solidFill>
              </a:rPr>
              <a:t>Handle missing values and data quality issues</a:t>
            </a:r>
          </a:p>
          <a:p>
            <a:pPr marL="285750" indent="-285750">
              <a:buFont typeface="Arial" panose="020B0604020202020204" pitchFamily="34" charset="0"/>
              <a:buChar char="•"/>
              <a:defRPr sz="1300">
                <a:solidFill>
                  <a:srgbClr val="FFFFFF"/>
                </a:solidFill>
                <a:latin typeface="Calibri"/>
              </a:defRPr>
            </a:pPr>
            <a:endParaRPr lang="en-US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300">
                <a:solidFill>
                  <a:srgbClr val="FFFFFF"/>
                </a:solidFill>
                <a:latin typeface="Calibri"/>
              </a:defRPr>
            </a:pPr>
            <a:r>
              <a:rPr lang="en-US" dirty="0">
                <a:solidFill>
                  <a:schemeClr val="tx2"/>
                </a:solidFill>
              </a:rPr>
              <a:t>Clean real-world Nigerian market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67A58F-C8D8-4E0E-AC91-839BB979AB44}"/>
              </a:ext>
            </a:extLst>
          </p:cNvPr>
          <p:cNvSpPr txBox="1"/>
          <p:nvPr/>
        </p:nvSpPr>
        <p:spPr>
          <a:xfrm>
            <a:off x="457200" y="1071636"/>
            <a:ext cx="4887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By the end of this session, you will: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614924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  <a:latin typeface="Calibri"/>
              </a:defRPr>
            </a:pPr>
            <a:r>
              <a:rPr dirty="0">
                <a:solidFill>
                  <a:srgbClr val="FFC000"/>
                </a:solidFill>
                <a:highlight>
                  <a:srgbClr val="000000"/>
                </a:highlight>
              </a:rPr>
              <a:t>Why Advanced Pandas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89023"/>
            <a:ext cx="7132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5F2D"/>
                </a:solidFill>
                <a:latin typeface="Calibri"/>
              </a:defRPr>
            </a:pPr>
            <a:r>
              <a:t>Real-World Data is Messy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54783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Calibri"/>
              </a:defRPr>
            </a:pPr>
            <a:r>
              <a:t>Nigerian market data often contains missing values, inconsistent formats, and duplicate records. Advanced Pandas helps you handle these challenges systematically.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77743"/>
            <a:ext cx="7132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5F2D"/>
                </a:solidFill>
                <a:latin typeface="Calibri"/>
              </a:defRPr>
            </a:pPr>
            <a:r>
              <a:t>Performance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43503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Calibri"/>
              </a:defRPr>
            </a:pPr>
            <a:r>
              <a:t>Working with large datasets (100k+ rows) requires efficient operations. GroupBy and vectorized operations can be 100x faster than loops.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66463"/>
            <a:ext cx="7132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5F2D"/>
                </a:solidFill>
                <a:latin typeface="Calibri"/>
              </a:defRPr>
            </a:pPr>
            <a:r>
              <a:t>Data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32223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Calibri"/>
              </a:defRPr>
            </a:pPr>
            <a:r>
              <a:t>Business insights often require combining data from multiple sources - sales, inventory, customer data. Merging and joining are essential skills.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24524E-284E-47F9-A384-F60F3FCE85DC}"/>
              </a:ext>
            </a:extLst>
          </p:cNvPr>
          <p:cNvSpPr/>
          <p:nvPr/>
        </p:nvSpPr>
        <p:spPr>
          <a:xfrm>
            <a:off x="0" y="0"/>
            <a:ext cx="9144000" cy="4572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16C30F-192E-474A-8FD4-3FB219E9B6EE}"/>
              </a:ext>
            </a:extLst>
          </p:cNvPr>
          <p:cNvSpPr txBox="1"/>
          <p:nvPr/>
        </p:nvSpPr>
        <p:spPr>
          <a:xfrm>
            <a:off x="1062096" y="1516559"/>
            <a:ext cx="701980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dirty="0">
                <a:solidFill>
                  <a:schemeClr val="accent3">
                    <a:lumMod val="75000"/>
                  </a:schemeClr>
                </a:solidFill>
              </a:rPr>
              <a:t>Advanced Pandas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701846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  <a:latin typeface="Calibri"/>
              </a:defRPr>
            </a:pPr>
            <a:r>
              <a:rPr dirty="0">
                <a:solidFill>
                  <a:schemeClr val="accent3">
                    <a:lumMod val="75000"/>
                  </a:schemeClr>
                </a:solidFill>
              </a:rPr>
              <a:t>Understanding </a:t>
            </a:r>
            <a:r>
              <a:rPr dirty="0" err="1">
                <a:solidFill>
                  <a:schemeClr val="accent3">
                    <a:lumMod val="75000"/>
                  </a:schemeClr>
                </a:solidFill>
              </a:rPr>
              <a:t>GroupBy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2D3748"/>
                </a:solidFill>
                <a:latin typeface="Calibri"/>
              </a:defRPr>
            </a:pPr>
            <a:r>
              <a:rPr dirty="0" err="1"/>
              <a:t>GroupBy</a:t>
            </a:r>
            <a:r>
              <a:rPr dirty="0"/>
              <a:t> follows the Split-Apply-Combine pattern: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65176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463040" y="2011680"/>
            <a:ext cx="640080" cy="640080"/>
          </a:xfrm>
          <a:prstGeom prst="ellipse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63040" y="201168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C5F2D"/>
                </a:solidFill>
                <a:latin typeface="Calibri"/>
              </a:defRPr>
            </a:pPr>
            <a:r>
              <a:t>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D3748"/>
                </a:solidFill>
                <a:latin typeface="Calibri"/>
              </a:defRPr>
            </a:pPr>
            <a:r>
              <a:t>Divide data into groups based on criteria (e.g., by state, category, date)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828800"/>
            <a:ext cx="265176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297680" y="2011680"/>
            <a:ext cx="640080" cy="640080"/>
          </a:xfrm>
          <a:prstGeom prst="ellipse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201168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8346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C5F2D"/>
                </a:solidFill>
                <a:latin typeface="Calibri"/>
              </a:defRPr>
            </a:pPr>
            <a:r>
              <a:t>Apply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200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D3748"/>
                </a:solidFill>
                <a:latin typeface="Calibri"/>
              </a:defRPr>
            </a:pPr>
            <a:r>
              <a:t>Apply a function to each group independently (sum, mean, count, custom function)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828800"/>
            <a:ext cx="2651760" cy="22860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132320" y="2011680"/>
            <a:ext cx="640080" cy="640080"/>
          </a:xfrm>
          <a:prstGeom prst="ellipse">
            <a:avLst/>
          </a:prstGeom>
          <a:solidFill>
            <a:srgbClr val="2C5F2D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0" y="201168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3464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C5F2D"/>
                </a:solidFill>
                <a:latin typeface="Calibri"/>
              </a:defRPr>
            </a:pPr>
            <a:r>
              <a:t>Combine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2004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2D3748"/>
                </a:solidFill>
                <a:latin typeface="Calibri"/>
              </a:defRPr>
            </a:pPr>
            <a:r>
              <a:t>Merge results back into a single DataFrame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  <a:latin typeface="Calibri"/>
              </a:defRPr>
            </a:pPr>
            <a:r>
              <a:t>GroupBy: Nigerian Market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534510"/>
            <a:ext cx="4114800" cy="2354318"/>
          </a:xfrm>
          <a:prstGeom prst="rect">
            <a:avLst/>
          </a:prstGeom>
          <a:solidFill>
            <a:srgbClr val="F8F9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rPr dirty="0"/>
              <a:t>import pandas as pd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endParaRPr dirty="0"/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rPr dirty="0"/>
              <a:t># Load Nigerian market data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rPr dirty="0"/>
              <a:t>df = </a:t>
            </a:r>
            <a:r>
              <a:rPr dirty="0" err="1"/>
              <a:t>pd.read_csv</a:t>
            </a:r>
            <a:r>
              <a:rPr dirty="0"/>
              <a:t>('market_prices.csv')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endParaRPr dirty="0"/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rPr dirty="0"/>
              <a:t># Group by state and calculate statistics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rPr dirty="0" err="1"/>
              <a:t>state_summary</a:t>
            </a:r>
            <a:r>
              <a:rPr dirty="0"/>
              <a:t> = </a:t>
            </a:r>
            <a:r>
              <a:rPr dirty="0" err="1"/>
              <a:t>df.groupby</a:t>
            </a:r>
            <a:r>
              <a:rPr dirty="0"/>
              <a:t>('State').</a:t>
            </a:r>
            <a:r>
              <a:rPr dirty="0" err="1"/>
              <a:t>agg</a:t>
            </a:r>
            <a:r>
              <a:rPr dirty="0"/>
              <a:t>({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rPr dirty="0"/>
              <a:t>    'Price': ['mean', 'median', 'std'],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rPr dirty="0"/>
              <a:t>    'Quantity': 'sum',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rPr dirty="0"/>
              <a:t>    'Product': 'count'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rPr dirty="0"/>
              <a:t>})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endParaRPr dirty="0"/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rPr dirty="0"/>
              <a:t>print(</a:t>
            </a:r>
            <a:r>
              <a:rPr dirty="0" err="1"/>
              <a:t>state_summary</a:t>
            </a:r>
            <a:r>
              <a:rPr dirty="0"/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0" y="1534511"/>
            <a:ext cx="3931920" cy="2354318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>
              <a:defRPr sz="1600" b="1">
                <a:solidFill>
                  <a:srgbClr val="2C5F2D"/>
                </a:solidFill>
                <a:latin typeface="Calibri"/>
              </a:defRPr>
            </a:pPr>
            <a:r>
              <a:rPr dirty="0"/>
              <a:t>Output Interpretation</a:t>
            </a:r>
            <a:endParaRPr lang="en-US" dirty="0"/>
          </a:p>
          <a:p>
            <a:pPr>
              <a:defRPr sz="1600" b="1">
                <a:solidFill>
                  <a:srgbClr val="2C5F2D"/>
                </a:solidFill>
                <a:latin typeface="Calibri"/>
              </a:defRPr>
            </a:pPr>
            <a:endParaRPr dirty="0"/>
          </a:p>
          <a:p>
            <a:pPr>
              <a:defRPr sz="1300">
                <a:solidFill>
                  <a:srgbClr val="2D3748"/>
                </a:solidFill>
                <a:latin typeface="Calibri"/>
              </a:defRPr>
            </a:pPr>
            <a:r>
              <a:rPr dirty="0"/>
              <a:t>This creates a multi-index </a:t>
            </a:r>
            <a:r>
              <a:rPr dirty="0" err="1"/>
              <a:t>DataFrame</a:t>
            </a:r>
            <a:r>
              <a:rPr dirty="0"/>
              <a:t> showing:</a:t>
            </a:r>
          </a:p>
          <a:p>
            <a:pPr>
              <a:defRPr sz="1300">
                <a:solidFill>
                  <a:srgbClr val="2D3748"/>
                </a:solidFill>
                <a:latin typeface="Calibri"/>
              </a:defRPr>
            </a:pPr>
            <a:r>
              <a:rPr dirty="0"/>
              <a:t>Average price per state</a:t>
            </a:r>
          </a:p>
          <a:p>
            <a:pPr>
              <a:defRPr sz="1300">
                <a:solidFill>
                  <a:srgbClr val="2D3748"/>
                </a:solidFill>
                <a:latin typeface="Calibri"/>
              </a:defRPr>
            </a:pPr>
            <a:r>
              <a:rPr dirty="0"/>
              <a:t>Median price (robust to outliers)</a:t>
            </a:r>
          </a:p>
          <a:p>
            <a:pPr>
              <a:defRPr sz="1300">
                <a:solidFill>
                  <a:srgbClr val="2D3748"/>
                </a:solidFill>
                <a:latin typeface="Calibri"/>
              </a:defRPr>
            </a:pPr>
            <a:r>
              <a:rPr dirty="0"/>
              <a:t>Price variation (std deviation)</a:t>
            </a:r>
          </a:p>
          <a:p>
            <a:pPr>
              <a:defRPr sz="1300">
                <a:solidFill>
                  <a:srgbClr val="2D3748"/>
                </a:solidFill>
                <a:latin typeface="Calibri"/>
              </a:defRPr>
            </a:pPr>
            <a:r>
              <a:rPr dirty="0"/>
              <a:t>Total quantity traded</a:t>
            </a:r>
          </a:p>
          <a:p>
            <a:pPr>
              <a:defRPr sz="1300">
                <a:solidFill>
                  <a:srgbClr val="2D3748"/>
                </a:solidFill>
                <a:latin typeface="Calibri"/>
              </a:defRPr>
            </a:pPr>
            <a:r>
              <a:rPr dirty="0"/>
              <a:t>Number of products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631063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  <a:latin typeface="Calibri"/>
              </a:defRPr>
            </a:pPr>
            <a:r>
              <a:rPr dirty="0">
                <a:solidFill>
                  <a:schemeClr val="accent3">
                    <a:lumMod val="75000"/>
                  </a:schemeClr>
                </a:solidFill>
              </a:rPr>
              <a:t>Common Aggregation Functions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sum()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Total of all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Total sales revenue per region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mean()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Average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Average product price by 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median()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Middle value (50th percentile)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Typical price (robust to outliers)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std()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Standard deviation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Price volatility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count()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Number of non-null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Transaction frequency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min() / max()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Minimum / Maximum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Price range identification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first() / last()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First / Last value in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Latest price or initial stock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nunique()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Number of unique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Product variety per vendor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rPr dirty="0"/>
                        <a:t>size()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t>Number of rows (includes nulls)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3748"/>
                          </a:solidFill>
                          <a:latin typeface="Calibri"/>
                        </a:defRPr>
                      </a:pPr>
                      <a:r>
                        <a:rPr dirty="0"/>
                        <a:t>Total records per group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603870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  <a:latin typeface="Calibri"/>
              </a:defRPr>
            </a:pPr>
            <a:r>
              <a:rPr dirty="0">
                <a:solidFill>
                  <a:schemeClr val="accent3">
                    <a:lumMod val="75000"/>
                  </a:schemeClr>
                </a:solidFill>
              </a:rPr>
              <a:t>Grouping by Multiple Columns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Calibri"/>
              </a:defRPr>
            </a:pPr>
            <a:r>
              <a:t>Group by multiple columns to create hierarchical summaries: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8229600" cy="1645920"/>
          </a:xfrm>
          <a:prstGeom prst="rect">
            <a:avLst/>
          </a:prstGeom>
          <a:solidFill>
            <a:srgbClr val="F8F9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000">
                <a:solidFill>
                  <a:srgbClr val="2D3748"/>
                </a:solidFill>
                <a:latin typeface="Consolas"/>
              </a:defRPr>
            </a:pPr>
            <a:r>
              <a:t># Group by State and Market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df.groupby(['State', 'Market'])['Price'].mean()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endParaRPr/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# Group by State, Market, and Product Category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df.groupby(['State', 'Market', 'Category']).agg({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    'Price': 'mean',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    'Quantity': 'sum'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})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2D3748"/>
                </a:solidFill>
                <a:latin typeface="Calibri"/>
              </a:defRPr>
            </a:pPr>
            <a:r>
              <a:t>Tip: Use reset_index() to convert multi-index results back to regular columns for easier manipulation.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F8F9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000">
                <a:solidFill>
                  <a:srgbClr val="2D3748"/>
                </a:solidFill>
                <a:latin typeface="Consolas"/>
              </a:defRPr>
            </a:pPr>
            <a:r>
              <a:t>result = df.groupby(['State', 'Market'])['Price'].mean().reset_index()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604659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  <a:latin typeface="Calibri"/>
              </a:defRPr>
            </a:pPr>
            <a:r>
              <a:rPr dirty="0">
                <a:solidFill>
                  <a:schemeClr val="accent3">
                    <a:lumMod val="75000"/>
                  </a:schemeClr>
                </a:solidFill>
              </a:rPr>
              <a:t>Merging &amp; Joining </a:t>
            </a:r>
            <a:r>
              <a:rPr dirty="0" err="1">
                <a:solidFill>
                  <a:schemeClr val="accent3">
                    <a:lumMod val="75000"/>
                  </a:schemeClr>
                </a:solidFill>
              </a:rPr>
              <a:t>DataFrames</a:t>
            </a:r>
            <a:endParaRPr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Calibri"/>
              </a:defRPr>
            </a:pPr>
            <a:r>
              <a:t>Combine data from multiple sources using common keys: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5F2D"/>
                </a:solidFill>
                <a:latin typeface="Calibri"/>
              </a:defRPr>
            </a:pPr>
            <a:r>
              <a:t>Inner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55448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8"/>
                </a:solidFill>
                <a:latin typeface="Calibri"/>
              </a:defRPr>
            </a:pPr>
            <a:r>
              <a:t>Only matching rows from both DataFrames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5544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718096"/>
                </a:solidFill>
                <a:latin typeface="Calibri"/>
              </a:defRPr>
            </a:pPr>
            <a:r>
              <a:t>When you need only confirmed matches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82296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5F2D"/>
                </a:solidFill>
                <a:latin typeface="Calibri"/>
              </a:defRPr>
            </a:pPr>
            <a:r>
              <a:t>Left Join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8"/>
                </a:solidFill>
                <a:latin typeface="Calibri"/>
              </a:defRPr>
            </a:pPr>
            <a:r>
              <a:t>All rows from left + matching from 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3774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718096"/>
                </a:solidFill>
                <a:latin typeface="Calibri"/>
              </a:defRPr>
            </a:pPr>
            <a:r>
              <a:t>Keep all original records, add supplementary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8229600" cy="6858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5F2D"/>
                </a:solidFill>
                <a:latin typeface="Calibri"/>
              </a:defRPr>
            </a:pPr>
            <a:r>
              <a:t>Right Join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0040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8"/>
                </a:solidFill>
                <a:latin typeface="Calibri"/>
              </a:defRPr>
            </a:pPr>
            <a:r>
              <a:t>All rows from right + matching from left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2004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718096"/>
                </a:solidFill>
                <a:latin typeface="Calibri"/>
              </a:defRPr>
            </a:pPr>
            <a:r>
              <a:t>Ensure all reference data is included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02336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5F2D"/>
                </a:solidFill>
                <a:latin typeface="Calibri"/>
              </a:defRPr>
            </a:pPr>
            <a:r>
              <a:t>Outer Join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023360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748"/>
                </a:solidFill>
                <a:latin typeface="Calibri"/>
              </a:defRPr>
            </a:pPr>
            <a:r>
              <a:t>All rows from both DataFrames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0233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718096"/>
                </a:solidFill>
                <a:latin typeface="Calibri"/>
              </a:defRPr>
            </a:pPr>
            <a:r>
              <a:t>Comprehensive view with all records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645298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  <a:latin typeface="Calibri"/>
              </a:defRPr>
            </a:pPr>
            <a:r>
              <a:rPr dirty="0">
                <a:solidFill>
                  <a:schemeClr val="accent3">
                    <a:lumMod val="75000"/>
                  </a:schemeClr>
                </a:solidFill>
              </a:rPr>
              <a:t>Merge Example: Market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3064817"/>
          </a:xfrm>
          <a:prstGeom prst="rect">
            <a:avLst/>
          </a:prstGeom>
          <a:solidFill>
            <a:srgbClr val="F8F9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000">
                <a:solidFill>
                  <a:srgbClr val="2D3748"/>
                </a:solidFill>
                <a:latin typeface="Consolas"/>
              </a:defRPr>
            </a:pPr>
            <a:r>
              <a:t># Load datasets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sales = pd.read_csv('daily_sales.csv')  # Columns: Date, Market_ID, Product, Quantity, Revenue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markets = pd.read_csv('market_info.csv')  # Columns: Market_ID, Market_Name, State, Region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endParaRPr/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# Inner join: Sales data with market information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merged = pd.merge(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    sales,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    markets,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    on='Market_ID',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    how='inner'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)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endParaRPr/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# Now you can analyze sales by Region, State, or Market_Name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regional_revenue = merged.groupby('Region')['Revenue'].sum()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68110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  <a:latin typeface="Calibri"/>
              </a:defRPr>
            </a:pPr>
            <a:r>
              <a:rPr dirty="0">
                <a:solidFill>
                  <a:schemeClr val="accent3">
                    <a:lumMod val="75000"/>
                  </a:schemeClr>
                </a:solidFill>
              </a:rPr>
              <a:t>Pivot Tables: Reshaping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Calibri"/>
              </a:defRPr>
            </a:pPr>
            <a:r>
              <a:t>Transform long data into wide format for better analysis and visualization: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931920" cy="18288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400" b="1">
                <a:solidFill>
                  <a:srgbClr val="2C5F2D"/>
                </a:solidFill>
                <a:latin typeface="Calibri"/>
              </a:defRPr>
            </a:pPr>
            <a:r>
              <a:t>Long Format (Input)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Date       | State  | Product | Price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2024-01-01 | Lagos  | Rice    | 450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2024-01-01 | Lagos  | Beans   | 380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2024-01-01 | Kano   | Rice    | 420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2024-01-01 | Kano   | Beans   | 360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2194560"/>
            <a:ext cx="7315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F9C74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463040"/>
            <a:ext cx="3931920" cy="182880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tlCol="0" anchor="ctr"/>
          <a:lstStyle/>
          <a:p>
            <a:pPr algn="ctr">
              <a:defRPr sz="1400" b="1">
                <a:solidFill>
                  <a:srgbClr val="2C5F2D"/>
                </a:solidFill>
                <a:latin typeface="Calibri"/>
              </a:defRPr>
            </a:pPr>
            <a:r>
              <a:t>Wide Format (Pivot)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State  | Beans | Rice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Lagos  | 380   | 450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Kano   | 360   | 420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solidFill>
            <a:srgbClr val="F8F9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000">
                <a:solidFill>
                  <a:srgbClr val="2D3748"/>
                </a:solidFill>
                <a:latin typeface="Consolas"/>
              </a:defRPr>
            </a:pPr>
            <a:r>
              <a:t>pivot = df.pivot_table(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    values='Price',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    index='State',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    columns='Product',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    aggfunc='mean'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69181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  <a:latin typeface="Calibri"/>
              </a:defRPr>
            </a:pPr>
            <a:r>
              <a:rPr dirty="0">
                <a:solidFill>
                  <a:schemeClr val="accent3">
                    <a:lumMod val="75000"/>
                  </a:schemeClr>
                </a:solidFill>
              </a:rPr>
              <a:t>Common Data Quality Issues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5F2D"/>
                </a:solidFill>
                <a:latin typeface="Calibri"/>
              </a:defRPr>
            </a:pPr>
            <a:r>
              <a:t>Missing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  <a:latin typeface="Calibri"/>
              </a:defRPr>
            </a:pPr>
            <a:r>
              <a:t>NaN, empty strings, 'N/A', 'Unknown'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188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718096"/>
                </a:solidFill>
                <a:latin typeface="Calibri"/>
              </a:defRPr>
            </a:pPr>
            <a:r>
              <a:t>Biased statistics, calculation errors, model failures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10512"/>
            <a:ext cx="8229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5F2D"/>
                </a:solidFill>
                <a:latin typeface="Calibri"/>
              </a:defRPr>
            </a:pPr>
            <a:r>
              <a:t>Duplicates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9019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  <a:latin typeface="Calibri"/>
              </a:defRPr>
            </a:pPr>
            <a:r>
              <a:t>Same record entered twice, different timestamps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9019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718096"/>
                </a:solidFill>
                <a:latin typeface="Calibri"/>
              </a:defRPr>
            </a:pPr>
            <a:r>
              <a:t>Inflated counts, incorrect totals, skewed averages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23744"/>
            <a:ext cx="82296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615184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5F2D"/>
                </a:solidFill>
                <a:latin typeface="Calibri"/>
              </a:defRPr>
            </a:pPr>
            <a:r>
              <a:t>Inconsistent Formats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61518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  <a:latin typeface="Calibri"/>
              </a:defRPr>
            </a:pPr>
            <a:r>
              <a:t>'Lagos' vs 'LAGOS' vs 'lagos state'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61518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718096"/>
                </a:solidFill>
                <a:latin typeface="Calibri"/>
              </a:defRPr>
            </a:pPr>
            <a:r>
              <a:t>Failed joins, incorrect groupings, data fragmentation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68507"/>
            <a:ext cx="8229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328416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5F2D"/>
                </a:solidFill>
                <a:latin typeface="Calibri"/>
              </a:defRPr>
            </a:pPr>
            <a:r>
              <a:t>Data Type Mismatches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32841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  <a:latin typeface="Calibri"/>
              </a:defRPr>
            </a:pPr>
            <a:r>
              <a:t>Prices stored as strings, dates as objects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32841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718096"/>
                </a:solidFill>
                <a:latin typeface="Calibri"/>
              </a:defRPr>
            </a:pPr>
            <a:r>
              <a:t>Cannot perform calculations or time-based operations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50208"/>
            <a:ext cx="82296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041648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5F2D"/>
                </a:solidFill>
                <a:latin typeface="Calibri"/>
              </a:defRPr>
            </a:pPr>
            <a:r>
              <a:t>Outliers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0416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  <a:latin typeface="Calibri"/>
              </a:defRPr>
            </a:pPr>
            <a:r>
              <a:t>Price = ₦1,000,000 for a bag of rice (typo)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0416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718096"/>
                </a:solidFill>
                <a:latin typeface="Calibri"/>
              </a:defRPr>
            </a:pPr>
            <a:r>
              <a:t>Distorted statistics, misleading insights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  <a:latin typeface="Calibri"/>
              </a:defRPr>
            </a:pPr>
            <a:r>
              <a:t>Detecting Missing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114300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D3748"/>
                </a:solidFill>
                <a:latin typeface="Calibri"/>
              </a:defRPr>
            </a:pPr>
            <a:r>
              <a:t>Use multiple methods to identify all forms of missing data: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8229600" cy="2743200"/>
          </a:xfrm>
          <a:prstGeom prst="rect">
            <a:avLst/>
          </a:prstGeom>
          <a:solidFill>
            <a:srgbClr val="F8F9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000">
                <a:solidFill>
                  <a:srgbClr val="2D3748"/>
                </a:solidFill>
                <a:latin typeface="Consolas"/>
              </a:defRPr>
            </a:pPr>
            <a:r>
              <a:t># Check for NaN values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df.isnull().sum()  # Count missing values per column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df.isnull().sum() / len(df) * 100  # Percentage missing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endParaRPr/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# Visualize missing data pattern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import missingno as msno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msno.matrix(df)  # Visual heatmap of missing values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endParaRPr/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# Check for hidden missing values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df['Price'].isin(['N/A', 'Unknown', '', ' ']).sum()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endParaRPr/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# Get rows with any missing values</a:t>
            </a:r>
          </a:p>
          <a:p>
            <a:pPr>
              <a:defRPr sz="1000">
                <a:solidFill>
                  <a:srgbClr val="2D3748"/>
                </a:solidFill>
                <a:latin typeface="Consolas"/>
              </a:defRPr>
            </a:pPr>
            <a:r>
              <a:t>incomplete_rows = df[df.isnull().any(axis=1)]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3628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6942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9C74F"/>
                </a:solidFill>
                <a:latin typeface="Calibri"/>
              </a:defRPr>
            </a:pPr>
            <a:r>
              <a:rPr dirty="0"/>
              <a:t>Clean &amp; Prepare Your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1853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alibri"/>
              </a:defRPr>
            </a:pPr>
            <a:r>
              <a:rPr dirty="0"/>
              <a:t>1. Clean and prepare your selected Nigerian dataset</a:t>
            </a:r>
          </a:p>
          <a:p>
            <a:pPr>
              <a:defRPr sz="1500">
                <a:solidFill>
                  <a:srgbClr val="FFFFFF"/>
                </a:solidFill>
                <a:latin typeface="Calibri"/>
              </a:defRPr>
            </a:pPr>
            <a:r>
              <a:rPr dirty="0"/>
              <a:t>2. Perform comprehensive exploratory analysis</a:t>
            </a:r>
          </a:p>
          <a:p>
            <a:pPr>
              <a:defRPr sz="1500">
                <a:solidFill>
                  <a:srgbClr val="FFFFFF"/>
                </a:solidFill>
                <a:latin typeface="Calibri"/>
              </a:defRPr>
            </a:pPr>
            <a:r>
              <a:rPr dirty="0"/>
              <a:t>3. Generate summary statistics</a:t>
            </a:r>
          </a:p>
          <a:p>
            <a:pPr>
              <a:defRPr sz="1500">
                <a:solidFill>
                  <a:srgbClr val="FFFFFF"/>
                </a:solidFill>
                <a:latin typeface="Calibri"/>
              </a:defRPr>
            </a:pPr>
            <a:r>
              <a:rPr dirty="0"/>
              <a:t>4. Identify and document all data quality issues</a:t>
            </a:r>
          </a:p>
          <a:p>
            <a:pPr>
              <a:defRPr sz="1500">
                <a:solidFill>
                  <a:srgbClr val="FFFFFF"/>
                </a:solidFill>
                <a:latin typeface="Calibri"/>
              </a:defRPr>
            </a:pPr>
            <a:r>
              <a:rPr dirty="0"/>
              <a:t>5. Document your complete cleaning workflow</a:t>
            </a:r>
          </a:p>
          <a:p>
            <a:pPr>
              <a:defRPr sz="1500">
                <a:solidFill>
                  <a:srgbClr val="FFFFFF"/>
                </a:solidFill>
                <a:latin typeface="Calibri"/>
              </a:defRPr>
            </a:pPr>
            <a:endParaRPr dirty="0"/>
          </a:p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rPr dirty="0"/>
              <a:t>Deliverables:</a:t>
            </a:r>
          </a:p>
          <a:p>
            <a:pPr>
              <a:defRPr sz="1500">
                <a:solidFill>
                  <a:srgbClr val="FFFFFF"/>
                </a:solidFill>
                <a:latin typeface="Calibri"/>
              </a:defRPr>
            </a:pPr>
            <a:r>
              <a:rPr dirty="0"/>
              <a:t>• Cleaned CSV file</a:t>
            </a:r>
          </a:p>
          <a:p>
            <a:pPr>
              <a:defRPr sz="1500">
                <a:solidFill>
                  <a:srgbClr val="FFFFFF"/>
                </a:solidFill>
                <a:latin typeface="Calibri"/>
              </a:defRPr>
            </a:pPr>
            <a:r>
              <a:rPr dirty="0"/>
              <a:t>• </a:t>
            </a:r>
            <a:r>
              <a:rPr dirty="0" err="1"/>
              <a:t>Jupyter</a:t>
            </a:r>
            <a:r>
              <a:rPr dirty="0"/>
              <a:t> notebook with documented steps</a:t>
            </a:r>
          </a:p>
          <a:p>
            <a:pPr>
              <a:defRPr sz="1500">
                <a:solidFill>
                  <a:srgbClr val="FFFFFF"/>
                </a:solidFill>
                <a:latin typeface="Calibri"/>
              </a:defRPr>
            </a:pPr>
            <a:r>
              <a:rPr dirty="0"/>
              <a:t>• Data quality report (before/after comparison)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055" y="274320"/>
            <a:ext cx="757662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  <a:latin typeface="Calibri"/>
              </a:defRPr>
            </a:pPr>
            <a:r>
              <a:rPr dirty="0">
                <a:solidFill>
                  <a:schemeClr val="accent3">
                    <a:lumMod val="75000"/>
                  </a:schemeClr>
                </a:solidFill>
              </a:rPr>
              <a:t>Recommended Textbooks &amp; Resources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86868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5F2D"/>
                </a:solidFill>
                <a:latin typeface="Calibri"/>
              </a:defRPr>
            </a:pPr>
            <a:r>
              <a:t>Python for Data Analysis (3rd Edition)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1907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18096"/>
                </a:solidFill>
                <a:latin typeface="Calibri"/>
              </a:defRPr>
            </a:pPr>
            <a:r>
              <a:t>by Wes McKinney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  <a:latin typeface="Calibri"/>
              </a:defRPr>
            </a:pPr>
            <a:r>
              <a:t>Written by Pandas creator. Comprehensive guide to data manipulation, cleaning, and analysis.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8229600" cy="86868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5F2D"/>
                </a:solidFill>
                <a:latin typeface="Calibri"/>
              </a:defRPr>
            </a:pPr>
            <a:r>
              <a:t>Pandas Cookbook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2491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18096"/>
                </a:solidFill>
                <a:latin typeface="Calibri"/>
              </a:defRPr>
            </a:pPr>
            <a:r>
              <a:t>by Theodore Petrou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  <a:latin typeface="Calibri"/>
              </a:defRPr>
            </a:pPr>
            <a:r>
              <a:t>Practical recipes for real-world data wrangling challenges.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8229600" cy="86868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4747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5F2D"/>
                </a:solidFill>
                <a:latin typeface="Calibri"/>
              </a:defRPr>
            </a:pPr>
            <a:r>
              <a:t>Data Wrangling with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3075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18096"/>
                </a:solidFill>
                <a:latin typeface="Calibri"/>
              </a:defRPr>
            </a:pPr>
            <a:r>
              <a:t>by Jacqueline Kazil &amp; Katharine Jarmul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  <a:latin typeface="Calibri"/>
              </a:defRPr>
            </a:pPr>
            <a:r>
              <a:t>Focus on cleaning messy, real-world data similar to Nigerian market datasets.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05093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  <a:latin typeface="Calibri"/>
              </a:defRPr>
            </a:pPr>
            <a:r>
              <a:rPr dirty="0">
                <a:solidFill>
                  <a:schemeClr val="accent3">
                    <a:lumMod val="75000"/>
                  </a:schemeClr>
                </a:solidFill>
              </a:rPr>
              <a:t>Online Resources &amp; Blogs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5F2D"/>
                </a:solidFill>
                <a:latin typeface="Calibri"/>
              </a:defRPr>
            </a:pPr>
            <a:r>
              <a:t>Official Pandas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7BC62"/>
                </a:solidFill>
                <a:latin typeface="Calibri"/>
              </a:defRPr>
            </a:pPr>
            <a:r>
              <a:t>pandas.pydata.org/docs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3443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  <a:latin typeface="Calibri"/>
              </a:defRPr>
            </a:pPr>
            <a:r>
              <a:t>User guide, API reference, and tutorials directly from the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10512"/>
            <a:ext cx="8229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83664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5F2D"/>
                </a:solidFill>
                <a:latin typeface="Calibri"/>
              </a:defRPr>
            </a:pPr>
            <a:r>
              <a:t>Real Python - Pandas Tutorials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57984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7BC62"/>
                </a:solidFill>
                <a:latin typeface="Calibri"/>
              </a:defRPr>
            </a:pPr>
            <a:r>
              <a:t>realpython.com/pandas-python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4767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  <a:latin typeface="Calibri"/>
              </a:defRPr>
            </a:pPr>
            <a:r>
              <a:t>In-depth tutorials on GroupBy, merging, and data cleaning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23744"/>
            <a:ext cx="82296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5F2D"/>
                </a:solidFill>
                <a:latin typeface="Calibri"/>
              </a:defRPr>
            </a:pPr>
            <a:r>
              <a:t>Kaggle Learn - Pandas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71215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7BC62"/>
                </a:solidFill>
                <a:latin typeface="Calibri"/>
              </a:defRPr>
            </a:pPr>
            <a:r>
              <a:t>kaggle.com/learn/pandas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60903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  <a:latin typeface="Calibri"/>
              </a:defRPr>
            </a:pPr>
            <a:r>
              <a:t>Interactive exercises with real datasets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36976"/>
            <a:ext cx="8229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31012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5F2D"/>
                </a:solidFill>
                <a:latin typeface="Calibri"/>
              </a:defRPr>
            </a:pPr>
            <a:r>
              <a:t>Towards Data Science (Medium)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8444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7BC62"/>
                </a:solidFill>
                <a:latin typeface="Calibri"/>
              </a:defRPr>
            </a:pPr>
            <a:r>
              <a:t>towardsdatascience.com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37413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  <a:latin typeface="Calibri"/>
              </a:defRPr>
            </a:pPr>
            <a:r>
              <a:t>Practical articles on advanced Pandas techniques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50208"/>
            <a:ext cx="8229600" cy="640080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0233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C5F2D"/>
                </a:solidFill>
                <a:latin typeface="Calibri"/>
              </a:defRPr>
            </a:pPr>
            <a:r>
              <a:t>DataCamp - Pandas Cheat Sheet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7BC62"/>
                </a:solidFill>
                <a:latin typeface="Calibri"/>
              </a:defRPr>
            </a:pPr>
            <a:r>
              <a:t>datacamp.com/cheat-sheet/pandas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08736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748"/>
                </a:solidFill>
                <a:latin typeface="Calibri"/>
              </a:defRPr>
            </a:pPr>
            <a:r>
              <a:t>Quick reference for common operations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302531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5F2D"/>
                </a:solidFill>
                <a:latin typeface="Calibri"/>
              </a:defRPr>
            </a:pPr>
            <a:r>
              <a:rPr dirty="0">
                <a:solidFill>
                  <a:schemeClr val="accent3">
                    <a:lumMod val="75000"/>
                  </a:schemeClr>
                </a:solidFill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23444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3748"/>
                </a:solidFill>
                <a:latin typeface="Calibri"/>
              </a:defRPr>
            </a:pPr>
            <a:r>
              <a:t>Master the Split-Apply-Combine pattern with GroupBy for efficient aggregations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874519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3748"/>
                </a:solidFill>
                <a:latin typeface="Calibri"/>
              </a:defRPr>
            </a:pPr>
            <a:r>
              <a:t>Merge and join datasets strategically based on your analysis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51460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3748"/>
                </a:solidFill>
                <a:latin typeface="Calibri"/>
              </a:defRPr>
            </a:pPr>
            <a:r>
              <a:t>Reshape data flexibly using pivot, melt, and stack/unstack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154679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3748"/>
                </a:solidFill>
                <a:latin typeface="Calibri"/>
              </a:defRPr>
            </a:pPr>
            <a:r>
              <a:t>Apply systematic data cleaning workflows to handle real-world messiness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794759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3748"/>
                </a:solidFill>
                <a:latin typeface="Calibri"/>
              </a:defRPr>
            </a:pPr>
            <a:r>
              <a:t>Always validate your transformations and document your cleaning process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43484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D3748"/>
                </a:solidFill>
                <a:latin typeface="Calibri"/>
              </a:defRPr>
            </a:pPr>
            <a:r>
              <a:t>Feature engineering creates value from raw data through creative transformations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9C74F"/>
                </a:solidFill>
                <a:latin typeface="Calibri"/>
              </a:defRPr>
            </a:pPr>
            <a:r>
              <a:t>Let's discuss your data challenges and cleaning strategies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4SID theme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4SID theme" id="{B984A8E7-233D-4992-8743-41EAFFF94261}" vid="{D8C495CA-6F99-401E-AE3B-AE8955379D7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AI4SID theme</Template>
  <TotalTime>16</TotalTime>
  <Words>1347</Words>
  <Application>Microsoft Office PowerPoint</Application>
  <PresentationFormat>On-screen Show (16:9)</PresentationFormat>
  <Paragraphs>233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Consolas</vt:lpstr>
      <vt:lpstr>Neue Haas Grotesk Text Pro</vt:lpstr>
      <vt:lpstr>AI4SID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Uthman AbdulRahman</dc:creator>
  <cp:keywords/>
  <dc:description>generated using python-pptx</dc:description>
  <cp:lastModifiedBy>Uthman Abdulrahman</cp:lastModifiedBy>
  <cp:revision>3</cp:revision>
  <dcterms:created xsi:type="dcterms:W3CDTF">2013-01-27T09:14:16Z</dcterms:created>
  <dcterms:modified xsi:type="dcterms:W3CDTF">2026-02-04T11:52:18Z</dcterms:modified>
  <cp:category/>
</cp:coreProperties>
</file>