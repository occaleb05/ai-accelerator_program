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16"/>
  </p:notesMasterIdLst>
  <p:sldIdLst>
    <p:sldId id="257" r:id="rId2"/>
    <p:sldId id="260" r:id="rId3"/>
    <p:sldId id="259" r:id="rId4"/>
    <p:sldId id="279" r:id="rId5"/>
    <p:sldId id="295" r:id="rId6"/>
    <p:sldId id="296" r:id="rId7"/>
    <p:sldId id="297" r:id="rId8"/>
    <p:sldId id="261" r:id="rId9"/>
    <p:sldId id="298" r:id="rId10"/>
    <p:sldId id="299" r:id="rId11"/>
    <p:sldId id="300" r:id="rId12"/>
    <p:sldId id="301" r:id="rId13"/>
    <p:sldId id="302" r:id="rId14"/>
    <p:sldId id="3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A31C"/>
    <a:srgbClr val="45C2CA"/>
    <a:srgbClr val="48C3CB"/>
    <a:srgbClr val="FFFFFF"/>
    <a:srgbClr val="0380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78490" autoAdjust="0"/>
  </p:normalViewPr>
  <p:slideViewPr>
    <p:cSldViewPr snapToGrid="0">
      <p:cViewPr>
        <p:scale>
          <a:sx n="33" d="100"/>
          <a:sy n="33" d="100"/>
        </p:scale>
        <p:origin x="1988" y="400"/>
      </p:cViewPr>
      <p:guideLst/>
    </p:cSldViewPr>
  </p:slideViewPr>
  <p:notesTextViewPr>
    <p:cViewPr>
      <p:scale>
        <a:sx n="1" d="1"/>
        <a:sy n="1" d="1"/>
      </p:scale>
      <p:origin x="0" y="0"/>
    </p:cViewPr>
  </p:notesTextViewPr>
  <p:sorterViewPr>
    <p:cViewPr>
      <p:scale>
        <a:sx n="100" d="100"/>
        <a:sy n="100" d="100"/>
      </p:scale>
      <p:origin x="0" y="-70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5EF8F-E755-4CDF-A49A-784CEFF48E79}" type="datetimeFigureOut">
              <a:rPr lang="en-NG" smtClean="0"/>
              <a:t>25/01/2026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87122E-1A98-45FF-9041-48FC7599DFB4}" type="slidenum">
              <a:rPr lang="en-NG" smtClean="0"/>
              <a:t>‹#›</a:t>
            </a:fld>
            <a:endParaRPr lang="en-NG"/>
          </a:p>
        </p:txBody>
      </p:sp>
    </p:spTree>
    <p:extLst>
      <p:ext uri="{BB962C8B-B14F-4D97-AF65-F5344CB8AC3E}">
        <p14:creationId xmlns:p14="http://schemas.microsoft.com/office/powerpoint/2010/main" val="2242709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actual implementations or realistic scenarios based on public information about these companies' operations. The specific metrics are representative of industry standards for such models. This demonstrates that classification isn't theoretical - it's solving real problems in Nigeria today, from saving billions in fraud to improving healthcare access in rural areas.</a:t>
            </a:r>
            <a:endParaRPr lang="en-NG" dirty="0"/>
          </a:p>
        </p:txBody>
      </p:sp>
      <p:sp>
        <p:nvSpPr>
          <p:cNvPr id="4" name="Slide Number Placeholder 3"/>
          <p:cNvSpPr>
            <a:spLocks noGrp="1"/>
          </p:cNvSpPr>
          <p:nvPr>
            <p:ph type="sldNum" sz="quarter" idx="5"/>
          </p:nvPr>
        </p:nvSpPr>
        <p:spPr/>
        <p:txBody>
          <a:bodyPr/>
          <a:lstStyle/>
          <a:p>
            <a:fld id="{8887122E-1A98-45FF-9041-48FC7599DFB4}" type="slidenum">
              <a:rPr lang="en-NG" smtClean="0"/>
              <a:t>8</a:t>
            </a:fld>
            <a:endParaRPr lang="en-NG"/>
          </a:p>
        </p:txBody>
      </p:sp>
    </p:spTree>
    <p:extLst>
      <p:ext uri="{BB962C8B-B14F-4D97-AF65-F5344CB8AC3E}">
        <p14:creationId xmlns:p14="http://schemas.microsoft.com/office/powerpoint/2010/main" val="1495422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081B7-9A12-3ED1-3D16-020183B89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79BA3-6D59-DDBE-D2A8-87ACEED2D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1729B-49CC-E0E4-D1AE-39C43C711D53}"/>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DF4AD1C9-E4E5-130B-108F-FC54E6C74282}"/>
              </a:ext>
            </a:extLst>
          </p:cNvPr>
          <p:cNvSpPr>
            <a:spLocks noGrp="1"/>
          </p:cNvSpPr>
          <p:nvPr>
            <p:ph type="sldNum" sz="quarter" idx="5"/>
          </p:nvPr>
        </p:nvSpPr>
        <p:spPr/>
        <p:txBody>
          <a:bodyPr/>
          <a:lstStyle/>
          <a:p>
            <a:fld id="{8887122E-1A98-45FF-9041-48FC7599DFB4}" type="slidenum">
              <a:rPr lang="en-NG" smtClean="0"/>
              <a:t>9</a:t>
            </a:fld>
            <a:endParaRPr lang="en-NG"/>
          </a:p>
        </p:txBody>
      </p:sp>
    </p:spTree>
    <p:extLst>
      <p:ext uri="{BB962C8B-B14F-4D97-AF65-F5344CB8AC3E}">
        <p14:creationId xmlns:p14="http://schemas.microsoft.com/office/powerpoint/2010/main" val="3372242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A053-3429-49EF-967B-EA204F403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20E63-A1AF-791C-3F36-0FC641507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3CE88-CC75-CC67-7A18-F5C9B948DD2F}"/>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AE81D29B-51F2-6325-FB6D-90CC43E423D6}"/>
              </a:ext>
            </a:extLst>
          </p:cNvPr>
          <p:cNvSpPr>
            <a:spLocks noGrp="1"/>
          </p:cNvSpPr>
          <p:nvPr>
            <p:ph type="sldNum" sz="quarter" idx="5"/>
          </p:nvPr>
        </p:nvSpPr>
        <p:spPr/>
        <p:txBody>
          <a:bodyPr/>
          <a:lstStyle/>
          <a:p>
            <a:fld id="{8887122E-1A98-45FF-9041-48FC7599DFB4}" type="slidenum">
              <a:rPr lang="en-NG" smtClean="0"/>
              <a:t>10</a:t>
            </a:fld>
            <a:endParaRPr lang="en-NG"/>
          </a:p>
        </p:txBody>
      </p:sp>
    </p:spTree>
    <p:extLst>
      <p:ext uri="{BB962C8B-B14F-4D97-AF65-F5344CB8AC3E}">
        <p14:creationId xmlns:p14="http://schemas.microsoft.com/office/powerpoint/2010/main" val="3928636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8B84D-B48F-DFD3-BEA1-4691E1900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24B19-920E-70F0-51AB-07DF901C0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6569F-179C-C20B-F5ED-BA330DBD7E65}"/>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ACA81B6A-2E78-3445-B2C5-2B529A759085}"/>
              </a:ext>
            </a:extLst>
          </p:cNvPr>
          <p:cNvSpPr>
            <a:spLocks noGrp="1"/>
          </p:cNvSpPr>
          <p:nvPr>
            <p:ph type="sldNum" sz="quarter" idx="5"/>
          </p:nvPr>
        </p:nvSpPr>
        <p:spPr/>
        <p:txBody>
          <a:bodyPr/>
          <a:lstStyle/>
          <a:p>
            <a:fld id="{8887122E-1A98-45FF-9041-48FC7599DFB4}" type="slidenum">
              <a:rPr lang="en-NG" smtClean="0"/>
              <a:t>11</a:t>
            </a:fld>
            <a:endParaRPr lang="en-NG"/>
          </a:p>
        </p:txBody>
      </p:sp>
    </p:spTree>
    <p:extLst>
      <p:ext uri="{BB962C8B-B14F-4D97-AF65-F5344CB8AC3E}">
        <p14:creationId xmlns:p14="http://schemas.microsoft.com/office/powerpoint/2010/main" val="2806751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40F48-AF36-390F-33C3-73DA3907A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DDBA1-0620-EF5A-64BD-46ECD8347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6CD53-DE23-17F7-8181-0DC93A431715}"/>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54D31F46-46C3-BE58-EDF5-E3CD6489C9AD}"/>
              </a:ext>
            </a:extLst>
          </p:cNvPr>
          <p:cNvSpPr>
            <a:spLocks noGrp="1"/>
          </p:cNvSpPr>
          <p:nvPr>
            <p:ph type="sldNum" sz="quarter" idx="5"/>
          </p:nvPr>
        </p:nvSpPr>
        <p:spPr/>
        <p:txBody>
          <a:bodyPr/>
          <a:lstStyle/>
          <a:p>
            <a:fld id="{8887122E-1A98-45FF-9041-48FC7599DFB4}" type="slidenum">
              <a:rPr lang="en-NG" smtClean="0"/>
              <a:t>12</a:t>
            </a:fld>
            <a:endParaRPr lang="en-NG"/>
          </a:p>
        </p:txBody>
      </p:sp>
    </p:spTree>
    <p:extLst>
      <p:ext uri="{BB962C8B-B14F-4D97-AF65-F5344CB8AC3E}">
        <p14:creationId xmlns:p14="http://schemas.microsoft.com/office/powerpoint/2010/main" val="1415482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F7B2-233F-7ED5-2B39-6399B004C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155D5-A38E-3BF4-7939-4E13ABAF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92622-DC03-D519-8127-C579163FAD89}"/>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21C274F4-9072-02C9-1054-621A142CE529}"/>
              </a:ext>
            </a:extLst>
          </p:cNvPr>
          <p:cNvSpPr>
            <a:spLocks noGrp="1"/>
          </p:cNvSpPr>
          <p:nvPr>
            <p:ph type="sldNum" sz="quarter" idx="5"/>
          </p:nvPr>
        </p:nvSpPr>
        <p:spPr/>
        <p:txBody>
          <a:bodyPr/>
          <a:lstStyle/>
          <a:p>
            <a:fld id="{8887122E-1A98-45FF-9041-48FC7599DFB4}" type="slidenum">
              <a:rPr lang="en-NG" smtClean="0"/>
              <a:t>13</a:t>
            </a:fld>
            <a:endParaRPr lang="en-NG"/>
          </a:p>
        </p:txBody>
      </p:sp>
    </p:spTree>
    <p:extLst>
      <p:ext uri="{BB962C8B-B14F-4D97-AF65-F5344CB8AC3E}">
        <p14:creationId xmlns:p14="http://schemas.microsoft.com/office/powerpoint/2010/main" val="3997200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2A301-E794-47A2-369F-DE9CAF6B1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7E8BC-2DE0-CB08-87E7-DF5D750AD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53D11-D5E8-3493-9F82-6A0D04791CA7}"/>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38869FC5-335D-AB6E-383D-80C8D51692DC}"/>
              </a:ext>
            </a:extLst>
          </p:cNvPr>
          <p:cNvSpPr>
            <a:spLocks noGrp="1"/>
          </p:cNvSpPr>
          <p:nvPr>
            <p:ph type="sldNum" sz="quarter" idx="5"/>
          </p:nvPr>
        </p:nvSpPr>
        <p:spPr/>
        <p:txBody>
          <a:bodyPr/>
          <a:lstStyle/>
          <a:p>
            <a:fld id="{8887122E-1A98-45FF-9041-48FC7599DFB4}" type="slidenum">
              <a:rPr lang="en-NG" smtClean="0"/>
              <a:t>14</a:t>
            </a:fld>
            <a:endParaRPr lang="en-NG"/>
          </a:p>
        </p:txBody>
      </p:sp>
    </p:spTree>
    <p:extLst>
      <p:ext uri="{BB962C8B-B14F-4D97-AF65-F5344CB8AC3E}">
        <p14:creationId xmlns:p14="http://schemas.microsoft.com/office/powerpoint/2010/main" val="21155446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EB46B8FB-F6A2-5F47-A6CD-A7E17E69270F}"/>
              </a:ext>
            </a:extLst>
          </p:cNvPr>
          <p:cNvGrpSpPr/>
          <p:nvPr/>
        </p:nvGrpSpPr>
        <p:grpSpPr>
          <a:xfrm>
            <a:off x="6201388" y="0"/>
            <a:ext cx="5990612" cy="6858001"/>
            <a:chOff x="6201388" y="0"/>
            <a:chExt cx="5990612" cy="6858001"/>
          </a:xfrm>
        </p:grpSpPr>
        <p:sp>
          <p:nvSpPr>
            <p:cNvPr id="45" name="Oval 44">
              <a:extLst>
                <a:ext uri="{FF2B5EF4-FFF2-40B4-BE49-F238E27FC236}">
                  <a16:creationId xmlns:a16="http://schemas.microsoft.com/office/drawing/2014/main" id="{419BDE93-3EC2-4E4D-BC0B-417378F49EDA}"/>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FE21F82F-1EE5-8240-97F8-387DF0253FCE}"/>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a:extLst>
                <a:ext uri="{FF2B5EF4-FFF2-40B4-BE49-F238E27FC236}">
                  <a16:creationId xmlns:a16="http://schemas.microsoft.com/office/drawing/2014/main" id="{AE1903E3-6B5F-6B4C-9A1F-62628A050AEB}"/>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a:extLst>
                <a:ext uri="{FF2B5EF4-FFF2-40B4-BE49-F238E27FC236}">
                  <a16:creationId xmlns:a16="http://schemas.microsoft.com/office/drawing/2014/main" id="{F7C55863-3B37-0743-B001-1A970033FBA8}"/>
                </a:ext>
              </a:extLst>
            </p:cNvPr>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32B4C24-3A58-924C-B79A-D961EF7C2C48}"/>
                </a:ext>
              </a:extLst>
            </p:cNvPr>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21EF52E0-D2CF-544F-93A6-4D7B45A0483A}"/>
                </a:ext>
              </a:extLst>
            </p:cNvPr>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a:extLst>
                <a:ext uri="{FF2B5EF4-FFF2-40B4-BE49-F238E27FC236}">
                  <a16:creationId xmlns:a16="http://schemas.microsoft.com/office/drawing/2014/main" id="{6966CFE5-1C8C-2E4F-9B2D-A8438F5A5322}"/>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a:extLst>
                <a:ext uri="{FF2B5EF4-FFF2-40B4-BE49-F238E27FC236}">
                  <a16:creationId xmlns:a16="http://schemas.microsoft.com/office/drawing/2014/main" id="{9FD29EF3-A5B2-554A-A307-6BE1BCE8AF03}"/>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AC1ECAD8-0CF2-934D-AA1E-C108208CDE6F}"/>
                </a:ext>
              </a:extLst>
            </p:cNvPr>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14DED1-3A58-8C4D-902E-2A9F34043F61}"/>
                </a:ext>
              </a:extLst>
            </p:cNvPr>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5D65157-5719-0341-A807-A8956595FB4C}"/>
                </a:ext>
              </a:extLst>
            </p:cNvPr>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A7F23F74-B777-2A4C-8EF9-E798880D5942}"/>
                </a:ext>
              </a:extLst>
            </p:cNvPr>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E3B9A050-0AE1-1D4B-A2AC-6EEF64B106D9}"/>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C424FE38-F803-8D47-BF56-1B18EC2B1F03}"/>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E37187F2-9212-0641-97D0-1ACD50B748A8}"/>
                </a:ext>
              </a:extLst>
            </p:cNvPr>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760C651-2AC4-564E-BEAA-AB7FAFE7F79F}"/>
                </a:ext>
              </a:extLst>
            </p:cNvPr>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8B0A1B8-5BA3-3548-9511-B4904D05264B}"/>
                </a:ext>
              </a:extLst>
            </p:cNvPr>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424CD779-EE9A-214D-9488-767327E373AA}"/>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630D08C6-9EFB-8540-875F-2A55DED2AAE3}"/>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7E8DA86-1294-4641-9C52-6E153150641C}"/>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011063C9-2A43-3348-A018-F27FACAA778D}"/>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EE85C7DE-D965-244F-BD95-3A05FF4AAC61}"/>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315A1389-149A-3342-A863-637D42FDB28D}"/>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B149CC6F-B6C6-BE46-B451-1BF7D47A8936}"/>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CDAB39E9-6F50-3F4B-9DDB-FC0E0CA993A6}"/>
              </a:ext>
            </a:extLst>
          </p:cNvPr>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A6B2C33E-E9A6-304D-BBCB-97AD0B213CE0}"/>
              </a:ext>
            </a:extLst>
          </p:cNvPr>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29C75C4-E533-BE48-B528-D1A278BC39A3}"/>
              </a:ext>
            </a:extLst>
          </p:cNvPr>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pPr algn="l"/>
              <a:t>1/25/2026</a:t>
            </a:fld>
            <a:endParaRPr lang="en-US" dirty="0"/>
          </a:p>
        </p:txBody>
      </p:sp>
      <p:sp>
        <p:nvSpPr>
          <p:cNvPr id="5" name="Footer Placeholder 4">
            <a:extLst>
              <a:ext uri="{FF2B5EF4-FFF2-40B4-BE49-F238E27FC236}">
                <a16:creationId xmlns:a16="http://schemas.microsoft.com/office/drawing/2014/main" id="{8F09BA8A-EF83-434D-A90E-0805D1104A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FCFDDE0-90B9-AD4E-B0EB-E7464FA9CDF2}"/>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D33A3282-0389-C547-8CA6-7F3E7F27B34D}"/>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a:extLst>
              <a:ext uri="{FF2B5EF4-FFF2-40B4-BE49-F238E27FC236}">
                <a16:creationId xmlns:a16="http://schemas.microsoft.com/office/drawing/2014/main" id="{9E91172A-D17D-C180-F3B1-0141247E2D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71825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A1E4-52BA-534C-AECC-35C3CF44F86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8315675-65B4-E14F-9785-663A83B7B6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76A1E-2332-684F-BDD2-687C166BDEC0}"/>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5" name="Footer Placeholder 4">
            <a:extLst>
              <a:ext uri="{FF2B5EF4-FFF2-40B4-BE49-F238E27FC236}">
                <a16:creationId xmlns:a16="http://schemas.microsoft.com/office/drawing/2014/main" id="{22BB8CB0-B7BE-7D4F-B254-8A2F8AEC273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3E5A569-A063-8E40-B703-82B11D2A988A}"/>
              </a:ext>
            </a:extLst>
          </p:cNvPr>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a:extLst>
              <a:ext uri="{FF2B5EF4-FFF2-40B4-BE49-F238E27FC236}">
                <a16:creationId xmlns:a16="http://schemas.microsoft.com/office/drawing/2014/main" id="{7EC6D666-5D0B-8C45-3F9D-885CF10834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a:extLst>
              <a:ext uri="{FF2B5EF4-FFF2-40B4-BE49-F238E27FC236}">
                <a16:creationId xmlns:a16="http://schemas.microsoft.com/office/drawing/2014/main" id="{BB434980-A235-A835-9CA9-3906FF866B11}"/>
              </a:ext>
            </a:extLst>
          </p:cNvPr>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extLst>
      <p:ext uri="{BB962C8B-B14F-4D97-AF65-F5344CB8AC3E}">
        <p14:creationId xmlns:p14="http://schemas.microsoft.com/office/powerpoint/2010/main" val="212378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0648E-B4D5-4145-84E7-46B5793EA68B}"/>
              </a:ext>
            </a:extLst>
          </p:cNvPr>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E3B92A6-7558-3148-B855-5BC58B4159C5}"/>
              </a:ext>
            </a:extLst>
          </p:cNvPr>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3A0B541-D211-974B-97FE-C1F9473ABE9D}"/>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5" name="Footer Placeholder 4">
            <a:extLst>
              <a:ext uri="{FF2B5EF4-FFF2-40B4-BE49-F238E27FC236}">
                <a16:creationId xmlns:a16="http://schemas.microsoft.com/office/drawing/2014/main" id="{A1727FB0-D95A-D543-8E29-6E5F22B491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9C4404-F49D-9F48-A10B-1F60870B4450}"/>
              </a:ext>
            </a:extLst>
          </p:cNvPr>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a:extLst>
              <a:ext uri="{FF2B5EF4-FFF2-40B4-BE49-F238E27FC236}">
                <a16:creationId xmlns:a16="http://schemas.microsoft.com/office/drawing/2014/main" id="{2D6A1FD1-D82F-3141-8687-8D7C0631C215}"/>
              </a:ext>
            </a:extLst>
          </p:cNvPr>
          <p:cNvCxnSpPr>
            <a:cxnSpLocks/>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19497C09-89AE-6371-9DD4-75A5AF8DBC69}"/>
              </a:ext>
            </a:extLst>
          </p:cNvPr>
          <p:cNvGrpSpPr/>
          <p:nvPr userDrawn="1"/>
        </p:nvGrpSpPr>
        <p:grpSpPr>
          <a:xfrm>
            <a:off x="6201388" y="0"/>
            <a:ext cx="5990612" cy="6858001"/>
            <a:chOff x="6201388" y="0"/>
            <a:chExt cx="5990612" cy="6858001"/>
          </a:xfrm>
        </p:grpSpPr>
        <p:sp>
          <p:nvSpPr>
            <p:cNvPr id="34" name="Oval 33">
              <a:extLst>
                <a:ext uri="{FF2B5EF4-FFF2-40B4-BE49-F238E27FC236}">
                  <a16:creationId xmlns:a16="http://schemas.microsoft.com/office/drawing/2014/main" id="{B6198FF7-E543-F648-F22D-7A5A5F2906F4}"/>
                </a:ext>
              </a:extLst>
            </p:cNvPr>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a:extLst>
                <a:ext uri="{FF2B5EF4-FFF2-40B4-BE49-F238E27FC236}">
                  <a16:creationId xmlns:a16="http://schemas.microsoft.com/office/drawing/2014/main" id="{07271CCF-0DC3-3BF8-249C-3411FA74D96D}"/>
                </a:ext>
              </a:extLst>
            </p:cNvPr>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a:extLst>
                <a:ext uri="{FF2B5EF4-FFF2-40B4-BE49-F238E27FC236}">
                  <a16:creationId xmlns:a16="http://schemas.microsoft.com/office/drawing/2014/main" id="{CABBBCC2-237F-CBEA-84B0-1079062AC561}"/>
                </a:ext>
              </a:extLst>
            </p:cNvPr>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6B8E4F2-524D-24A8-86F4-1792F6E50E8B}"/>
                </a:ext>
              </a:extLst>
            </p:cNvPr>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E0BD260-421F-B483-B4A0-37FEFB3374F9}"/>
                </a:ext>
              </a:extLst>
            </p:cNvPr>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7D44ADD-B4C5-FBF7-10B0-325421A0D6C9}"/>
                </a:ext>
              </a:extLst>
            </p:cNvPr>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a:extLst>
                <a:ext uri="{FF2B5EF4-FFF2-40B4-BE49-F238E27FC236}">
                  <a16:creationId xmlns:a16="http://schemas.microsoft.com/office/drawing/2014/main" id="{5593C120-03DA-0B74-3A14-C5E66EDC4F9C}"/>
                </a:ext>
              </a:extLst>
            </p:cNvPr>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a:extLst>
                <a:ext uri="{FF2B5EF4-FFF2-40B4-BE49-F238E27FC236}">
                  <a16:creationId xmlns:a16="http://schemas.microsoft.com/office/drawing/2014/main" id="{2E836D48-4A84-EAB5-F726-7655BEFF3EB4}"/>
                </a:ext>
              </a:extLst>
            </p:cNvPr>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a:extLst>
                <a:ext uri="{FF2B5EF4-FFF2-40B4-BE49-F238E27FC236}">
                  <a16:creationId xmlns:a16="http://schemas.microsoft.com/office/drawing/2014/main" id="{0A3C7E49-0C95-45AB-FF02-F449805F0F82}"/>
                </a:ext>
              </a:extLst>
            </p:cNvPr>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9F28514-8A8B-6BB2-9BC7-3D9A99443AA9}"/>
                </a:ext>
              </a:extLst>
            </p:cNvPr>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36FC6122-5293-4627-86DE-6601FA92141B}"/>
                </a:ext>
              </a:extLst>
            </p:cNvPr>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a:extLst>
                <a:ext uri="{FF2B5EF4-FFF2-40B4-BE49-F238E27FC236}">
                  <a16:creationId xmlns:a16="http://schemas.microsoft.com/office/drawing/2014/main" id="{D443DE6D-7BB4-A4DD-F128-91CF73CEBFBE}"/>
                </a:ext>
              </a:extLst>
            </p:cNvPr>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a:extLst>
                <a:ext uri="{FF2B5EF4-FFF2-40B4-BE49-F238E27FC236}">
                  <a16:creationId xmlns:a16="http://schemas.microsoft.com/office/drawing/2014/main" id="{DA35F092-ECC3-7737-485B-16E2C5DBBD9C}"/>
                </a:ext>
              </a:extLst>
            </p:cNvPr>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a:extLst>
                <a:ext uri="{FF2B5EF4-FFF2-40B4-BE49-F238E27FC236}">
                  <a16:creationId xmlns:a16="http://schemas.microsoft.com/office/drawing/2014/main" id="{03BEB774-3617-CD14-3987-72B21781DF42}"/>
                </a:ext>
              </a:extLst>
            </p:cNvPr>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a:extLst>
                <a:ext uri="{FF2B5EF4-FFF2-40B4-BE49-F238E27FC236}">
                  <a16:creationId xmlns:a16="http://schemas.microsoft.com/office/drawing/2014/main" id="{15958338-951C-A8ED-487F-7A180F97702A}"/>
                </a:ext>
              </a:extLst>
            </p:cNvPr>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6AAD3E28-B829-0A7D-41FB-9F6EC11DF07F}"/>
                </a:ext>
              </a:extLst>
            </p:cNvPr>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80446E0C-7C6F-48A3-9347-464A70687F1E}"/>
                </a:ext>
              </a:extLst>
            </p:cNvPr>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3E242CA4-6284-C376-4F9A-836D395DD50F}"/>
                </a:ext>
              </a:extLst>
            </p:cNvPr>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a:extLst>
                <a:ext uri="{FF2B5EF4-FFF2-40B4-BE49-F238E27FC236}">
                  <a16:creationId xmlns:a16="http://schemas.microsoft.com/office/drawing/2014/main" id="{95B8F67F-0DC3-A4B2-71FF-A3483FA75FC1}"/>
                </a:ext>
              </a:extLst>
            </p:cNvPr>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a:extLst>
                <a:ext uri="{FF2B5EF4-FFF2-40B4-BE49-F238E27FC236}">
                  <a16:creationId xmlns:a16="http://schemas.microsoft.com/office/drawing/2014/main" id="{D290C650-6E01-A169-3427-A0621B17A73B}"/>
                </a:ext>
              </a:extLst>
            </p:cNvPr>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a:extLst>
                <a:ext uri="{FF2B5EF4-FFF2-40B4-BE49-F238E27FC236}">
                  <a16:creationId xmlns:a16="http://schemas.microsoft.com/office/drawing/2014/main" id="{36D4EC3C-D579-E8BB-FE8E-09E88C14B686}"/>
                </a:ext>
              </a:extLst>
            </p:cNvPr>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a:extLst>
                <a:ext uri="{FF2B5EF4-FFF2-40B4-BE49-F238E27FC236}">
                  <a16:creationId xmlns:a16="http://schemas.microsoft.com/office/drawing/2014/main" id="{55D23B81-F939-BBDA-DD0D-632F19F07160}"/>
                </a:ext>
              </a:extLst>
            </p:cNvPr>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a:extLst>
                <a:ext uri="{FF2B5EF4-FFF2-40B4-BE49-F238E27FC236}">
                  <a16:creationId xmlns:a16="http://schemas.microsoft.com/office/drawing/2014/main" id="{80FE3946-719E-8689-941C-2DA992DE45DE}"/>
                </a:ext>
              </a:extLst>
            </p:cNvPr>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a:extLst>
                <a:ext uri="{FF2B5EF4-FFF2-40B4-BE49-F238E27FC236}">
                  <a16:creationId xmlns:a16="http://schemas.microsoft.com/office/drawing/2014/main" id="{10F47F19-AA93-0318-795C-11AA315F23CD}"/>
                </a:ext>
              </a:extLst>
            </p:cNvPr>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a:extLst>
              <a:ext uri="{FF2B5EF4-FFF2-40B4-BE49-F238E27FC236}">
                <a16:creationId xmlns:a16="http://schemas.microsoft.com/office/drawing/2014/main" id="{5AB071D6-F70F-FC27-1E58-03B4EB9BF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2991748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442ECFEB-12CF-4C4F-BC8A-5816C27CA565}"/>
              </a:ext>
            </a:extLst>
          </p:cNvPr>
          <p:cNvGrpSpPr/>
          <p:nvPr/>
        </p:nvGrpSpPr>
        <p:grpSpPr>
          <a:xfrm>
            <a:off x="10290315" y="0"/>
            <a:ext cx="1901686" cy="6858000"/>
            <a:chOff x="10290315" y="0"/>
            <a:chExt cx="1901686" cy="6858000"/>
          </a:xfrm>
        </p:grpSpPr>
        <p:sp>
          <p:nvSpPr>
            <p:cNvPr id="18" name="Oval 17">
              <a:extLst>
                <a:ext uri="{FF2B5EF4-FFF2-40B4-BE49-F238E27FC236}">
                  <a16:creationId xmlns:a16="http://schemas.microsoft.com/office/drawing/2014/main" id="{626C9482-2804-144B-88B2-0AF191BD757D}"/>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71363F79-96BD-9240-86E2-DF26C9C2437D}"/>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153F0BF1-DA57-1D49-82F0-802F4D385A85}"/>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8CD42A1B-A03A-C946-8A2A-CE437EA433FD}"/>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591FE00-3AAF-9B4B-8107-E94D50828227}"/>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49E92E9-89A7-4842-B271-411C7DF75D2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a:extLst>
                <a:ext uri="{FF2B5EF4-FFF2-40B4-BE49-F238E27FC236}">
                  <a16:creationId xmlns:a16="http://schemas.microsoft.com/office/drawing/2014/main" id="{4DC29C99-0841-9F46-AB1A-E9751DFE448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EE0AB684-BDA8-014B-8DCC-125F8B8DCEE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540E05-0F5F-6243-AD57-66BFC33ADBAC}"/>
              </a:ext>
            </a:extLst>
          </p:cNvPr>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170B3A4-11FE-D94C-9B93-255E36231064}"/>
              </a:ext>
            </a:extLst>
          </p:cNvPr>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67BEEAF-F881-6E48-84AF-E5CEEF1C7167}"/>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6" name="Footer Placeholder 5">
            <a:extLst>
              <a:ext uri="{FF2B5EF4-FFF2-40B4-BE49-F238E27FC236}">
                <a16:creationId xmlns:a16="http://schemas.microsoft.com/office/drawing/2014/main" id="{9C472753-1CC3-9244-9AF0-6927018A64F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DD55D0-FCC7-AC42-9810-9B49E3348958}"/>
              </a:ext>
            </a:extLst>
          </p:cNvPr>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a:extLst>
              <a:ext uri="{FF2B5EF4-FFF2-40B4-BE49-F238E27FC236}">
                <a16:creationId xmlns:a16="http://schemas.microsoft.com/office/drawing/2014/main" id="{5FC736C3-88FB-244C-83B8-B2856998D22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a:extLst>
              <a:ext uri="{FF2B5EF4-FFF2-40B4-BE49-F238E27FC236}">
                <a16:creationId xmlns:a16="http://schemas.microsoft.com/office/drawing/2014/main" id="{17E75DCB-E0A9-8AE4-118D-B647268408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723680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7D16A9C-7411-5242-A59C-816B8907E3BE}"/>
              </a:ext>
            </a:extLst>
          </p:cNvPr>
          <p:cNvGrpSpPr/>
          <p:nvPr/>
        </p:nvGrpSpPr>
        <p:grpSpPr>
          <a:xfrm>
            <a:off x="10290315" y="0"/>
            <a:ext cx="1901686" cy="6858000"/>
            <a:chOff x="10290315" y="0"/>
            <a:chExt cx="1901686" cy="6858000"/>
          </a:xfrm>
        </p:grpSpPr>
        <p:sp>
          <p:nvSpPr>
            <p:cNvPr id="20" name="Oval 19">
              <a:extLst>
                <a:ext uri="{FF2B5EF4-FFF2-40B4-BE49-F238E27FC236}">
                  <a16:creationId xmlns:a16="http://schemas.microsoft.com/office/drawing/2014/main" id="{A997260B-7D44-7049-B605-7FD6E6CE5612}"/>
                </a:ext>
              </a:extLst>
            </p:cNvPr>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6AF601-77C3-D74A-B1E5-7F33703A6927}"/>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4DFCA921-0F9E-2E41-A285-75409E25501A}"/>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120B9E03-438B-FC42-9DA1-835D5BC3FE8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a:extLst>
                <a:ext uri="{FF2B5EF4-FFF2-40B4-BE49-F238E27FC236}">
                  <a16:creationId xmlns:a16="http://schemas.microsoft.com/office/drawing/2014/main" id="{4D670E1F-61CD-8940-A898-6D5092A78BB9}"/>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80C64CF-0C6A-3449-9709-AE038C4A7995}"/>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a:extLst>
                <a:ext uri="{FF2B5EF4-FFF2-40B4-BE49-F238E27FC236}">
                  <a16:creationId xmlns:a16="http://schemas.microsoft.com/office/drawing/2014/main" id="{FEC46D5B-957F-A24C-8E36-CC71F660EC8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058182F-7B5E-FD42-AFC6-A3848D8332AC}"/>
              </a:ext>
            </a:extLst>
          </p:cNvPr>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D9E4DE-75C0-C841-A68D-9D7BBAD76C5E}"/>
              </a:ext>
            </a:extLst>
          </p:cNvPr>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5C87F7-356E-9E43-97A0-D972B22853DA}"/>
              </a:ext>
            </a:extLst>
          </p:cNvPr>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DAB4C28-30CB-CC4E-A25E-F4FEFA49BCA5}"/>
              </a:ext>
            </a:extLst>
          </p:cNvPr>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9ED0191-963B-1E4C-BEC5-9B42E39514A3}"/>
              </a:ext>
            </a:extLst>
          </p:cNvPr>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7F0E0BED-3EB7-BB4A-A556-FA967FB0115F}"/>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8" name="Footer Placeholder 7">
            <a:extLst>
              <a:ext uri="{FF2B5EF4-FFF2-40B4-BE49-F238E27FC236}">
                <a16:creationId xmlns:a16="http://schemas.microsoft.com/office/drawing/2014/main" id="{B6A2466A-4D90-174C-B382-AC4674D7215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EADE49-8082-214B-9742-5EE8DA2E9FFE}"/>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a:extLst>
              <a:ext uri="{FF2B5EF4-FFF2-40B4-BE49-F238E27FC236}">
                <a16:creationId xmlns:a16="http://schemas.microsoft.com/office/drawing/2014/main" id="{75E39200-18D5-014B-BAB8-FF5D0BA15E0C}"/>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a:extLst>
              <a:ext uri="{FF2B5EF4-FFF2-40B4-BE49-F238E27FC236}">
                <a16:creationId xmlns:a16="http://schemas.microsoft.com/office/drawing/2014/main" id="{A284F8FC-5CB3-2BD1-2B02-6524583371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646806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7DF52F6-A06E-0343-95B8-DAAC38DB4B8C}"/>
              </a:ext>
            </a:extLst>
          </p:cNvPr>
          <p:cNvGrpSpPr/>
          <p:nvPr/>
        </p:nvGrpSpPr>
        <p:grpSpPr>
          <a:xfrm>
            <a:off x="10290315" y="0"/>
            <a:ext cx="1901686" cy="6858000"/>
            <a:chOff x="10290315" y="0"/>
            <a:chExt cx="1901686" cy="6858000"/>
          </a:xfrm>
        </p:grpSpPr>
        <p:sp>
          <p:nvSpPr>
            <p:cNvPr id="16" name="Oval 15">
              <a:extLst>
                <a:ext uri="{FF2B5EF4-FFF2-40B4-BE49-F238E27FC236}">
                  <a16:creationId xmlns:a16="http://schemas.microsoft.com/office/drawing/2014/main" id="{67092C52-7052-0749-9DA0-9374DBF495AE}"/>
                </a:ext>
              </a:extLst>
            </p:cNvPr>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64E1C2F-81E1-C44D-859C-946596C950F2}"/>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3626485-4263-0A44-9561-E278A7056C33}"/>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7D45AAB5-3CCC-DE4A-A962-3702911B55C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8CAFB16F-8EDE-D44F-A51E-34EDC41E7404}"/>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DCD51329-732C-BB4C-98E5-715BAF9F8853}"/>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a:extLst>
                <a:ext uri="{FF2B5EF4-FFF2-40B4-BE49-F238E27FC236}">
                  <a16:creationId xmlns:a16="http://schemas.microsoft.com/office/drawing/2014/main" id="{192B5D44-BC55-AF4C-984D-C8231B22F80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A1E9E2-564E-7049-A22F-BB5B876BABB5}"/>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6359D05-C08D-7747-B2FC-3F62B3357315}"/>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4" name="Footer Placeholder 3">
            <a:extLst>
              <a:ext uri="{FF2B5EF4-FFF2-40B4-BE49-F238E27FC236}">
                <a16:creationId xmlns:a16="http://schemas.microsoft.com/office/drawing/2014/main" id="{8E2FF615-BB08-A844-B689-BAA7C50407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3A67D-F96F-4849-8C83-49CC3A6539BB}"/>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a:extLst>
              <a:ext uri="{FF2B5EF4-FFF2-40B4-BE49-F238E27FC236}">
                <a16:creationId xmlns:a16="http://schemas.microsoft.com/office/drawing/2014/main" id="{1DCFAAB9-2B6B-8D4C-A748-433E2C393EA6}"/>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a:extLst>
              <a:ext uri="{FF2B5EF4-FFF2-40B4-BE49-F238E27FC236}">
                <a16:creationId xmlns:a16="http://schemas.microsoft.com/office/drawing/2014/main" id="{46350139-760A-2B49-EEAB-39A916ACA3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3336894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798BCA70-D63D-40F6-B9B3-4E49B96E27FB}"/>
              </a:ext>
            </a:extLst>
          </p:cNvPr>
          <p:cNvSpPr>
            <a:spLocks noGrp="1"/>
          </p:cNvSpPr>
          <p:nvPr>
            <p:ph type="dt" sz="half" idx="10"/>
          </p:nvPr>
        </p:nvSpPr>
        <p:spPr/>
        <p:txBody>
          <a:bodyPr/>
          <a:lstStyle/>
          <a:p>
            <a:fld id="{A5B0A250-5CC0-1746-B209-08E8B0DAE6AF}" type="datetimeFigureOut">
              <a:rPr lang="en-US" smtClean="0"/>
              <a:pPr/>
              <a:t>1/25/2026</a:t>
            </a:fld>
            <a:endParaRPr lang="en-US" dirty="0"/>
          </a:p>
        </p:txBody>
      </p:sp>
      <p:sp>
        <p:nvSpPr>
          <p:cNvPr id="6" name="Footer Placeholder 5">
            <a:extLst>
              <a:ext uri="{FF2B5EF4-FFF2-40B4-BE49-F238E27FC236}">
                <a16:creationId xmlns:a16="http://schemas.microsoft.com/office/drawing/2014/main" id="{72F12559-BD91-4904-A24A-0CF0A2324A0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B658BB7-74A5-4A6F-A0FF-021E68F02BFF}"/>
              </a:ext>
            </a:extLst>
          </p:cNvPr>
          <p:cNvSpPr>
            <a:spLocks noGrp="1"/>
          </p:cNvSpPr>
          <p:nvPr>
            <p:ph type="sldNum" sz="quarter" idx="12"/>
          </p:nvPr>
        </p:nvSpPr>
        <p:spPr/>
        <p:txBody>
          <a:bodyPr/>
          <a:lstStyle/>
          <a:p>
            <a:fld id="{49ABCAEC-7D34-E549-A96E-FCEDAADBE4B0}" type="slidenum">
              <a:rPr lang="en-US" smtClean="0"/>
              <a:pPr/>
              <a:t>‹#›</a:t>
            </a:fld>
            <a:endParaRPr lang="en-US" dirty="0"/>
          </a:p>
        </p:txBody>
      </p:sp>
      <p:pic>
        <p:nvPicPr>
          <p:cNvPr id="2" name="Picture 1" descr="A close up of a logo&#10;&#10;AI-generated content may be incorrect.">
            <a:extLst>
              <a:ext uri="{FF2B5EF4-FFF2-40B4-BE49-F238E27FC236}">
                <a16:creationId xmlns:a16="http://schemas.microsoft.com/office/drawing/2014/main" id="{182C52E2-8AF9-D7F6-D5D6-D023C913EA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extLst>
      <p:ext uri="{BB962C8B-B14F-4D97-AF65-F5344CB8AC3E}">
        <p14:creationId xmlns:p14="http://schemas.microsoft.com/office/powerpoint/2010/main" val="2630422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0914A35-7AAF-4B42-9C68-47A633EFD9D0}"/>
              </a:ext>
            </a:extLst>
          </p:cNvPr>
          <p:cNvGrpSpPr/>
          <p:nvPr/>
        </p:nvGrpSpPr>
        <p:grpSpPr>
          <a:xfrm>
            <a:off x="10290315" y="0"/>
            <a:ext cx="1901686" cy="6858000"/>
            <a:chOff x="10290315" y="0"/>
            <a:chExt cx="1901686" cy="6858000"/>
          </a:xfrm>
        </p:grpSpPr>
        <p:sp>
          <p:nvSpPr>
            <p:cNvPr id="18" name="Freeform 17">
              <a:extLst>
                <a:ext uri="{FF2B5EF4-FFF2-40B4-BE49-F238E27FC236}">
                  <a16:creationId xmlns:a16="http://schemas.microsoft.com/office/drawing/2014/main" id="{DABCED79-0E70-FB4D-ABF2-D859BF5556E4}"/>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8364885D-A3A4-5144-AB4E-7624F27287E6}"/>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22073D5-CC72-0549-BD26-F7AF9851BE45}"/>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1827A049-C9FD-554E-9B01-F151B0D9E86B}"/>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76832559-4D18-8744-AB91-9FCFAB732477}"/>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a:extLst>
                <a:ext uri="{FF2B5EF4-FFF2-40B4-BE49-F238E27FC236}">
                  <a16:creationId xmlns:a16="http://schemas.microsoft.com/office/drawing/2014/main" id="{BF97A623-E5DC-1B44-B687-8643B9F0D741}"/>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637BBE1-2C82-4E45-B5C5-35E07B05EA4E}"/>
              </a:ext>
            </a:extLst>
          </p:cNvPr>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4201F2E-A734-364B-8A7D-990D6B8893D0}"/>
              </a:ext>
            </a:extLst>
          </p:cNvPr>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D57CBAD9-5515-1748-8E77-F48160F4ED1C}"/>
              </a:ext>
            </a:extLst>
          </p:cNvPr>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A6C22B-80D4-AA42-9999-401E37B469C0}"/>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6" name="Footer Placeholder 5">
            <a:extLst>
              <a:ext uri="{FF2B5EF4-FFF2-40B4-BE49-F238E27FC236}">
                <a16:creationId xmlns:a16="http://schemas.microsoft.com/office/drawing/2014/main" id="{03055DE4-33E8-7F4B-9334-95EA60845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70FA5-21EE-D742-8F01-C1BAE0FDB064}"/>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BEF966AA-D7DF-F84D-80D4-E216A641B005}"/>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758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10D391A-F01E-4947-8A01-95438AA0B323}"/>
              </a:ext>
            </a:extLst>
          </p:cNvPr>
          <p:cNvGrpSpPr/>
          <p:nvPr/>
        </p:nvGrpSpPr>
        <p:grpSpPr>
          <a:xfrm>
            <a:off x="10290315" y="0"/>
            <a:ext cx="1901686" cy="6858000"/>
            <a:chOff x="10290315" y="0"/>
            <a:chExt cx="1901686" cy="6858000"/>
          </a:xfrm>
        </p:grpSpPr>
        <p:sp>
          <p:nvSpPr>
            <p:cNvPr id="17" name="Oval 16">
              <a:extLst>
                <a:ext uri="{FF2B5EF4-FFF2-40B4-BE49-F238E27FC236}">
                  <a16:creationId xmlns:a16="http://schemas.microsoft.com/office/drawing/2014/main" id="{7D499306-B4E0-064D-8F6C-96E9C4BD04DA}"/>
                </a:ext>
              </a:extLst>
            </p:cNvPr>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AF3D0241-0A21-8047-8CE3-B3FDD5FDF71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3083F97-6891-0447-957C-AB0834B826D2}"/>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B2EF7D75-E7C1-5147-A03B-3EC641CF3B08}"/>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A6D7CA94-94B4-C140-8C68-01C0ADFA1C7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211CD629-C318-A848-BDDE-BBA9465EBF9D}"/>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a:extLst>
                <a:ext uri="{FF2B5EF4-FFF2-40B4-BE49-F238E27FC236}">
                  <a16:creationId xmlns:a16="http://schemas.microsoft.com/office/drawing/2014/main" id="{2A5AC1F8-1370-E946-977E-E4CFC6947BAB}"/>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64CEE63B-B967-0A48-9623-2203767609F4}"/>
              </a:ext>
            </a:extLst>
          </p:cNvPr>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211F680-28C8-FA44-9CD5-20709DA02EA0}"/>
              </a:ext>
            </a:extLst>
          </p:cNvPr>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BD507CD-197E-BB4C-83A6-DA3FC97A22C2}"/>
              </a:ext>
            </a:extLst>
          </p:cNvPr>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59E00AC-DF6C-D548-8A06-D6269BDB0A41}"/>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6" name="Footer Placeholder 5">
            <a:extLst>
              <a:ext uri="{FF2B5EF4-FFF2-40B4-BE49-F238E27FC236}">
                <a16:creationId xmlns:a16="http://schemas.microsoft.com/office/drawing/2014/main" id="{F8ED113B-57D4-9A4F-BFE0-2A3963B425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D9954-FA18-8948-AA52-21CED059476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a:extLst>
              <a:ext uri="{FF2B5EF4-FFF2-40B4-BE49-F238E27FC236}">
                <a16:creationId xmlns:a16="http://schemas.microsoft.com/office/drawing/2014/main" id="{5E3EB25D-2379-5040-B990-1C99B0B7D931}"/>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64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ED46EE4-CE67-DD46-A751-9FEA049A22B8}"/>
              </a:ext>
            </a:extLst>
          </p:cNvPr>
          <p:cNvGrpSpPr/>
          <p:nvPr/>
        </p:nvGrpSpPr>
        <p:grpSpPr>
          <a:xfrm>
            <a:off x="8928528" y="0"/>
            <a:ext cx="3263472" cy="6858000"/>
            <a:chOff x="8928528" y="0"/>
            <a:chExt cx="3263472" cy="6858000"/>
          </a:xfrm>
        </p:grpSpPr>
        <p:sp>
          <p:nvSpPr>
            <p:cNvPr id="23" name="Oval 22">
              <a:extLst>
                <a:ext uri="{FF2B5EF4-FFF2-40B4-BE49-F238E27FC236}">
                  <a16:creationId xmlns:a16="http://schemas.microsoft.com/office/drawing/2014/main" id="{955C5B70-D34F-8A49-B220-808CE2BBB7F3}"/>
                </a:ext>
              </a:extLst>
            </p:cNvPr>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BFE624-6DBD-8541-B43B-180C0AFA21F0}"/>
                </a:ext>
              </a:extLst>
            </p:cNvPr>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6E01AC23-2120-A542-B140-5A29AA27A2C8}"/>
                </a:ext>
              </a:extLst>
            </p:cNvPr>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154689C0-9C35-9B4D-906B-DA287DA55A38}"/>
                </a:ext>
              </a:extLst>
            </p:cNvPr>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96570F0-11E0-6147-9053-E3A4B5DBA0E4}"/>
                </a:ext>
              </a:extLst>
            </p:cNvPr>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BDD97F6-A366-B54A-B889-42E97AFEDE37}"/>
                </a:ext>
              </a:extLst>
            </p:cNvPr>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58E853BC-EE80-374B-B823-8D51A948C4CF}"/>
                </a:ext>
              </a:extLst>
            </p:cNvPr>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a:extLst>
                <a:ext uri="{FF2B5EF4-FFF2-40B4-BE49-F238E27FC236}">
                  <a16:creationId xmlns:a16="http://schemas.microsoft.com/office/drawing/2014/main" id="{4B5B70B1-649D-9848-B5D4-6DE04D55F5F0}"/>
                </a:ext>
              </a:extLst>
            </p:cNvPr>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a:extLst>
                <a:ext uri="{FF2B5EF4-FFF2-40B4-BE49-F238E27FC236}">
                  <a16:creationId xmlns:a16="http://schemas.microsoft.com/office/drawing/2014/main" id="{46A2092A-2157-0A49-937F-BBAE14687DE7}"/>
                </a:ext>
              </a:extLst>
            </p:cNvPr>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a:extLst>
                <a:ext uri="{FF2B5EF4-FFF2-40B4-BE49-F238E27FC236}">
                  <a16:creationId xmlns:a16="http://schemas.microsoft.com/office/drawing/2014/main" id="{F092371E-D526-AF43-816F-F7AEBA9FF166}"/>
                </a:ext>
              </a:extLst>
            </p:cNvPr>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a:extLst>
                <a:ext uri="{FF2B5EF4-FFF2-40B4-BE49-F238E27FC236}">
                  <a16:creationId xmlns:a16="http://schemas.microsoft.com/office/drawing/2014/main" id="{06995714-B51E-E84A-9FD5-3AD33004E517}"/>
                </a:ext>
              </a:extLst>
            </p:cNvPr>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a:extLst>
                <a:ext uri="{FF2B5EF4-FFF2-40B4-BE49-F238E27FC236}">
                  <a16:creationId xmlns:a16="http://schemas.microsoft.com/office/drawing/2014/main" id="{0FDB0CC5-76AA-6E44-8376-4EE649C1DE42}"/>
                </a:ext>
              </a:extLst>
            </p:cNvPr>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3D981F0B-8982-1C45-8D7C-30E744003823}"/>
                </a:ext>
              </a:extLst>
            </p:cNvPr>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76EEB7-1E87-0447-8CD6-DD220CF4EE59}"/>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BA8AE526-3A03-9B41-8C9F-27156E701C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D08D72-182D-C947-B3F7-B74948D0849B}"/>
              </a:ext>
            </a:extLst>
          </p:cNvPr>
          <p:cNvSpPr>
            <a:spLocks noGrp="1"/>
          </p:cNvSpPr>
          <p:nvPr>
            <p:ph type="dt" sz="half" idx="10"/>
          </p:nvPr>
        </p:nvSpPr>
        <p:spPr/>
        <p:txBody>
          <a:bodyPr/>
          <a:lstStyle/>
          <a:p>
            <a:fld id="{A5B0A250-5CC0-1746-B209-08E8B0DAE6AF}" type="datetimeFigureOut">
              <a:rPr lang="en-US" smtClean="0"/>
              <a:t>1/25/2026</a:t>
            </a:fld>
            <a:endParaRPr lang="en-US" dirty="0"/>
          </a:p>
        </p:txBody>
      </p:sp>
      <p:sp>
        <p:nvSpPr>
          <p:cNvPr id="5" name="Footer Placeholder 4">
            <a:extLst>
              <a:ext uri="{FF2B5EF4-FFF2-40B4-BE49-F238E27FC236}">
                <a16:creationId xmlns:a16="http://schemas.microsoft.com/office/drawing/2014/main" id="{B076E396-D059-AF4D-A1D9-C1347978AA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845B6-87C0-2F4A-8146-00E911CDF70D}"/>
              </a:ext>
            </a:extLst>
          </p:cNvPr>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A78A912D-4325-C449-BF2E-F331A221C695}"/>
              </a:ext>
            </a:extLst>
          </p:cNvPr>
          <p:cNvCxnSpPr>
            <a:cxnSpLocks/>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357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3803ECC-8207-244B-8051-94AA5304EDD9}"/>
              </a:ext>
            </a:extLst>
          </p:cNvPr>
          <p:cNvGrpSpPr/>
          <p:nvPr/>
        </p:nvGrpSpPr>
        <p:grpSpPr>
          <a:xfrm>
            <a:off x="10290315" y="0"/>
            <a:ext cx="1901686" cy="6858000"/>
            <a:chOff x="10290315" y="0"/>
            <a:chExt cx="1901686" cy="6858000"/>
          </a:xfrm>
        </p:grpSpPr>
        <p:sp>
          <p:nvSpPr>
            <p:cNvPr id="17" name="Freeform 16">
              <a:extLst>
                <a:ext uri="{FF2B5EF4-FFF2-40B4-BE49-F238E27FC236}">
                  <a16:creationId xmlns:a16="http://schemas.microsoft.com/office/drawing/2014/main" id="{CF2E8536-821C-3846-A152-2001B7BA4BC9}"/>
                </a:ext>
              </a:extLst>
            </p:cNvPr>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57A02781-FFB4-C04E-97FB-78D26A9E8F1C}"/>
                </a:ext>
              </a:extLst>
            </p:cNvPr>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14C29607-37D2-7A4B-98E2-2C851CD6776C}"/>
                </a:ext>
              </a:extLst>
            </p:cNvPr>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a:extLst>
                <a:ext uri="{FF2B5EF4-FFF2-40B4-BE49-F238E27FC236}">
                  <a16:creationId xmlns:a16="http://schemas.microsoft.com/office/drawing/2014/main" id="{D12FC7BA-80CC-1C4E-B268-B3EEA08137F1}"/>
                </a:ext>
              </a:extLst>
            </p:cNvPr>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BEBC8FB1-96B9-D84A-BD2A-BC8410EBE012}"/>
                </a:ext>
              </a:extLst>
            </p:cNvPr>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a:extLst>
                <a:ext uri="{FF2B5EF4-FFF2-40B4-BE49-F238E27FC236}">
                  <a16:creationId xmlns:a16="http://schemas.microsoft.com/office/drawing/2014/main" id="{5A8455B4-A778-B44D-A7E8-C45A4846D9F7}"/>
                </a:ext>
              </a:extLst>
            </p:cNvPr>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B0407CCA-80EF-2B45-8F8C-7D5796A61BC0}"/>
              </a:ext>
            </a:extLst>
          </p:cNvPr>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A221C3-F2D3-FC4F-938B-4C4CAC7370B1}"/>
              </a:ext>
            </a:extLst>
          </p:cNvPr>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B061B46-3E9A-AC48-8C84-5B46EA1EC583}"/>
              </a:ext>
            </a:extLst>
          </p:cNvPr>
          <p:cNvSpPr>
            <a:spLocks noGrp="1"/>
          </p:cNvSpPr>
          <p:nvPr>
            <p:ph type="dt" sz="half" idx="10"/>
          </p:nvPr>
        </p:nvSpPr>
        <p:spPr/>
        <p:txBody>
          <a:bodyPr/>
          <a:lstStyle/>
          <a:p>
            <a:fld id="{A5B0A250-5CC0-1746-B209-08E8B0DAE6AF}" type="datetimeFigureOut">
              <a:rPr lang="en-US" smtClean="0"/>
              <a:t>1/25/2026</a:t>
            </a:fld>
            <a:endParaRPr lang="en-US"/>
          </a:p>
        </p:txBody>
      </p:sp>
      <p:sp>
        <p:nvSpPr>
          <p:cNvPr id="5" name="Footer Placeholder 4">
            <a:extLst>
              <a:ext uri="{FF2B5EF4-FFF2-40B4-BE49-F238E27FC236}">
                <a16:creationId xmlns:a16="http://schemas.microsoft.com/office/drawing/2014/main" id="{369F8F49-5859-714C-8EE1-61A74F324E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B6F69-3FFA-D94F-BA99-873D36F7F69D}"/>
              </a:ext>
            </a:extLst>
          </p:cNvPr>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a:extLst>
              <a:ext uri="{FF2B5EF4-FFF2-40B4-BE49-F238E27FC236}">
                <a16:creationId xmlns:a16="http://schemas.microsoft.com/office/drawing/2014/main" id="{C31B40EC-87DB-A64F-9D4B-98A86F7CEFFF}"/>
              </a:ext>
            </a:extLst>
          </p:cNvPr>
          <p:cNvCxnSpPr>
            <a:cxnSpLocks/>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03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0D98E2-86CE-4D4F-9F8F-17C83D19A271}"/>
              </a:ext>
            </a:extLst>
          </p:cNvPr>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8804B4F2-48A4-A140-B59B-7A2ED9FD4653}"/>
              </a:ext>
            </a:extLst>
          </p:cNvPr>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FCF4A7E-D5FF-BF48-8E01-8F46150ABFD5}"/>
              </a:ext>
            </a:extLst>
          </p:cNvPr>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pPr/>
              <a:t>1/25/2026</a:t>
            </a:fld>
            <a:endParaRPr lang="en-US" dirty="0"/>
          </a:p>
        </p:txBody>
      </p:sp>
      <p:sp>
        <p:nvSpPr>
          <p:cNvPr id="5" name="Footer Placeholder 4">
            <a:extLst>
              <a:ext uri="{FF2B5EF4-FFF2-40B4-BE49-F238E27FC236}">
                <a16:creationId xmlns:a16="http://schemas.microsoft.com/office/drawing/2014/main" id="{CA131757-5039-BF46-B47A-50DA8FFBC078}"/>
              </a:ext>
            </a:extLst>
          </p:cNvPr>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AA83FD16-4337-B940-905E-D20A26FD483A}"/>
              </a:ext>
            </a:extLst>
          </p:cNvPr>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pPr/>
              <a:t>‹#›</a:t>
            </a:fld>
            <a:endParaRPr lang="en-US" dirty="0"/>
          </a:p>
        </p:txBody>
      </p:sp>
    </p:spTree>
    <p:extLst>
      <p:ext uri="{BB962C8B-B14F-4D97-AF65-F5344CB8AC3E}">
        <p14:creationId xmlns:p14="http://schemas.microsoft.com/office/powerpoint/2010/main" val="314701007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690DC8-ECFD-70AA-6E5D-7D96B4A88ECE}"/>
              </a:ext>
            </a:extLst>
          </p:cNvPr>
          <p:cNvSpPr txBox="1"/>
          <p:nvPr/>
        </p:nvSpPr>
        <p:spPr>
          <a:xfrm>
            <a:off x="1526177" y="2228671"/>
            <a:ext cx="7238999" cy="1200329"/>
          </a:xfrm>
          <a:prstGeom prst="rect">
            <a:avLst/>
          </a:prstGeom>
          <a:noFill/>
        </p:spPr>
        <p:txBody>
          <a:bodyPr wrap="square" rtlCol="0">
            <a:spAutoFit/>
          </a:bodyPr>
          <a:lstStyle/>
          <a:p>
            <a:r>
              <a:rPr lang="en-GB" sz="3600" b="1" dirty="0">
                <a:latin typeface="Arial" panose="020B0604020202020204" pitchFamily="34" charset="0"/>
                <a:cs typeface="Arial" panose="020B0604020202020204" pitchFamily="34" charset="0"/>
              </a:rPr>
              <a:t>Supervised Learning: Classification</a:t>
            </a:r>
            <a:endParaRPr lang="en-NG" sz="36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ED717DC-EA00-8C38-0D3D-9F251F61DF79}"/>
              </a:ext>
            </a:extLst>
          </p:cNvPr>
          <p:cNvSpPr txBox="1"/>
          <p:nvPr/>
        </p:nvSpPr>
        <p:spPr>
          <a:xfrm>
            <a:off x="1526176" y="3575412"/>
            <a:ext cx="7238999" cy="400110"/>
          </a:xfrm>
          <a:prstGeom prst="rect">
            <a:avLst/>
          </a:prstGeom>
          <a:noFill/>
        </p:spPr>
        <p:txBody>
          <a:bodyPr wrap="square" rtlCol="0">
            <a:spAutoFit/>
          </a:bodyPr>
          <a:lstStyle/>
          <a:p>
            <a:r>
              <a:rPr lang="en-GB" sz="2000" dirty="0">
                <a:solidFill>
                  <a:schemeClr val="accent3"/>
                </a:solidFill>
              </a:rPr>
              <a:t>Building Predictive Models for Categorical Outcomes</a:t>
            </a:r>
            <a:endParaRPr lang="en-NG" sz="2000" dirty="0">
              <a:solidFill>
                <a:schemeClr val="accent3"/>
              </a:solidFill>
            </a:endParaRPr>
          </a:p>
        </p:txBody>
      </p:sp>
    </p:spTree>
    <p:extLst>
      <p:ext uri="{BB962C8B-B14F-4D97-AF65-F5344CB8AC3E}">
        <p14:creationId xmlns:p14="http://schemas.microsoft.com/office/powerpoint/2010/main" val="202760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4902F98-46F4-5C0A-CE8A-F62EBF64DB34}"/>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By the end of this session, participants should be able to:</a:t>
            </a:r>
          </a:p>
          <a:p>
            <a:endParaRPr lang="en-GB" sz="2000" dirty="0">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2718A2DD-487C-A343-5345-AFB1FDA21FA2}"/>
              </a:ext>
            </a:extLst>
          </p:cNvPr>
          <p:cNvSpPr txBox="1">
            <a:spLocks/>
          </p:cNvSpPr>
          <p:nvPr/>
        </p:nvSpPr>
        <p:spPr>
          <a:xfrm>
            <a:off x="1096092" y="2337220"/>
            <a:ext cx="6888960" cy="150027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Understand classification problems and approaches</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Implement logistic regression</a:t>
            </a:r>
          </a:p>
          <a:p>
            <a:pPr marL="514350" indent="-514350">
              <a:lnSpc>
                <a:spcPct val="150000"/>
              </a:lnSpc>
              <a:buFont typeface="+mj-lt"/>
              <a:buAutoNum type="arabicPeriod"/>
            </a:pPr>
            <a:r>
              <a:rPr lang="en-GB" sz="1600" b="0" dirty="0">
                <a:latin typeface="Arial" panose="020B0604020202020204" pitchFamily="34" charset="0"/>
                <a:cs typeface="Arial" panose="020B0604020202020204" pitchFamily="34" charset="0"/>
              </a:rPr>
              <a:t>Handle imbalanced datasets</a:t>
            </a:r>
          </a:p>
        </p:txBody>
      </p:sp>
      <p:sp>
        <p:nvSpPr>
          <p:cNvPr id="11" name="Title 1">
            <a:extLst>
              <a:ext uri="{FF2B5EF4-FFF2-40B4-BE49-F238E27FC236}">
                <a16:creationId xmlns:a16="http://schemas.microsoft.com/office/drawing/2014/main" id="{59E302CC-8FC2-5031-F342-432826A2F041}"/>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Learning Objectives </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45DA6EBD-A260-7656-E772-DDDC27DD9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DEA1-0446-5890-DE9F-336C2F11D453}"/>
              </a:ext>
            </a:extLst>
          </p:cNvPr>
          <p:cNvSpPr>
            <a:spLocks noGrp="1"/>
          </p:cNvSpPr>
          <p:nvPr>
            <p:ph type="title"/>
          </p:nvPr>
        </p:nvSpPr>
        <p:spPr>
          <a:xfrm>
            <a:off x="1393234" y="2477257"/>
            <a:ext cx="6721535" cy="1453059"/>
          </a:xfrm>
        </p:spPr>
        <p:txBody>
          <a:bodyPr>
            <a:noAutofit/>
          </a:bodyPr>
          <a:lstStyle/>
          <a:p>
            <a:pPr marL="0" indent="0"/>
            <a:r>
              <a:rPr lang="en-GB" dirty="0">
                <a:solidFill>
                  <a:schemeClr val="accent3"/>
                </a:solidFill>
              </a:rPr>
              <a:t>Regression Project Presentations</a:t>
            </a:r>
            <a:endParaRPr lang="en-US" dirty="0">
              <a:solidFill>
                <a:schemeClr val="accent3"/>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5154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493F-C470-9B4E-9CCC-BFE1FD35A1C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166BBE4-A7A2-C345-0721-5131731B9C4D}"/>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Introduction to Classification</a:t>
            </a:r>
          </a:p>
          <a:p>
            <a:endParaRPr lang="en-GB" sz="2000" dirty="0">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9AE732B9-36DB-D39C-C447-E9B64BB52776}"/>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What is Classification?</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BB40D0CD-0E5B-45E4-3964-7343A45CD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25B8794-0D76-E4BE-461A-B1BEB7A034CB}"/>
              </a:ext>
            </a:extLst>
          </p:cNvPr>
          <p:cNvSpPr txBox="1"/>
          <p:nvPr/>
        </p:nvSpPr>
        <p:spPr>
          <a:xfrm>
            <a:off x="1096092" y="2197768"/>
            <a:ext cx="6507866" cy="2031325"/>
          </a:xfrm>
          <a:prstGeom prst="rect">
            <a:avLst/>
          </a:prstGeom>
          <a:noFill/>
        </p:spPr>
        <p:txBody>
          <a:bodyPr wrap="square" rtlCol="0">
            <a:spAutoFit/>
          </a:bodyPr>
          <a:lstStyle/>
          <a:p>
            <a:r>
              <a:rPr lang="en-GB" dirty="0"/>
              <a:t>Classification is a supervised machine learning task that predicts categorical outcomes by learning patterns from </a:t>
            </a:r>
            <a:r>
              <a:rPr lang="en-GB" dirty="0" err="1"/>
              <a:t>labeled</a:t>
            </a:r>
            <a:r>
              <a:rPr lang="en-GB" dirty="0"/>
              <a:t> data.</a:t>
            </a:r>
          </a:p>
          <a:p>
            <a:endParaRPr lang="en-GB" dirty="0"/>
          </a:p>
          <a:p>
            <a:r>
              <a:rPr lang="en-GB" dirty="0"/>
              <a:t>Unlike regression (predicting continuous values), classification assigns data points to discrete categories or classes.</a:t>
            </a:r>
            <a:endParaRPr lang="en-NG" dirty="0"/>
          </a:p>
        </p:txBody>
      </p:sp>
    </p:spTree>
    <p:extLst>
      <p:ext uri="{BB962C8B-B14F-4D97-AF65-F5344CB8AC3E}">
        <p14:creationId xmlns:p14="http://schemas.microsoft.com/office/powerpoint/2010/main" val="3968130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A94CE-EC61-391E-8E16-BA18E9F6B8B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DA4AA98-D4DA-BE54-EE8C-CD276159C553}"/>
              </a:ext>
            </a:extLst>
          </p:cNvPr>
          <p:cNvSpPr txBox="1">
            <a:spLocks/>
          </p:cNvSpPr>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2000" dirty="0">
                <a:latin typeface="Arial" panose="020B0604020202020204" pitchFamily="34" charset="0"/>
                <a:cs typeface="Arial" panose="020B0604020202020204" pitchFamily="34" charset="0"/>
              </a:rPr>
              <a:t>Introduction to Classification</a:t>
            </a:r>
          </a:p>
          <a:p>
            <a:endParaRPr lang="en-GB" sz="2000" dirty="0">
              <a:latin typeface="Arial" panose="020B0604020202020204" pitchFamily="34" charset="0"/>
              <a:cs typeface="Arial" panose="020B0604020202020204" pitchFamily="34" charset="0"/>
            </a:endParaRPr>
          </a:p>
        </p:txBody>
      </p:sp>
      <p:sp>
        <p:nvSpPr>
          <p:cNvPr id="11" name="Title 1">
            <a:extLst>
              <a:ext uri="{FF2B5EF4-FFF2-40B4-BE49-F238E27FC236}">
                <a16:creationId xmlns:a16="http://schemas.microsoft.com/office/drawing/2014/main" id="{F3C0FDA5-414B-96BD-63CA-8E00F2E13F45}"/>
              </a:ext>
            </a:extLst>
          </p:cNvPr>
          <p:cNvSpPr txBox="1">
            <a:spLocks/>
          </p:cNvSpPr>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solidFill>
                  <a:srgbClr val="03807F"/>
                </a:solidFill>
                <a:latin typeface="Arial" panose="020B0604020202020204" pitchFamily="34" charset="0"/>
                <a:cs typeface="Arial" panose="020B0604020202020204" pitchFamily="34" charset="0"/>
              </a:rPr>
              <a:t>What is Classification?</a:t>
            </a:r>
            <a:endParaRPr lang="en-US" sz="3200" dirty="0">
              <a:solidFill>
                <a:srgbClr val="03807F"/>
              </a:solidFill>
              <a:latin typeface="Arial" panose="020B0604020202020204" pitchFamily="34" charset="0"/>
              <a:cs typeface="Arial" panose="020B0604020202020204" pitchFamily="34" charset="0"/>
            </a:endParaRPr>
          </a:p>
        </p:txBody>
      </p:sp>
      <p:pic>
        <p:nvPicPr>
          <p:cNvPr id="2050" name="Picture 2" descr="3d minimal dartboard with a lightbulb. gold archivement concept. 3d  illustration. 18742253 PNG">
            <a:extLst>
              <a:ext uri="{FF2B5EF4-FFF2-40B4-BE49-F238E27FC236}">
                <a16:creationId xmlns:a16="http://schemas.microsoft.com/office/drawing/2014/main" id="{7C9FEB29-6CB5-E7F3-0D04-3DB019232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878" y="1592567"/>
            <a:ext cx="5987517" cy="44898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C2199F-5925-F56E-B181-235B0628F491}"/>
              </a:ext>
            </a:extLst>
          </p:cNvPr>
          <p:cNvSpPr txBox="1"/>
          <p:nvPr/>
        </p:nvSpPr>
        <p:spPr>
          <a:xfrm>
            <a:off x="1096092" y="2197768"/>
            <a:ext cx="6507866" cy="2031325"/>
          </a:xfrm>
          <a:prstGeom prst="rect">
            <a:avLst/>
          </a:prstGeom>
          <a:noFill/>
        </p:spPr>
        <p:txBody>
          <a:bodyPr wrap="square" rtlCol="0">
            <a:spAutoFit/>
          </a:bodyPr>
          <a:lstStyle/>
          <a:p>
            <a:r>
              <a:rPr lang="en-GB" b="1" dirty="0"/>
              <a:t>Example:</a:t>
            </a:r>
          </a:p>
          <a:p>
            <a:endParaRPr lang="en-GB" dirty="0"/>
          </a:p>
          <a:p>
            <a:endParaRPr lang="en-GB" dirty="0"/>
          </a:p>
          <a:p>
            <a:pPr marL="285750" indent="-285750">
              <a:buFont typeface="Arial" panose="020B0604020202020204" pitchFamily="34" charset="0"/>
              <a:buChar char="•"/>
            </a:pPr>
            <a:r>
              <a:rPr lang="en-GB" dirty="0"/>
              <a:t>Regression: predicting house prices (#45,000,000)</a:t>
            </a:r>
          </a:p>
          <a:p>
            <a:pPr marL="285750" indent="-285750">
              <a:buFont typeface="Arial" panose="020B0604020202020204" pitchFamily="34" charset="0"/>
              <a:buChar char="•"/>
            </a:pPr>
            <a:r>
              <a:rPr lang="en-GB" dirty="0"/>
              <a:t>Classification: Predicting loan approval (Approved/Rejected)</a:t>
            </a:r>
          </a:p>
          <a:p>
            <a:pPr marL="285750" indent="-285750">
              <a:buFont typeface="Arial" panose="020B0604020202020204" pitchFamily="34" charset="0"/>
              <a:buChar char="•"/>
            </a:pPr>
            <a:endParaRPr lang="en-NG" dirty="0"/>
          </a:p>
        </p:txBody>
      </p:sp>
      <p:sp>
        <p:nvSpPr>
          <p:cNvPr id="3" name="Rectangle 1">
            <a:extLst>
              <a:ext uri="{FF2B5EF4-FFF2-40B4-BE49-F238E27FC236}">
                <a16:creationId xmlns:a16="http://schemas.microsoft.com/office/drawing/2014/main" id="{0E78FEEB-4389-FCBA-39D5-F91B77D691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NG" altLang="en-NG"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Regression: Predicting house prices (₦45,000,000)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Classification: Predicting loan approval (Approved/Rejected) </a:t>
            </a:r>
          </a:p>
        </p:txBody>
      </p:sp>
    </p:spTree>
    <p:extLst>
      <p:ext uri="{BB962C8B-B14F-4D97-AF65-F5344CB8AC3E}">
        <p14:creationId xmlns:p14="http://schemas.microsoft.com/office/powerpoint/2010/main" val="46978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E0F263-1744-DA40-EB2C-81295D73AC07}"/>
              </a:ext>
            </a:extLst>
          </p:cNvPr>
          <p:cNvSpPr txBox="1">
            <a:spLocks/>
          </p:cNvSpPr>
          <p:nvPr/>
        </p:nvSpPr>
        <p:spPr>
          <a:xfrm>
            <a:off x="1066595" y="595645"/>
            <a:ext cx="9385506" cy="111642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Classification vs. Regression: </a:t>
            </a:r>
            <a:r>
              <a:rPr lang="en-GB" sz="3200" dirty="0">
                <a:latin typeface="Arial" panose="020B0604020202020204" pitchFamily="34" charset="0"/>
                <a:cs typeface="Arial" panose="020B0604020202020204" pitchFamily="34" charset="0"/>
              </a:rPr>
              <a:t> </a:t>
            </a:r>
            <a:r>
              <a:rPr lang="en-GB" sz="3200" dirty="0">
                <a:solidFill>
                  <a:srgbClr val="03807F"/>
                </a:solidFill>
                <a:latin typeface="Arial" panose="020B0604020202020204" pitchFamily="34" charset="0"/>
                <a:cs typeface="Arial" panose="020B0604020202020204" pitchFamily="34" charset="0"/>
              </a:rPr>
              <a:t>Understanding the Difference</a:t>
            </a:r>
            <a:endParaRPr lang="en-GB" sz="3200" dirty="0">
              <a:solidFill>
                <a:srgbClr val="45C2CA"/>
              </a:solidFill>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D7228E1E-DF17-B5E2-1059-15C5688334D2}"/>
              </a:ext>
            </a:extLst>
          </p:cNvPr>
          <p:cNvGraphicFramePr>
            <a:graphicFrameLocks noGrp="1"/>
          </p:cNvGraphicFramePr>
          <p:nvPr>
            <p:extLst>
              <p:ext uri="{D42A27DB-BD31-4B8C-83A1-F6EECF244321}">
                <p14:modId xmlns:p14="http://schemas.microsoft.com/office/powerpoint/2010/main" val="1961334567"/>
              </p:ext>
            </p:extLst>
          </p:nvPr>
        </p:nvGraphicFramePr>
        <p:xfrm>
          <a:off x="1066595" y="1912362"/>
          <a:ext cx="10183779" cy="3360029"/>
        </p:xfrm>
        <a:graphic>
          <a:graphicData uri="http://schemas.openxmlformats.org/drawingml/2006/table">
            <a:tbl>
              <a:tblPr firstRow="1" bandRow="1">
                <a:tableStyleId>{5C22544A-7EE6-4342-B048-85BDC9FD1C3A}</a:tableStyleId>
              </a:tblPr>
              <a:tblGrid>
                <a:gridCol w="3394593">
                  <a:extLst>
                    <a:ext uri="{9D8B030D-6E8A-4147-A177-3AD203B41FA5}">
                      <a16:colId xmlns:a16="http://schemas.microsoft.com/office/drawing/2014/main" val="2979321703"/>
                    </a:ext>
                  </a:extLst>
                </a:gridCol>
                <a:gridCol w="3394593">
                  <a:extLst>
                    <a:ext uri="{9D8B030D-6E8A-4147-A177-3AD203B41FA5}">
                      <a16:colId xmlns:a16="http://schemas.microsoft.com/office/drawing/2014/main" val="3268754998"/>
                    </a:ext>
                  </a:extLst>
                </a:gridCol>
                <a:gridCol w="3394593">
                  <a:extLst>
                    <a:ext uri="{9D8B030D-6E8A-4147-A177-3AD203B41FA5}">
                      <a16:colId xmlns:a16="http://schemas.microsoft.com/office/drawing/2014/main" val="3012064744"/>
                    </a:ext>
                  </a:extLst>
                </a:gridCol>
              </a:tblGrid>
              <a:tr h="573901">
                <a:tc>
                  <a:txBody>
                    <a:bodyPr/>
                    <a:lstStyle/>
                    <a:p>
                      <a:pPr>
                        <a:buNone/>
                      </a:pPr>
                      <a:r>
                        <a:rPr lang="en-GB" dirty="0"/>
                        <a:t>Aspect</a:t>
                      </a:r>
                    </a:p>
                  </a:txBody>
                  <a:tcPr anchor="ctr"/>
                </a:tc>
                <a:tc>
                  <a:txBody>
                    <a:bodyPr/>
                    <a:lstStyle/>
                    <a:p>
                      <a:pPr>
                        <a:buNone/>
                      </a:pPr>
                      <a:r>
                        <a:rPr lang="en-GB"/>
                        <a:t>Regression</a:t>
                      </a:r>
                    </a:p>
                  </a:txBody>
                  <a:tcPr anchor="ctr"/>
                </a:tc>
                <a:tc>
                  <a:txBody>
                    <a:bodyPr/>
                    <a:lstStyle/>
                    <a:p>
                      <a:pPr>
                        <a:buNone/>
                      </a:pPr>
                      <a:r>
                        <a:rPr lang="en-GB"/>
                        <a:t>Classification</a:t>
                      </a:r>
                    </a:p>
                  </a:txBody>
                  <a:tcPr anchor="ctr"/>
                </a:tc>
                <a:extLst>
                  <a:ext uri="{0D108BD9-81ED-4DB2-BD59-A6C34878D82A}">
                    <a16:rowId xmlns:a16="http://schemas.microsoft.com/office/drawing/2014/main" val="3670608755"/>
                  </a:ext>
                </a:extLst>
              </a:tr>
              <a:tr h="573901">
                <a:tc>
                  <a:txBody>
                    <a:bodyPr/>
                    <a:lstStyle/>
                    <a:p>
                      <a:pPr>
                        <a:buNone/>
                      </a:pPr>
                      <a:r>
                        <a:rPr lang="en-GB" b="1" dirty="0"/>
                        <a:t>Output Type</a:t>
                      </a:r>
                      <a:endParaRPr lang="en-GB" dirty="0"/>
                    </a:p>
                  </a:txBody>
                  <a:tcPr anchor="ctr"/>
                </a:tc>
                <a:tc>
                  <a:txBody>
                    <a:bodyPr/>
                    <a:lstStyle/>
                    <a:p>
                      <a:pPr>
                        <a:buNone/>
                      </a:pPr>
                      <a:r>
                        <a:rPr lang="en-GB"/>
                        <a:t>Continuous numerical values</a:t>
                      </a:r>
                    </a:p>
                  </a:txBody>
                  <a:tcPr anchor="ctr"/>
                </a:tc>
                <a:tc>
                  <a:txBody>
                    <a:bodyPr/>
                    <a:lstStyle/>
                    <a:p>
                      <a:pPr>
                        <a:buNone/>
                      </a:pPr>
                      <a:r>
                        <a:rPr lang="en-GB"/>
                        <a:t>Discrete categories/labels</a:t>
                      </a:r>
                    </a:p>
                  </a:txBody>
                  <a:tcPr anchor="ctr"/>
                </a:tc>
                <a:extLst>
                  <a:ext uri="{0D108BD9-81ED-4DB2-BD59-A6C34878D82A}">
                    <a16:rowId xmlns:a16="http://schemas.microsoft.com/office/drawing/2014/main" val="456214213"/>
                  </a:ext>
                </a:extLst>
              </a:tr>
              <a:tr h="737409">
                <a:tc>
                  <a:txBody>
                    <a:bodyPr/>
                    <a:lstStyle/>
                    <a:p>
                      <a:pPr>
                        <a:buNone/>
                      </a:pPr>
                      <a:r>
                        <a:rPr lang="en-GB" b="1"/>
                        <a:t>Examples</a:t>
                      </a:r>
                      <a:endParaRPr lang="en-GB"/>
                    </a:p>
                  </a:txBody>
                  <a:tcPr anchor="ctr"/>
                </a:tc>
                <a:tc>
                  <a:txBody>
                    <a:bodyPr/>
                    <a:lstStyle/>
                    <a:p>
                      <a:pPr>
                        <a:buNone/>
                      </a:pPr>
                      <a:r>
                        <a:rPr lang="en-GB"/>
                        <a:t>House prices, temperature, sales</a:t>
                      </a:r>
                    </a:p>
                  </a:txBody>
                  <a:tcPr anchor="ctr"/>
                </a:tc>
                <a:tc>
                  <a:txBody>
                    <a:bodyPr/>
                    <a:lstStyle/>
                    <a:p>
                      <a:pPr>
                        <a:buNone/>
                      </a:pPr>
                      <a:r>
                        <a:rPr lang="en-GB"/>
                        <a:t>Email spam/not spam, disease present/absent</a:t>
                      </a:r>
                    </a:p>
                  </a:txBody>
                  <a:tcPr anchor="ctr"/>
                </a:tc>
                <a:extLst>
                  <a:ext uri="{0D108BD9-81ED-4DB2-BD59-A6C34878D82A}">
                    <a16:rowId xmlns:a16="http://schemas.microsoft.com/office/drawing/2014/main" val="3279549776"/>
                  </a:ext>
                </a:extLst>
              </a:tr>
              <a:tr h="737409">
                <a:tc>
                  <a:txBody>
                    <a:bodyPr/>
                    <a:lstStyle/>
                    <a:p>
                      <a:pPr>
                        <a:buNone/>
                      </a:pPr>
                      <a:r>
                        <a:rPr lang="en-GB" b="1"/>
                        <a:t>Evaluation</a:t>
                      </a:r>
                      <a:endParaRPr lang="en-GB"/>
                    </a:p>
                  </a:txBody>
                  <a:tcPr anchor="ctr"/>
                </a:tc>
                <a:tc>
                  <a:txBody>
                    <a:bodyPr/>
                    <a:lstStyle/>
                    <a:p>
                      <a:pPr>
                        <a:buNone/>
                      </a:pPr>
                      <a:r>
                        <a:rPr lang="en-GB"/>
                        <a:t>MSE, RMSE, R²</a:t>
                      </a:r>
                    </a:p>
                  </a:txBody>
                  <a:tcPr anchor="ctr"/>
                </a:tc>
                <a:tc>
                  <a:txBody>
                    <a:bodyPr/>
                    <a:lstStyle/>
                    <a:p>
                      <a:pPr>
                        <a:buNone/>
                      </a:pPr>
                      <a:r>
                        <a:rPr lang="en-GB"/>
                        <a:t>Accuracy, precision, recall, F1-score</a:t>
                      </a:r>
                    </a:p>
                  </a:txBody>
                  <a:tcPr anchor="ctr"/>
                </a:tc>
                <a:extLst>
                  <a:ext uri="{0D108BD9-81ED-4DB2-BD59-A6C34878D82A}">
                    <a16:rowId xmlns:a16="http://schemas.microsoft.com/office/drawing/2014/main" val="2114606966"/>
                  </a:ext>
                </a:extLst>
              </a:tr>
              <a:tr h="737409">
                <a:tc>
                  <a:txBody>
                    <a:bodyPr/>
                    <a:lstStyle/>
                    <a:p>
                      <a:pPr>
                        <a:buNone/>
                      </a:pPr>
                      <a:r>
                        <a:rPr lang="en-GB" b="1"/>
                        <a:t>Algorithms</a:t>
                      </a:r>
                      <a:endParaRPr lang="en-GB"/>
                    </a:p>
                  </a:txBody>
                  <a:tcPr anchor="ctr"/>
                </a:tc>
                <a:tc>
                  <a:txBody>
                    <a:bodyPr/>
                    <a:lstStyle/>
                    <a:p>
                      <a:pPr>
                        <a:buNone/>
                      </a:pPr>
                      <a:r>
                        <a:rPr lang="en-GB"/>
                        <a:t>Linear regression, polynomial regression</a:t>
                      </a:r>
                    </a:p>
                  </a:txBody>
                  <a:tcPr anchor="ctr"/>
                </a:tc>
                <a:tc>
                  <a:txBody>
                    <a:bodyPr/>
                    <a:lstStyle/>
                    <a:p>
                      <a:pPr>
                        <a:buNone/>
                      </a:pPr>
                      <a:r>
                        <a:rPr lang="en-GB" dirty="0"/>
                        <a:t>Logistic regression, decision trees, SVM</a:t>
                      </a:r>
                    </a:p>
                  </a:txBody>
                  <a:tcPr anchor="ctr"/>
                </a:tc>
                <a:extLst>
                  <a:ext uri="{0D108BD9-81ED-4DB2-BD59-A6C34878D82A}">
                    <a16:rowId xmlns:a16="http://schemas.microsoft.com/office/drawing/2014/main" val="3572011112"/>
                  </a:ext>
                </a:extLst>
              </a:tr>
            </a:tbl>
          </a:graphicData>
        </a:graphic>
      </p:graphicFrame>
    </p:spTree>
    <p:extLst>
      <p:ext uri="{BB962C8B-B14F-4D97-AF65-F5344CB8AC3E}">
        <p14:creationId xmlns:p14="http://schemas.microsoft.com/office/powerpoint/2010/main" val="883240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0E57-433A-3427-286A-7DFBB8DC79D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10B122-3103-2A32-4F52-102222A68651}"/>
              </a:ext>
            </a:extLst>
          </p:cNvPr>
          <p:cNvSpPr txBox="1">
            <a:spLocks/>
          </p:cNvSpPr>
          <p:nvPr/>
        </p:nvSpPr>
        <p:spPr>
          <a:xfrm>
            <a:off x="1066595" y="595645"/>
            <a:ext cx="9385506" cy="111642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Binary vs. Multiclass Classification: </a:t>
            </a:r>
            <a:r>
              <a:rPr lang="en-GB" sz="3200" dirty="0">
                <a:latin typeface="Arial" panose="020B0604020202020204" pitchFamily="34" charset="0"/>
                <a:cs typeface="Arial" panose="020B0604020202020204" pitchFamily="34" charset="0"/>
              </a:rPr>
              <a:t> </a:t>
            </a:r>
            <a:r>
              <a:rPr lang="en-GB" sz="3200" dirty="0">
                <a:solidFill>
                  <a:srgbClr val="03807F"/>
                </a:solidFill>
                <a:latin typeface="Arial" panose="020B0604020202020204" pitchFamily="34" charset="0"/>
                <a:cs typeface="Arial" panose="020B0604020202020204" pitchFamily="34" charset="0"/>
              </a:rPr>
              <a:t>Types of Classification Problems</a:t>
            </a:r>
            <a:endParaRPr lang="en-GB" sz="3200" dirty="0">
              <a:solidFill>
                <a:srgbClr val="45C2CA"/>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BE23FF56-B02F-F9F6-A2E4-7E62A666D42B}"/>
              </a:ext>
            </a:extLst>
          </p:cNvPr>
          <p:cNvGraphicFramePr>
            <a:graphicFrameLocks noGrp="1"/>
          </p:cNvGraphicFramePr>
          <p:nvPr>
            <p:extLst>
              <p:ext uri="{D42A27DB-BD31-4B8C-83A1-F6EECF244321}">
                <p14:modId xmlns:p14="http://schemas.microsoft.com/office/powerpoint/2010/main" val="2043248818"/>
              </p:ext>
            </p:extLst>
          </p:nvPr>
        </p:nvGraphicFramePr>
        <p:xfrm>
          <a:off x="1181808" y="1912363"/>
          <a:ext cx="9828384" cy="3015239"/>
        </p:xfrm>
        <a:graphic>
          <a:graphicData uri="http://schemas.openxmlformats.org/drawingml/2006/table">
            <a:tbl>
              <a:tblPr firstRow="1" bandRow="1">
                <a:tableStyleId>{5C22544A-7EE6-4342-B048-85BDC9FD1C3A}</a:tableStyleId>
              </a:tblPr>
              <a:tblGrid>
                <a:gridCol w="4914192">
                  <a:extLst>
                    <a:ext uri="{9D8B030D-6E8A-4147-A177-3AD203B41FA5}">
                      <a16:colId xmlns:a16="http://schemas.microsoft.com/office/drawing/2014/main" val="2979321703"/>
                    </a:ext>
                  </a:extLst>
                </a:gridCol>
                <a:gridCol w="4914192">
                  <a:extLst>
                    <a:ext uri="{9D8B030D-6E8A-4147-A177-3AD203B41FA5}">
                      <a16:colId xmlns:a16="http://schemas.microsoft.com/office/drawing/2014/main" val="3268754998"/>
                    </a:ext>
                  </a:extLst>
                </a:gridCol>
              </a:tblGrid>
              <a:tr h="515010">
                <a:tc>
                  <a:txBody>
                    <a:bodyPr/>
                    <a:lstStyle/>
                    <a:p>
                      <a:pPr>
                        <a:buNone/>
                      </a:pPr>
                      <a:r>
                        <a:rPr lang="en-GB" dirty="0"/>
                        <a:t>Binary Classification</a:t>
                      </a:r>
                    </a:p>
                  </a:txBody>
                  <a:tcPr anchor="ctr"/>
                </a:tc>
                <a:tc>
                  <a:txBody>
                    <a:bodyPr/>
                    <a:lstStyle/>
                    <a:p>
                      <a:pPr>
                        <a:buNone/>
                      </a:pPr>
                      <a:r>
                        <a:rPr lang="en-GB" dirty="0"/>
                        <a:t>Multiclass Classification</a:t>
                      </a:r>
                    </a:p>
                  </a:txBody>
                  <a:tcPr anchor="ctr"/>
                </a:tc>
                <a:extLst>
                  <a:ext uri="{0D108BD9-81ED-4DB2-BD59-A6C34878D82A}">
                    <a16:rowId xmlns:a16="http://schemas.microsoft.com/office/drawing/2014/main" val="3670608755"/>
                  </a:ext>
                </a:extLst>
              </a:tr>
              <a:tr h="515010">
                <a:tc>
                  <a:txBody>
                    <a:bodyPr/>
                    <a:lstStyle/>
                    <a:p>
                      <a:pPr>
                        <a:buNone/>
                      </a:pPr>
                      <a:r>
                        <a:rPr lang="en-GB" dirty="0"/>
                        <a:t>Two possible outcomes (0 or 1, Yes or No) </a:t>
                      </a:r>
                    </a:p>
                  </a:txBody>
                  <a:tcPr anchor="ctr"/>
                </a:tc>
                <a:tc>
                  <a:txBody>
                    <a:bodyPr/>
                    <a:lstStyle/>
                    <a:p>
                      <a:pPr>
                        <a:buNone/>
                      </a:pPr>
                      <a:r>
                        <a:rPr lang="en-GB" dirty="0"/>
                        <a:t>Three or more possible outcomes</a:t>
                      </a:r>
                    </a:p>
                  </a:txBody>
                  <a:tcPr anchor="ctr"/>
                </a:tc>
                <a:extLst>
                  <a:ext uri="{0D108BD9-81ED-4DB2-BD59-A6C34878D82A}">
                    <a16:rowId xmlns:a16="http://schemas.microsoft.com/office/drawing/2014/main" val="456214213"/>
                  </a:ext>
                </a:extLst>
              </a:tr>
              <a:tr h="1985219">
                <a:tc>
                  <a:txBody>
                    <a:bodyPr/>
                    <a:lstStyle/>
                    <a:p>
                      <a:r>
                        <a:rPr lang="en-GB" b="1" dirty="0"/>
                        <a:t>Examples: </a:t>
                      </a:r>
                    </a:p>
                    <a:p>
                      <a:pPr marL="285750" indent="-285750">
                        <a:buFont typeface="Courier New" panose="02070309020205020404" pitchFamily="49" charset="0"/>
                        <a:buChar char="o"/>
                      </a:pPr>
                      <a:r>
                        <a:rPr lang="en-GB" dirty="0"/>
                        <a:t>Customer will churn: Yes/No</a:t>
                      </a:r>
                    </a:p>
                    <a:p>
                      <a:pPr marL="285750" indent="-285750">
                        <a:buFont typeface="Courier New" panose="02070309020205020404" pitchFamily="49" charset="0"/>
                        <a:buChar char="o"/>
                      </a:pPr>
                      <a:r>
                        <a:rPr lang="en-GB" dirty="0"/>
                        <a:t>Email is spam: Spam/Not Spam</a:t>
                      </a:r>
                    </a:p>
                    <a:p>
                      <a:pPr marL="285750" indent="-285750">
                        <a:buFont typeface="Courier New" panose="02070309020205020404" pitchFamily="49" charset="0"/>
                        <a:buChar char="o"/>
                      </a:pPr>
                      <a:r>
                        <a:rPr lang="en-GB" dirty="0"/>
                        <a:t>Loan default: Default/No </a:t>
                      </a:r>
                      <a:r>
                        <a:rPr lang="en-GB" dirty="0" err="1"/>
                        <a:t>Defaul</a:t>
                      </a:r>
                      <a:endParaRPr lang="en-GB" dirty="0"/>
                    </a:p>
                    <a:p>
                      <a:pPr>
                        <a:buNone/>
                      </a:pPr>
                      <a:endParaRPr lang="en-GB" dirty="0"/>
                    </a:p>
                  </a:txBody>
                  <a:tcPr/>
                </a:tc>
                <a:tc>
                  <a:txBody>
                    <a:bodyPr/>
                    <a:lstStyle/>
                    <a:p>
                      <a:r>
                        <a:rPr lang="en-GB" b="1" dirty="0"/>
                        <a:t>Examples:</a:t>
                      </a:r>
                    </a:p>
                    <a:p>
                      <a:pPr marL="285750" indent="-285750">
                        <a:buFont typeface="Courier New" panose="02070309020205020404" pitchFamily="49" charset="0"/>
                        <a:buChar char="o"/>
                      </a:pPr>
                      <a:r>
                        <a:rPr lang="en-GB" dirty="0"/>
                        <a:t>Product rating: 1★, 2★, 3★, 4★, 5★</a:t>
                      </a:r>
                    </a:p>
                    <a:p>
                      <a:pPr marL="285750" indent="-285750">
                        <a:buFont typeface="Courier New" panose="02070309020205020404" pitchFamily="49" charset="0"/>
                        <a:buChar char="o"/>
                      </a:pPr>
                      <a:r>
                        <a:rPr lang="en-GB" dirty="0"/>
                        <a:t>Disease type: Malaria, Typhoid, None</a:t>
                      </a:r>
                    </a:p>
                    <a:p>
                      <a:pPr marL="285750" indent="-285750">
                        <a:buFont typeface="Courier New" panose="02070309020205020404" pitchFamily="49" charset="0"/>
                        <a:buChar char="o"/>
                      </a:pPr>
                      <a:r>
                        <a:rPr lang="en-GB" dirty="0"/>
                        <a:t>Customer segment: Bronze, Silver, Gold, Platinum</a:t>
                      </a:r>
                    </a:p>
                    <a:p>
                      <a:pPr>
                        <a:buNone/>
                      </a:pPr>
                      <a:endParaRPr lang="en-GB" dirty="0"/>
                    </a:p>
                  </a:txBody>
                  <a:tcPr/>
                </a:tc>
                <a:extLst>
                  <a:ext uri="{0D108BD9-81ED-4DB2-BD59-A6C34878D82A}">
                    <a16:rowId xmlns:a16="http://schemas.microsoft.com/office/drawing/2014/main" val="3279549776"/>
                  </a:ext>
                </a:extLst>
              </a:tr>
            </a:tbl>
          </a:graphicData>
        </a:graphic>
      </p:graphicFrame>
    </p:spTree>
    <p:extLst>
      <p:ext uri="{BB962C8B-B14F-4D97-AF65-F5344CB8AC3E}">
        <p14:creationId xmlns:p14="http://schemas.microsoft.com/office/powerpoint/2010/main" val="2745203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6AD38-A451-04B1-55C9-9015990D931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D5EFAB3-C195-E093-5FF0-0BFD2C1D7217}"/>
              </a:ext>
            </a:extLst>
          </p:cNvPr>
          <p:cNvSpPr txBox="1">
            <a:spLocks/>
          </p:cNvSpPr>
          <p:nvPr/>
        </p:nvSpPr>
        <p:spPr>
          <a:xfrm>
            <a:off x="317306" y="240175"/>
            <a:ext cx="9724310" cy="61072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Classification in Action: Nigerian Context </a:t>
            </a:r>
            <a:endParaRPr lang="en-NG" sz="3200" dirty="0"/>
          </a:p>
          <a:p>
            <a:endParaRPr lang="en-US" sz="3200" dirty="0">
              <a:solidFill>
                <a:srgbClr val="03807F"/>
              </a:solidFill>
              <a:latin typeface="Arial" panose="020B0604020202020204" pitchFamily="34" charset="0"/>
              <a:cs typeface="Arial" panose="020B0604020202020204" pitchFamily="34" charset="0"/>
            </a:endParaRPr>
          </a:p>
        </p:txBody>
      </p:sp>
      <p:sp>
        <p:nvSpPr>
          <p:cNvPr id="12" name="Rectangle: Rounded Corners 11">
            <a:extLst>
              <a:ext uri="{FF2B5EF4-FFF2-40B4-BE49-F238E27FC236}">
                <a16:creationId xmlns:a16="http://schemas.microsoft.com/office/drawing/2014/main" id="{0E74B4D2-92D1-17BA-6906-04E5ED43C2A2}"/>
              </a:ext>
            </a:extLst>
          </p:cNvPr>
          <p:cNvSpPr/>
          <p:nvPr/>
        </p:nvSpPr>
        <p:spPr>
          <a:xfrm>
            <a:off x="599440" y="1046480"/>
            <a:ext cx="2377440" cy="523220"/>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Financial Services</a:t>
            </a:r>
            <a:endParaRPr lang="en-NG" b="1" dirty="0"/>
          </a:p>
        </p:txBody>
      </p:sp>
      <p:sp>
        <p:nvSpPr>
          <p:cNvPr id="16" name="TextBox 15">
            <a:extLst>
              <a:ext uri="{FF2B5EF4-FFF2-40B4-BE49-F238E27FC236}">
                <a16:creationId xmlns:a16="http://schemas.microsoft.com/office/drawing/2014/main" id="{39ECD98B-EB73-0325-3D33-156BB82351D9}"/>
              </a:ext>
            </a:extLst>
          </p:cNvPr>
          <p:cNvSpPr txBox="1"/>
          <p:nvPr/>
        </p:nvSpPr>
        <p:spPr>
          <a:xfrm>
            <a:off x="468709" y="1669156"/>
            <a:ext cx="5647608" cy="584775"/>
          </a:xfrm>
          <a:prstGeom prst="rect">
            <a:avLst/>
          </a:prstGeom>
          <a:noFill/>
        </p:spPr>
        <p:txBody>
          <a:bodyPr wrap="square" rtlCol="0">
            <a:spAutoFit/>
          </a:bodyPr>
          <a:lstStyle/>
          <a:p>
            <a:r>
              <a:rPr lang="en-GB" sz="1600" b="1" dirty="0">
                <a:highlight>
                  <a:srgbClr val="FBA31C"/>
                </a:highlight>
              </a:rPr>
              <a:t>Credit Risk for Microfinance</a:t>
            </a:r>
            <a:r>
              <a:rPr lang="en-GB" sz="1600" dirty="0">
                <a:highlight>
                  <a:srgbClr val="FBA31C"/>
                </a:highlight>
              </a:rPr>
              <a:t> (LAPO, Accion, Grooming Centre)</a:t>
            </a:r>
            <a:endParaRPr lang="en-NG" sz="1600" dirty="0">
              <a:highlight>
                <a:srgbClr val="FBA31C"/>
              </a:highlight>
            </a:endParaRPr>
          </a:p>
        </p:txBody>
      </p:sp>
      <p:sp>
        <p:nvSpPr>
          <p:cNvPr id="22" name="Rectangle 4">
            <a:extLst>
              <a:ext uri="{FF2B5EF4-FFF2-40B4-BE49-F238E27FC236}">
                <a16:creationId xmlns:a16="http://schemas.microsoft.com/office/drawing/2014/main" id="{369559D8-B100-4BFB-D46D-916DDCF984EF}"/>
              </a:ext>
            </a:extLst>
          </p:cNvPr>
          <p:cNvSpPr>
            <a:spLocks noChangeArrowheads="1"/>
          </p:cNvSpPr>
          <p:nvPr/>
        </p:nvSpPr>
        <p:spPr bwMode="auto">
          <a:xfrm>
            <a:off x="468709" y="2253931"/>
            <a:ext cx="5363131"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effectLst/>
                <a:latin typeface="Arial" panose="020B0604020202020204" pitchFamily="34" charset="0"/>
              </a:rPr>
              <a:t>Model:</a:t>
            </a:r>
            <a:r>
              <a:rPr kumimoji="0" lang="en-NG" altLang="en-NG" sz="1400" b="0" i="0" u="none" strike="noStrike" cap="none" normalizeH="0" baseline="0" dirty="0">
                <a:ln>
                  <a:noFill/>
                </a:ln>
                <a:effectLst/>
                <a:latin typeface="Arial" panose="020B0604020202020204" pitchFamily="34" charset="0"/>
              </a:rPr>
              <a:t> Logistic Regression</a:t>
            </a:r>
            <a:r>
              <a:rPr lang="en-GB" altLang="en-NG" sz="1400" dirty="0">
                <a:latin typeface="Arial" panose="020B0604020202020204" pitchFamily="34" charset="0"/>
              </a:rPr>
              <a:t> </a:t>
            </a:r>
            <a:r>
              <a:rPr kumimoji="0" lang="en-NG" altLang="en-NG" sz="1400" b="0" i="0" u="none" strike="noStrike" cap="none" normalizeH="0" baseline="0" dirty="0">
                <a:ln>
                  <a:noFill/>
                </a:ln>
                <a:effectLst/>
                <a:latin typeface="Arial" panose="020B0604020202020204" pitchFamily="34" charset="0"/>
              </a:rPr>
              <a:t>(interpretability required by CBN)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effectLst/>
                <a:latin typeface="Arial" panose="020B0604020202020204" pitchFamily="34" charset="0"/>
              </a:rPr>
              <a:t>Features:</a:t>
            </a:r>
            <a:r>
              <a:rPr kumimoji="0" lang="en-NG" altLang="en-NG" sz="1400" b="0" i="0" u="none" strike="noStrike" cap="none" normalizeH="0" baseline="0" dirty="0">
                <a:ln>
                  <a:noFill/>
                </a:ln>
                <a:effectLst/>
                <a:latin typeface="Arial" panose="020B0604020202020204" pitchFamily="34" charset="0"/>
              </a:rPr>
              <a:t> Credit bureau score, business type,</a:t>
            </a:r>
            <a:endParaRPr kumimoji="0" lang="en-GB" altLang="en-NG" sz="1400" b="0" i="0" u="none" strike="noStrike" cap="none" normalizeH="0" baseline="0" dirty="0">
              <a:ln>
                <a:noFill/>
              </a:ln>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GB" altLang="en-NG" sz="1400" dirty="0">
                <a:latin typeface="Arial" panose="020B0604020202020204" pitchFamily="34" charset="0"/>
              </a:rPr>
              <a:t>      </a:t>
            </a:r>
            <a:r>
              <a:rPr kumimoji="0" lang="en-NG" altLang="en-NG" sz="1400" b="0" i="0" u="none" strike="noStrike" cap="none" normalizeH="0" baseline="0" dirty="0">
                <a:ln>
                  <a:noFill/>
                </a:ln>
                <a:effectLst/>
                <a:latin typeface="Arial" panose="020B0604020202020204" pitchFamily="34" charset="0"/>
              </a:rPr>
              <a:t>repayment history, guarantor reliability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effectLst/>
                <a:latin typeface="Arial" panose="020B0604020202020204" pitchFamily="34" charset="0"/>
              </a:rPr>
              <a:t>Accuracy:</a:t>
            </a:r>
            <a:r>
              <a:rPr kumimoji="0" lang="en-NG" altLang="en-NG" sz="1400" b="0" i="0" u="none" strike="noStrike" cap="none" normalizeH="0" baseline="0" dirty="0">
                <a:ln>
                  <a:noFill/>
                </a:ln>
                <a:effectLst/>
                <a:latin typeface="Arial" panose="020B0604020202020204" pitchFamily="34" charset="0"/>
              </a:rPr>
              <a:t> 78% with emphasis on recall to</a:t>
            </a:r>
            <a:endParaRPr lang="en-GB" altLang="en-NG" sz="14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GB" altLang="en-NG" sz="1400" b="0" i="0" u="none" strike="noStrike" cap="none" normalizeH="0" baseline="0" dirty="0">
                <a:ln>
                  <a:noFill/>
                </a:ln>
                <a:effectLst/>
                <a:latin typeface="Arial" panose="020B0604020202020204" pitchFamily="34" charset="0"/>
              </a:rPr>
              <a:t>      </a:t>
            </a:r>
            <a:r>
              <a:rPr kumimoji="0" lang="en-NG" altLang="en-NG" sz="1400" b="0" i="0" u="none" strike="noStrike" cap="none" normalizeH="0" baseline="0" dirty="0">
                <a:ln>
                  <a:noFill/>
                </a:ln>
                <a:effectLst/>
                <a:latin typeface="Arial" panose="020B0604020202020204" pitchFamily="34" charset="0"/>
              </a:rPr>
              <a:t>minimize bad loans </a:t>
            </a:r>
          </a:p>
        </p:txBody>
      </p:sp>
      <p:sp>
        <p:nvSpPr>
          <p:cNvPr id="23" name="TextBox 22">
            <a:extLst>
              <a:ext uri="{FF2B5EF4-FFF2-40B4-BE49-F238E27FC236}">
                <a16:creationId xmlns:a16="http://schemas.microsoft.com/office/drawing/2014/main" id="{27E4AB1A-85E6-7274-D0E2-316657C0FCB9}"/>
              </a:ext>
            </a:extLst>
          </p:cNvPr>
          <p:cNvSpPr txBox="1"/>
          <p:nvPr/>
        </p:nvSpPr>
        <p:spPr>
          <a:xfrm>
            <a:off x="6228080" y="1633914"/>
            <a:ext cx="5647608" cy="338554"/>
          </a:xfrm>
          <a:prstGeom prst="rect">
            <a:avLst/>
          </a:prstGeom>
          <a:noFill/>
        </p:spPr>
        <p:txBody>
          <a:bodyPr wrap="square" rtlCol="0">
            <a:spAutoFit/>
          </a:bodyPr>
          <a:lstStyle/>
          <a:p>
            <a:r>
              <a:rPr lang="en-GB" sz="1600" b="1" dirty="0">
                <a:highlight>
                  <a:srgbClr val="FBA31C"/>
                </a:highlight>
              </a:rPr>
              <a:t>Malaria Rapid Diagnosis</a:t>
            </a:r>
            <a:r>
              <a:rPr lang="en-GB" sz="1600" dirty="0">
                <a:highlight>
                  <a:srgbClr val="FBA31C"/>
                </a:highlight>
              </a:rPr>
              <a:t> (NCDC Partnership)</a:t>
            </a:r>
            <a:endParaRPr lang="en-NG" sz="1600" dirty="0">
              <a:highlight>
                <a:srgbClr val="FBA31C"/>
              </a:highlight>
            </a:endParaRPr>
          </a:p>
        </p:txBody>
      </p:sp>
      <p:sp>
        <p:nvSpPr>
          <p:cNvPr id="24" name="Rectangle: Rounded Corners 23">
            <a:extLst>
              <a:ext uri="{FF2B5EF4-FFF2-40B4-BE49-F238E27FC236}">
                <a16:creationId xmlns:a16="http://schemas.microsoft.com/office/drawing/2014/main" id="{53EBDDA4-E71E-6FD4-0DB6-ABE107562115}"/>
              </a:ext>
            </a:extLst>
          </p:cNvPr>
          <p:cNvSpPr/>
          <p:nvPr/>
        </p:nvSpPr>
        <p:spPr>
          <a:xfrm>
            <a:off x="6319520" y="998418"/>
            <a:ext cx="2377440" cy="523220"/>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Healthcare</a:t>
            </a:r>
            <a:endParaRPr lang="en-NG" b="1" dirty="0"/>
          </a:p>
        </p:txBody>
      </p:sp>
      <p:sp>
        <p:nvSpPr>
          <p:cNvPr id="26" name="Rectangle 5">
            <a:extLst>
              <a:ext uri="{FF2B5EF4-FFF2-40B4-BE49-F238E27FC236}">
                <a16:creationId xmlns:a16="http://schemas.microsoft.com/office/drawing/2014/main" id="{A8799DFD-7B28-0633-158A-8DDFA6B61727}"/>
              </a:ext>
            </a:extLst>
          </p:cNvPr>
          <p:cNvSpPr>
            <a:spLocks noChangeArrowheads="1"/>
          </p:cNvSpPr>
          <p:nvPr/>
        </p:nvSpPr>
        <p:spPr bwMode="auto">
          <a:xfrm>
            <a:off x="6197600" y="2062984"/>
            <a:ext cx="5525691" cy="1432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Model:</a:t>
            </a:r>
            <a:r>
              <a:rPr kumimoji="0" lang="en-NG" altLang="en-NG" sz="1400" b="0" i="0" u="none" strike="noStrike" cap="none" normalizeH="0" baseline="0" dirty="0">
                <a:ln>
                  <a:noFill/>
                </a:ln>
                <a:solidFill>
                  <a:schemeClr val="tx1"/>
                </a:solidFill>
                <a:effectLst/>
                <a:latin typeface="Arial" panose="020B0604020202020204" pitchFamily="34" charset="0"/>
              </a:rPr>
              <a:t> Gradient Boosting Classifier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Features:</a:t>
            </a:r>
            <a:r>
              <a:rPr kumimoji="0" lang="en-NG" altLang="en-NG" sz="1400" b="0" i="0" u="none" strike="noStrike" cap="none" normalizeH="0" baseline="0" dirty="0">
                <a:ln>
                  <a:noFill/>
                </a:ln>
                <a:solidFill>
                  <a:schemeClr val="tx1"/>
                </a:solidFill>
                <a:effectLst/>
                <a:latin typeface="Arial" panose="020B0604020202020204" pitchFamily="34" charset="0"/>
              </a:rPr>
              <a:t> Fever duration, body temperature, geographic zone, recent travel, season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Performance:</a:t>
            </a:r>
            <a:r>
              <a:rPr kumimoji="0" lang="en-NG" altLang="en-NG" sz="1400" b="0" i="0" u="none" strike="noStrike" cap="none" normalizeH="0" baseline="0" dirty="0">
                <a:ln>
                  <a:noFill/>
                </a:ln>
                <a:solidFill>
                  <a:schemeClr val="tx1"/>
                </a:solidFill>
                <a:effectLst/>
                <a:latin typeface="Arial" panose="020B0604020202020204" pitchFamily="34" charset="0"/>
              </a:rPr>
              <a:t> 88% sensitivity, 82% specificity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Deployment:</a:t>
            </a:r>
            <a:r>
              <a:rPr kumimoji="0" lang="en-NG" altLang="en-NG" sz="1400" b="0" i="0" u="none" strike="noStrike" cap="none" normalizeH="0" baseline="0" dirty="0">
                <a:ln>
                  <a:noFill/>
                </a:ln>
                <a:solidFill>
                  <a:schemeClr val="tx1"/>
                </a:solidFill>
                <a:effectLst/>
                <a:latin typeface="Arial" panose="020B0604020202020204" pitchFamily="34" charset="0"/>
              </a:rPr>
              <a:t> Mobile app for rural health workers, works offline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Dataset:</a:t>
            </a:r>
            <a:r>
              <a:rPr kumimoji="0" lang="en-NG" altLang="en-NG" sz="1400" b="0" i="0" u="none" strike="noStrike" cap="none" normalizeH="0" baseline="0" dirty="0">
                <a:ln>
                  <a:noFill/>
                </a:ln>
                <a:solidFill>
                  <a:schemeClr val="tx1"/>
                </a:solidFill>
                <a:effectLst/>
                <a:latin typeface="Arial" panose="020B0604020202020204" pitchFamily="34" charset="0"/>
              </a:rPr>
              <a:t> 156,000 patient records from 12 states </a:t>
            </a:r>
          </a:p>
        </p:txBody>
      </p:sp>
      <p:sp>
        <p:nvSpPr>
          <p:cNvPr id="27" name="Rectangle: Rounded Corners 26">
            <a:extLst>
              <a:ext uri="{FF2B5EF4-FFF2-40B4-BE49-F238E27FC236}">
                <a16:creationId xmlns:a16="http://schemas.microsoft.com/office/drawing/2014/main" id="{BB967788-FEBF-C2BC-CE44-3ED1D27F2174}"/>
              </a:ext>
            </a:extLst>
          </p:cNvPr>
          <p:cNvSpPr/>
          <p:nvPr/>
        </p:nvSpPr>
        <p:spPr>
          <a:xfrm>
            <a:off x="599440" y="3495040"/>
            <a:ext cx="2641600" cy="523220"/>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E-Commerce &amp; Retail</a:t>
            </a:r>
            <a:endParaRPr lang="en-NG" b="1" dirty="0"/>
          </a:p>
        </p:txBody>
      </p:sp>
      <p:sp>
        <p:nvSpPr>
          <p:cNvPr id="28" name="Rectangle: Rounded Corners 27">
            <a:extLst>
              <a:ext uri="{FF2B5EF4-FFF2-40B4-BE49-F238E27FC236}">
                <a16:creationId xmlns:a16="http://schemas.microsoft.com/office/drawing/2014/main" id="{F32C6023-951B-3AE1-1A76-85CDC46FD834}"/>
              </a:ext>
            </a:extLst>
          </p:cNvPr>
          <p:cNvSpPr/>
          <p:nvPr/>
        </p:nvSpPr>
        <p:spPr>
          <a:xfrm>
            <a:off x="6228080" y="3547084"/>
            <a:ext cx="2641600" cy="471176"/>
          </a:xfrm>
          <a:prstGeom prst="round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r>
              <a:rPr lang="en-GB" b="1" dirty="0"/>
              <a:t>Telecommunication</a:t>
            </a:r>
            <a:endParaRPr lang="en-NG" b="1" dirty="0"/>
          </a:p>
        </p:txBody>
      </p:sp>
      <p:sp>
        <p:nvSpPr>
          <p:cNvPr id="29" name="TextBox 28">
            <a:extLst>
              <a:ext uri="{FF2B5EF4-FFF2-40B4-BE49-F238E27FC236}">
                <a16:creationId xmlns:a16="http://schemas.microsoft.com/office/drawing/2014/main" id="{62DB2D87-3677-FB20-A494-FDD0E0F02496}"/>
              </a:ext>
            </a:extLst>
          </p:cNvPr>
          <p:cNvSpPr txBox="1"/>
          <p:nvPr/>
        </p:nvSpPr>
        <p:spPr>
          <a:xfrm>
            <a:off x="468709" y="4070966"/>
            <a:ext cx="4469051" cy="338554"/>
          </a:xfrm>
          <a:prstGeom prst="rect">
            <a:avLst/>
          </a:prstGeom>
          <a:noFill/>
        </p:spPr>
        <p:txBody>
          <a:bodyPr wrap="square" rtlCol="0">
            <a:spAutoFit/>
          </a:bodyPr>
          <a:lstStyle/>
          <a:p>
            <a:r>
              <a:rPr lang="en-GB" sz="1600" b="1" dirty="0">
                <a:highlight>
                  <a:srgbClr val="FBA31C"/>
                </a:highlight>
              </a:rPr>
              <a:t>Customer Churn Prediction</a:t>
            </a:r>
            <a:r>
              <a:rPr lang="en-GB" sz="1600" dirty="0">
                <a:highlight>
                  <a:srgbClr val="FBA31C"/>
                </a:highlight>
              </a:rPr>
              <a:t> (Jumia Nigeria)</a:t>
            </a:r>
            <a:endParaRPr lang="en-NG" sz="1600" dirty="0">
              <a:highlight>
                <a:srgbClr val="FBA31C"/>
              </a:highlight>
            </a:endParaRPr>
          </a:p>
        </p:txBody>
      </p:sp>
      <p:sp>
        <p:nvSpPr>
          <p:cNvPr id="30" name="TextBox 29">
            <a:extLst>
              <a:ext uri="{FF2B5EF4-FFF2-40B4-BE49-F238E27FC236}">
                <a16:creationId xmlns:a16="http://schemas.microsoft.com/office/drawing/2014/main" id="{1659FFC9-C784-18A3-00F0-6EACAE73F187}"/>
              </a:ext>
            </a:extLst>
          </p:cNvPr>
          <p:cNvSpPr txBox="1"/>
          <p:nvPr/>
        </p:nvSpPr>
        <p:spPr>
          <a:xfrm>
            <a:off x="6116317" y="4060887"/>
            <a:ext cx="5647608" cy="584775"/>
          </a:xfrm>
          <a:prstGeom prst="rect">
            <a:avLst/>
          </a:prstGeom>
          <a:noFill/>
        </p:spPr>
        <p:txBody>
          <a:bodyPr wrap="square" rtlCol="0">
            <a:spAutoFit/>
          </a:bodyPr>
          <a:lstStyle/>
          <a:p>
            <a:r>
              <a:rPr lang="en-GB" sz="1600" b="1" dirty="0">
                <a:highlight>
                  <a:srgbClr val="FBA31C"/>
                </a:highlight>
              </a:rPr>
              <a:t>Network Fault Classification</a:t>
            </a:r>
            <a:r>
              <a:rPr lang="en-GB" sz="1600" dirty="0">
                <a:highlight>
                  <a:srgbClr val="FBA31C"/>
                </a:highlight>
              </a:rPr>
              <a:t> (MTN Nigeria)</a:t>
            </a:r>
          </a:p>
          <a:p>
            <a:endParaRPr lang="en-NG" sz="1600" dirty="0">
              <a:highlight>
                <a:srgbClr val="FBA31C"/>
              </a:highlight>
            </a:endParaRPr>
          </a:p>
        </p:txBody>
      </p:sp>
      <p:sp>
        <p:nvSpPr>
          <p:cNvPr id="32" name="Rectangle 6">
            <a:extLst>
              <a:ext uri="{FF2B5EF4-FFF2-40B4-BE49-F238E27FC236}">
                <a16:creationId xmlns:a16="http://schemas.microsoft.com/office/drawing/2014/main" id="{7B32B655-E3E1-E229-BCAB-7ECA63D6C7E8}"/>
              </a:ext>
            </a:extLst>
          </p:cNvPr>
          <p:cNvSpPr>
            <a:spLocks noChangeArrowheads="1"/>
          </p:cNvSpPr>
          <p:nvPr/>
        </p:nvSpPr>
        <p:spPr bwMode="auto">
          <a:xfrm>
            <a:off x="375916" y="4414729"/>
            <a:ext cx="5647609" cy="165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Model:</a:t>
            </a:r>
            <a:r>
              <a:rPr kumimoji="0" lang="en-NG" altLang="en-NG" sz="1400" b="0" i="0" u="none" strike="noStrike" cap="none" normalizeH="0" baseline="0" dirty="0">
                <a:ln>
                  <a:noFill/>
                </a:ln>
                <a:solidFill>
                  <a:schemeClr val="tx1"/>
                </a:solidFill>
                <a:effectLst/>
                <a:latin typeface="Arial" panose="020B0604020202020204" pitchFamily="34" charset="0"/>
              </a:rPr>
              <a:t> </a:t>
            </a:r>
            <a:r>
              <a:rPr kumimoji="0" lang="en-NG" altLang="en-NG" sz="1400" b="0" i="0" u="none" strike="noStrike" cap="none" normalizeH="0" baseline="0" dirty="0" err="1">
                <a:ln>
                  <a:noFill/>
                </a:ln>
                <a:solidFill>
                  <a:schemeClr val="tx1"/>
                </a:solidFill>
                <a:effectLst/>
                <a:latin typeface="Arial" panose="020B0604020202020204" pitchFamily="34" charset="0"/>
              </a:rPr>
              <a:t>XGBoost</a:t>
            </a:r>
            <a:r>
              <a:rPr kumimoji="0" lang="en-NG" altLang="en-NG" sz="1400" b="0" i="0" u="none" strike="noStrike" cap="none" normalizeH="0" baseline="0" dirty="0">
                <a:ln>
                  <a:noFill/>
                </a:ln>
                <a:solidFill>
                  <a:schemeClr val="tx1"/>
                </a:solidFill>
                <a:effectLst/>
                <a:latin typeface="Arial" panose="020B0604020202020204" pitchFamily="34" charset="0"/>
              </a:rPr>
              <a:t> Classifier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Features:</a:t>
            </a:r>
            <a:r>
              <a:rPr kumimoji="0" lang="en-NG" altLang="en-NG" sz="1400" b="0" i="0" u="none" strike="noStrike" cap="none" normalizeH="0" baseline="0" dirty="0">
                <a:ln>
                  <a:noFill/>
                </a:ln>
                <a:solidFill>
                  <a:schemeClr val="tx1"/>
                </a:solidFill>
                <a:effectLst/>
                <a:latin typeface="Arial" panose="020B0604020202020204" pitchFamily="34" charset="0"/>
              </a:rPr>
              <a:t> Days since last purchase, cart abandonment rate, customer service interactions, discount usage, payment method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Class distribution:</a:t>
            </a:r>
            <a:r>
              <a:rPr kumimoji="0" lang="en-NG" altLang="en-NG" sz="1400" b="0" i="0" u="none" strike="noStrike" cap="none" normalizeH="0" baseline="0" dirty="0">
                <a:ln>
                  <a:noFill/>
                </a:ln>
                <a:solidFill>
                  <a:schemeClr val="tx1"/>
                </a:solidFill>
                <a:effectLst/>
                <a:latin typeface="Arial" panose="020B0604020202020204" pitchFamily="34" charset="0"/>
              </a:rPr>
              <a:t> 68% retained, 32% churned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Strategy:</a:t>
            </a:r>
            <a:r>
              <a:rPr kumimoji="0" lang="en-NG" altLang="en-NG" sz="1400" b="0" i="0" u="none" strike="noStrike" cap="none" normalizeH="0" baseline="0" dirty="0">
                <a:ln>
                  <a:noFill/>
                </a:ln>
                <a:solidFill>
                  <a:schemeClr val="tx1"/>
                </a:solidFill>
                <a:effectLst/>
                <a:latin typeface="Arial" panose="020B0604020202020204" pitchFamily="34" charset="0"/>
              </a:rPr>
              <a:t> Predict 14 days before likely churn, trigger retention campaign </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NG" altLang="en-NG" sz="1400" b="1" i="0" u="none" strike="noStrike" cap="none" normalizeH="0" baseline="0" dirty="0">
                <a:ln>
                  <a:noFill/>
                </a:ln>
                <a:solidFill>
                  <a:schemeClr val="tx1"/>
                </a:solidFill>
                <a:effectLst/>
                <a:latin typeface="Arial" panose="020B0604020202020204" pitchFamily="34" charset="0"/>
              </a:rPr>
              <a:t>ROI:</a:t>
            </a:r>
            <a:r>
              <a:rPr kumimoji="0" lang="en-NG" altLang="en-NG" sz="1400" b="0" i="0" u="none" strike="noStrike" cap="none" normalizeH="0" baseline="0" dirty="0">
                <a:ln>
                  <a:noFill/>
                </a:ln>
                <a:solidFill>
                  <a:schemeClr val="tx1"/>
                </a:solidFill>
                <a:effectLst/>
                <a:latin typeface="Arial" panose="020B0604020202020204" pitchFamily="34" charset="0"/>
              </a:rPr>
              <a:t> ₦450M saved annually through targeted retention </a:t>
            </a:r>
          </a:p>
        </p:txBody>
      </p:sp>
      <p:sp>
        <p:nvSpPr>
          <p:cNvPr id="33" name="TextBox 32">
            <a:extLst>
              <a:ext uri="{FF2B5EF4-FFF2-40B4-BE49-F238E27FC236}">
                <a16:creationId xmlns:a16="http://schemas.microsoft.com/office/drawing/2014/main" id="{10A52E39-EC50-B4AB-6826-99EA0D3B4667}"/>
              </a:ext>
            </a:extLst>
          </p:cNvPr>
          <p:cNvSpPr txBox="1"/>
          <p:nvPr/>
        </p:nvSpPr>
        <p:spPr>
          <a:xfrm>
            <a:off x="6023525" y="4409520"/>
            <a:ext cx="5953752" cy="1600438"/>
          </a:xfrm>
          <a:prstGeom prst="rect">
            <a:avLst/>
          </a:prstGeom>
          <a:noFill/>
        </p:spPr>
        <p:txBody>
          <a:bodyPr wrap="square" rtlCol="0">
            <a:spAutoFit/>
          </a:bodyPr>
          <a:lstStyle/>
          <a:p>
            <a:pPr marL="285750" indent="-285750">
              <a:buFont typeface="Courier New" panose="02070309020205020404" pitchFamily="49" charset="0"/>
              <a:buChar char="o"/>
            </a:pPr>
            <a:r>
              <a:rPr lang="en-GB" sz="1400" b="1" dirty="0"/>
              <a:t>Model:</a:t>
            </a:r>
            <a:r>
              <a:rPr lang="en-GB" sz="1400" dirty="0"/>
              <a:t> Decision Tree (multiclass: 8 fault types)</a:t>
            </a:r>
          </a:p>
          <a:p>
            <a:pPr marL="285750" indent="-285750">
              <a:buFont typeface="Courier New" panose="02070309020205020404" pitchFamily="49" charset="0"/>
              <a:buChar char="o"/>
            </a:pPr>
            <a:r>
              <a:rPr lang="en-GB" sz="1400" b="1" dirty="0"/>
              <a:t>Features:</a:t>
            </a:r>
            <a:r>
              <a:rPr lang="en-GB" sz="1400" dirty="0"/>
              <a:t> Signal strength, cell tower load, weather data, time of day, subscriber density</a:t>
            </a:r>
          </a:p>
          <a:p>
            <a:pPr marL="285750" indent="-285750">
              <a:buFont typeface="Courier New" panose="02070309020205020404" pitchFamily="49" charset="0"/>
              <a:buChar char="o"/>
            </a:pPr>
            <a:r>
              <a:rPr lang="en-GB" sz="1400" b="1" dirty="0"/>
              <a:t>Classes:</a:t>
            </a:r>
            <a:r>
              <a:rPr lang="en-GB" sz="1400" dirty="0"/>
              <a:t> Power failure, equipment malfunction, </a:t>
            </a:r>
            <a:r>
              <a:rPr lang="en-GB" sz="1400" dirty="0" err="1"/>
              <a:t>fiber</a:t>
            </a:r>
            <a:r>
              <a:rPr lang="en-GB" sz="1400" dirty="0"/>
              <a:t> cut, congestion, etc.</a:t>
            </a:r>
          </a:p>
          <a:p>
            <a:pPr marL="285750" indent="-285750">
              <a:buFont typeface="Courier New" panose="02070309020205020404" pitchFamily="49" charset="0"/>
              <a:buChar char="o"/>
            </a:pPr>
            <a:r>
              <a:rPr lang="en-GB" sz="1400" b="1" dirty="0"/>
              <a:t>Impact:</a:t>
            </a:r>
            <a:r>
              <a:rPr lang="en-GB" sz="1400" dirty="0"/>
              <a:t> 40% faster fault resolution, automated routing to correct technical team.</a:t>
            </a:r>
          </a:p>
        </p:txBody>
      </p:sp>
    </p:spTree>
    <p:extLst>
      <p:ext uri="{BB962C8B-B14F-4D97-AF65-F5344CB8AC3E}">
        <p14:creationId xmlns:p14="http://schemas.microsoft.com/office/powerpoint/2010/main" val="267445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C00B-29A8-4E47-CC58-3EFFAF5E528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B16E4FC-44B7-9264-BDDF-105BD9612D35}"/>
              </a:ext>
            </a:extLst>
          </p:cNvPr>
          <p:cNvSpPr txBox="1">
            <a:spLocks/>
          </p:cNvSpPr>
          <p:nvPr/>
        </p:nvSpPr>
        <p:spPr>
          <a:xfrm>
            <a:off x="317306" y="240175"/>
            <a:ext cx="9385494" cy="120254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latin typeface="Arial" panose="020B0604020202020204" pitchFamily="34" charset="0"/>
                <a:cs typeface="Arial" panose="020B0604020202020204" pitchFamily="34" charset="0"/>
              </a:rPr>
              <a:t>Classification Overview: The Classification</a:t>
            </a:r>
          </a:p>
          <a:p>
            <a:r>
              <a:rPr lang="en-GB" sz="3200" dirty="0">
                <a:highlight>
                  <a:srgbClr val="FBA31C"/>
                </a:highlight>
                <a:latin typeface="Arial" panose="020B0604020202020204" pitchFamily="34" charset="0"/>
                <a:cs typeface="Arial" panose="020B0604020202020204" pitchFamily="34" charset="0"/>
              </a:rPr>
              <a:t>Toolbox </a:t>
            </a:r>
            <a:endParaRPr lang="en-NG" sz="3200" dirty="0"/>
          </a:p>
          <a:p>
            <a:endParaRPr lang="en-US" sz="3200" dirty="0">
              <a:solidFill>
                <a:srgbClr val="03807F"/>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52344B6-783D-2E41-9683-88AB54BBFF2A}"/>
              </a:ext>
            </a:extLst>
          </p:cNvPr>
          <p:cNvSpPr txBox="1"/>
          <p:nvPr/>
        </p:nvSpPr>
        <p:spPr>
          <a:xfrm>
            <a:off x="317306" y="1351280"/>
            <a:ext cx="4783014" cy="375920"/>
          </a:xfrm>
          <a:prstGeom prst="rect">
            <a:avLst/>
          </a:prstGeom>
          <a:noFill/>
        </p:spPr>
        <p:txBody>
          <a:bodyPr wrap="square" rtlCol="0">
            <a:spAutoFit/>
          </a:bodyPr>
          <a:lstStyle/>
          <a:p>
            <a:r>
              <a:rPr lang="en-GB" b="1" dirty="0">
                <a:highlight>
                  <a:srgbClr val="48C3CB"/>
                </a:highlight>
              </a:rPr>
              <a:t>Algorithm Spectrum: Simple → Complex</a:t>
            </a:r>
            <a:endParaRPr lang="en-NG" b="1" dirty="0">
              <a:highlight>
                <a:srgbClr val="48C3CB"/>
              </a:highlight>
            </a:endParaRPr>
          </a:p>
        </p:txBody>
      </p:sp>
      <p:sp>
        <p:nvSpPr>
          <p:cNvPr id="4" name="Rectangle: Rounded Corners 3">
            <a:extLst>
              <a:ext uri="{FF2B5EF4-FFF2-40B4-BE49-F238E27FC236}">
                <a16:creationId xmlns:a16="http://schemas.microsoft.com/office/drawing/2014/main" id="{EFB32EC2-8D73-6ACC-64F7-EE2627469797}"/>
              </a:ext>
            </a:extLst>
          </p:cNvPr>
          <p:cNvSpPr/>
          <p:nvPr/>
        </p:nvSpPr>
        <p:spPr>
          <a:xfrm>
            <a:off x="276667" y="1828800"/>
            <a:ext cx="2234027" cy="2895601"/>
          </a:xfrm>
          <a:prstGeom prst="roundRect">
            <a:avLst/>
          </a:prstGeom>
          <a:solidFill>
            <a:srgbClr val="45C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Logistic Regression</a:t>
            </a:r>
          </a:p>
          <a:p>
            <a:endParaRPr lang="en-GB" i="1" dirty="0"/>
          </a:p>
          <a:p>
            <a:pPr marL="285750" indent="-285750">
              <a:buFont typeface="Courier New" panose="02070309020205020404" pitchFamily="49" charset="0"/>
              <a:buChar char="o"/>
            </a:pPr>
            <a:r>
              <a:rPr lang="en-GB" sz="1400" b="1" dirty="0"/>
              <a:t>Interpretable, fast, probabilistic outputs</a:t>
            </a:r>
          </a:p>
          <a:p>
            <a:pPr marL="285750" indent="-285750">
              <a:buFont typeface="Courier New" panose="02070309020205020404" pitchFamily="49" charset="0"/>
              <a:buChar char="o"/>
            </a:pPr>
            <a:r>
              <a:rPr lang="en-GB" sz="1400" b="1" dirty="0"/>
              <a:t>Best for: Linear relationships</a:t>
            </a:r>
          </a:p>
          <a:p>
            <a:pPr algn="ctr"/>
            <a:endParaRPr lang="en-GB" i="1" dirty="0"/>
          </a:p>
          <a:p>
            <a:pPr algn="ctr"/>
            <a:endParaRPr lang="en-NG" dirty="0"/>
          </a:p>
        </p:txBody>
      </p:sp>
      <p:sp>
        <p:nvSpPr>
          <p:cNvPr id="5" name="Rectangle: Rounded Corners 4">
            <a:extLst>
              <a:ext uri="{FF2B5EF4-FFF2-40B4-BE49-F238E27FC236}">
                <a16:creationId xmlns:a16="http://schemas.microsoft.com/office/drawing/2014/main" id="{6E8D0006-B76C-45F1-778E-4019B4E24B77}"/>
              </a:ext>
            </a:extLst>
          </p:cNvPr>
          <p:cNvSpPr/>
          <p:nvPr/>
        </p:nvSpPr>
        <p:spPr>
          <a:xfrm>
            <a:off x="2675406" y="1828801"/>
            <a:ext cx="2234027" cy="289560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Decision Trees</a:t>
            </a:r>
          </a:p>
          <a:p>
            <a:pPr algn="ctr"/>
            <a:endParaRPr lang="en-GB" b="1" dirty="0"/>
          </a:p>
          <a:p>
            <a:pPr marL="285750" indent="-285750">
              <a:buFont typeface="Courier New" panose="02070309020205020404" pitchFamily="49" charset="0"/>
              <a:buChar char="o"/>
            </a:pPr>
            <a:r>
              <a:rPr lang="en-GB" sz="1400" dirty="0"/>
              <a:t>Visual, handles non-linear data</a:t>
            </a:r>
          </a:p>
          <a:p>
            <a:pPr marL="285750" indent="-285750">
              <a:buFont typeface="Courier New" panose="02070309020205020404" pitchFamily="49" charset="0"/>
              <a:buChar char="o"/>
            </a:pPr>
            <a:r>
              <a:rPr lang="en-GB" sz="1400" dirty="0"/>
              <a:t>Best for: Interpretable rules</a:t>
            </a:r>
          </a:p>
          <a:p>
            <a:pPr marL="285750" indent="-285750">
              <a:buFont typeface="Courier New" panose="02070309020205020404" pitchFamily="49" charset="0"/>
              <a:buChar char="o"/>
            </a:pPr>
            <a:endParaRPr lang="en-GB" sz="1400" dirty="0"/>
          </a:p>
          <a:p>
            <a:endParaRPr lang="en-GB" sz="1400" dirty="0"/>
          </a:p>
          <a:p>
            <a:pPr algn="ctr"/>
            <a:endParaRPr lang="en-NG" b="1" dirty="0"/>
          </a:p>
        </p:txBody>
      </p:sp>
      <p:sp>
        <p:nvSpPr>
          <p:cNvPr id="6" name="Rectangle: Rounded Corners 5">
            <a:extLst>
              <a:ext uri="{FF2B5EF4-FFF2-40B4-BE49-F238E27FC236}">
                <a16:creationId xmlns:a16="http://schemas.microsoft.com/office/drawing/2014/main" id="{ACC9070F-8B62-86A3-9B57-93DA49C84948}"/>
              </a:ext>
            </a:extLst>
          </p:cNvPr>
          <p:cNvSpPr/>
          <p:nvPr/>
        </p:nvSpPr>
        <p:spPr>
          <a:xfrm>
            <a:off x="5074145" y="1828801"/>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Random Forest</a:t>
            </a:r>
          </a:p>
          <a:p>
            <a:pPr algn="ctr"/>
            <a:endParaRPr lang="en-GB" b="1" dirty="0"/>
          </a:p>
          <a:p>
            <a:pPr marL="285750" indent="-285750">
              <a:buFont typeface="Courier New" panose="02070309020205020404" pitchFamily="49" charset="0"/>
              <a:buChar char="o"/>
            </a:pPr>
            <a:r>
              <a:rPr lang="en-GB" sz="1400" dirty="0"/>
              <a:t>Ensemble method, robust</a:t>
            </a:r>
          </a:p>
          <a:p>
            <a:pPr marL="285750" indent="-285750">
              <a:buFont typeface="Courier New" panose="02070309020205020404" pitchFamily="49" charset="0"/>
              <a:buChar char="o"/>
            </a:pPr>
            <a:r>
              <a:rPr lang="en-GB" sz="1400" dirty="0"/>
              <a:t>Best for: High accuracy needs</a:t>
            </a:r>
          </a:p>
          <a:p>
            <a:pPr algn="ctr"/>
            <a:endParaRPr lang="en-GB" b="1" dirty="0"/>
          </a:p>
          <a:p>
            <a:pPr algn="ctr"/>
            <a:endParaRPr lang="en-GB" b="1" dirty="0"/>
          </a:p>
          <a:p>
            <a:pPr algn="ctr"/>
            <a:endParaRPr lang="en-NG" b="1" dirty="0"/>
          </a:p>
        </p:txBody>
      </p:sp>
      <p:sp>
        <p:nvSpPr>
          <p:cNvPr id="8" name="Rectangle: Rounded Corners 7">
            <a:extLst>
              <a:ext uri="{FF2B5EF4-FFF2-40B4-BE49-F238E27FC236}">
                <a16:creationId xmlns:a16="http://schemas.microsoft.com/office/drawing/2014/main" id="{0991F99E-17CA-ACFF-84C0-BBE0FE3A5240}"/>
              </a:ext>
            </a:extLst>
          </p:cNvPr>
          <p:cNvSpPr/>
          <p:nvPr/>
        </p:nvSpPr>
        <p:spPr>
          <a:xfrm>
            <a:off x="7472884" y="1828800"/>
            <a:ext cx="2234027" cy="2895600"/>
          </a:xfrm>
          <a:prstGeom prst="roundRect">
            <a:avLst/>
          </a:prstGeom>
          <a:solidFill>
            <a:srgbClr val="FBA3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Neural Networks</a:t>
            </a:r>
          </a:p>
          <a:p>
            <a:endParaRPr lang="en-GB" b="1" dirty="0"/>
          </a:p>
          <a:p>
            <a:pPr marL="285750" indent="-285750">
              <a:buFont typeface="Courier New" panose="02070309020205020404" pitchFamily="49" charset="0"/>
              <a:buChar char="o"/>
            </a:pPr>
            <a:r>
              <a:rPr lang="en-GB" sz="1400" dirty="0"/>
              <a:t>Deep learning capable</a:t>
            </a:r>
          </a:p>
          <a:p>
            <a:pPr marL="285750" indent="-285750">
              <a:buFont typeface="Courier New" panose="02070309020205020404" pitchFamily="49" charset="0"/>
              <a:buChar char="o"/>
            </a:pPr>
            <a:r>
              <a:rPr lang="en-GB" sz="1400" dirty="0"/>
              <a:t>Best for: Large, complex datasets</a:t>
            </a:r>
          </a:p>
          <a:p>
            <a:endParaRPr lang="en-GB" sz="1400" dirty="0"/>
          </a:p>
          <a:p>
            <a:endParaRPr lang="en-GB" sz="1400" dirty="0"/>
          </a:p>
          <a:p>
            <a:pPr marL="285750" indent="-285750">
              <a:buFont typeface="Courier New" panose="02070309020205020404" pitchFamily="49" charset="0"/>
              <a:buChar char="o"/>
            </a:pPr>
            <a:endParaRPr lang="en-NG" sz="1400" dirty="0"/>
          </a:p>
        </p:txBody>
      </p:sp>
      <p:sp>
        <p:nvSpPr>
          <p:cNvPr id="19" name="Rectangle: Rounded Corners 18">
            <a:extLst>
              <a:ext uri="{FF2B5EF4-FFF2-40B4-BE49-F238E27FC236}">
                <a16:creationId xmlns:a16="http://schemas.microsoft.com/office/drawing/2014/main" id="{EE81FE1F-5CE0-16F7-409C-AE6A7BEF8D70}"/>
              </a:ext>
            </a:extLst>
          </p:cNvPr>
          <p:cNvSpPr/>
          <p:nvPr/>
        </p:nvSpPr>
        <p:spPr>
          <a:xfrm>
            <a:off x="9871623" y="1798320"/>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Support Vector Machines (SVM)</a:t>
            </a:r>
          </a:p>
          <a:p>
            <a:pPr algn="ctr"/>
            <a:endParaRPr lang="en-GB" b="1" dirty="0"/>
          </a:p>
          <a:p>
            <a:pPr marL="285750" indent="-285750">
              <a:buFont typeface="Courier New" panose="02070309020205020404" pitchFamily="49" charset="0"/>
              <a:buChar char="o"/>
            </a:pPr>
            <a:r>
              <a:rPr lang="en-GB" sz="1400" dirty="0"/>
              <a:t>Effective in high dimensions</a:t>
            </a:r>
          </a:p>
          <a:p>
            <a:pPr marL="285750" indent="-285750">
              <a:buFont typeface="Courier New" panose="02070309020205020404" pitchFamily="49" charset="0"/>
              <a:buChar char="o"/>
            </a:pPr>
            <a:r>
              <a:rPr lang="en-GB" sz="1400" dirty="0"/>
              <a:t>Best for: Complex boundaries</a:t>
            </a:r>
          </a:p>
          <a:p>
            <a:endParaRPr lang="en-GB" sz="1400" dirty="0"/>
          </a:p>
          <a:p>
            <a:pPr algn="ctr"/>
            <a:endParaRPr lang="en-NG" b="1" dirty="0"/>
          </a:p>
        </p:txBody>
      </p:sp>
    </p:spTree>
    <p:extLst>
      <p:ext uri="{BB962C8B-B14F-4D97-AF65-F5344CB8AC3E}">
        <p14:creationId xmlns:p14="http://schemas.microsoft.com/office/powerpoint/2010/main" val="11317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1E8C-636A-2A7F-E072-F4F098BCA0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D36E592-FC6A-D567-DF68-926667CD7D7E}"/>
              </a:ext>
            </a:extLst>
          </p:cNvPr>
          <p:cNvSpPr/>
          <p:nvPr/>
        </p:nvSpPr>
        <p:spPr>
          <a:xfrm>
            <a:off x="276667" y="1828800"/>
            <a:ext cx="2234027" cy="2895601"/>
          </a:xfrm>
          <a:prstGeom prst="roundRect">
            <a:avLst/>
          </a:prstGeom>
          <a:solidFill>
            <a:srgbClr val="45C2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Customer Churn Prediction</a:t>
            </a:r>
          </a:p>
          <a:p>
            <a:endParaRPr lang="en-GB" dirty="0"/>
          </a:p>
          <a:p>
            <a:pPr marL="285750" indent="-285750">
              <a:buFont typeface="Courier New" panose="02070309020205020404" pitchFamily="49" charset="0"/>
              <a:buChar char="o"/>
            </a:pPr>
            <a:r>
              <a:rPr lang="en-GB" sz="1400" dirty="0"/>
              <a:t>Telecom/banking sector focus</a:t>
            </a:r>
            <a:endParaRPr lang="en-GB" i="1" dirty="0"/>
          </a:p>
          <a:p>
            <a:pPr algn="ctr"/>
            <a:endParaRPr lang="en-NG" dirty="0"/>
          </a:p>
        </p:txBody>
      </p:sp>
      <p:sp>
        <p:nvSpPr>
          <p:cNvPr id="5" name="Rectangle: Rounded Corners 4">
            <a:extLst>
              <a:ext uri="{FF2B5EF4-FFF2-40B4-BE49-F238E27FC236}">
                <a16:creationId xmlns:a16="http://schemas.microsoft.com/office/drawing/2014/main" id="{EA76462C-0C3B-802B-1A04-8ABE9AB543EE}"/>
              </a:ext>
            </a:extLst>
          </p:cNvPr>
          <p:cNvSpPr/>
          <p:nvPr/>
        </p:nvSpPr>
        <p:spPr>
          <a:xfrm>
            <a:off x="2675406" y="1828801"/>
            <a:ext cx="2234027" cy="289560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Disease Diagnosis</a:t>
            </a:r>
          </a:p>
          <a:p>
            <a:pPr algn="ctr"/>
            <a:endParaRPr lang="en-GB" b="1" dirty="0"/>
          </a:p>
          <a:p>
            <a:pPr marL="285750" indent="-285750">
              <a:buFont typeface="Courier New" panose="02070309020205020404" pitchFamily="49" charset="0"/>
              <a:buChar char="o"/>
            </a:pPr>
            <a:r>
              <a:rPr lang="en-GB" sz="1400" dirty="0"/>
              <a:t>Healthcare classification problem</a:t>
            </a:r>
          </a:p>
          <a:p>
            <a:endParaRPr lang="en-GB" sz="1400" dirty="0"/>
          </a:p>
          <a:p>
            <a:pPr algn="ctr"/>
            <a:endParaRPr lang="en-NG" b="1" dirty="0"/>
          </a:p>
        </p:txBody>
      </p:sp>
      <p:sp>
        <p:nvSpPr>
          <p:cNvPr id="6" name="Rectangle: Rounded Corners 5">
            <a:extLst>
              <a:ext uri="{FF2B5EF4-FFF2-40B4-BE49-F238E27FC236}">
                <a16:creationId xmlns:a16="http://schemas.microsoft.com/office/drawing/2014/main" id="{65AE0915-CA29-66B4-DA2F-CEF2872F3BFC}"/>
              </a:ext>
            </a:extLst>
          </p:cNvPr>
          <p:cNvSpPr/>
          <p:nvPr/>
        </p:nvSpPr>
        <p:spPr>
          <a:xfrm>
            <a:off x="5074145" y="1828801"/>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Fraud Detection</a:t>
            </a:r>
          </a:p>
          <a:p>
            <a:pPr algn="ctr"/>
            <a:endParaRPr lang="en-GB" b="1" dirty="0"/>
          </a:p>
          <a:p>
            <a:pPr marL="285750" indent="-285750">
              <a:buFont typeface="Courier New" panose="02070309020205020404" pitchFamily="49" charset="0"/>
              <a:buChar char="o"/>
            </a:pPr>
            <a:r>
              <a:rPr lang="en-GB" sz="1400" dirty="0"/>
              <a:t>Financial transactions analysis</a:t>
            </a:r>
            <a:endParaRPr lang="en-GB" b="1" dirty="0"/>
          </a:p>
          <a:p>
            <a:pPr algn="ctr"/>
            <a:endParaRPr lang="en-GB" b="1" dirty="0"/>
          </a:p>
          <a:p>
            <a:pPr algn="ctr"/>
            <a:endParaRPr lang="en-NG" b="1" dirty="0"/>
          </a:p>
        </p:txBody>
      </p:sp>
      <p:sp>
        <p:nvSpPr>
          <p:cNvPr id="8" name="Rectangle: Rounded Corners 7">
            <a:extLst>
              <a:ext uri="{FF2B5EF4-FFF2-40B4-BE49-F238E27FC236}">
                <a16:creationId xmlns:a16="http://schemas.microsoft.com/office/drawing/2014/main" id="{8E7A3FAE-71B3-6B9C-D3F5-4485A43E8269}"/>
              </a:ext>
            </a:extLst>
          </p:cNvPr>
          <p:cNvSpPr/>
          <p:nvPr/>
        </p:nvSpPr>
        <p:spPr>
          <a:xfrm>
            <a:off x="7472884" y="1828800"/>
            <a:ext cx="2234027" cy="2895600"/>
          </a:xfrm>
          <a:prstGeom prst="roundRect">
            <a:avLst/>
          </a:prstGeom>
          <a:solidFill>
            <a:srgbClr val="FBA3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Credit Risk Assessment</a:t>
            </a:r>
          </a:p>
          <a:p>
            <a:endParaRPr lang="en-GB" b="1" dirty="0"/>
          </a:p>
          <a:p>
            <a:pPr marL="285750" indent="-285750">
              <a:buFont typeface="Courier New" panose="02070309020205020404" pitchFamily="49" charset="0"/>
              <a:buChar char="o"/>
            </a:pPr>
            <a:r>
              <a:rPr lang="en-GB" sz="1400" dirty="0"/>
              <a:t>Loan approval prediction</a:t>
            </a:r>
          </a:p>
          <a:p>
            <a:endParaRPr lang="en-GB" sz="1400" dirty="0"/>
          </a:p>
          <a:p>
            <a:pPr marL="285750" indent="-285750">
              <a:buFont typeface="Courier New" panose="02070309020205020404" pitchFamily="49" charset="0"/>
              <a:buChar char="o"/>
            </a:pPr>
            <a:endParaRPr lang="en-NG" sz="1400" dirty="0"/>
          </a:p>
        </p:txBody>
      </p:sp>
      <p:sp>
        <p:nvSpPr>
          <p:cNvPr id="19" name="Rectangle: Rounded Corners 18">
            <a:extLst>
              <a:ext uri="{FF2B5EF4-FFF2-40B4-BE49-F238E27FC236}">
                <a16:creationId xmlns:a16="http://schemas.microsoft.com/office/drawing/2014/main" id="{BB73723D-23ED-075D-5D1D-4B9FE93151D1}"/>
              </a:ext>
            </a:extLst>
          </p:cNvPr>
          <p:cNvSpPr/>
          <p:nvPr/>
        </p:nvSpPr>
        <p:spPr>
          <a:xfrm>
            <a:off x="9871623" y="1798320"/>
            <a:ext cx="2234027" cy="2895600"/>
          </a:xfrm>
          <a:prstGeom prst="roundRect">
            <a:avLst/>
          </a:prstGeom>
          <a:solidFill>
            <a:srgbClr val="48C3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t>Sentiment Analysis</a:t>
            </a:r>
          </a:p>
          <a:p>
            <a:pPr algn="ctr"/>
            <a:endParaRPr lang="en-GB" b="1" dirty="0"/>
          </a:p>
          <a:p>
            <a:pPr marL="285750" indent="-285750">
              <a:buFont typeface="Courier New" panose="02070309020205020404" pitchFamily="49" charset="0"/>
              <a:buChar char="o"/>
            </a:pPr>
            <a:r>
              <a:rPr lang="en-GB" sz="1400" dirty="0"/>
              <a:t>Social media/review classification</a:t>
            </a:r>
          </a:p>
          <a:p>
            <a:pPr algn="ctr"/>
            <a:endParaRPr lang="en-NG" b="1" dirty="0"/>
          </a:p>
        </p:txBody>
      </p:sp>
      <p:sp>
        <p:nvSpPr>
          <p:cNvPr id="3" name="Title 1">
            <a:extLst>
              <a:ext uri="{FF2B5EF4-FFF2-40B4-BE49-F238E27FC236}">
                <a16:creationId xmlns:a16="http://schemas.microsoft.com/office/drawing/2014/main" id="{05D491FC-7F1F-F0ED-827E-F2EE845A7372}"/>
              </a:ext>
            </a:extLst>
          </p:cNvPr>
          <p:cNvSpPr txBox="1">
            <a:spLocks/>
          </p:cNvSpPr>
          <p:nvPr/>
        </p:nvSpPr>
        <p:spPr>
          <a:xfrm>
            <a:off x="317306" y="240175"/>
            <a:ext cx="763797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NG" sz="3200" dirty="0">
                <a:highlight>
                  <a:srgbClr val="FBA31C"/>
                </a:highlight>
              </a:rPr>
              <a:t>Classification project domain options</a:t>
            </a:r>
            <a:endParaRPr lang="en-US" sz="3200" dirty="0">
              <a:solidFill>
                <a:srgbClr val="03807F"/>
              </a:solidFill>
              <a:latin typeface="Arial" panose="020B0604020202020204" pitchFamily="34" charset="0"/>
              <a:cs typeface="Arial" panose="020B0604020202020204" pitchFamily="34" charset="0"/>
            </a:endParaRPr>
          </a:p>
        </p:txBody>
      </p:sp>
      <p:cxnSp>
        <p:nvCxnSpPr>
          <p:cNvPr id="11" name="Connector: Curved 10">
            <a:extLst>
              <a:ext uri="{FF2B5EF4-FFF2-40B4-BE49-F238E27FC236}">
                <a16:creationId xmlns:a16="http://schemas.microsoft.com/office/drawing/2014/main" id="{0E88A9FA-EA06-1E3C-3AB3-EF935752C5B5}"/>
              </a:ext>
            </a:extLst>
          </p:cNvPr>
          <p:cNvCxnSpPr/>
          <p:nvPr/>
        </p:nvCxnSpPr>
        <p:spPr>
          <a:xfrm rot="16200000" flipH="1">
            <a:off x="7640320" y="751840"/>
            <a:ext cx="1087120" cy="1066800"/>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7830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57A16-FFDA-543E-4E18-0B09E673457C}"/>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F007C9D-6C1E-334B-D912-10AC435440C9}"/>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Logistic Regression: Predicting Probabilities</a:t>
            </a:r>
          </a:p>
          <a:p>
            <a:endParaRPr lang="en-US" sz="3200" dirty="0">
              <a:solidFill>
                <a:srgbClr val="03807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A20DD7E-56FF-1F05-EE49-E3E9D627719A}"/>
              </a:ext>
            </a:extLst>
          </p:cNvPr>
          <p:cNvSpPr txBox="1"/>
          <p:nvPr/>
        </p:nvSpPr>
        <p:spPr>
          <a:xfrm>
            <a:off x="317306" y="1028343"/>
            <a:ext cx="11326054" cy="4801314"/>
          </a:xfrm>
          <a:prstGeom prst="rect">
            <a:avLst/>
          </a:prstGeom>
          <a:noFill/>
        </p:spPr>
        <p:txBody>
          <a:bodyPr wrap="square" rtlCol="0">
            <a:spAutoFit/>
          </a:bodyPr>
          <a:lstStyle/>
          <a:p>
            <a:r>
              <a:rPr lang="en-GB" dirty="0"/>
              <a:t>Despite its name, logistic regression is a </a:t>
            </a:r>
            <a:r>
              <a:rPr lang="en-GB" b="1" dirty="0"/>
              <a:t>classification</a:t>
            </a:r>
            <a:r>
              <a:rPr lang="en-GB" dirty="0"/>
              <a:t> algorithm that predicts the probability of an outcome belonging to a particular class.</a:t>
            </a:r>
          </a:p>
          <a:p>
            <a:endParaRPr lang="en-GB" dirty="0"/>
          </a:p>
          <a:p>
            <a:r>
              <a:rPr lang="en-GB" b="1" dirty="0"/>
              <a:t>Key Components:</a:t>
            </a:r>
          </a:p>
          <a:p>
            <a:endParaRPr lang="en-GB" dirty="0"/>
          </a:p>
          <a:p>
            <a:r>
              <a:rPr lang="en-GB" b="1" dirty="0"/>
              <a:t>1. Sigmoid Function</a:t>
            </a:r>
            <a:endParaRPr lang="en-GB" dirty="0"/>
          </a:p>
          <a:p>
            <a:r>
              <a:rPr lang="en-GB" dirty="0"/>
              <a:t>Transforms linear output to probability (0 to 1)</a:t>
            </a:r>
          </a:p>
          <a:p>
            <a:r>
              <a:rPr lang="en-GB" dirty="0"/>
              <a:t>Formula: σ(z) = 1 / (1 + e^(-z))</a:t>
            </a:r>
          </a:p>
          <a:p>
            <a:endParaRPr lang="en-GB" dirty="0"/>
          </a:p>
          <a:p>
            <a:r>
              <a:rPr lang="en-GB" b="1" dirty="0"/>
              <a:t>2. Decision Boundary</a:t>
            </a:r>
            <a:endParaRPr lang="en-GB" dirty="0"/>
          </a:p>
          <a:p>
            <a:r>
              <a:rPr lang="en-GB" dirty="0"/>
              <a:t>Threshold separating classes (typically 0.5)</a:t>
            </a:r>
          </a:p>
          <a:p>
            <a:r>
              <a:rPr lang="en-GB" dirty="0"/>
              <a:t>Customizable based on business needs</a:t>
            </a:r>
          </a:p>
          <a:p>
            <a:endParaRPr lang="en-GB" dirty="0"/>
          </a:p>
          <a:p>
            <a:r>
              <a:rPr lang="en-GB" b="1" dirty="0"/>
              <a:t>3. Probability Output</a:t>
            </a:r>
            <a:endParaRPr lang="en-GB" dirty="0"/>
          </a:p>
          <a:p>
            <a:r>
              <a:rPr lang="en-GB" dirty="0"/>
              <a:t>P(Y=1|X): Probability of positive class</a:t>
            </a:r>
          </a:p>
          <a:p>
            <a:r>
              <a:rPr lang="en-GB" dirty="0"/>
              <a:t>Interpretable confidence scores</a:t>
            </a:r>
          </a:p>
          <a:p>
            <a:endParaRPr lang="en-NG" dirty="0"/>
          </a:p>
        </p:txBody>
      </p:sp>
    </p:spTree>
    <p:extLst>
      <p:ext uri="{BB962C8B-B14F-4D97-AF65-F5344CB8AC3E}">
        <p14:creationId xmlns:p14="http://schemas.microsoft.com/office/powerpoint/2010/main" val="2343073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1583-2D56-02F8-C77B-3DF6AA884F3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71D5321-B5C7-7B1E-B60B-50789D0341A0}"/>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Binary vs. Multiclass Logistic Regression</a:t>
            </a:r>
            <a:endParaRPr lang="en-US" sz="3200" dirty="0">
              <a:solidFill>
                <a:srgbClr val="03807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151C9F99-FAEF-7C52-BF0C-B08C65AADF83}"/>
              </a:ext>
            </a:extLst>
          </p:cNvPr>
          <p:cNvSpPr txBox="1"/>
          <p:nvPr/>
        </p:nvSpPr>
        <p:spPr>
          <a:xfrm>
            <a:off x="317306" y="1028343"/>
            <a:ext cx="11326054" cy="923330"/>
          </a:xfrm>
          <a:prstGeom prst="rect">
            <a:avLst/>
          </a:prstGeom>
          <a:noFill/>
        </p:spPr>
        <p:txBody>
          <a:bodyPr wrap="square" rtlCol="0">
            <a:spAutoFit/>
          </a:bodyPr>
          <a:lstStyle/>
          <a:p>
            <a:r>
              <a:rPr lang="en-GB" b="1" dirty="0"/>
              <a:t>Scaling Logistic Regression</a:t>
            </a:r>
          </a:p>
          <a:p>
            <a:endParaRPr lang="en-GB" b="1" dirty="0"/>
          </a:p>
          <a:p>
            <a:endParaRPr lang="en-NG" b="1" dirty="0"/>
          </a:p>
        </p:txBody>
      </p:sp>
      <p:graphicFrame>
        <p:nvGraphicFramePr>
          <p:cNvPr id="2" name="Table 1">
            <a:extLst>
              <a:ext uri="{FF2B5EF4-FFF2-40B4-BE49-F238E27FC236}">
                <a16:creationId xmlns:a16="http://schemas.microsoft.com/office/drawing/2014/main" id="{5925E46B-0746-A306-5F61-1E3FF45B47AC}"/>
              </a:ext>
            </a:extLst>
          </p:cNvPr>
          <p:cNvGraphicFramePr>
            <a:graphicFrameLocks noGrp="1"/>
          </p:cNvGraphicFramePr>
          <p:nvPr>
            <p:extLst>
              <p:ext uri="{D42A27DB-BD31-4B8C-83A1-F6EECF244321}">
                <p14:modId xmlns:p14="http://schemas.microsoft.com/office/powerpoint/2010/main" val="2773798606"/>
              </p:ext>
            </p:extLst>
          </p:nvPr>
        </p:nvGraphicFramePr>
        <p:xfrm>
          <a:off x="548639" y="1731341"/>
          <a:ext cx="10404706" cy="3599416"/>
        </p:xfrm>
        <a:graphic>
          <a:graphicData uri="http://schemas.openxmlformats.org/drawingml/2006/table">
            <a:tbl>
              <a:tblPr firstRow="1" bandRow="1">
                <a:tableStyleId>{5C22544A-7EE6-4342-B048-85BDC9FD1C3A}</a:tableStyleId>
              </a:tblPr>
              <a:tblGrid>
                <a:gridCol w="5202353">
                  <a:extLst>
                    <a:ext uri="{9D8B030D-6E8A-4147-A177-3AD203B41FA5}">
                      <a16:colId xmlns:a16="http://schemas.microsoft.com/office/drawing/2014/main" val="1550415924"/>
                    </a:ext>
                  </a:extLst>
                </a:gridCol>
                <a:gridCol w="5202353">
                  <a:extLst>
                    <a:ext uri="{9D8B030D-6E8A-4147-A177-3AD203B41FA5}">
                      <a16:colId xmlns:a16="http://schemas.microsoft.com/office/drawing/2014/main" val="4261192134"/>
                    </a:ext>
                  </a:extLst>
                </a:gridCol>
              </a:tblGrid>
              <a:tr h="680441">
                <a:tc>
                  <a:txBody>
                    <a:bodyPr/>
                    <a:lstStyle/>
                    <a:p>
                      <a:pPr algn="l"/>
                      <a:r>
                        <a:rPr lang="en-GB" dirty="0"/>
                        <a:t>Binary Logistic Regression</a:t>
                      </a:r>
                      <a:endParaRPr lang="en-NG" dirty="0"/>
                    </a:p>
                  </a:txBody>
                  <a:tcPr/>
                </a:tc>
                <a:tc>
                  <a:txBody>
                    <a:bodyPr/>
                    <a:lstStyle/>
                    <a:p>
                      <a:pPr algn="l"/>
                      <a:r>
                        <a:rPr lang="en-GB" dirty="0"/>
                        <a:t>Multiclass Logistic Regression</a:t>
                      </a:r>
                      <a:endParaRPr lang="en-NG" dirty="0"/>
                    </a:p>
                  </a:txBody>
                  <a:tcPr/>
                </a:tc>
                <a:extLst>
                  <a:ext uri="{0D108BD9-81ED-4DB2-BD59-A6C34878D82A}">
                    <a16:rowId xmlns:a16="http://schemas.microsoft.com/office/drawing/2014/main" val="3675908404"/>
                  </a:ext>
                </a:extLst>
              </a:tr>
              <a:tr h="746178">
                <a:tc>
                  <a:txBody>
                    <a:bodyPr/>
                    <a:lstStyle/>
                    <a:p>
                      <a:pPr algn="l"/>
                      <a:r>
                        <a:rPr lang="en-GB" dirty="0"/>
                        <a:t>Single sigmoid function</a:t>
                      </a:r>
                      <a:endParaRPr lang="en-NG" dirty="0"/>
                    </a:p>
                  </a:txBody>
                  <a:tcPr/>
                </a:tc>
                <a:tc>
                  <a:txBody>
                    <a:bodyPr/>
                    <a:lstStyle/>
                    <a:p>
                      <a:pPr algn="l"/>
                      <a:r>
                        <a:rPr lang="en-GB" dirty="0"/>
                        <a:t>Multiple sigmoid functions (One-vs-Rest or </a:t>
                      </a:r>
                      <a:r>
                        <a:rPr lang="en-GB" dirty="0" err="1"/>
                        <a:t>Softmax</a:t>
                      </a:r>
                      <a:r>
                        <a:rPr lang="en-GB" dirty="0"/>
                        <a:t>)</a:t>
                      </a:r>
                      <a:endParaRPr lang="en-NG" dirty="0"/>
                    </a:p>
                  </a:txBody>
                  <a:tcPr/>
                </a:tc>
                <a:extLst>
                  <a:ext uri="{0D108BD9-81ED-4DB2-BD59-A6C34878D82A}">
                    <a16:rowId xmlns:a16="http://schemas.microsoft.com/office/drawing/2014/main" val="1028757740"/>
                  </a:ext>
                </a:extLst>
              </a:tr>
              <a:tr h="680441">
                <a:tc>
                  <a:txBody>
                    <a:bodyPr/>
                    <a:lstStyle/>
                    <a:p>
                      <a:pPr algn="l"/>
                      <a:r>
                        <a:rPr lang="en-GB" dirty="0"/>
                        <a:t>One probability: P(class = 1)</a:t>
                      </a:r>
                      <a:endParaRPr lang="en-NG" dirty="0"/>
                    </a:p>
                  </a:txBody>
                  <a:tcPr/>
                </a:tc>
                <a:tc>
                  <a:txBody>
                    <a:bodyPr/>
                    <a:lstStyle/>
                    <a:p>
                      <a:pPr algn="l"/>
                      <a:r>
                        <a:rPr lang="en-GB" dirty="0"/>
                        <a:t>Probability distribution across all classes</a:t>
                      </a:r>
                      <a:endParaRPr lang="en-NG" dirty="0"/>
                    </a:p>
                  </a:txBody>
                  <a:tcPr/>
                </a:tc>
                <a:extLst>
                  <a:ext uri="{0D108BD9-81ED-4DB2-BD59-A6C34878D82A}">
                    <a16:rowId xmlns:a16="http://schemas.microsoft.com/office/drawing/2014/main" val="1310356427"/>
                  </a:ext>
                </a:extLst>
              </a:tr>
              <a:tr h="746178">
                <a:tc>
                  <a:txBody>
                    <a:bodyPr/>
                    <a:lstStyle/>
                    <a:p>
                      <a:pPr algn="l"/>
                      <a:r>
                        <a:rPr lang="en-GB" dirty="0"/>
                        <a:t>Decision: If P &gt; 0.5 → Class 1, else Class 0</a:t>
                      </a:r>
                      <a:endParaRPr lang="en-NG" dirty="0"/>
                    </a:p>
                  </a:txBody>
                  <a:tcPr/>
                </a:tc>
                <a:tc>
                  <a:txBody>
                    <a:bodyPr/>
                    <a:lstStyle/>
                    <a:p>
                      <a:pPr algn="l"/>
                      <a:r>
                        <a:rPr lang="en-GB" dirty="0"/>
                        <a:t>Decision: Choose class with highest probability</a:t>
                      </a:r>
                      <a:endParaRPr lang="en-NG" dirty="0"/>
                    </a:p>
                  </a:txBody>
                  <a:tcPr/>
                </a:tc>
                <a:extLst>
                  <a:ext uri="{0D108BD9-81ED-4DB2-BD59-A6C34878D82A}">
                    <a16:rowId xmlns:a16="http://schemas.microsoft.com/office/drawing/2014/main" val="3873373049"/>
                  </a:ext>
                </a:extLst>
              </a:tr>
              <a:tr h="746178">
                <a:tc>
                  <a:txBody>
                    <a:bodyPr/>
                    <a:lstStyle/>
                    <a:p>
                      <a:pPr algn="l"/>
                      <a:r>
                        <a:rPr lang="en-GB" dirty="0"/>
                        <a:t>Example: Email is spam? (Yes/No)</a:t>
                      </a:r>
                      <a:endParaRPr lang="en-NG" dirty="0"/>
                    </a:p>
                  </a:txBody>
                  <a:tcPr/>
                </a:tc>
                <a:tc>
                  <a:txBody>
                    <a:bodyPr/>
                    <a:lstStyle/>
                    <a:p>
                      <a:pPr algn="l"/>
                      <a:r>
                        <a:rPr lang="en-GB" dirty="0"/>
                        <a:t>Example: Disease type? (Malaria/Typhoid/Dengue/None)</a:t>
                      </a:r>
                      <a:endParaRPr lang="en-NG" dirty="0"/>
                    </a:p>
                  </a:txBody>
                  <a:tcPr/>
                </a:tc>
                <a:extLst>
                  <a:ext uri="{0D108BD9-81ED-4DB2-BD59-A6C34878D82A}">
                    <a16:rowId xmlns:a16="http://schemas.microsoft.com/office/drawing/2014/main" val="4170735028"/>
                  </a:ext>
                </a:extLst>
              </a:tr>
            </a:tbl>
          </a:graphicData>
        </a:graphic>
      </p:graphicFrame>
    </p:spTree>
    <p:extLst>
      <p:ext uri="{BB962C8B-B14F-4D97-AF65-F5344CB8AC3E}">
        <p14:creationId xmlns:p14="http://schemas.microsoft.com/office/powerpoint/2010/main" val="84839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893DA-7388-73F6-4D6B-E371DAE431DD}"/>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33B4E70-BFFD-E232-621F-9E31743BCD5C}"/>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Decision Thresholds &amp; Business Impact</a:t>
            </a:r>
            <a:endParaRPr lang="en-US" sz="3200" dirty="0">
              <a:solidFill>
                <a:srgbClr val="03807F"/>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4FE3EE0-302E-4F37-36AB-5EF7CB38C88C}"/>
              </a:ext>
            </a:extLst>
          </p:cNvPr>
          <p:cNvSpPr txBox="1"/>
          <p:nvPr/>
        </p:nvSpPr>
        <p:spPr>
          <a:xfrm>
            <a:off x="583660" y="1303506"/>
            <a:ext cx="9202366" cy="646331"/>
          </a:xfrm>
          <a:prstGeom prst="rect">
            <a:avLst/>
          </a:prstGeom>
          <a:noFill/>
        </p:spPr>
        <p:txBody>
          <a:bodyPr wrap="square" rtlCol="0">
            <a:spAutoFit/>
          </a:bodyPr>
          <a:lstStyle/>
          <a:p>
            <a:r>
              <a:rPr lang="en-GB" b="1" dirty="0"/>
              <a:t>Default Threshold: 0.5</a:t>
            </a:r>
            <a:endParaRPr lang="en-GB" dirty="0"/>
          </a:p>
          <a:p>
            <a:pPr marL="285750" indent="-285750">
              <a:buFont typeface="Arial" panose="020B0604020202020204" pitchFamily="34" charset="0"/>
              <a:buChar char="•"/>
            </a:pPr>
            <a:r>
              <a:rPr lang="en-GB" dirty="0"/>
              <a:t>Predict positive class if P(Y=1) ≥ 0.5</a:t>
            </a:r>
          </a:p>
        </p:txBody>
      </p:sp>
      <p:sp>
        <p:nvSpPr>
          <p:cNvPr id="3" name="TextBox 2">
            <a:extLst>
              <a:ext uri="{FF2B5EF4-FFF2-40B4-BE49-F238E27FC236}">
                <a16:creationId xmlns:a16="http://schemas.microsoft.com/office/drawing/2014/main" id="{0B48837F-10A0-4B2E-696C-6DCC5741A646}"/>
              </a:ext>
            </a:extLst>
          </p:cNvPr>
          <p:cNvSpPr txBox="1"/>
          <p:nvPr/>
        </p:nvSpPr>
        <p:spPr>
          <a:xfrm>
            <a:off x="317307" y="2431915"/>
            <a:ext cx="3418114" cy="369332"/>
          </a:xfrm>
          <a:prstGeom prst="rect">
            <a:avLst/>
          </a:prstGeom>
          <a:noFill/>
        </p:spPr>
        <p:txBody>
          <a:bodyPr wrap="square" rtlCol="0">
            <a:spAutoFit/>
          </a:bodyPr>
          <a:lstStyle/>
          <a:p>
            <a:r>
              <a:rPr lang="en-GB" b="1" dirty="0"/>
              <a:t>Why Adjust Thresholds?</a:t>
            </a:r>
            <a:endParaRPr lang="en-NG" b="1" dirty="0"/>
          </a:p>
        </p:txBody>
      </p:sp>
      <p:sp>
        <p:nvSpPr>
          <p:cNvPr id="6" name="TextBox 5">
            <a:extLst>
              <a:ext uri="{FF2B5EF4-FFF2-40B4-BE49-F238E27FC236}">
                <a16:creationId xmlns:a16="http://schemas.microsoft.com/office/drawing/2014/main" id="{6960FDFE-B851-F752-F9C7-AD6D51F8E01B}"/>
              </a:ext>
            </a:extLst>
          </p:cNvPr>
          <p:cNvSpPr txBox="1"/>
          <p:nvPr/>
        </p:nvSpPr>
        <p:spPr>
          <a:xfrm>
            <a:off x="317306" y="2960159"/>
            <a:ext cx="7140102" cy="646331"/>
          </a:xfrm>
          <a:prstGeom prst="rect">
            <a:avLst/>
          </a:prstGeom>
          <a:noFill/>
        </p:spPr>
        <p:txBody>
          <a:bodyPr wrap="square" rtlCol="0">
            <a:spAutoFit/>
          </a:bodyPr>
          <a:lstStyle/>
          <a:p>
            <a:r>
              <a:rPr lang="en-GB" dirty="0"/>
              <a:t>Lower threshold (0.3): Catch more fraud, more false alarms</a:t>
            </a:r>
          </a:p>
          <a:p>
            <a:r>
              <a:rPr lang="en-GB" dirty="0"/>
              <a:t>Higher threshold (0.7): Fewer false alarms, miss some fraud</a:t>
            </a:r>
            <a:endParaRPr lang="en-NG" dirty="0"/>
          </a:p>
        </p:txBody>
      </p:sp>
      <p:sp>
        <p:nvSpPr>
          <p:cNvPr id="8" name="TextBox 7">
            <a:extLst>
              <a:ext uri="{FF2B5EF4-FFF2-40B4-BE49-F238E27FC236}">
                <a16:creationId xmlns:a16="http://schemas.microsoft.com/office/drawing/2014/main" id="{DD255B0E-5781-F3FF-82A6-6C90A649A471}"/>
              </a:ext>
            </a:extLst>
          </p:cNvPr>
          <p:cNvSpPr txBox="1"/>
          <p:nvPr/>
        </p:nvSpPr>
        <p:spPr>
          <a:xfrm>
            <a:off x="317306" y="3811569"/>
            <a:ext cx="3638144" cy="369332"/>
          </a:xfrm>
          <a:prstGeom prst="rect">
            <a:avLst/>
          </a:prstGeom>
          <a:noFill/>
        </p:spPr>
        <p:txBody>
          <a:bodyPr wrap="square" rtlCol="0">
            <a:spAutoFit/>
          </a:bodyPr>
          <a:lstStyle/>
          <a:p>
            <a:r>
              <a:rPr lang="en-GB" b="1" dirty="0"/>
              <a:t>Scenario: Disease Screening</a:t>
            </a:r>
            <a:endParaRPr lang="en-NG" b="1" dirty="0"/>
          </a:p>
        </p:txBody>
      </p:sp>
      <p:sp>
        <p:nvSpPr>
          <p:cNvPr id="9" name="TextBox 8">
            <a:extLst>
              <a:ext uri="{FF2B5EF4-FFF2-40B4-BE49-F238E27FC236}">
                <a16:creationId xmlns:a16="http://schemas.microsoft.com/office/drawing/2014/main" id="{40F3DAB0-876B-60DF-3EE3-BB2DDEA28C16}"/>
              </a:ext>
            </a:extLst>
          </p:cNvPr>
          <p:cNvSpPr txBox="1"/>
          <p:nvPr/>
        </p:nvSpPr>
        <p:spPr>
          <a:xfrm>
            <a:off x="317306" y="4155785"/>
            <a:ext cx="9202366" cy="646331"/>
          </a:xfrm>
          <a:prstGeom prst="rect">
            <a:avLst/>
          </a:prstGeom>
          <a:noFill/>
        </p:spPr>
        <p:txBody>
          <a:bodyPr wrap="square" rtlCol="0">
            <a:spAutoFit/>
          </a:bodyPr>
          <a:lstStyle/>
          <a:p>
            <a:r>
              <a:rPr lang="en-GB" dirty="0"/>
              <a:t>Lower threshold (0.3): Don't miss sick patients (fewer false negatives)</a:t>
            </a:r>
          </a:p>
          <a:p>
            <a:r>
              <a:rPr lang="en-GB" dirty="0"/>
              <a:t>Higher threshold (0.7): Reduce unnecessary treatments (fewer false positives)</a:t>
            </a:r>
            <a:endParaRPr lang="en-NG" dirty="0"/>
          </a:p>
        </p:txBody>
      </p:sp>
    </p:spTree>
    <p:extLst>
      <p:ext uri="{BB962C8B-B14F-4D97-AF65-F5344CB8AC3E}">
        <p14:creationId xmlns:p14="http://schemas.microsoft.com/office/powerpoint/2010/main" val="2500836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C27B-52AD-DF94-E35A-1BD08C91649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B2A3D9-061F-2A06-4E93-B1D52635E1CD}"/>
              </a:ext>
            </a:extLst>
          </p:cNvPr>
          <p:cNvSpPr txBox="1"/>
          <p:nvPr/>
        </p:nvSpPr>
        <p:spPr>
          <a:xfrm>
            <a:off x="317306" y="894080"/>
            <a:ext cx="6926093" cy="369332"/>
          </a:xfrm>
          <a:prstGeom prst="rect">
            <a:avLst/>
          </a:prstGeom>
          <a:noFill/>
        </p:spPr>
        <p:txBody>
          <a:bodyPr wrap="square" rtlCol="0">
            <a:spAutoFit/>
          </a:bodyPr>
          <a:lstStyle/>
          <a:p>
            <a:r>
              <a:rPr lang="en-GB" b="1" dirty="0">
                <a:highlight>
                  <a:srgbClr val="FBA31C"/>
                </a:highlight>
              </a:rPr>
              <a:t>Understanding What Drives Predictions</a:t>
            </a:r>
            <a:endParaRPr lang="en-NG" b="1" dirty="0">
              <a:highlight>
                <a:srgbClr val="FBA31C"/>
              </a:highlight>
            </a:endParaRPr>
          </a:p>
        </p:txBody>
      </p:sp>
      <p:sp>
        <p:nvSpPr>
          <p:cNvPr id="10" name="Title 1">
            <a:extLst>
              <a:ext uri="{FF2B5EF4-FFF2-40B4-BE49-F238E27FC236}">
                <a16:creationId xmlns:a16="http://schemas.microsoft.com/office/drawing/2014/main" id="{7617F196-C0EE-392A-AF92-CDB4914281AD}"/>
              </a:ext>
            </a:extLst>
          </p:cNvPr>
          <p:cNvSpPr txBox="1">
            <a:spLocks/>
          </p:cNvSpPr>
          <p:nvPr/>
        </p:nvSpPr>
        <p:spPr>
          <a:xfrm>
            <a:off x="317306" y="240175"/>
            <a:ext cx="9659814" cy="653905"/>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r>
              <a:rPr lang="en-GB" sz="3200" dirty="0">
                <a:highlight>
                  <a:srgbClr val="FBA31C"/>
                </a:highlight>
              </a:rPr>
              <a:t>Feature Importance in Logistic Models</a:t>
            </a:r>
          </a:p>
          <a:p>
            <a:endParaRPr lang="en-US" sz="3200" dirty="0">
              <a:solidFill>
                <a:srgbClr val="03807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7694982"/>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unchcardVTI" id="{C7262591-AF98-8F48-B56D-6342D2439B1A}" vid="{261D9F73-974A-B14E-9EAF-4871CCA60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21464</TotalTime>
  <Words>973</Words>
  <Application>Microsoft Office PowerPoint</Application>
  <PresentationFormat>Widescreen</PresentationFormat>
  <Paragraphs>169</Paragraphs>
  <Slides>14</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Courier New</vt:lpstr>
      <vt:lpstr>Neue Haas Grotesk Text Pro</vt:lpstr>
      <vt:lpstr>PunchcardVTI</vt:lpstr>
      <vt:lpstr>PowerPoint Presentation</vt:lpstr>
      <vt:lpstr>PowerPoint Presentation</vt:lpstr>
      <vt:lpstr>Regression Project Presentations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dc:creator>
  <cp:lastModifiedBy>Uthman Abdulrahman</cp:lastModifiedBy>
  <cp:revision>4</cp:revision>
  <dcterms:created xsi:type="dcterms:W3CDTF">2025-11-05T12:47:24Z</dcterms:created>
  <dcterms:modified xsi:type="dcterms:W3CDTF">2026-02-04T10:28:57Z</dcterms:modified>
</cp:coreProperties>
</file>