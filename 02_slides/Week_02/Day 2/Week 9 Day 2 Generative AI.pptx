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066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863" y="576251"/>
            <a:ext cx="3799501" cy="214980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863" y="3212430"/>
            <a:ext cx="3799501" cy="1106383"/>
          </a:xfrm>
        </p:spPr>
        <p:txBody>
          <a:bodyPr anchor="b"/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5196" y="342900"/>
            <a:ext cx="2706154" cy="273844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9E91172A-D17D-C180-F3B1-0141247E2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015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5377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7EC6D666-5D0B-8C45-3F9D-885CF108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87" y="342900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1848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6263"/>
            <a:ext cx="3799501" cy="1751076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3191590"/>
            <a:ext cx="3799501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497C09-89AE-6371-9DD4-75A5AF8DBC69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6198FF7-E543-F648-F22D-7A5A5F2906F4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07271CCF-0DC3-3BF8-249C-3411FA74D96D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6" name="Freeform 48">
              <a:extLst>
                <a:ext uri="{FF2B5EF4-FFF2-40B4-BE49-F238E27FC236}">
                  <a16:creationId xmlns:a16="http://schemas.microsoft.com/office/drawing/2014/main" id="{CABBBCC2-237F-CBEA-84B0-1079062AC561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6B8E4F2-524D-24A8-86F4-1792F6E50E8B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0BD260-421F-B483-B4A0-37FEFB3374F9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7D44ADD-B4C5-FBF7-10B0-325421A0D6C9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5593C120-03DA-0B74-3A14-C5E66EDC4F9C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2E836D48-4A84-EAB5-F726-7655BEFF3EB4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A3C7E49-0C95-45AB-FF02-F449805F0F82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9F28514-8A8B-6BB2-9BC7-3D9A99443AA9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6FC6122-5293-4627-86DE-6601FA92141B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443DE6D-7BB4-A4DD-F128-91CF73CEBFBE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A35F092-ECC3-7737-485B-16E2C5DBBD9C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3BEB774-3617-CD14-3987-72B21781DF42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5958338-951C-A8ED-487F-7A180F97702A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AAD3E28-B829-0A7D-41FB-9F6EC11DF07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0446E0C-7C6F-48A3-9347-464A70687F1E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E242CA4-6284-C376-4F9A-836D395DD50F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5B8F67F-0DC3-A4B2-71FF-A3483FA75FC1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290C650-6E01-A169-3427-A0621B17A73B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36D4EC3C-D579-E8BB-FE8E-09E88C14B686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5D23B81-F939-BBDA-DD0D-632F19F07160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80FE3946-719E-8689-941C-2DA992DE45D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10F47F19-AA93-0318-795C-11AA315F23CD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pic>
        <p:nvPicPr>
          <p:cNvPr id="83" name="Picture 82" descr="A close up of a logo&#10;&#10;AI-generated content may be incorrect.">
            <a:extLst>
              <a:ext uri="{FF2B5EF4-FFF2-40B4-BE49-F238E27FC236}">
                <a16:creationId xmlns:a16="http://schemas.microsoft.com/office/drawing/2014/main" id="{5AB071D6-F70F-FC27-1E58-03B4EB9BF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0275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138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2229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17E75DCB-E0A9-8AE4-118D-B64726840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029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576072"/>
            <a:ext cx="5500116" cy="953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612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612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7300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7300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A284F8FC-5CB3-2BD1-2B02-65245833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637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46350139-760A-2B49-EEAB-39A916ACA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2575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82C52E2-8AF9-D7F6-D5D6-D023C913E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621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3730"/>
            <a:ext cx="2707487" cy="1046282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624" y="578167"/>
            <a:ext cx="4584388" cy="360042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2"/>
            <a:ext cx="2707487" cy="278172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7853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7"/>
            <a:ext cx="2707487" cy="1041845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917879" y="668113"/>
            <a:ext cx="4545102" cy="365280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3"/>
            <a:ext cx="2707487" cy="27009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7524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6696396" y="0"/>
            <a:ext cx="2447604" cy="51435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860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423862" y="4565333"/>
            <a:ext cx="55013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6771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12572" y="732472"/>
            <a:ext cx="1701380" cy="3588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3863" y="732472"/>
            <a:ext cx="6198043" cy="3588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9543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56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8"/>
            <a:ext cx="5501876" cy="951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1620012"/>
            <a:ext cx="5501876" cy="2700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5196" y="342900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863" y="4605814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7259" y="4605814"/>
            <a:ext cx="61036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blue and orange lines&#10;&#10;AI-generated content may be incorrect.">
            <a:extLst>
              <a:ext uri="{FF2B5EF4-FFF2-40B4-BE49-F238E27FC236}">
                <a16:creationId xmlns:a16="http://schemas.microsoft.com/office/drawing/2014/main" id="{069E36C6-A44E-48AC-9191-45B7438791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75255"/>
            <a:ext cx="57816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97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05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338606"/>
            <a:ext cx="8229600" cy="21398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Deploying Generative Models</a:t>
            </a:r>
            <a:endParaRPr lang="en-US" sz="4800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&amp; Project Work</a:t>
            </a:r>
            <a:endParaRPr lang="en-US" sz="48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Learning Objectives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Design infrastructure for serving large-scale generative models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Implement safety guardrails and content moderation systems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Develop efficient API design patterns for generative AI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Advance generative AI projects with practical deployment strategies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Day 36: MLOps VII | 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Session Structure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1508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</a:rPr>
              <a:t>Deploying Generative Models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76809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601787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</a:rPr>
              <a:t>Project Development Sprint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</a:rPr>
              <a:t>Progress Check &amp; Preview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Day 36: MLOps VII | Slide 3</a:t>
            </a:r>
            <a:endParaRPr lang="en-US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2ED44A-567B-4CE9-A2A9-F306077F2F8C}"/>
              </a:ext>
            </a:extLst>
          </p:cNvPr>
          <p:cNvSpPr/>
          <p:nvPr/>
        </p:nvSpPr>
        <p:spPr>
          <a:xfrm>
            <a:off x="1328006" y="1603921"/>
            <a:ext cx="414670" cy="24561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0F9C54-02E1-47B6-A9F0-6609463BA51D}"/>
              </a:ext>
            </a:extLst>
          </p:cNvPr>
          <p:cNvSpPr/>
          <p:nvPr/>
        </p:nvSpPr>
        <p:spPr>
          <a:xfrm>
            <a:off x="1307805" y="2639001"/>
            <a:ext cx="414670" cy="24561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D42C3C-A609-41EE-8067-199A98730A61}"/>
              </a:ext>
            </a:extLst>
          </p:cNvPr>
          <p:cNvSpPr/>
          <p:nvPr/>
        </p:nvSpPr>
        <p:spPr>
          <a:xfrm>
            <a:off x="1347145" y="3580514"/>
            <a:ext cx="414670" cy="24561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Part 1: Infrastructure</a:t>
            </a:r>
            <a:endParaRPr lang="en-US" sz="4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accent3">
                    <a:lumMod val="75000"/>
                  </a:schemeClr>
                </a:solidFill>
              </a:rPr>
              <a:t>Serving Generative Models at Scale</a:t>
            </a:r>
            <a:endParaRPr lang="en-US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Infrastructure Challenges for GenAI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931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100x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Computational Intensity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LLMs require 10-100x more compute than traditional ML models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931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199" y="1417320"/>
            <a:ext cx="199892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350GB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Memory Requirements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GPT-3 (175B) needs 350GB+ just for model parameters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931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2-5s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Latency Concerns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Generation can take seconds per request, not milliseconds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926080"/>
            <a:ext cx="3931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199" y="3063240"/>
            <a:ext cx="18925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$2-10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02920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</a:rPr>
              <a:t>Cost Management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GPU infrastructure costs $2-10 per million tokens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Day 36: MLOps VII | Slide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910084" cy="396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GPU Memory Management Strategies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</a:rPr>
              <a:t>Model Quantization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645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Reduce precision from FP32 → FP16 → INT8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9888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9888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50-75% memory reduction with minimal quality loss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377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Tools: bitsandbytes, GPTQ, AWQ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7049CCE-33F7-44F1-9DC0-DAA7307BFD7C}"/>
              </a:ext>
            </a:extLst>
          </p:cNvPr>
          <p:cNvGrpSpPr/>
          <p:nvPr/>
        </p:nvGrpSpPr>
        <p:grpSpPr>
          <a:xfrm>
            <a:off x="1280160" y="2560320"/>
            <a:ext cx="3429000" cy="1388083"/>
            <a:chOff x="1280160" y="2560320"/>
            <a:chExt cx="3429000" cy="1388083"/>
          </a:xfrm>
        </p:grpSpPr>
        <p:sp>
          <p:nvSpPr>
            <p:cNvPr id="14" name="Text 12"/>
            <p:cNvSpPr/>
            <p:nvPr/>
          </p:nvSpPr>
          <p:spPr>
            <a:xfrm>
              <a:off x="1280160" y="2560320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212121"/>
                  </a:solidFill>
                </a:rPr>
                <a:t>Tensor Parallelism</a:t>
              </a:r>
              <a:endParaRPr lang="en-US" sz="1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371600" y="2971800"/>
              <a:ext cx="1828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028090"/>
                  </a:solidFill>
                </a:rPr>
                <a:t>•</a:t>
              </a:r>
              <a:endParaRPr lang="en-US" sz="14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600200" y="2971800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333333"/>
                  </a:solidFill>
                </a:rPr>
                <a:t>Split model layers across multiple GPUs</a:t>
              </a:r>
              <a:endParaRPr lang="en-US" sz="13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371600" y="3398434"/>
              <a:ext cx="1828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028090"/>
                  </a:solidFill>
                </a:rPr>
                <a:t>•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600200" y="3398434"/>
              <a:ext cx="31089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333333"/>
                  </a:solidFill>
                </a:rPr>
                <a:t>Enables serving models larger than single GPU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371600" y="3719803"/>
              <a:ext cx="1828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028090"/>
                  </a:solidFill>
                </a:rPr>
                <a:t>•</a:t>
              </a:r>
              <a:endParaRPr lang="en-US" sz="140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1600200" y="3719803"/>
            <a:ext cx="3429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Frameworks: DeepSpeed, Megatron-LM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0" y="1188720"/>
            <a:ext cx="3657600" cy="3108960"/>
          </a:xfrm>
          <a:prstGeom prst="rect">
            <a:avLst/>
          </a:prstGeom>
          <a:solidFill>
            <a:srgbClr val="1E2761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💡 Key Insight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12080" y="18288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Combining these three strategies can enable a 70B parameter model to run on 2-3 consumer GPUs instead of requiring 8+ enterprise GPUs.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This makes powerful models accessible for production deployment at reasonable cost.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Day 36: MLOps VII | Slide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9">
            <a:extLst>
              <a:ext uri="{FF2B5EF4-FFF2-40B4-BE49-F238E27FC236}">
                <a16:creationId xmlns:a16="http://schemas.microsoft.com/office/drawing/2014/main" id="{48ED10E1-B9C9-4A38-9C28-773E4D9E53AA}"/>
              </a:ext>
            </a:extLst>
          </p:cNvPr>
          <p:cNvSpPr/>
          <p:nvPr/>
        </p:nvSpPr>
        <p:spPr>
          <a:xfrm>
            <a:off x="502920" y="671977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20">
            <a:extLst>
              <a:ext uri="{FF2B5EF4-FFF2-40B4-BE49-F238E27FC236}">
                <a16:creationId xmlns:a16="http://schemas.microsoft.com/office/drawing/2014/main" id="{ED8D06D1-C2B1-470B-A2A3-1ED325B9B68E}"/>
              </a:ext>
            </a:extLst>
          </p:cNvPr>
          <p:cNvSpPr/>
          <p:nvPr/>
        </p:nvSpPr>
        <p:spPr>
          <a:xfrm>
            <a:off x="502920" y="67197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4" name="Text 21">
            <a:extLst>
              <a:ext uri="{FF2B5EF4-FFF2-40B4-BE49-F238E27FC236}">
                <a16:creationId xmlns:a16="http://schemas.microsoft.com/office/drawing/2014/main" id="{C89269F9-D234-4770-880E-C7089AD1DA96}"/>
              </a:ext>
            </a:extLst>
          </p:cNvPr>
          <p:cNvSpPr/>
          <p:nvPr/>
        </p:nvSpPr>
        <p:spPr>
          <a:xfrm>
            <a:off x="1143000" y="717697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</a:rPr>
              <a:t>KV Cache Optimization</a:t>
            </a:r>
            <a:endParaRPr lang="en-US" sz="1800" dirty="0"/>
          </a:p>
        </p:txBody>
      </p:sp>
      <p:sp>
        <p:nvSpPr>
          <p:cNvPr id="5" name="Text 22">
            <a:extLst>
              <a:ext uri="{FF2B5EF4-FFF2-40B4-BE49-F238E27FC236}">
                <a16:creationId xmlns:a16="http://schemas.microsoft.com/office/drawing/2014/main" id="{C6D613B3-4E20-4DED-B2B4-2AC9AC89FBCC}"/>
              </a:ext>
            </a:extLst>
          </p:cNvPr>
          <p:cNvSpPr/>
          <p:nvPr/>
        </p:nvSpPr>
        <p:spPr>
          <a:xfrm>
            <a:off x="1234440" y="1129177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</a:rPr>
              <a:t>•</a:t>
            </a:r>
            <a:endParaRPr lang="en-US" sz="1400" dirty="0"/>
          </a:p>
        </p:txBody>
      </p:sp>
      <p:sp>
        <p:nvSpPr>
          <p:cNvPr id="6" name="Text 23">
            <a:extLst>
              <a:ext uri="{FF2B5EF4-FFF2-40B4-BE49-F238E27FC236}">
                <a16:creationId xmlns:a16="http://schemas.microsoft.com/office/drawing/2014/main" id="{CA5BECE5-4359-4175-8B25-7229346576E0}"/>
              </a:ext>
            </a:extLst>
          </p:cNvPr>
          <p:cNvSpPr/>
          <p:nvPr/>
        </p:nvSpPr>
        <p:spPr>
          <a:xfrm>
            <a:off x="1463040" y="1129177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Cache attention key-value pairs efficiently</a:t>
            </a:r>
            <a:endParaRPr lang="en-US" sz="1300" dirty="0"/>
          </a:p>
        </p:txBody>
      </p:sp>
      <p:sp>
        <p:nvSpPr>
          <p:cNvPr id="7" name="Text 24">
            <a:extLst>
              <a:ext uri="{FF2B5EF4-FFF2-40B4-BE49-F238E27FC236}">
                <a16:creationId xmlns:a16="http://schemas.microsoft.com/office/drawing/2014/main" id="{2511D8B4-CDBD-4CE2-A458-CF315D79A947}"/>
              </a:ext>
            </a:extLst>
          </p:cNvPr>
          <p:cNvSpPr/>
          <p:nvPr/>
        </p:nvSpPr>
        <p:spPr>
          <a:xfrm>
            <a:off x="1234440" y="154172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</a:rPr>
              <a:t>•</a:t>
            </a:r>
            <a:endParaRPr lang="en-US" sz="1400" dirty="0"/>
          </a:p>
        </p:txBody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8B21E41A-D0F5-4EF4-ADCB-71462B0E690B}"/>
              </a:ext>
            </a:extLst>
          </p:cNvPr>
          <p:cNvSpPr/>
          <p:nvPr/>
        </p:nvSpPr>
        <p:spPr>
          <a:xfrm>
            <a:off x="1463040" y="154172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Use PagedAttention (vLLM) for dynamic allocation</a:t>
            </a:r>
            <a:endParaRPr lang="en-US" sz="1300" dirty="0"/>
          </a:p>
        </p:txBody>
      </p:sp>
      <p:sp>
        <p:nvSpPr>
          <p:cNvPr id="9" name="Text 26">
            <a:extLst>
              <a:ext uri="{FF2B5EF4-FFF2-40B4-BE49-F238E27FC236}">
                <a16:creationId xmlns:a16="http://schemas.microsoft.com/office/drawing/2014/main" id="{CA4DFE2B-A9B3-4E88-AC47-DB8757E64341}"/>
              </a:ext>
            </a:extLst>
          </p:cNvPr>
          <p:cNvSpPr/>
          <p:nvPr/>
        </p:nvSpPr>
        <p:spPr>
          <a:xfrm>
            <a:off x="1234440" y="1954267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090"/>
                </a:solidFill>
              </a:rPr>
              <a:t>•</a:t>
            </a:r>
            <a:endParaRPr lang="en-US" sz="1400" dirty="0"/>
          </a:p>
        </p:txBody>
      </p:sp>
      <p:sp>
        <p:nvSpPr>
          <p:cNvPr id="10" name="Text 27">
            <a:extLst>
              <a:ext uri="{FF2B5EF4-FFF2-40B4-BE49-F238E27FC236}">
                <a16:creationId xmlns:a16="http://schemas.microsoft.com/office/drawing/2014/main" id="{73EFD105-4F27-4B72-BBE8-49D6B64C27E7}"/>
              </a:ext>
            </a:extLst>
          </p:cNvPr>
          <p:cNvSpPr/>
          <p:nvPr/>
        </p:nvSpPr>
        <p:spPr>
          <a:xfrm>
            <a:off x="1463040" y="1954267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Reduces redundant computation by 40-60%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725224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Efficient Model Serving Architectures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0233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Batch Processing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Continuous Batching: Group requests dynamically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Throughput Optimization: Process multiple requests simultaneously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Tools: vLLM, Text Generation Inference (TGI)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Benefits: 2-5x higher throughput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3657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66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121"/>
                </a:solidFill>
              </a:rPr>
              <a:t>Best for: High-throughput APIs, background processing, batch inference jobs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097280"/>
            <a:ext cx="40233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Streaming Responses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1208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Token-by-Token: Return results as they generate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2148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068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Perceived Latency: Users see output immediately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2560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Implementation: Server-Sent Events (SSE)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2971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Benefits: Better UX, reduced timeout issues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20640" y="3474720"/>
            <a:ext cx="3657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3566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121"/>
                </a:solidFill>
              </a:rPr>
              <a:t>Best for: Chat interfaces, real-time applications, interactive demos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Day 36: MLOps VII | Slide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4SID theme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4SID theme" id="{B984A8E7-233D-4992-8743-41EAFFF94261}" vid="{D8C495CA-6F99-401E-AE3B-AE8955379D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AI4SID theme</Template>
  <TotalTime>25</TotalTime>
  <Words>382</Words>
  <Application>Microsoft Office PowerPoint</Application>
  <PresentationFormat>On-screen Show (16:9)</PresentationFormat>
  <Paragraphs>92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Neue Haas Grotesk Text Pro</vt:lpstr>
      <vt:lpstr>AI4SID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MLOps VII: Deploying Generative Models</dc:title>
  <dc:subject>Day 36 - Generative AI Deployment</dc:subject>
  <dc:creator>MLOps Accelerator Program</dc:creator>
  <cp:lastModifiedBy>Uthman Abdulrahman</cp:lastModifiedBy>
  <cp:revision>4</cp:revision>
  <dcterms:created xsi:type="dcterms:W3CDTF">2026-02-04T12:45:54Z</dcterms:created>
  <dcterms:modified xsi:type="dcterms:W3CDTF">2026-02-04T13:14:22Z</dcterms:modified>
</cp:coreProperties>
</file>