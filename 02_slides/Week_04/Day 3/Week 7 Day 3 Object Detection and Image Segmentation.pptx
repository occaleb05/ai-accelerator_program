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4520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EB46B8FB-F6A2-5F47-A6CD-A7E17E69270F}"/>
              </a:ext>
            </a:extLst>
          </p:cNvPr>
          <p:cNvGrpSpPr/>
          <p:nvPr/>
        </p:nvGrpSpPr>
        <p:grpSpPr>
          <a:xfrm>
            <a:off x="4651041" y="0"/>
            <a:ext cx="4492959" cy="5143501"/>
            <a:chOff x="6201388" y="0"/>
            <a:chExt cx="5990612" cy="6858001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DAB39E9-6F50-3F4B-9DDB-FC0E0CA99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3863" y="576251"/>
            <a:ext cx="3799501" cy="2149804"/>
          </a:xfrm>
        </p:spPr>
        <p:txBody>
          <a:bodyPr anchor="t"/>
          <a:lstStyle>
            <a:lvl1pPr algn="l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2C33E-E9A6-304D-BBCB-97AD0B213C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3863" y="3212430"/>
            <a:ext cx="3799501" cy="1106383"/>
          </a:xfrm>
        </p:spPr>
        <p:txBody>
          <a:bodyPr anchor="b"/>
          <a:lstStyle>
            <a:lvl1pPr marL="0" indent="0" algn="l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C75C4-E533-BE48-B528-D1A278BC39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5196" y="342900"/>
            <a:ext cx="2706154" cy="273844"/>
          </a:xfrm>
        </p:spPr>
        <p:txBody>
          <a:bodyPr/>
          <a:lstStyle>
            <a:lvl1pPr algn="l">
              <a:defRPr/>
            </a:lvl1pPr>
          </a:lstStyle>
          <a:p>
            <a:pPr algn="l"/>
            <a:fld id="{A5B0A250-5CC0-1746-B209-08E8B0DAE6AF}" type="datetimeFigureOut">
              <a:rPr lang="en-US" smtClean="0"/>
              <a:pPr algn="l"/>
              <a:t>2/4/2026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9BA8A-EF83-434D-A90E-0805D1104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FDDE0-90B9-AD4E-B0EB-E7464FA9C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13001" y="4605814"/>
            <a:ext cx="610362" cy="273844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3A3282-0389-C547-8CA6-7F3E7F27B34D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37995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logo&#10;&#10;AI-generated content may be incorrect.">
            <a:extLst>
              <a:ext uri="{FF2B5EF4-FFF2-40B4-BE49-F238E27FC236}">
                <a16:creationId xmlns:a16="http://schemas.microsoft.com/office/drawing/2014/main" id="{9E91172A-D17D-C180-F3B1-0141247E2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67" y="4432667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86857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A1E4-52BA-534C-AECC-35C3CF44F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15675-65B4-E14F-9785-663A83B7B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76A1E-2332-684F-BDD2-687C166BD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B8CB0-B7BE-7D4F-B254-8A2F8AEC2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5A569-A063-8E40-B703-82B11D2A9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15377" y="4605814"/>
            <a:ext cx="610362" cy="273844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close up of a logo&#10;&#10;AI-generated content may be incorrect.">
            <a:extLst>
              <a:ext uri="{FF2B5EF4-FFF2-40B4-BE49-F238E27FC236}">
                <a16:creationId xmlns:a16="http://schemas.microsoft.com/office/drawing/2014/main" id="{7EC6D666-5D0B-8C45-3F9D-885CF10834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3187" y="342900"/>
            <a:ext cx="637941" cy="460594"/>
          </a:xfrm>
          <a:prstGeom prst="rect">
            <a:avLst/>
          </a:prstGeom>
        </p:spPr>
      </p:pic>
      <p:pic>
        <p:nvPicPr>
          <p:cNvPr id="10" name="Picture 9" descr="A blue and orange lines&#10;&#10;AI-generated content may be incorrect.">
            <a:extLst>
              <a:ext uri="{FF2B5EF4-FFF2-40B4-BE49-F238E27FC236}">
                <a16:creationId xmlns:a16="http://schemas.microsoft.com/office/drawing/2014/main" id="{BB434980-A235-A835-9CA9-3906FF866B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199"/>
          <a:stretch>
            <a:fillRect/>
          </a:stretch>
        </p:blipFill>
        <p:spPr>
          <a:xfrm rot="5400000">
            <a:off x="4282916" y="282417"/>
            <a:ext cx="578168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03490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0648E-B4D5-4145-84E7-46B5793EA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63" y="576263"/>
            <a:ext cx="3799501" cy="1751076"/>
          </a:xfrm>
        </p:spPr>
        <p:txBody>
          <a:bodyPr anchor="t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B92A6-7558-3148-B855-5BC58B415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3863" y="3191590"/>
            <a:ext cx="3799501" cy="1125140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bg1">
                    <a:lumMod val="6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0B541-D211-974B-97FE-C1F9473A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27FB0-D95A-D543-8E29-6E5F22B49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C4404-F49D-9F48-A10B-1F60870B4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13001" y="4605814"/>
            <a:ext cx="610362" cy="273844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6A1FD1-D82F-3141-8687-8D7C0631C215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37995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9497C09-89AE-6371-9DD4-75A5AF8DBC69}"/>
              </a:ext>
            </a:extLst>
          </p:cNvPr>
          <p:cNvGrpSpPr/>
          <p:nvPr/>
        </p:nvGrpSpPr>
        <p:grpSpPr>
          <a:xfrm>
            <a:off x="4651041" y="0"/>
            <a:ext cx="4492959" cy="5143501"/>
            <a:chOff x="6201388" y="0"/>
            <a:chExt cx="5990612" cy="6858001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B6198FF7-E543-F648-F22D-7A5A5F2906F4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5" name="Freeform 46">
              <a:extLst>
                <a:ext uri="{FF2B5EF4-FFF2-40B4-BE49-F238E27FC236}">
                  <a16:creationId xmlns:a16="http://schemas.microsoft.com/office/drawing/2014/main" id="{07271CCF-0DC3-3BF8-249C-3411FA74D96D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6" name="Freeform 48">
              <a:extLst>
                <a:ext uri="{FF2B5EF4-FFF2-40B4-BE49-F238E27FC236}">
                  <a16:creationId xmlns:a16="http://schemas.microsoft.com/office/drawing/2014/main" id="{CABBBCC2-237F-CBEA-84B0-1079062AC561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6B8E4F2-524D-24A8-86F4-1792F6E50E8B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BE0BD260-421F-B483-B4A0-37FEFB3374F9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E7D44ADD-B4C5-FBF7-10B0-325421A0D6C9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65" name="Freeform 63">
              <a:extLst>
                <a:ext uri="{FF2B5EF4-FFF2-40B4-BE49-F238E27FC236}">
                  <a16:creationId xmlns:a16="http://schemas.microsoft.com/office/drawing/2014/main" id="{5593C120-03DA-0B74-3A14-C5E66EDC4F9C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66" name="Freeform 64">
              <a:extLst>
                <a:ext uri="{FF2B5EF4-FFF2-40B4-BE49-F238E27FC236}">
                  <a16:creationId xmlns:a16="http://schemas.microsoft.com/office/drawing/2014/main" id="{2E836D48-4A84-EAB5-F726-7655BEFF3EB4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0A3C7E49-0C95-45AB-FF02-F449805F0F82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39F28514-8A8B-6BB2-9BC7-3D9A99443AA9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36FC6122-5293-4627-86DE-6601FA92141B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D443DE6D-7BB4-A4DD-F128-91CF73CEBFBE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DA35F092-ECC3-7737-485B-16E2C5DBBD9C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03BEB774-3617-CD14-3987-72B21781DF42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15958338-951C-A8ED-487F-7A180F97702A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6AAD3E28-B829-0A7D-41FB-9F6EC11DF07F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80446E0C-7C6F-48A3-9347-464A70687F1E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3E242CA4-6284-C376-4F9A-836D395DD50F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95B8F67F-0DC3-A4B2-71FF-A3483FA75FC1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290C650-6E01-A169-3427-A0621B17A73B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36D4EC3C-D579-E8BB-FE8E-09E88C14B686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55D23B81-F939-BBDA-DD0D-632F19F07160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80FE3946-719E-8689-941C-2DA992DE45DE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10F47F19-AA93-0318-795C-11AA315F23CD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pic>
        <p:nvPicPr>
          <p:cNvPr id="83" name="Picture 82" descr="A close up of a logo&#10;&#10;AI-generated content may be incorrect.">
            <a:extLst>
              <a:ext uri="{FF2B5EF4-FFF2-40B4-BE49-F238E27FC236}">
                <a16:creationId xmlns:a16="http://schemas.microsoft.com/office/drawing/2014/main" id="{5AB071D6-F70F-FC27-1E58-03B4EB9BF7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67" y="4432667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02990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442ECFEB-12CF-4C4F-BC8A-5816C27CA565}"/>
              </a:ext>
            </a:extLst>
          </p:cNvPr>
          <p:cNvGrpSpPr/>
          <p:nvPr/>
        </p:nvGrpSpPr>
        <p:grpSpPr>
          <a:xfrm>
            <a:off x="7717736" y="0"/>
            <a:ext cx="1426265" cy="5143500"/>
            <a:chOff x="10290315" y="0"/>
            <a:chExt cx="1901686" cy="685800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26C9482-2804-144B-88B2-0AF191BD757D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1363F79-96BD-9240-86E2-DF26C9C2437D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53F0BF1-DA57-1D49-82F0-802F4D385A85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CD42A1B-A03A-C946-8A2A-CE437EA433FD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591FE00-3AAF-9B4B-8107-E94D50828227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49E92E9-89A7-4842-B271-411C7DF75D2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C29C99-0841-9F46-AB1A-E9751DFE448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0AB684-BDA8-014B-8DCC-125F8B8DC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40E05-0F5F-6243-AD57-66BFC33AD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2138" y="1774317"/>
            <a:ext cx="3929634" cy="25466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70B3A4-11FE-D94C-9B93-255E36231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92229" y="1774317"/>
            <a:ext cx="3929634" cy="25466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BEEAF-F881-6E48-84AF-E5CEEF1C7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72753-1CC3-9244-9AF0-6927018A6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DD55D0-FCC7-AC42-9810-9B49E3348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C736C3-88FB-244C-83B8-B2856998D221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829375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logo&#10;&#10;AI-generated content may be incorrect.">
            <a:extLst>
              <a:ext uri="{FF2B5EF4-FFF2-40B4-BE49-F238E27FC236}">
                <a16:creationId xmlns:a16="http://schemas.microsoft.com/office/drawing/2014/main" id="{17E75DCB-E0A9-8AE4-118D-B647268408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67" y="4432667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83693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B7D16A9C-7411-5242-A59C-816B8907E3BE}"/>
              </a:ext>
            </a:extLst>
          </p:cNvPr>
          <p:cNvGrpSpPr/>
          <p:nvPr/>
        </p:nvGrpSpPr>
        <p:grpSpPr>
          <a:xfrm>
            <a:off x="7717736" y="0"/>
            <a:ext cx="1426265" cy="5143500"/>
            <a:chOff x="10290315" y="0"/>
            <a:chExt cx="1901686" cy="685800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997260B-7D44-7049-B605-7FD6E6CE5612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D6AF601-77C3-D74A-B1E5-7F33703A6927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4DFCA921-0F9E-2E41-A285-75409E25501A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20B9E03-438B-FC42-9DA1-835D5BC3FE8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670E1F-61CD-8940-A898-6D5092A78BB9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80C64CF-0C6A-3449-9709-AE038C4A7995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EC46D5B-957F-A24C-8E36-CC71F660EC8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058182F-7B5E-FD42-AFC6-A3848D833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96" y="576072"/>
            <a:ext cx="5500116" cy="9532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9E4DE-75C0-C841-A68D-9D7BBAD76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1612" y="1774317"/>
            <a:ext cx="3929634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C87F7-356E-9E43-97A0-D972B2285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1612" y="2392251"/>
            <a:ext cx="3929634" cy="1928668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AB4C28-30CB-CC4E-A25E-F4FEFA49BC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87300" y="1774317"/>
            <a:ext cx="3929634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ED0191-963B-1E4C-BEC5-9B42E39514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87300" y="2392251"/>
            <a:ext cx="3929634" cy="1928668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0E0BED-3EB7-BB4A-A556-FA967FB01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A2466A-4D90-174C-B382-AC4674D72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EADE49-8082-214B-9742-5EE8DA2E9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E39200-18D5-014B-BAB8-FF5D0BA15E0C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829375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close up of a logo&#10;&#10;AI-generated content may be incorrect.">
            <a:extLst>
              <a:ext uri="{FF2B5EF4-FFF2-40B4-BE49-F238E27FC236}">
                <a16:creationId xmlns:a16="http://schemas.microsoft.com/office/drawing/2014/main" id="{A284F8FC-5CB3-2BD1-2B02-6524583371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67" y="4432667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57425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D7DF52F6-A06E-0343-95B8-DAAC38DB4B8C}"/>
              </a:ext>
            </a:extLst>
          </p:cNvPr>
          <p:cNvGrpSpPr/>
          <p:nvPr/>
        </p:nvGrpSpPr>
        <p:grpSpPr>
          <a:xfrm>
            <a:off x="7717736" y="0"/>
            <a:ext cx="1426265" cy="5143500"/>
            <a:chOff x="10290315" y="0"/>
            <a:chExt cx="1901686" cy="685800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7092C52-7052-0749-9DA0-9374DBF495AE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64E1C2F-81E1-C44D-859C-946596C950F2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3626485-4263-0A44-9561-E278A7056C33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D45AAB5-3CCC-DE4A-A962-3702911B55C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CAFB16F-8EDE-D44F-A51E-34EDC41E7404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CD51329-732C-BB4C-98E5-715BAF9F8853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92B5D44-BC55-AF4C-984D-C8231B22F80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A1E9E2-564E-7049-A22F-BB5B876BA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359D05-C08D-7747-B2FC-3F62B335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FF615-BB08-A844-B689-BAA7C5040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3A67D-F96F-4849-8C83-49CC3A653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CFAAB9-2B6B-8D4C-A748-433E2C393EA6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829375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AI-generated content may be incorrect.">
            <a:extLst>
              <a:ext uri="{FF2B5EF4-FFF2-40B4-BE49-F238E27FC236}">
                <a16:creationId xmlns:a16="http://schemas.microsoft.com/office/drawing/2014/main" id="{46350139-760A-2B49-EEAB-39A916ACA3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67" y="4432667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72668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BCA70-D63D-40F6-B9B3-4E49B96E2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F12559-BD91-4904-A24A-0CF0A2324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58BB7-74A5-4A6F-A0FF-021E68F02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Picture 1" descr="A close up of a logo&#10;&#10;AI-generated content may be incorrect.">
            <a:extLst>
              <a:ext uri="{FF2B5EF4-FFF2-40B4-BE49-F238E27FC236}">
                <a16:creationId xmlns:a16="http://schemas.microsoft.com/office/drawing/2014/main" id="{182C52E2-8AF9-D7F6-D5D6-D023C913EA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67" y="4432667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66391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D0914A35-7AAF-4B42-9C68-47A633EFD9D0}"/>
              </a:ext>
            </a:extLst>
          </p:cNvPr>
          <p:cNvGrpSpPr/>
          <p:nvPr/>
        </p:nvGrpSpPr>
        <p:grpSpPr>
          <a:xfrm>
            <a:off x="7717736" y="0"/>
            <a:ext cx="1426265" cy="5143500"/>
            <a:chOff x="10290315" y="0"/>
            <a:chExt cx="1901686" cy="6858000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ABCED79-0E70-FB4D-ABF2-D859BF5556E4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364885D-A3A4-5144-AB4E-7624F27287E6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22073D5-CC72-0549-BD26-F7AF9851BE45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827A049-C9FD-554E-9B01-F151B0D9E86B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6832559-4D18-8744-AB91-9FCFAB732477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BF97A623-E5DC-1B44-B687-8643B9F0D741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637BBE1-2C82-4E45-B5C5-35E07B05E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63" y="573730"/>
            <a:ext cx="2707487" cy="1046282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01F2E-A734-364B-8A7D-990D6B889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8624" y="578167"/>
            <a:ext cx="4584388" cy="3600428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2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7CBAD9-5515-1748-8E77-F48160F4E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3863" y="1620012"/>
            <a:ext cx="2707487" cy="2781729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6C22B-80D4-AA42-9999-401E37B46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55DE4-33E8-7F4B-9334-95EA6084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70FA5-21EE-D742-8F01-C1BAE0FDB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F966AA-D7DF-F84D-80D4-E216A641B005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829375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915080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210D391A-F01E-4947-8A01-95438AA0B323}"/>
              </a:ext>
            </a:extLst>
          </p:cNvPr>
          <p:cNvGrpSpPr/>
          <p:nvPr/>
        </p:nvGrpSpPr>
        <p:grpSpPr>
          <a:xfrm>
            <a:off x="7717736" y="0"/>
            <a:ext cx="1426265" cy="5143500"/>
            <a:chOff x="10290315" y="0"/>
            <a:chExt cx="1901686" cy="685800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D499306-B4E0-064D-8F6C-96E9C4BD04DA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F3D0241-0A21-8047-8CE3-B3FDD5FDF71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3083F97-6891-0447-957C-AB0834B826D2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2EF7D75-E7C1-5147-A03B-3EC641CF3B0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6D7CA94-94B4-C140-8C68-01C0ADFA1C7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11CD629-C318-A848-BDDE-BBA9465EBF9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A5AC1F8-1370-E946-977E-E4CFC6947BA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4CEE63B-B967-0A48-9623-220376760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63" y="578167"/>
            <a:ext cx="2707487" cy="1041845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11F680-28C8-FA44-9CD5-20709DA02E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917879" y="668113"/>
            <a:ext cx="4545102" cy="3652808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D507CD-197E-BB4C-83A6-DA3FC97A2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3863" y="1620013"/>
            <a:ext cx="2707487" cy="270090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9E00AC-DF6C-D548-8A06-D6269BDB0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D113B-57D4-9A4F-BFE0-2A3963B42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D9954-FA18-8948-AA52-21CED0594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3EB25D-2379-5040-B990-1C99B0B7D931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829375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066384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7ED46EE4-CE67-DD46-A751-9FEA049A22B8}"/>
              </a:ext>
            </a:extLst>
          </p:cNvPr>
          <p:cNvGrpSpPr/>
          <p:nvPr/>
        </p:nvGrpSpPr>
        <p:grpSpPr>
          <a:xfrm>
            <a:off x="6696396" y="0"/>
            <a:ext cx="2447604" cy="51435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55C5B70-D34F-8A49-B220-808CE2BBB7F3}"/>
                </a:ext>
              </a:extLst>
            </p:cNvPr>
            <p:cNvSpPr/>
            <p:nvPr/>
          </p:nvSpPr>
          <p:spPr>
            <a:xfrm>
              <a:off x="8928528" y="491812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BBFE624-6DBD-8541-B43B-180C0AFA21F0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E01AC23-2120-A542-B140-5A29AA27A2C8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54689C0-9C35-9B4D-906B-DA287DA55A38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96570F0-11E0-6147-9053-E3A4B5DBA0E4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BDD97F6-A366-B54A-B889-42E97AFEDE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8E853BC-EE80-374B-B823-8D51A948C4CF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B5B70B1-649D-9848-B5D4-6DE04D55F5F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46A2092A-2157-0A49-937F-BBAE14687DE7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092371E-D526-AF43-816F-F7AEBA9FF16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06995714-B51E-E84A-9FD5-3AD33004E517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0FDB0CC5-76AA-6E44-8376-4EE649C1DE42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3D981F0B-8982-1C45-8D7C-30E744003823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76EEB7-1E87-0447-8CD6-DD220CF4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AE526-3A03-9B41-8C9F-27156E701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08D72-182D-C947-B3F7-B74948D08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6E396-D059-AF4D-A1D9-C1347978A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845B6-87C0-2F4A-8146-00E911CDF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14860" y="4605814"/>
            <a:ext cx="610362" cy="273844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8A912D-4325-C449-BF2E-F331A221C695}"/>
              </a:ext>
            </a:extLst>
          </p:cNvPr>
          <p:cNvCxnSpPr>
            <a:cxnSpLocks/>
          </p:cNvCxnSpPr>
          <p:nvPr/>
        </p:nvCxnSpPr>
        <p:spPr>
          <a:xfrm>
            <a:off x="423862" y="4565333"/>
            <a:ext cx="550136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619736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C3803ECC-8207-244B-8051-94AA5304EDD9}"/>
              </a:ext>
            </a:extLst>
          </p:cNvPr>
          <p:cNvGrpSpPr/>
          <p:nvPr/>
        </p:nvGrpSpPr>
        <p:grpSpPr>
          <a:xfrm>
            <a:off x="7717736" y="0"/>
            <a:ext cx="1426265" cy="5143500"/>
            <a:chOff x="10290315" y="0"/>
            <a:chExt cx="1901686" cy="6858000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F2E8536-821C-3846-A152-2001B7BA4BC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7A02781-FFB4-C04E-97FB-78D26A9E8F1C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4C29607-37D2-7A4B-98E2-2C851CD6776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12FC7BA-80CC-1C4E-B268-B3EEA08137F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EBC8FB1-96B9-D84A-BD2A-BC8410EBE012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A8455B4-A778-B44D-A7E8-C45A4846D9F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407CCA-80EF-2B45-8F8C-7D5796A61B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12572" y="732472"/>
            <a:ext cx="1701380" cy="358844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A221C3-F2D3-FC4F-938B-4C4CAC737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23863" y="732472"/>
            <a:ext cx="6198043" cy="35884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61B46-3E9A-AC48-8C84-5B46EA1EC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F8F49-5859-714C-8EE1-61A74F324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B6F69-3FFA-D94F-BA99-873D36F7F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31B40EC-87DB-A64F-9D4B-98A86F7CEFFF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829375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120016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1062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0D98E2-86CE-4D4F-9F8F-17C83D19A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63" y="578168"/>
            <a:ext cx="5501876" cy="951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4B4F2-48A4-A140-B59B-7A2ED9FD4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3863" y="1620012"/>
            <a:ext cx="5501876" cy="27009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F4A7E-D5FF-BF48-8E01-8F46150ABF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5196" y="342900"/>
            <a:ext cx="27061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A5B0A250-5CC0-1746-B209-08E8B0DAE6AF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31757-5039-BF46-B47A-50DA8FFBC0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3863" y="4605814"/>
            <a:ext cx="27061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3FD16-4337-B940-905E-D20A26FD48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07259" y="4605814"/>
            <a:ext cx="61036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A blue and orange lines&#10;&#10;AI-generated content may be incorrect.">
            <a:extLst>
              <a:ext uri="{FF2B5EF4-FFF2-40B4-BE49-F238E27FC236}">
                <a16:creationId xmlns:a16="http://schemas.microsoft.com/office/drawing/2014/main" id="{407ADEAA-D293-11D4-D232-94A9670F5F3C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199"/>
          <a:stretch>
            <a:fillRect/>
          </a:stretch>
        </p:blipFill>
        <p:spPr>
          <a:xfrm rot="5400000">
            <a:off x="4282916" y="282417"/>
            <a:ext cx="578168" cy="9144000"/>
          </a:xfrm>
          <a:prstGeom prst="rect">
            <a:avLst/>
          </a:prstGeom>
        </p:spPr>
      </p:pic>
      <p:pic>
        <p:nvPicPr>
          <p:cNvPr id="8" name="Picture 7" descr="A close up of a logo&#10;&#10;AI-generated content may be incorrect.">
            <a:extLst>
              <a:ext uri="{FF2B5EF4-FFF2-40B4-BE49-F238E27FC236}">
                <a16:creationId xmlns:a16="http://schemas.microsoft.com/office/drawing/2014/main" id="{6F17F46A-CF5D-E346-3413-D0FA36157974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6322" y="403860"/>
            <a:ext cx="850588" cy="61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057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hf sldNum="0"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3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675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675"/>
        </a:spcBef>
        <a:buFont typeface="Arial" panose="020B0604020202020204" pitchFamily="34" charset="0"/>
        <a:buChar char="•"/>
        <a:defRPr sz="15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675"/>
        </a:spcBef>
        <a:buFont typeface="Arial" panose="020B0604020202020204" pitchFamily="34" charset="0"/>
        <a:buChar char="•"/>
        <a:defRPr sz="135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675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675"/>
        </a:spcBef>
        <a:buFont typeface="Arial" panose="020B0604020202020204" pitchFamily="34" charset="0"/>
        <a:buChar char="•"/>
        <a:defRPr sz="105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5400" dirty="0">
              <a:solidFill>
                <a:schemeClr val="accent3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&amp; Image Segmentation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3200" dirty="0">
              <a:solidFill>
                <a:schemeClr val="accent3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solidFill>
            <a:srgbClr val="FFC000"/>
          </a:solidFill>
          <a:ln w="12700">
            <a:noFill/>
            <a:prstDash val="solid"/>
          </a:ln>
        </p:spPr>
        <p:txBody>
          <a:bodyPr/>
          <a:lstStyle/>
          <a:p>
            <a:endParaRPr lang="en-NG" dirty="0"/>
          </a:p>
        </p:txBody>
      </p:sp>
      <p:sp>
        <p:nvSpPr>
          <p:cNvPr id="4" name="Text 2"/>
          <p:cNvSpPr/>
          <p:nvPr/>
        </p:nvSpPr>
        <p:spPr>
          <a:xfrm>
            <a:off x="914400" y="868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560320" y="868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Results Discussion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7680960" cy="640080"/>
          </a:xfrm>
          <a:prstGeom prst="rect">
            <a:avLst/>
          </a:prstGeom>
          <a:solidFill>
            <a:srgbClr val="FFC000"/>
          </a:solidFill>
          <a:ln w="12700">
            <a:noFill/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914400" y="1645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60320" y="1645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(YOLO, R-CNN)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2286000"/>
            <a:ext cx="7680960" cy="640080"/>
          </a:xfrm>
          <a:prstGeom prst="rect">
            <a:avLst/>
          </a:prstGeom>
          <a:solidFill>
            <a:srgbClr val="FFC000"/>
          </a:solidFill>
          <a:ln w="12700">
            <a:noFill/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/>
          <p:nvPr/>
        </p:nvSpPr>
        <p:spPr>
          <a:xfrm>
            <a:off x="914400" y="24231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60320" y="2423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Segmentation (U-Net, Mask R-CNN)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3063240"/>
            <a:ext cx="7680960" cy="640080"/>
          </a:xfrm>
          <a:prstGeom prst="rect">
            <a:avLst/>
          </a:prstGeom>
          <a:solidFill>
            <a:srgbClr val="FFC000"/>
          </a:solidFill>
          <a:ln w="12700">
            <a:noFill/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Text 11"/>
          <p:cNvSpPr/>
          <p:nvPr/>
        </p:nvSpPr>
        <p:spPr>
          <a:xfrm>
            <a:off x="914400" y="3200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60320" y="3200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Transformers (ViT)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3840480"/>
            <a:ext cx="7680960" cy="640080"/>
          </a:xfrm>
          <a:prstGeom prst="rect">
            <a:avLst/>
          </a:prstGeom>
          <a:solidFill>
            <a:srgbClr val="FFC000"/>
          </a:solidFill>
          <a:ln w="12700">
            <a:noFill/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6" name="Text 14"/>
          <p:cNvSpPr/>
          <p:nvPr/>
        </p:nvSpPr>
        <p:spPr>
          <a:xfrm>
            <a:off x="914400" y="3977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60320" y="3977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&amp; Assignment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Results</a:t>
            </a:r>
            <a:endParaRPr lang="en-US" sz="4800" dirty="0">
              <a:solidFill>
                <a:schemeClr val="accent3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Sharing Improvements &amp; Best Practices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</a:t>
            </a:r>
            <a:endParaRPr lang="en-US" sz="5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Object Detection?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783080"/>
            <a:ext cx="7680960" cy="1371600"/>
          </a:xfrm>
          <a:prstGeom prst="rect">
            <a:avLst/>
          </a:prstGeom>
          <a:solidFill>
            <a:srgbClr val="FFC000"/>
          </a:solidFill>
          <a:ln w="25400">
            <a:noFill/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1097280" y="205740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enables systems to identify and locate multiple objects within an image, providing both classification (what) and localization (where) for each detected object.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YOLO: You Only Look Once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7680960" cy="1097280"/>
          </a:xfrm>
          <a:prstGeom prst="rect">
            <a:avLst/>
          </a:prstGeom>
          <a:solidFill>
            <a:schemeClr val="accent3"/>
          </a:solidFill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1097280" y="155448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only look once at an image to predict what objects are present and where they are\n- Joseph Redmon et al., 2015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How YOLO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685800"/>
            <a:ext cx="7680960" cy="868680"/>
          </a:xfrm>
          <a:prstGeom prst="rect">
            <a:avLst/>
          </a:prstGeom>
          <a:solidFill>
            <a:srgbClr val="FFC000"/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914400" y="960120"/>
            <a:ext cx="548640" cy="365760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645920" y="868680"/>
            <a:ext cx="2743200" cy="320040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Division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45920" y="1188720"/>
            <a:ext cx="6400800" cy="274320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image into S×S grid (e.g., 7×7)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7680960" cy="868680"/>
          </a:xfrm>
          <a:prstGeom prst="rect">
            <a:avLst/>
          </a:prstGeom>
          <a:solidFill>
            <a:srgbClr val="FFC000"/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914400" y="1920240"/>
            <a:ext cx="548640" cy="365760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45920" y="1828800"/>
            <a:ext cx="2743200" cy="320040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 Prediction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45920" y="2148840"/>
            <a:ext cx="6400800" cy="274320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grid cell predicts B boxes + confidence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606040"/>
            <a:ext cx="7680960" cy="868680"/>
          </a:xfrm>
          <a:prstGeom prst="rect">
            <a:avLst/>
          </a:prstGeom>
          <a:solidFill>
            <a:srgbClr val="FFC000"/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/>
          <p:nvPr/>
        </p:nvSpPr>
        <p:spPr>
          <a:xfrm>
            <a:off x="914400" y="2880360"/>
            <a:ext cx="548640" cy="365760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45920" y="2788920"/>
            <a:ext cx="2743200" cy="320040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Prediction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45920" y="3108960"/>
            <a:ext cx="6400800" cy="274320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cell predicts class probabilities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566160"/>
            <a:ext cx="7680960" cy="868680"/>
          </a:xfrm>
          <a:prstGeom prst="rect">
            <a:avLst/>
          </a:prstGeom>
          <a:solidFill>
            <a:srgbClr val="FFC000"/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6" name="Text 14"/>
          <p:cNvSpPr/>
          <p:nvPr/>
        </p:nvSpPr>
        <p:spPr>
          <a:xfrm>
            <a:off x="914400" y="3840480"/>
            <a:ext cx="548640" cy="365760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45920" y="3749040"/>
            <a:ext cx="2743200" cy="320040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Prediction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45920" y="4069080"/>
            <a:ext cx="6400800" cy="274320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predictions &amp; apply NMS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 over Union (IoU)</a:t>
            </a:r>
            <a:endParaRPr lang="en-US" sz="3200" dirty="0">
              <a:solidFill>
                <a:srgbClr val="FFC000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7680960" cy="914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1097280" y="15544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measures the overlap between predicted and ground truth bounding boxes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0" y="27432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= Area of Intersection / Area of Union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Non-Maximum Suppression (NMS)</a:t>
            </a:r>
            <a:endParaRPr lang="en-US" sz="3200" dirty="0">
              <a:solidFill>
                <a:schemeClr val="accent3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097280" y="155448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NMS eliminates duplicate detections by keeping only the highest confidence box among overlapping boxes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R-CNN Family</a:t>
            </a:r>
            <a:endParaRPr lang="en-US" sz="3200" dirty="0">
              <a:solidFill>
                <a:schemeClr val="accent3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7680960" cy="731520"/>
          </a:xfrm>
          <a:prstGeom prst="rect">
            <a:avLst/>
          </a:prstGeom>
          <a:solidFill>
            <a:srgbClr val="FFC000"/>
          </a:solidFill>
          <a:ln w="25400">
            <a:noFill/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914400" y="1965960"/>
            <a:ext cx="2286000" cy="3657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R-CNN (2014)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474720" y="1965960"/>
            <a:ext cx="3200400" cy="3657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Search → CNN → SVM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2057400"/>
            <a:ext cx="1371600" cy="2743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sec/image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solidFill>
            <a:srgbClr val="FFC000"/>
          </a:solidFill>
          <a:ln w="25400">
            <a:noFill/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914400" y="2880360"/>
            <a:ext cx="2286000" cy="3657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R-CNN (2015)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74720" y="2880360"/>
            <a:ext cx="3200400" cy="3657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→ RoI Pooling → Classification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0" y="2971800"/>
            <a:ext cx="1371600" cy="2743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sec/image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657600"/>
            <a:ext cx="7680960" cy="731520"/>
          </a:xfrm>
          <a:prstGeom prst="rect">
            <a:avLst/>
          </a:prstGeom>
          <a:solidFill>
            <a:srgbClr val="FFC000"/>
          </a:solidFill>
          <a:ln w="25400">
            <a:noFill/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/>
          <p:nvPr/>
        </p:nvSpPr>
        <p:spPr>
          <a:xfrm>
            <a:off x="914400" y="3794760"/>
            <a:ext cx="2286000" cy="3657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R-CNN (2016)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4720" y="3794760"/>
            <a:ext cx="3200400" cy="3657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→ RPN → Classification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0" y="3886200"/>
            <a:ext cx="1371600" cy="2743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~0.2 sec/image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Image Segmentation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Pixel-Level Understanding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Image Segmentation?</a:t>
            </a:r>
            <a:endParaRPr lang="en-US" sz="3200" dirty="0">
              <a:solidFill>
                <a:schemeClr val="accent3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7680960" cy="914400"/>
          </a:xfrm>
          <a:prstGeom prst="rect">
            <a:avLst/>
          </a:prstGeom>
          <a:solidFill>
            <a:srgbClr val="FFC000"/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1097280" y="1508760"/>
            <a:ext cx="6949440" cy="548640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segmentation partitions an image into segments, assigning a label to every pixel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vs Instance Segmentation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3657600" cy="2895600"/>
          </a:xfrm>
          <a:prstGeom prst="rect">
            <a:avLst/>
          </a:prstGeom>
          <a:solidFill>
            <a:srgbClr val="F2F2F2"/>
          </a:solidFill>
          <a:ln w="381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Segmentation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219456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Classifies each pixel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Same class = same label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instance distinction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371600"/>
            <a:ext cx="3657600" cy="2895600"/>
          </a:xfrm>
          <a:prstGeom prst="rect">
            <a:avLst/>
          </a:prstGeom>
          <a:solidFill>
            <a:srgbClr val="FFC000"/>
          </a:solidFill>
          <a:ln w="381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493776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Segmentation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219456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Identifies individuals</a:t>
            </a:r>
          </a:p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Same class = different labels</a:t>
            </a:r>
          </a:p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Separates each instance</a:t>
            </a:r>
            <a:endParaRPr lang="en-US" sz="13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Architecture</a:t>
            </a:r>
            <a:endParaRPr lang="en-US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92A9B6-F6C4-75C0-42E3-2D00BF76AA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520" y="1170622"/>
            <a:ext cx="5775960" cy="324897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5740"/>
            <a:ext cx="8229600" cy="64008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Architecture Components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solidFill>
            <a:srgbClr val="FFC000"/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914400" y="1234440"/>
            <a:ext cx="2743200" cy="365760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40480" y="1234440"/>
            <a:ext cx="4389120" cy="365760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features &amp; reduces dimensions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965960"/>
            <a:ext cx="7680960" cy="731520"/>
          </a:xfrm>
          <a:prstGeom prst="rect">
            <a:avLst/>
          </a:prstGeom>
          <a:solidFill>
            <a:srgbClr val="FFC000"/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2743200" cy="365760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40480" y="2103120"/>
            <a:ext cx="4389120" cy="365760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Deepest layer with abstract features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834640"/>
            <a:ext cx="7680960" cy="731520"/>
          </a:xfrm>
          <a:prstGeom prst="rect">
            <a:avLst/>
          </a:prstGeom>
          <a:solidFill>
            <a:srgbClr val="FFC000"/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/>
          <p:nvPr/>
        </p:nvSpPr>
        <p:spPr>
          <a:xfrm>
            <a:off x="914400" y="2971800"/>
            <a:ext cx="2743200" cy="365760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40480" y="2971800"/>
            <a:ext cx="4389120" cy="365760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Upsamples &amp; reconstructs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03320"/>
            <a:ext cx="7680960" cy="731520"/>
          </a:xfrm>
          <a:prstGeom prst="rect">
            <a:avLst/>
          </a:prstGeom>
          <a:solidFill>
            <a:srgbClr val="FFC000"/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Text 11"/>
          <p:cNvSpPr/>
          <p:nvPr/>
        </p:nvSpPr>
        <p:spPr>
          <a:xfrm>
            <a:off x="914400" y="3840480"/>
            <a:ext cx="2743200" cy="365760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40480" y="3840480"/>
            <a:ext cx="4389120" cy="365760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spatial information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R-CNN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226820" y="38938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Faster R-CNN by adding a mask prediction branch for Instance Segmentation</a:t>
            </a:r>
            <a:endParaRPr lang="en-US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01EA82-B2AF-2FE2-0F82-C679449F11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779" y="1294175"/>
            <a:ext cx="5976825" cy="26682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Applications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Medical Imaging: Tumor segmentation, organ delineation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2423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Autonomous Driving: Road &amp; lane detection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Agriculture: Crop monitoring, disease detection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611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Satellite Imagery: Land cover mapping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Meet Computer Vision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 (ViT)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3802380"/>
            <a:ext cx="7680960" cy="685800"/>
          </a:xfrm>
          <a:prstGeom prst="rect">
            <a:avLst/>
          </a:prstGeom>
          <a:solidFill>
            <a:srgbClr val="FFC000"/>
          </a:solidFill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1249680" y="377952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Image is Worth 16x16 Words: Transformers for Image Recognition at Scale </a:t>
            </a:r>
            <a:r>
              <a:rPr lang="en-US" sz="15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Dosovitskiy</a:t>
            </a: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al., 2020</a:t>
            </a:r>
            <a:endParaRPr lang="en-US" sz="15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D5A8D2-9E75-1869-A0E3-DF131497CC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1608" y="678180"/>
            <a:ext cx="5357872" cy="310083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Vision Transformers Work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0140" y="1371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Patch Embedding: Split image into patches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20140" y="1965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Linear Projection: Flatten &amp; project patches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20140" y="2560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Position Encoding: Add positional info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20140" y="3154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Transformer Encoder: Self-attention layers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20140" y="3749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Classification Head: Final prediction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8590"/>
            <a:ext cx="8229600" cy="640080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Transformers vs CNNs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71550"/>
            <a:ext cx="3657600" cy="3200400"/>
          </a:xfrm>
          <a:prstGeom prst="rect">
            <a:avLst/>
          </a:prstGeom>
          <a:solidFill>
            <a:srgbClr val="FFC000"/>
          </a:solidFill>
          <a:ln w="381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640080" y="115443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179451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Locality bias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Translation equivariance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Efficient with small data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Hierarchical features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80560" y="971550"/>
            <a:ext cx="3657600" cy="3200400"/>
          </a:xfrm>
          <a:prstGeom prst="rect">
            <a:avLst/>
          </a:prstGeom>
          <a:solidFill>
            <a:schemeClr val="accent3"/>
          </a:solidFill>
          <a:ln w="381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4663440" y="115443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663440" y="179451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Global attention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Less inductive bias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Scales with data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Long-range dependencies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Vision Transformers</a:t>
            </a:r>
            <a:endParaRPr lang="en-US" sz="3200" dirty="0">
              <a:solidFill>
                <a:schemeClr val="accent3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ViT: Large datasets, transfer learning, global context important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CNNs: Limited data, real-time inference, edge deployment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C000"/>
                </a:solidFill>
                <a:highlight>
                  <a:srgbClr val="0000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Comparison</a:t>
            </a:r>
            <a:endParaRPr lang="en-US" sz="3200" dirty="0">
              <a:solidFill>
                <a:srgbClr val="FFC000"/>
              </a:solidFill>
              <a:highlight>
                <a:srgbClr val="000000"/>
              </a:highlight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290828"/>
            <a:ext cx="768096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731520" y="140055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0" y="140055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FPS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0" y="140055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26480" y="140055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detection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912620"/>
            <a:ext cx="768096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Text 7"/>
          <p:cNvSpPr/>
          <p:nvPr/>
        </p:nvSpPr>
        <p:spPr>
          <a:xfrm>
            <a:off x="731520" y="20223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R-CNN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0" y="202234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5-7 FPS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20223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26480" y="20223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534412"/>
            <a:ext cx="768096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4" name="Text 12"/>
          <p:cNvSpPr/>
          <p:nvPr/>
        </p:nvSpPr>
        <p:spPr>
          <a:xfrm>
            <a:off x="731520" y="26441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0" y="26441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15-30 FPS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26441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0" y="26441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segmentation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156204"/>
            <a:ext cx="768096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9" name="Text 17"/>
          <p:cNvSpPr/>
          <p:nvPr/>
        </p:nvSpPr>
        <p:spPr>
          <a:xfrm>
            <a:off x="731520" y="32659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R-CNN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0" y="326593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FPS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0" y="32659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26480" y="32659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segmentation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777996"/>
            <a:ext cx="768096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4" name="Text 22"/>
          <p:cNvSpPr/>
          <p:nvPr/>
        </p:nvSpPr>
        <p:spPr>
          <a:xfrm>
            <a:off x="731520" y="388772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743200" y="388772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30-50 FPS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0" y="388772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26480" y="388772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C000"/>
                </a:solidFill>
                <a:highlight>
                  <a:srgbClr val="0000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Takeaways: Object Detection</a:t>
            </a:r>
            <a:endParaRPr lang="en-US" sz="3200" dirty="0">
              <a:solidFill>
                <a:srgbClr val="FFC000"/>
              </a:solidFill>
              <a:highlight>
                <a:srgbClr val="000000"/>
              </a:highlight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112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Object detection = Classification + Localization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61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IoU and NMS are essential post-processing steps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209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YOLO revolutionized real-time detection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758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mAP is the standard evaluation metric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307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Choose based on speed vs accuracy needs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C000"/>
                </a:solidFill>
                <a:highlight>
                  <a:srgbClr val="0000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Takeaways: Segmentation</a:t>
            </a:r>
            <a:endParaRPr lang="en-US" sz="3200" dirty="0">
              <a:solidFill>
                <a:srgbClr val="FFC000"/>
              </a:solidFill>
              <a:highlight>
                <a:srgbClr val="000000"/>
              </a:highlight>
            </a:endParaRPr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Segmentation provides pixel-level understanding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Semantic vs Instance: pixels vs objects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U-Net's skip connections preserve details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Mask R-CNN extends detection to segmentation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Critical for medical &amp; autonomous driving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C000"/>
                </a:solidFill>
                <a:highlight>
                  <a:srgbClr val="0000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Takeaways: Vision Transformers</a:t>
            </a:r>
            <a:endParaRPr lang="en-US" sz="3200" dirty="0">
              <a:solidFill>
                <a:srgbClr val="FFC000"/>
              </a:solidFill>
              <a:highlight>
                <a:srgbClr val="000000"/>
              </a:highlight>
            </a:endParaRPr>
          </a:p>
        </p:txBody>
      </p:sp>
      <p:sp>
        <p:nvSpPr>
          <p:cNvPr id="3" name="Text 1"/>
          <p:cNvSpPr/>
          <p:nvPr/>
        </p:nvSpPr>
        <p:spPr>
          <a:xfrm>
            <a:off x="61722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ViT applies Transformers to images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17220" y="1920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Image patches as sequence tokens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1722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Global attention from first layer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1722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Requires large datasets or pretraining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722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State-of-the-art on many benchmarks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C000"/>
                </a:solidFill>
                <a:highlight>
                  <a:srgbClr val="0000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References</a:t>
            </a:r>
            <a:endParaRPr lang="en-US" sz="3200" dirty="0">
              <a:solidFill>
                <a:srgbClr val="FFC000"/>
              </a:solidFill>
              <a:highlight>
                <a:srgbClr val="000000"/>
              </a:highlight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Papers: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YOLO (Redmon et al., 2015)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2128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Faster R-CNN (Ren et al., 2015)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59689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U-Net (Ronneberger et al., 2015)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98094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Mask R-CNN (He et al., 2017)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36499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ViT (Dosovitskiy et al., 2020)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Activities</a:t>
            </a:r>
            <a:endParaRPr lang="en-US" sz="4800" dirty="0">
              <a:solidFill>
                <a:srgbClr val="FFC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828800" y="301752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ctr">
              <a:buAutoNum type="arabicPeriod"/>
            </a:pPr>
            <a:r>
              <a:rPr lang="en-US" sz="18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demo</a:t>
            </a:r>
            <a:endParaRPr lang="en-US" dirty="0">
              <a:solidFill>
                <a:srgbClr val="FFC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8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Segmentation practice</a:t>
            </a:r>
            <a:endParaRPr lang="en-US" dirty="0">
              <a:solidFill>
                <a:srgbClr val="FFC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8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ViT exploration</a:t>
            </a:r>
            <a:endParaRPr lang="en-US" sz="1800" dirty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44880" y="1645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1. Refine your CV project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44880" y="21031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2. Explore detection/segmentation if applicable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4880" y="25603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3. Experiment with pretrained models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44880" y="3017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4. Document methodology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44880" y="34747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5. Prepare for MLOps session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discuss!</a:t>
            </a:r>
            <a:endParaRPr lang="en-US" sz="2400" dirty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5715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Keep Learning, Keep Building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4SID theme">
  <a:themeElements>
    <a:clrScheme name="Punchcard">
      <a:dk1>
        <a:srgbClr val="000000"/>
      </a:dk1>
      <a:lt1>
        <a:srgbClr val="FFFFFF"/>
      </a:lt1>
      <a:dk2>
        <a:srgbClr val="00224B"/>
      </a:dk2>
      <a:lt2>
        <a:srgbClr val="EFF0EF"/>
      </a:lt2>
      <a:accent1>
        <a:srgbClr val="00B2F3"/>
      </a:accent1>
      <a:accent2>
        <a:srgbClr val="0471CC"/>
      </a:accent2>
      <a:accent3>
        <a:srgbClr val="14BBA9"/>
      </a:accent3>
      <a:accent4>
        <a:srgbClr val="8BB93B"/>
      </a:accent4>
      <a:accent5>
        <a:srgbClr val="EC970C"/>
      </a:accent5>
      <a:accent6>
        <a:srgbClr val="F55822"/>
      </a:accent6>
      <a:hlink>
        <a:srgbClr val="008EE6"/>
      </a:hlink>
      <a:folHlink>
        <a:srgbClr val="808C8E"/>
      </a:folHlink>
    </a:clrScheme>
    <a:fontScheme name="Punchcard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I4SID theme" id="{B984A8E7-233D-4992-8743-41EAFFF94261}" vid="{D8C495CA-6F99-401E-AE3B-AE8955379D7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AI4SID theme</Template>
  <TotalTime>37</TotalTime>
  <Words>820</Words>
  <Application>Microsoft Office PowerPoint</Application>
  <PresentationFormat>On-screen Show (16:9)</PresentationFormat>
  <Paragraphs>193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Neue Haas Grotesk Text Pro</vt:lpstr>
      <vt:lpstr>AI4SID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CV Training Program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Vision Day 3: Object Detection &amp; Image Segmentation</dc:title>
  <dc:subject>Object Detection &amp; Image Segmentation</dc:subject>
  <dc:creator>Computer Vision Accelerator Program</dc:creator>
  <cp:lastModifiedBy>Uthman Abdulrahman</cp:lastModifiedBy>
  <cp:revision>3</cp:revision>
  <dcterms:created xsi:type="dcterms:W3CDTF">2026-02-03T07:02:02Z</dcterms:created>
  <dcterms:modified xsi:type="dcterms:W3CDTF">2026-02-04T10:52:41Z</dcterms:modified>
</cp:coreProperties>
</file>