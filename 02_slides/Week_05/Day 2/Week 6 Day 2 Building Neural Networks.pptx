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92" r:id="rId20"/>
    <p:sldId id="274" r:id="rId21"/>
    <p:sldId id="275" r:id="rId22"/>
    <p:sldId id="293" r:id="rId23"/>
    <p:sldId id="276" r:id="rId24"/>
    <p:sldId id="294" r:id="rId25"/>
    <p:sldId id="277" r:id="rId26"/>
    <p:sldId id="295" r:id="rId27"/>
    <p:sldId id="278" r:id="rId28"/>
    <p:sldId id="279" r:id="rId29"/>
    <p:sldId id="280" r:id="rId30"/>
    <p:sldId id="281" r:id="rId31"/>
    <p:sldId id="282" r:id="rId32"/>
    <p:sldId id="296" r:id="rId33"/>
    <p:sldId id="283" r:id="rId34"/>
    <p:sldId id="297" r:id="rId35"/>
    <p:sldId id="284" r:id="rId36"/>
    <p:sldId id="285" r:id="rId37"/>
    <p:sldId id="298" r:id="rId38"/>
    <p:sldId id="286" r:id="rId39"/>
    <p:sldId id="299" r:id="rId40"/>
    <p:sldId id="287" r:id="rId41"/>
    <p:sldId id="300" r:id="rId42"/>
    <p:sldId id="288" r:id="rId43"/>
    <p:sldId id="301" r:id="rId44"/>
    <p:sldId id="289" r:id="rId45"/>
    <p:sldId id="290" r:id="rId4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1" autoAdjust="0"/>
  </p:normalViewPr>
  <p:slideViewPr>
    <p:cSldViewPr snapToGrid="0" snapToObjects="1">
      <p:cViewPr>
        <p:scale>
          <a:sx n="66" d="100"/>
          <a:sy n="66" d="100"/>
        </p:scale>
        <p:origin x="12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27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/>
                </a:solidFill>
              </a:rPr>
              <a:t>Key Insight: Non-linearity transforms the network from a simple linear regression model into a powerful function approximator capable of solving complex tasks.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C82333"/>
                </a:solidFill>
              </a:rPr>
              <a:t>The Dying </a:t>
            </a:r>
            <a:r>
              <a:rPr lang="en-US" sz="1200" b="1" dirty="0" err="1">
                <a:solidFill>
                  <a:srgbClr val="C82333"/>
                </a:solidFill>
              </a:rPr>
              <a:t>ReLU</a:t>
            </a:r>
            <a:r>
              <a:rPr lang="en-US" sz="1200" b="1" dirty="0">
                <a:solidFill>
                  <a:srgbClr val="C82333"/>
                </a:solidFill>
              </a:rPr>
              <a:t> Problem: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Neurons can get stuck outputting 0 for all inputs if they fall into negative region during training.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</a:rPr>
              <a:t>Golden Rule: Start with </a:t>
            </a:r>
            <a:r>
              <a:rPr lang="en-US" sz="1200" b="1" dirty="0" err="1">
                <a:solidFill>
                  <a:srgbClr val="FFFFFF"/>
                </a:solidFill>
              </a:rPr>
              <a:t>ReLU</a:t>
            </a:r>
            <a:r>
              <a:rPr lang="en-US" sz="1200" b="1" dirty="0">
                <a:solidFill>
                  <a:srgbClr val="FFFFFF"/>
                </a:solidFill>
              </a:rPr>
              <a:t> for hidden layers, adjust only if needed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155724"/>
                </a:solidFill>
              </a:rPr>
              <a:t>• Start simple: 2-3 hidden layers with 64-256 neurons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5724"/>
                </a:solidFill>
              </a:rPr>
              <a:t>• Deeper is often better than wider (for same parameter count)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5724"/>
                </a:solidFill>
              </a:rPr>
              <a:t>• Use funnel architecture: gradually decrease width (e.g., 512 → 256 → 128)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5724"/>
                </a:solidFill>
              </a:rPr>
              <a:t>• Monitor performance: add depth/width only if underfitting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5724"/>
                </a:solidFill>
              </a:rPr>
              <a:t>• Use techniques like batch norm and residual connections for very deep networks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</a:rPr>
              <a:t>Remember: Output layer design is determined by your problem, not by choice!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212121"/>
                </a:solidFill>
              </a:rPr>
              <a:t>Exercise: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• Create networks with Sigmoid, Tanh, </a:t>
            </a:r>
            <a:r>
              <a:rPr lang="en-US" sz="1200" dirty="0" err="1">
                <a:solidFill>
                  <a:srgbClr val="212121"/>
                </a:solidFill>
              </a:rPr>
              <a:t>ReLU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• Compare performance on same dataset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• Visualize activation outputs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• Observe gradient flow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97C7-1365-C93B-625A-0CBF734F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C57D4-ABB7-F74A-F65B-295654DFA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8E48A-791F-D37A-C5BF-8D01F6195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0071D-A26B-6BFA-08DB-B0F841D70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04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29A71-0E35-CE9B-180F-910E2113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FF4B0-2C71-0170-D818-1FDAF0B61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5DD81-D9C3-F9CE-D20B-6AC30352D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C6B35-3ABA-1AAF-1E06-C89F83A70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773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55724"/>
                </a:solidFill>
              </a:rPr>
              <a:t>Recommendation:</a:t>
            </a:r>
            <a:endParaRPr lang="en-US" sz="1200" dirty="0"/>
          </a:p>
          <a:p>
            <a:endParaRPr lang="en-US" dirty="0"/>
          </a:p>
          <a:p>
            <a:r>
              <a:rPr lang="en-US" sz="1200" dirty="0">
                <a:solidFill>
                  <a:srgbClr val="155724"/>
                </a:solidFill>
              </a:rPr>
              <a:t>• Start with Adam (learning rate = 0.001) for most problems</a:t>
            </a:r>
            <a:endParaRPr lang="en-US" sz="1200" dirty="0"/>
          </a:p>
          <a:p>
            <a:r>
              <a:rPr lang="en-US" sz="1200" dirty="0">
                <a:solidFill>
                  <a:srgbClr val="155724"/>
                </a:solidFill>
              </a:rPr>
              <a:t>• Try SGD with momentum if Adam overfits or for final fine-tuning</a:t>
            </a:r>
            <a:endParaRPr lang="en-US" sz="1200" dirty="0"/>
          </a:p>
          <a:p>
            <a:r>
              <a:rPr lang="en-US" sz="1200" dirty="0">
                <a:solidFill>
                  <a:srgbClr val="155724"/>
                </a:solidFill>
              </a:rPr>
              <a:t>• Use RMSprop for RNNs or when gradients are very noisy</a:t>
            </a:r>
            <a:endParaRPr lang="en-US" sz="1200" dirty="0"/>
          </a:p>
          <a:p>
            <a:r>
              <a:rPr lang="en-US" sz="1200" dirty="0">
                <a:solidFill>
                  <a:srgbClr val="155724"/>
                </a:solidFill>
              </a:rPr>
              <a:t>• Always experiment - no single optimizer wins for all problems!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Typical Values:</a:t>
            </a:r>
            <a:endParaRPr lang="en-US" sz="1200" dirty="0"/>
          </a:p>
          <a:p>
            <a:pPr algn="l"/>
            <a:r>
              <a:rPr lang="en-US" sz="1200" b="1" dirty="0">
                <a:solidFill>
                  <a:srgbClr val="FFFFFF"/>
                </a:solidFill>
              </a:rPr>
              <a:t>• Adam: 0.001 (1e-3)  •  SGD: 0.01 to 0.1  •  Experiment with: [0.0001, 0.001, 0.01, 0.1]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</a:rPr>
              <a:t>Typical Setup: Batch size = 32-128, Epochs = 10-100 with early stopping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856404"/>
                </a:solidFill>
              </a:rPr>
              <a:t>Combining Regularization: Use dropout (0.2-0.5) + L2 (λ=0.001) for best results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B776-FA5A-8CE6-7A4C-E26BFA10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9DFD1-D7CA-3CB3-39B2-9B063D0DA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40C38-FF82-8EFA-6FD9-EE7AF048A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36222-E54C-9167-4970-395B7FAE7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758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B3583-4130-0E78-3246-66D809F50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AA66D-95CA-3610-18D3-CFDE4D024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C2401-E3E7-07E6-33FF-D98D42BF3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74A3A-E1E6-8C7E-ABA4-95AD7AE73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588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7FA9-A604-C2BD-8F3D-828DAC9C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1F720-6861-9B9B-ABFC-2DA605ADC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BA212-C9E2-2345-43B9-D5CC943C8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4EAC6-5C25-D0BF-ECBD-BF2517F67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677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7EECB-127C-8454-98C2-16C1CFCC4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381D7-3060-0A9B-D2DF-006666FD3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54180-31D2-87C1-F7FB-8C8F90460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963B9-0F4F-90E8-DA04-6EC542D36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325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E5D3-2615-4494-D402-4192101FB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238FE-160E-6C1B-FB45-7C7C5E454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E8233-63A7-2DEF-710E-19459F3CB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48597-DDD2-55F0-9B03-E2200DDED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394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ED581-4CA3-5FC2-8DE1-A1AECC97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D5498-1D17-95B1-FA5A-83D8EF2B2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51E4C-F463-7963-2A5D-1F709ECB2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0FF7A-C689-2206-C0AF-5545276956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77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2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4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4" y="3212432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5" cy="273844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3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4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8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7951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3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8" y="342900"/>
            <a:ext cx="637941" cy="460594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>
            <a:extLst>
              <a:ext uri="{FF2B5EF4-FFF2-40B4-BE49-F238E27FC236}">
                <a16:creationId xmlns:a16="http://schemas.microsoft.com/office/drawing/2014/main" id="{BB434980-A235-A835-9CA9-3906FF866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350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4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4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3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4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2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8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737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7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7" y="1774319"/>
            <a:ext cx="3929635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9"/>
            <a:ext cx="3929635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8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844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7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7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5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5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8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293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7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8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728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C52E2-8AF9-D7F6-D5D6-D023C913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8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155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7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5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5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5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9694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7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5" y="578169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17879" y="668113"/>
            <a:ext cx="4545103" cy="36528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5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2961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7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3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5853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7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3" y="732474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4" y="732474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5196" y="4620975"/>
            <a:ext cx="2706155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9364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76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4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ue and orange lines&#10;&#10;AI-generated content may be incorrect.">
            <a:extLst>
              <a:ext uri="{FF2B5EF4-FFF2-40B4-BE49-F238E27FC236}">
                <a16:creationId xmlns:a16="http://schemas.microsoft.com/office/drawing/2014/main" id="{256237DF-7683-4BDE-1D9D-192E2CB2168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48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Introduction to Deep Learning</a:t>
            </a:r>
            <a:endParaRPr lang="en-US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dirty="0"/>
              <a:t>Building Neural Networks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Session 2.5 Hours | Activation Functions, Architectures &amp; Optimization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chemeClr val="accent5"/>
                </a:solidFill>
                <a:highlight>
                  <a:srgbClr val="000000"/>
                </a:highlight>
              </a:rPr>
              <a:t>Learning Objectives</a:t>
            </a:r>
            <a:endParaRPr lang="en-US" sz="3600" dirty="0">
              <a:solidFill>
                <a:schemeClr val="accent5"/>
              </a:solidFill>
              <a:highlight>
                <a:srgbClr val="000000"/>
              </a:highlight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41596"/>
            <a:ext cx="134532" cy="120015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731520" y="1268016"/>
            <a:ext cx="640842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212121"/>
                </a:solidFill>
              </a:rPr>
              <a:t>Understand activation functions and their critical roles in neural networks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74031"/>
            <a:ext cx="137160" cy="120015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731520" y="1717596"/>
            <a:ext cx="4732020" cy="374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212121"/>
                </a:solidFill>
              </a:rPr>
              <a:t>Build and train multilayer perceptrons from scratch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4572" y="2238851"/>
            <a:ext cx="137160" cy="137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731520" y="213586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212121"/>
                </a:solidFill>
              </a:rPr>
              <a:t>Apply advanced optimization techniques for better convergence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4572" y="2759571"/>
            <a:ext cx="137160" cy="137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731520" y="266842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212121"/>
                </a:solidFill>
              </a:rPr>
              <a:t>Experiment with network architectures and hyperparameters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43131"/>
            <a:ext cx="137160" cy="137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12" name="Text 10"/>
          <p:cNvSpPr/>
          <p:nvPr/>
        </p:nvSpPr>
        <p:spPr>
          <a:xfrm>
            <a:off x="731520" y="306466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212121"/>
                </a:solidFill>
              </a:rPr>
              <a:t>Debug common training issues and improve model performance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2/35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6203"/>
            <a:ext cx="8229600" cy="344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C000"/>
                </a:solidFill>
                <a:highlight>
                  <a:srgbClr val="000000"/>
                </a:highlight>
              </a:rPr>
              <a:t>Session Structure</a:t>
            </a:r>
            <a:endParaRPr lang="en-US" sz="3200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" name="Shape 1"/>
          <p:cNvSpPr/>
          <p:nvPr/>
        </p:nvSpPr>
        <p:spPr>
          <a:xfrm>
            <a:off x="350520" y="579120"/>
            <a:ext cx="8229600" cy="86868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33400" y="670560"/>
            <a:ext cx="5486400" cy="31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E2761"/>
                </a:solidFill>
              </a:rPr>
              <a:t>First Neural Network Review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082040"/>
            <a:ext cx="7772400" cy="31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Share experiences and common issues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520" y="1596390"/>
            <a:ext cx="8229600" cy="868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33400" y="1687830"/>
            <a:ext cx="5486400" cy="31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E2761"/>
                </a:solidFill>
              </a:rPr>
              <a:t>Activation Functions &amp; Architecture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2099310"/>
            <a:ext cx="7772400" cy="31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Deep dive into activation functions and network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0520" y="2613660"/>
            <a:ext cx="8229600" cy="86868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533400" y="2705100"/>
            <a:ext cx="5486400" cy="31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E2761"/>
                </a:solidFill>
              </a:rPr>
              <a:t>Training Neural Networks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3116580"/>
            <a:ext cx="7772400" cy="31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Optimization algorithms and hyperparameter tuning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0520" y="3589020"/>
            <a:ext cx="8229600" cy="868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533400" y="3680460"/>
            <a:ext cx="5486400" cy="31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E2761"/>
                </a:solidFill>
              </a:rPr>
              <a:t>Wrap-up &amp; Assignment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3400" y="4091940"/>
            <a:ext cx="7772400" cy="31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Summary and next 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3/35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2460" y="15773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/>
              <a:t>First Neural Network Review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143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Common Issues &amp; Debugging</a:t>
            </a:r>
            <a:endParaRPr lang="en-US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760095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Vanishing/Exploding Gradients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43400" y="805815"/>
            <a:ext cx="274320" cy="27432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4709160" y="760095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</a:rPr>
              <a:t>Use ReLU activation, proper weight initialization, batch normalization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21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Poor Convergence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467552"/>
            <a:ext cx="274320" cy="27432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709160" y="14218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</a:rPr>
              <a:t>Adjust learning rate, try different optimizers (Adam vs SGD)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29289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Overfitting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175009"/>
            <a:ext cx="274320" cy="27432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709160" y="212928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</a:rPr>
              <a:t>Add dropout, L2 regularization, get more training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6846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Underfitting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2814186"/>
            <a:ext cx="274320" cy="27432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754880" y="276846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</a:rPr>
              <a:t>Increase model complexity, add more layers or neurons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5172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Training is Too Slow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3597442"/>
            <a:ext cx="274320" cy="27432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4754880" y="355172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</a:rPr>
              <a:t>Batch normalization, better optimizer, GPU acceleration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5/35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973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Activation Functions &amp;</a:t>
            </a:r>
            <a:endParaRPr lang="en-US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5374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Network Architecture</a:t>
            </a:r>
            <a:endParaRPr lang="en-US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/>
              <a:t>Why Activation Functions?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28090"/>
                </a:solidFill>
              </a:rPr>
              <a:t>The Problem with Linear Networks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12121"/>
                </a:solidFill>
              </a:rPr>
              <a:t>Without activation functions, neural networks can only learn linear relationships. No matter how many layers you stack, the network remains equivalent to a single-layer linear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4114800" cy="82296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856404"/>
                </a:solidFill>
              </a:rPr>
              <a:t>Linear Network = Multiple Matrix Multiplications = Single Linear Transformation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28090"/>
                </a:solidFill>
              </a:rPr>
              <a:t>The Solution: Non-Linearity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12121"/>
                </a:solidFill>
              </a:rPr>
              <a:t>Activation functions introduce non-linearity, enabling networks to:</a:t>
            </a:r>
            <a:endParaRPr lang="en-US" sz="1300" dirty="0"/>
          </a:p>
          <a:p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Learn complex patterns in data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Model real-world relationships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Approximate any function (Universal Approximation Theorem)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Make deep networks meaningful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7/35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Sigmoid Activation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11658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28090"/>
                </a:solidFill>
              </a:rPr>
              <a:t>Formula: σ(x) = 1 / (1 + e⁻ˣ)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15316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12121"/>
                </a:solidFill>
              </a:rPr>
              <a:t>Characteristics: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0345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685800" y="191338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Output range: (0, 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3698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85800" y="2255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S-shaped curve, smooth and differentiable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746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4000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Historically important, inspired by biological neurons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" y="2977515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85800" y="2865501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Good for binary classification in output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" y="321640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C82333"/>
                </a:solidFill>
              </a:rPr>
              <a:t>Limitations: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544443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82333"/>
                </a:solidFill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" y="3498723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Vanishing gradient problem in deep networks</a:t>
            </a:r>
          </a:p>
        </p:txBody>
      </p:sp>
      <p:sp>
        <p:nvSpPr>
          <p:cNvPr id="16" name="Text 14"/>
          <p:cNvSpPr/>
          <p:nvPr/>
        </p:nvSpPr>
        <p:spPr>
          <a:xfrm>
            <a:off x="377190" y="376504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82333"/>
                </a:solidFill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0070" y="376504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Not zero-centered (outputs always positive)</a:t>
            </a:r>
          </a:p>
        </p:txBody>
      </p:sp>
      <p:sp>
        <p:nvSpPr>
          <p:cNvPr id="18" name="Text 16"/>
          <p:cNvSpPr/>
          <p:nvPr/>
        </p:nvSpPr>
        <p:spPr>
          <a:xfrm>
            <a:off x="365760" y="4084891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82333"/>
                </a:solidFill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084891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Computationally expensive (exponential)</a:t>
            </a:r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336042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4572000" y="3733038"/>
            <a:ext cx="393192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</a:rPr>
              <a:t>Use Case: Output layer for binary classification (0 or 1 predictions)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8/35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Tanh Activation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622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</a:rPr>
              <a:t>Formula: tanh(x) = (eˣ - e⁻ˣ) / (eˣ + e⁻ˣ)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12121"/>
                </a:solidFill>
              </a:rPr>
              <a:t>Characteristics: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731520" y="18912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Output range: (-1, 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9976" y="235305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731520" y="22341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Zero-centered (better than sigmoid)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546" y="26563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720090" y="25831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S-shaped curve, symmetric around origin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3786" y="301371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731520" y="29306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Stronger gradients than sigmoid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770" y="32476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8A745"/>
                </a:solidFill>
              </a:rPr>
              <a:t>Advantages over Sigmoid: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3860" y="349529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Zero-centered outputs make optimization easier and training faster. However, still suffers from vanishing gradient problem in very deep networks.</a:t>
            </a:r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830574" cy="2756916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16" name="Text 14"/>
          <p:cNvSpPr/>
          <p:nvPr/>
        </p:nvSpPr>
        <p:spPr>
          <a:xfrm>
            <a:off x="4704207" y="1801368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999999"/>
                </a:solidFill>
              </a:rPr>
              <a:t>Tanh Curve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i="1" dirty="0">
                <a:solidFill>
                  <a:srgbClr val="999999"/>
                </a:solidFill>
              </a:rPr>
              <a:t>Visualization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i="1" dirty="0">
                <a:solidFill>
                  <a:srgbClr val="999999"/>
                </a:solidFill>
              </a:rPr>
              <a:t>Range: -1 to +1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24400" y="3613404"/>
            <a:ext cx="393192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</a:rPr>
              <a:t>Use Case: Hidden layers in RNNs and networks requiring zero-centered activations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9/35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ReLU: Rectified Linear Unit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55724"/>
                </a:solidFill>
              </a:rPr>
              <a:t>Most Popular Activation Function for Deep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8140" y="17602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28090"/>
                </a:solidFill>
              </a:rPr>
              <a:t>Formula: f(x) = max(0, x)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8140" y="21107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12121"/>
                </a:solidFill>
              </a:rPr>
              <a:t>Why ReLU Dominates: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9580" y="25679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460" y="25679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Computationally efficient (simple max operation)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9580" y="29794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460" y="29794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No vanishing gradient for positive values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9580" y="33909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460" y="33909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Sparse activation (neurons can be 'off')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580" y="38023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2460" y="38023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Empirically works very well in practice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9580" y="42138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460" y="42138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Allows faster convergence in deep networks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43500" y="1874520"/>
            <a:ext cx="3451860" cy="22936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4671062" y="22631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/>
              <a:t>ReLU Function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i="1" dirty="0"/>
              <a:t>f(x) = 0 for x &lt; 0</a:t>
            </a:r>
            <a:endParaRPr lang="en-US" sz="1400" dirty="0"/>
          </a:p>
          <a:p>
            <a:pPr algn="ctr"/>
            <a:r>
              <a:rPr lang="en-US" sz="1400" i="1" dirty="0"/>
              <a:t>f(x) = x for x ≥ 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03470" y="3611880"/>
            <a:ext cx="393192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</a:rPr>
              <a:t>Default Choice: Use ReLU in hidden layers unless you have a specific reason not 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10/35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794760" cy="43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C000"/>
                </a:solidFill>
                <a:highlight>
                  <a:srgbClr val="008080"/>
                </a:highlight>
              </a:rPr>
              <a:t>ReLU Variants</a:t>
            </a:r>
            <a:endParaRPr lang="en-US" sz="3600" dirty="0">
              <a:solidFill>
                <a:srgbClr val="FFC000"/>
              </a:solidFill>
              <a:highlight>
                <a:srgbClr val="00808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4160520" y="228600"/>
            <a:ext cx="371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28090"/>
                </a:solidFill>
              </a:rPr>
              <a:t>Solving the Dying ReLU Problem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65760" y="934142"/>
            <a:ext cx="8013469" cy="77724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48640" y="1020386"/>
            <a:ext cx="2671156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Leaky ReLU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86146"/>
            <a:ext cx="2671156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max(0.01x, x)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2" y="1107672"/>
            <a:ext cx="2493079" cy="42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Small negative slope (0.01) for x &lt;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197034"/>
            <a:ext cx="133558" cy="105987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6492240" y="1056754"/>
            <a:ext cx="1958848" cy="42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28A745"/>
                </a:solidFill>
              </a:rPr>
              <a:t>Prevents dying neurons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4642"/>
            <a:ext cx="8013469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48640" y="1878674"/>
            <a:ext cx="2671156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Parametric ReLU (PReLU)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244434"/>
            <a:ext cx="2671156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max(αx, 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2" y="1857894"/>
            <a:ext cx="2493079" cy="42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Learnable parameter 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3448" y="2047008"/>
            <a:ext cx="133558" cy="105987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6492240" y="1857894"/>
            <a:ext cx="1958848" cy="42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28A745"/>
                </a:solidFill>
              </a:rPr>
              <a:t>Network learns optimal slope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7151" y="2752547"/>
            <a:ext cx="8013469" cy="77724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493406" y="2850222"/>
            <a:ext cx="3072754" cy="238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ELU (Exponential Linear Unit)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406" y="3215982"/>
            <a:ext cx="2671156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x if x&gt;0, else α(eˣ-1)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10928" y="2937508"/>
            <a:ext cx="2493079" cy="42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Smooth curve for negatives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54126" y="2935430"/>
            <a:ext cx="133558" cy="105987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6442918" y="2835678"/>
            <a:ext cx="1870364" cy="42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28A745"/>
                </a:solidFill>
              </a:rPr>
              <a:t>Better mean activation, faster learning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3901" y="3612916"/>
            <a:ext cx="8013469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457200" y="3718903"/>
            <a:ext cx="2671156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SELU (Scaled ELU)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781" y="3968290"/>
            <a:ext cx="2671156" cy="282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λ * ELU(x, α)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4303" y="3689816"/>
            <a:ext cx="2493079" cy="42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Self-normalizing properties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7501" y="3771895"/>
            <a:ext cx="133558" cy="105987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6420381" y="3689816"/>
            <a:ext cx="1958848" cy="42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28A745"/>
                </a:solidFill>
              </a:rPr>
              <a:t>Maintains mean &amp; variance through layers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11/35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Softmax Activation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16131" y="731520"/>
            <a:ext cx="8229600" cy="54864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216131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856404"/>
                </a:solidFill>
              </a:rPr>
              <a:t>For Multi-Class Classification Output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</a:rPr>
              <a:t>Formula: σ(z)ᵢ = eᶻⁱ / Σⱼ eᶻʲ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847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12121"/>
                </a:solidFill>
              </a:rPr>
              <a:t>Key Properties: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35000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Converts raw scores (logits) to probabilities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6148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685800" y="2715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Output values sum to 1.0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7296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85800" y="3127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Each output in range (0, 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8444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685800" y="35387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Highlights maximum value (winner-takes-most)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99592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85800" y="3950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Differentiable for backpropagation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479666"/>
            <a:ext cx="3749040" cy="2973463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295014" y="1470541"/>
            <a:ext cx="3400292" cy="32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Example: Image Classification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2" y="1834596"/>
            <a:ext cx="1133431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66666"/>
                </a:solidFill>
              </a:rPr>
              <a:t>Raw Scores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2" y="1834596"/>
            <a:ext cx="1133431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66666"/>
                </a:solidFill>
              </a:rPr>
              <a:t>Probabilities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2" y="2200356"/>
            <a:ext cx="610309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12121"/>
                </a:solidFill>
              </a:rPr>
              <a:t>Cat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2" y="2200356"/>
            <a:ext cx="1133431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</a:rPr>
              <a:t>2.5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2235000"/>
            <a:ext cx="130780" cy="160728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6995162" y="2200356"/>
            <a:ext cx="1133431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E2761"/>
                </a:solidFill>
              </a:rPr>
              <a:t>0.75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2" y="2657556"/>
            <a:ext cx="610309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12121"/>
                </a:solidFill>
              </a:rPr>
              <a:t>Dog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2" y="2657556"/>
            <a:ext cx="1133431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</a:rPr>
              <a:t>1.2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2692200"/>
            <a:ext cx="130780" cy="160728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6995162" y="2657556"/>
            <a:ext cx="1133431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E2761"/>
                </a:solidFill>
              </a:rPr>
              <a:t>0.20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2" y="3114756"/>
            <a:ext cx="610309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12121"/>
                </a:solidFill>
              </a:rPr>
              <a:t>Bird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2" y="3114756"/>
            <a:ext cx="1133431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</a:rPr>
              <a:t>0.3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3149400"/>
            <a:ext cx="130780" cy="160728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6995162" y="3114756"/>
            <a:ext cx="1133431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E2761"/>
                </a:solidFill>
              </a:rPr>
              <a:t>0.05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95162" y="3754836"/>
            <a:ext cx="1133431" cy="241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28A745"/>
                </a:solidFill>
              </a:rPr>
              <a:t>Sum = 1.00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995930"/>
            <a:ext cx="3749040" cy="482183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Use Case: Final layer for classifying into N classes (e.g., cats, dogs, birds)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12/35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692" y="-18704"/>
            <a:ext cx="83542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Choosing Activation Functions: </a:t>
            </a:r>
            <a:r>
              <a:rPr lang="en-US" sz="1400" b="1" dirty="0">
                <a:solidFill>
                  <a:srgbClr val="FFC000"/>
                </a:solidFill>
              </a:rPr>
              <a:t>Decision Framework</a:t>
            </a:r>
          </a:p>
          <a:p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367838"/>
            <a:ext cx="8229600" cy="77724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65760" y="4842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Hidden Layers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4842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ReLU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0" y="4842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Alt: Leaky ReLU, ELU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8042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</a:rPr>
              <a:t>Fast, effective, prevents vanishing gradient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238596"/>
            <a:ext cx="82296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365760" y="13300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Binary Classification 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3300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Sigmoid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3300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Alt: None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6500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</a:rPr>
              <a:t>Outputs probability between 0 and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9628" y="2107276"/>
            <a:ext cx="8229600" cy="77724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332508" y="21987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Multi-Class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18508" y="21987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Softmax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47308" y="21987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Alt: None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2508" y="25187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</a:rPr>
              <a:t>Converts to probability distribution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9628" y="2975956"/>
            <a:ext cx="82296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332508" y="30673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Regression Output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18508" y="30673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Linear (None)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47308" y="30673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Alt: ReLU (if positive only)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508" y="33874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</a:rPr>
              <a:t>Unrestricted continuous values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9628" y="3776056"/>
            <a:ext cx="8229600" cy="77724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332508" y="38113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RNN/LSTM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18508" y="3811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Tanh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47308" y="3811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Alt: Sigmoid (gates)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2508" y="41314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</a:rPr>
              <a:t>Zero-centered, bounded outputs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509" y="1600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C000"/>
                </a:solidFill>
                <a:highlight>
                  <a:srgbClr val="000000"/>
                </a:highlight>
              </a:rPr>
              <a:t>Network Architecture</a:t>
            </a:r>
            <a:endParaRPr lang="en-US" sz="3600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448887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28090"/>
                </a:solidFill>
              </a:rPr>
              <a:t>Depth vs. Width: How to Design Your Network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8887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E2761"/>
                </a:solidFill>
              </a:rPr>
              <a:t>Depth (Number of Layers)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8887" y="1737360"/>
            <a:ext cx="4114800" cy="2103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631767" y="192024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Advantages: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Learn hierarchical features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Better representation capacity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Capture complex patterns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Challenges: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Vanishing/exploding gradients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Harder to train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More parameters = overfitting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63687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E2761"/>
                </a:solidFill>
              </a:rPr>
              <a:t>Width (Neurons per Layer)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71752" y="1737360"/>
            <a:ext cx="4114800" cy="2103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NG">
              <a:solidFill>
                <a:srgbClr val="FFC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746567" y="192024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Advantages: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More capacity per layer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Can model complex functions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Easier to parallelize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Challenges: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Diminishing returns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Increased computation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</a:rPr>
              <a:t>• Memory constraints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14/35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71502"/>
            <a:ext cx="8229600" cy="238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4" name="Shape 2"/>
          <p:cNvSpPr/>
          <p:nvPr/>
        </p:nvSpPr>
        <p:spPr>
          <a:xfrm>
            <a:off x="353292" y="457200"/>
            <a:ext cx="8196348" cy="96012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5" name="Text 3"/>
          <p:cNvSpPr/>
          <p:nvPr/>
        </p:nvSpPr>
        <p:spPr>
          <a:xfrm>
            <a:off x="565266" y="502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Binary Classification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68386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Neurons: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31426" y="502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8A745"/>
                </a:solidFill>
              </a:rPr>
              <a:t>Activation: Sigmoid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77346" y="502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</a:rPr>
              <a:t>Loss: Binary Cross-Entropy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5266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Spam detection (spam/not spam)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2386" y="1508760"/>
            <a:ext cx="8229600" cy="960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65266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Multi-Class Classification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68386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Neurons: N (# classes)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31426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8A745"/>
                </a:solidFill>
              </a:rPr>
              <a:t>Activation: Softmax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77346" y="1600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</a:rPr>
              <a:t>Loss: Categorical Cross-Entropy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5266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Image classification (cat/dog/bird)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2386" y="2572172"/>
            <a:ext cx="8229600" cy="96012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65266" y="26636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Multi-Label Classification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68386" y="26636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Neurons: N (# labels)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31426" y="26636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8A745"/>
                </a:solidFill>
              </a:rPr>
              <a:t>Activation: Sigmoid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77346" y="26636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</a:rPr>
              <a:t>Loss: Binary Cross-Entropy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266" y="30293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Tag prediction (multiple tags possible)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3292" y="3643210"/>
            <a:ext cx="8196348" cy="845817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23" name="Text 21"/>
          <p:cNvSpPr/>
          <p:nvPr/>
        </p:nvSpPr>
        <p:spPr>
          <a:xfrm>
            <a:off x="565266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68386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Neurons: 1 or 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31426" y="3794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8A745"/>
                </a:solidFill>
              </a:rPr>
              <a:t>Activation: Linear (None)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77346" y="3794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</a:rPr>
              <a:t>Loss: MSE / MAE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5266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House price prediction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2386" y="4709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3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BC9678-DB30-13EF-834D-5D35D41DF814}"/>
              </a:ext>
            </a:extLst>
          </p:cNvPr>
          <p:cNvSpPr txBox="1"/>
          <p:nvPr/>
        </p:nvSpPr>
        <p:spPr>
          <a:xfrm>
            <a:off x="457201" y="47990"/>
            <a:ext cx="695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highlight>
                  <a:srgbClr val="000000"/>
                </a:highlight>
              </a:rPr>
              <a:t>Output Layer Design: </a:t>
            </a:r>
            <a:r>
              <a:rPr lang="en-US" dirty="0">
                <a:solidFill>
                  <a:srgbClr val="FFC000"/>
                </a:solidFill>
                <a:highlight>
                  <a:srgbClr val="000000"/>
                </a:highlight>
              </a:rPr>
              <a:t>Matching Output to Your Task</a:t>
            </a:r>
          </a:p>
          <a:p>
            <a:endParaRPr lang="en-US" dirty="0">
              <a:solidFill>
                <a:srgbClr val="FFC000"/>
              </a:solidFill>
              <a:highlight>
                <a:srgbClr val="000000"/>
              </a:highlight>
            </a:endParaRPr>
          </a:p>
          <a:p>
            <a:endParaRPr lang="en-NG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1E2761"/>
                </a:solidFill>
              </a:rPr>
              <a:t>LIVE 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</a:rPr>
              <a:t>Building Networks with Different Activations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16/35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93147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Training Neural Networks</a:t>
            </a:r>
            <a:endParaRPr lang="en-US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Optimization Algorithms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Finding the Minimum Loss: The Journey from SGD to Adam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The Evolution of Optimizers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9999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SGD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</a:rPr>
              <a:t>1950s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548640" cy="182880"/>
          </a:xfrm>
          <a:prstGeom prst="rightArrow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2468880" y="2286000"/>
            <a:ext cx="731520" cy="731520"/>
          </a:xfrm>
          <a:prstGeom prst="ellipse">
            <a:avLst/>
          </a:prstGeom>
          <a:solidFill>
            <a:srgbClr val="77777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246888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+ Momentum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</a:rPr>
              <a:t>1980s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560320"/>
            <a:ext cx="548640" cy="182880"/>
          </a:xfrm>
          <a:prstGeom prst="rightArrow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023360" y="2286000"/>
            <a:ext cx="731520" cy="731520"/>
          </a:xfrm>
          <a:prstGeom prst="ellipse">
            <a:avLst/>
          </a:prstGeom>
          <a:solidFill>
            <a:srgbClr val="55555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02336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AdaGrad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</a:rPr>
              <a:t>2011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560320"/>
            <a:ext cx="548640" cy="182880"/>
          </a:xfrm>
          <a:prstGeom prst="rightArrow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5577840" y="2286000"/>
            <a:ext cx="731520" cy="731520"/>
          </a:xfrm>
          <a:prstGeom prst="ellipse">
            <a:avLst/>
          </a:prstGeom>
          <a:solidFill>
            <a:srgbClr val="33333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57784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RMSprop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</a:rPr>
              <a:t>2012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2560320"/>
            <a:ext cx="548640" cy="182880"/>
          </a:xfrm>
          <a:prstGeom prst="rightArrow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7132320" y="2286000"/>
            <a:ext cx="731520" cy="7315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713232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Adam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</a:rPr>
              <a:t>2014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2"/>
          <p:cNvSpPr/>
          <p:nvPr/>
        </p:nvSpPr>
        <p:spPr>
          <a:xfrm>
            <a:off x="457200" y="1371600"/>
            <a:ext cx="8229600" cy="24688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Why Multiple Optimizers?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0116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Each optimizer addresses specific challenges: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• SGD: Simple but can be slow and oscillate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• Momentum: Accelerates in relevant direction, reduces oscillations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• </a:t>
            </a:r>
            <a:r>
              <a:rPr lang="en-US" sz="1200" dirty="0" err="1">
                <a:solidFill>
                  <a:srgbClr val="212121"/>
                </a:solidFill>
              </a:rPr>
              <a:t>AdaGrad</a:t>
            </a:r>
            <a:r>
              <a:rPr lang="en-US" sz="1200" dirty="0">
                <a:solidFill>
                  <a:srgbClr val="212121"/>
                </a:solidFill>
              </a:rPr>
              <a:t>: Adapts learning rate per parameter (good for sparse data)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• RMSprop: Fixes </a:t>
            </a:r>
            <a:r>
              <a:rPr lang="en-US" sz="1200" dirty="0" err="1">
                <a:solidFill>
                  <a:srgbClr val="212121"/>
                </a:solidFill>
              </a:rPr>
              <a:t>AdaGrad's</a:t>
            </a:r>
            <a:r>
              <a:rPr lang="en-US" sz="1200" dirty="0">
                <a:solidFill>
                  <a:srgbClr val="212121"/>
                </a:solidFill>
              </a:rPr>
              <a:t> diminishing learning rate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• Adam: Combines momentum and adaptive learning rates (most popular)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297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18/35</a:t>
            </a:r>
            <a:endParaRPr lang="en-US" sz="10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0EE82EA-AE22-EED6-6B25-A63AD3BBAFA0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Optimization Algorithms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D8E6E6-3817-6710-0A78-90E63689D5A4}"/>
              </a:ext>
            </a:extLst>
          </p:cNvPr>
          <p:cNvSpPr/>
          <p:nvPr/>
        </p:nvSpPr>
        <p:spPr>
          <a:xfrm>
            <a:off x="457200" y="1005839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Finding the Minimum Loss: The Journey from SGD to Adam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97044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Gradient Descent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The Foundation of Neural Network Training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12121"/>
                </a:solidFill>
              </a:rPr>
              <a:t>Core Concept: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12121"/>
                </a:solidFill>
              </a:rPr>
              <a:t>Iteratively adjust weights to minimize the loss function by moving in the direction opposite to the gradient.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28090"/>
                </a:solidFill>
              </a:rPr>
              <a:t>Update Rule: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114800" cy="64008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- α × ∇L(w)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3830855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</a:rPr>
              <a:t>w: weights</a:t>
            </a:r>
            <a:endParaRPr lang="en-US" sz="1100" dirty="0"/>
          </a:p>
          <a:p>
            <a:r>
              <a:rPr lang="en-US" sz="1100" dirty="0">
                <a:solidFill>
                  <a:srgbClr val="666666"/>
                </a:solidFill>
              </a:rPr>
              <a:t>α: learning rate</a:t>
            </a:r>
            <a:endParaRPr lang="en-US" sz="1100" dirty="0"/>
          </a:p>
          <a:p>
            <a:r>
              <a:rPr lang="en-US" sz="1100" dirty="0">
                <a:solidFill>
                  <a:srgbClr val="666666"/>
                </a:solidFill>
              </a:rPr>
              <a:t>∇L(w): gradient of loss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2513" y="228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12121"/>
                </a:solidFill>
              </a:rPr>
              <a:t>Three Variants: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2513" y="685800"/>
            <a:ext cx="3931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5255393" y="777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Batch GD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5393" y="1097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</a:rPr>
              <a:t>Use entire dataset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5393" y="1371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28A745"/>
                </a:solidFill>
              </a:rPr>
              <a:t>✓ Stable updates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5393" y="1554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C82333"/>
                </a:solidFill>
              </a:rPr>
              <a:t>✗ Slow for large datasets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72513" y="1965960"/>
            <a:ext cx="3931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255393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Stochastic GD (SGD)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5393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</a:rPr>
              <a:t>One sample at a 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5393" y="26517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28A745"/>
                </a:solidFill>
              </a:rPr>
              <a:t>✓ Fast, can escape local minima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5393" y="2834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C82333"/>
                </a:solidFill>
              </a:rPr>
              <a:t>✗ Noisy, unstable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2513" y="3246120"/>
            <a:ext cx="3931920" cy="1097280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5255393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55724"/>
                </a:solidFill>
              </a:rPr>
              <a:t>Mini-Batch GD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5393" y="3657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</a:rPr>
              <a:t>Small batches (16-256)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5393" y="39319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28A745"/>
                </a:solidFill>
              </a:rPr>
              <a:t>✓ Best of both worlds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5393" y="41148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C82333"/>
                </a:solidFill>
              </a:rPr>
              <a:t>✗ Batch size is hyperparameter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761"/>
                </a:solidFill>
              </a:rPr>
              <a:t>Stochastic Gradient Descent + Momentum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Accelerating Convergence, Reducing Oscillations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The Problem with Vanilla SGD: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4114800" cy="1097280"/>
          </a:xfrm>
          <a:prstGeom prst="roundRect">
            <a:avLst/>
          </a:prstGeom>
          <a:solidFill>
            <a:srgbClr val="F8D7DA"/>
          </a:solidFill>
          <a:ln w="25400">
            <a:solidFill>
              <a:srgbClr val="C8233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21C24"/>
                </a:solidFill>
              </a:rPr>
              <a:t>• Oscillates in ravines (steep in some directions)</a:t>
            </a:r>
            <a:endParaRPr lang="en-US" sz="1100" dirty="0"/>
          </a:p>
          <a:p>
            <a:r>
              <a:rPr lang="en-US" sz="1100" dirty="0">
                <a:solidFill>
                  <a:srgbClr val="721C24"/>
                </a:solidFill>
              </a:rPr>
              <a:t>• Slow progress toward minimum</a:t>
            </a:r>
            <a:endParaRPr lang="en-US" sz="1100" dirty="0"/>
          </a:p>
          <a:p>
            <a:r>
              <a:rPr lang="en-US" sz="1100" dirty="0">
                <a:solidFill>
                  <a:srgbClr val="721C24"/>
                </a:solidFill>
              </a:rPr>
              <a:t>• Gets stuck in local minima</a:t>
            </a:r>
            <a:endParaRPr lang="en-US" sz="1100" dirty="0"/>
          </a:p>
          <a:p>
            <a:r>
              <a:rPr lang="en-US" sz="1100" dirty="0">
                <a:solidFill>
                  <a:srgbClr val="721C24"/>
                </a:solidFill>
              </a:rPr>
              <a:t>• Sensitive to learning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52198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Momentum Solution: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52198" y="20574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Adds a velocity term that accumulates gradients from previous steps, like a ball rolling down a hill gaining momentum.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52198" y="2834640"/>
            <a:ext cx="4114800" cy="118872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135078" y="3017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β × v + ∇L(w)</a:t>
            </a:r>
            <a:endParaRPr lang="en-US" sz="1200" dirty="0"/>
          </a:p>
          <a:p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- α × v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β: momentum coefficient (typically 0.9)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20/35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397042" y="1130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Benefits of Momentum: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8482" y="1679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802" y="16796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Faster convergence in relevant directions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8482" y="20910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802" y="20910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Dampens oscillations across ravines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8482" y="25025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802" y="25025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Can escape shallow local minima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8482" y="29140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2802" y="29140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More stable than vanilla SGD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482" y="33255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2802" y="33255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Less sensitive to learning rate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9179" y="1679608"/>
            <a:ext cx="3931920" cy="155448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4442059" y="1862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856404"/>
                </a:solidFill>
              </a:rPr>
              <a:t>Typical Hyperparameters: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42059" y="222824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56404"/>
                </a:solidFill>
              </a:rPr>
              <a:t>• Momentum (β): 0.9 or 0.95</a:t>
            </a:r>
            <a:endParaRPr lang="en-US" sz="1100" dirty="0"/>
          </a:p>
          <a:p>
            <a:r>
              <a:rPr lang="en-US" sz="1100" dirty="0">
                <a:solidFill>
                  <a:srgbClr val="856404"/>
                </a:solidFill>
              </a:rPr>
              <a:t>• Learning rate (α): 0.01 to 0.001</a:t>
            </a:r>
            <a:endParaRPr lang="en-US" sz="1100" dirty="0"/>
          </a:p>
          <a:p>
            <a:r>
              <a:rPr lang="en-US" sz="1100" dirty="0">
                <a:solidFill>
                  <a:srgbClr val="856404"/>
                </a:solidFill>
              </a:rPr>
              <a:t>• Often better than vanilla SGD</a:t>
            </a:r>
            <a:endParaRPr lang="en-US" sz="1100" dirty="0"/>
          </a:p>
          <a:p>
            <a:r>
              <a:rPr lang="en-US" sz="1100" dirty="0">
                <a:solidFill>
                  <a:srgbClr val="856404"/>
                </a:solidFill>
              </a:rPr>
              <a:t>• Standard choice before Adam</a:t>
            </a:r>
            <a:endParaRPr lang="en-US" sz="11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C49B9A1-AD8C-DED0-D44E-2088C89FC562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761"/>
                </a:solidFill>
              </a:rPr>
              <a:t>Stochastic Gradient Descent + Momentum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9537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437"/>
            <a:ext cx="6927783" cy="77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761"/>
                </a:solidFill>
              </a:rPr>
              <a:t>RMSprop: Root Mean Square Propagation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531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</a:rPr>
              <a:t>Adaptive Learning Rates for Each Parameter</a:t>
            </a:r>
            <a:endParaRPr lang="en-US" sz="1600" b="1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Key Innovation: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12121"/>
                </a:solidFill>
              </a:rPr>
              <a:t>Adapts the learning rate for each parameter based on the magnitude of recent gradients. Parameters with large gradients get smaller updates, and vice versa.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100584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β × v + (1-β) × (∇L(w))²</a:t>
            </a:r>
            <a:endParaRPr lang="en-US" sz="1100" dirty="0"/>
          </a:p>
          <a:p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- (α / √(v + ε)) × ∇L(w)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β: decay rate (typically 0.9 or 0.99)</a:t>
            </a:r>
            <a:endParaRPr lang="en-US" sz="1100" dirty="0"/>
          </a:p>
          <a:p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ε: small constant for numerical stability (1e-8)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21/35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CDE35-D068-05C4-2DF4-ADFE2D479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9E6A4B-B049-4E0B-495D-7B602EC8ED04}"/>
              </a:ext>
            </a:extLst>
          </p:cNvPr>
          <p:cNvSpPr/>
          <p:nvPr/>
        </p:nvSpPr>
        <p:spPr>
          <a:xfrm>
            <a:off x="457200" y="14437"/>
            <a:ext cx="6927783" cy="77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accent5"/>
                </a:solidFill>
              </a:rPr>
              <a:t>RMSprop: Root Mean Square Propagation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9DAC13-0731-D052-4314-98018BE7E9D3}"/>
              </a:ext>
            </a:extLst>
          </p:cNvPr>
          <p:cNvSpPr/>
          <p:nvPr/>
        </p:nvSpPr>
        <p:spPr>
          <a:xfrm>
            <a:off x="457200" y="7531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</a:rPr>
              <a:t>Adaptive Learning Rates for Each Parameter</a:t>
            </a:r>
            <a:endParaRPr lang="en-US" sz="1600" b="1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F78B42-33BC-3313-07DB-33F674F5BC3B}"/>
              </a:ext>
            </a:extLst>
          </p:cNvPr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Key Innovation: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F6F6E4-BF28-2E43-35E8-2E9E998557A3}"/>
              </a:ext>
            </a:extLst>
          </p:cNvPr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12121"/>
                </a:solidFill>
              </a:rPr>
              <a:t>Adapts the learning rate for each parameter based on the magnitude of recent gradients. Parameters with large gradients get smaller updates, and vice versa.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CA2B2ED-5943-90D9-D32D-700A684A52C0}"/>
              </a:ext>
            </a:extLst>
          </p:cNvPr>
          <p:cNvSpPr/>
          <p:nvPr/>
        </p:nvSpPr>
        <p:spPr>
          <a:xfrm>
            <a:off x="411480" y="2377440"/>
            <a:ext cx="4114800" cy="182880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C120950-8DD1-AACB-F557-D1AA4BA45063}"/>
              </a:ext>
            </a:extLst>
          </p:cNvPr>
          <p:cNvSpPr/>
          <p:nvPr/>
        </p:nvSpPr>
        <p:spPr>
          <a:xfrm>
            <a:off x="59436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55724"/>
                </a:solidFill>
              </a:rPr>
              <a:t>Advantages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CD8D8B-C788-FF64-6B6D-FC459C819B6E}"/>
              </a:ext>
            </a:extLst>
          </p:cNvPr>
          <p:cNvSpPr/>
          <p:nvPr/>
        </p:nvSpPr>
        <p:spPr>
          <a:xfrm>
            <a:off x="59436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55724"/>
                </a:solidFill>
              </a:rPr>
              <a:t>• Works well with non-stationary objectives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438C0C4-581D-9C76-00C6-1EE227282939}"/>
              </a:ext>
            </a:extLst>
          </p:cNvPr>
          <p:cNvSpPr/>
          <p:nvPr/>
        </p:nvSpPr>
        <p:spPr>
          <a:xfrm>
            <a:off x="59436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55724"/>
                </a:solidFill>
              </a:rPr>
              <a:t>• Good for RNNs and online learning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E66C87-C124-3BDA-FBC2-0CF85409731C}"/>
              </a:ext>
            </a:extLst>
          </p:cNvPr>
          <p:cNvSpPr/>
          <p:nvPr/>
        </p:nvSpPr>
        <p:spPr>
          <a:xfrm>
            <a:off x="59436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55724"/>
                </a:solidFill>
              </a:rPr>
              <a:t>• Automatically adjusts learning rates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5B8600-F612-F408-DD58-51AD245A2FC6}"/>
              </a:ext>
            </a:extLst>
          </p:cNvPr>
          <p:cNvSpPr/>
          <p:nvPr/>
        </p:nvSpPr>
        <p:spPr>
          <a:xfrm>
            <a:off x="59436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55724"/>
                </a:solidFill>
              </a:rPr>
              <a:t>• Handles sparse gradients well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D8E154B-95AA-D8D6-D9A1-364FA6BED123}"/>
              </a:ext>
            </a:extLst>
          </p:cNvPr>
          <p:cNvSpPr/>
          <p:nvPr/>
        </p:nvSpPr>
        <p:spPr>
          <a:xfrm>
            <a:off x="4754880" y="2377440"/>
            <a:ext cx="4114800" cy="1828800"/>
          </a:xfrm>
          <a:prstGeom prst="roundRect">
            <a:avLst/>
          </a:prstGeom>
          <a:solidFill>
            <a:srgbClr val="D1ECF1"/>
          </a:solidFill>
          <a:ln w="25400">
            <a:solidFill>
              <a:srgbClr val="0C546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44E8899-52C5-5159-5D37-17640513200E}"/>
              </a:ext>
            </a:extLst>
          </p:cNvPr>
          <p:cNvSpPr/>
          <p:nvPr/>
        </p:nvSpPr>
        <p:spPr>
          <a:xfrm>
            <a:off x="493776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C5460"/>
                </a:solidFill>
              </a:rPr>
              <a:t>When to Use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DE77EE6-A193-7C1B-6820-DADCD6997961}"/>
              </a:ext>
            </a:extLst>
          </p:cNvPr>
          <p:cNvSpPr/>
          <p:nvPr/>
        </p:nvSpPr>
        <p:spPr>
          <a:xfrm>
            <a:off x="493776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C5460"/>
                </a:solidFill>
              </a:rPr>
              <a:t>• Recurrent neural networks (RNNs)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B03AC8B-BA84-E318-AFBD-87D759EAF62E}"/>
              </a:ext>
            </a:extLst>
          </p:cNvPr>
          <p:cNvSpPr/>
          <p:nvPr/>
        </p:nvSpPr>
        <p:spPr>
          <a:xfrm>
            <a:off x="493776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C5460"/>
                </a:solidFill>
              </a:rPr>
              <a:t>• Problems with noisy/sparse gradients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DF7F492-C0D4-32E3-21AA-1582249D9FCF}"/>
              </a:ext>
            </a:extLst>
          </p:cNvPr>
          <p:cNvSpPr/>
          <p:nvPr/>
        </p:nvSpPr>
        <p:spPr>
          <a:xfrm>
            <a:off x="493776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C5460"/>
                </a:solidFill>
              </a:rPr>
              <a:t>• When SGD with momentum struggles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B25C0F2-BFBD-C3F3-BC1D-3CDA67B95379}"/>
              </a:ext>
            </a:extLst>
          </p:cNvPr>
          <p:cNvSpPr/>
          <p:nvPr/>
        </p:nvSpPr>
        <p:spPr>
          <a:xfrm>
            <a:off x="493776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C5460"/>
                </a:solidFill>
              </a:rPr>
              <a:t>• As alternative to Adam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42EFB6D-85ED-3AF8-58AE-0E440190F25F}"/>
              </a:ext>
            </a:extLst>
          </p:cNvPr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21/35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36886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Adam: Adaptive Moment Estimation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55724"/>
                </a:solidFill>
              </a:rPr>
              <a:t>The Most Popular Optimizer in Deep Learning (2014-Present)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What Makes Adam Special?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0418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12121"/>
                </a:solidFill>
              </a:rPr>
              <a:t>Adam combines the best features of Momentum and RMSprop:</a:t>
            </a:r>
            <a:endParaRPr lang="en-US" sz="1400" dirty="0"/>
          </a:p>
          <a:p>
            <a:r>
              <a:rPr lang="en-US" sz="1400" dirty="0">
                <a:solidFill>
                  <a:srgbClr val="212121"/>
                </a:solidFill>
              </a:rPr>
              <a:t>• Momentum: Maintains moving average of gradients (first moment)</a:t>
            </a:r>
            <a:endParaRPr lang="en-US" sz="1400" dirty="0"/>
          </a:p>
          <a:p>
            <a:r>
              <a:rPr lang="en-US" sz="1400" dirty="0">
                <a:solidFill>
                  <a:srgbClr val="212121"/>
                </a:solidFill>
              </a:rPr>
              <a:t>• RMSprop: Maintains moving average of squared gradients (second moment)</a:t>
            </a:r>
            <a:endParaRPr lang="en-US" sz="1400" dirty="0"/>
          </a:p>
          <a:p>
            <a:r>
              <a:rPr lang="en-US" sz="1400" dirty="0">
                <a:solidFill>
                  <a:srgbClr val="212121"/>
                </a:solidFill>
              </a:rPr>
              <a:t>• Bias correction: Adjusts for initialization bias in early iterations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85962"/>
            <a:ext cx="8229600" cy="128016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40080" y="3388091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β₁ × m + (1-β₁) × ∇L(w)        # First moment (momentum)</a:t>
            </a:r>
            <a:endParaRPr lang="en-US" sz="1000" dirty="0"/>
          </a:p>
          <a:p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β₂ × v + (1-β₂) × (∇L(w))²     # Second moment (RMSprop)</a:t>
            </a:r>
            <a:endParaRPr lang="en-US" sz="1000" dirty="0"/>
          </a:p>
          <a:p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m̂ = m / (1-β₁ᵗ),  v̂ = v / (1-β₂ᵗ)  # Bias correction</a:t>
            </a:r>
            <a:endParaRPr lang="en-US" sz="1000" dirty="0"/>
          </a:p>
          <a:p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- α × m̂ / (√v̂ + ε)           # Weight update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8FBE9-5F15-E6AC-198A-04C4D06D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6880EF-FE11-3702-AD2E-58DBE6EAD6F5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Adam: Adaptive Moment Estimation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59932F0-D03B-0240-2E06-A7958E6C4298}"/>
              </a:ext>
            </a:extLst>
          </p:cNvPr>
          <p:cNvSpPr/>
          <p:nvPr/>
        </p:nvSpPr>
        <p:spPr>
          <a:xfrm>
            <a:off x="457200" y="1188720"/>
            <a:ext cx="8229600" cy="54864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5350AA-1082-A5DF-84BE-DB43A7E88D02}"/>
              </a:ext>
            </a:extLst>
          </p:cNvPr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55724"/>
                </a:solidFill>
              </a:rPr>
              <a:t>The Most Popular Optimizer in Deep Learning (2014-Present)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A221FD-17FE-89CF-B977-EF168C8E3168}"/>
              </a:ext>
            </a:extLst>
          </p:cNvPr>
          <p:cNvSpPr/>
          <p:nvPr/>
        </p:nvSpPr>
        <p:spPr>
          <a:xfrm>
            <a:off x="6400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212121"/>
                </a:solidFill>
              </a:rPr>
              <a:t>Default Hyperparameters (Work Well in Practice):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889A82-277D-E766-5DB3-E709E627B873}"/>
              </a:ext>
            </a:extLst>
          </p:cNvPr>
          <p:cNvSpPr/>
          <p:nvPr/>
        </p:nvSpPr>
        <p:spPr>
          <a:xfrm>
            <a:off x="640080" y="24231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Learning rate (α): 0.001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β₁ (momentum): 0.9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β₂ (RMSprop): 0.999</a:t>
            </a:r>
            <a:endParaRPr lang="en-US" sz="1100" dirty="0"/>
          </a:p>
          <a:p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ε: 1e-8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F4C6146-E281-5160-236E-F22AB1B23982}"/>
              </a:ext>
            </a:extLst>
          </p:cNvPr>
          <p:cNvSpPr/>
          <p:nvPr/>
        </p:nvSpPr>
        <p:spPr>
          <a:xfrm>
            <a:off x="493776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28A745"/>
                </a:solidFill>
              </a:rPr>
              <a:t>Why Choose Adam?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8CA51D0-37F7-8222-9839-16366C5165FA}"/>
              </a:ext>
            </a:extLst>
          </p:cNvPr>
          <p:cNvSpPr/>
          <p:nvPr/>
        </p:nvSpPr>
        <p:spPr>
          <a:xfrm>
            <a:off x="5029200" y="24688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560C664-FA3A-C64D-57B4-3BFD8408BD05}"/>
              </a:ext>
            </a:extLst>
          </p:cNvPr>
          <p:cNvSpPr/>
          <p:nvPr/>
        </p:nvSpPr>
        <p:spPr>
          <a:xfrm>
            <a:off x="530352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Works well out-of-the-box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2B434A7-8189-3F51-92FC-800532846896}"/>
              </a:ext>
            </a:extLst>
          </p:cNvPr>
          <p:cNvSpPr/>
          <p:nvPr/>
        </p:nvSpPr>
        <p:spPr>
          <a:xfrm>
            <a:off x="5029200" y="27889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4E5A761-93BA-F302-7622-49425D503494}"/>
              </a:ext>
            </a:extLst>
          </p:cNvPr>
          <p:cNvSpPr/>
          <p:nvPr/>
        </p:nvSpPr>
        <p:spPr>
          <a:xfrm>
            <a:off x="530352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Robust to hyperparameter choices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5136EBD-EB8E-BC84-0053-B7F22722D6CD}"/>
              </a:ext>
            </a:extLst>
          </p:cNvPr>
          <p:cNvSpPr/>
          <p:nvPr/>
        </p:nvSpPr>
        <p:spPr>
          <a:xfrm>
            <a:off x="5029200" y="3108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CBAE553-B440-FA8C-2221-E5AD444C6BB6}"/>
              </a:ext>
            </a:extLst>
          </p:cNvPr>
          <p:cNvSpPr/>
          <p:nvPr/>
        </p:nvSpPr>
        <p:spPr>
          <a:xfrm>
            <a:off x="53035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Efficient with large datasets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650D4BD-429E-01D2-43F1-75325A53D211}"/>
              </a:ext>
            </a:extLst>
          </p:cNvPr>
          <p:cNvSpPr/>
          <p:nvPr/>
        </p:nvSpPr>
        <p:spPr>
          <a:xfrm>
            <a:off x="5029200" y="34290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794CCB8-5F14-B0C5-F87B-91DE3CB50E2A}"/>
              </a:ext>
            </a:extLst>
          </p:cNvPr>
          <p:cNvSpPr/>
          <p:nvPr/>
        </p:nvSpPr>
        <p:spPr>
          <a:xfrm>
            <a:off x="530352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Handles sparse gradients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BC9DDF6-8011-DA33-A77D-DD9535C1D99F}"/>
              </a:ext>
            </a:extLst>
          </p:cNvPr>
          <p:cNvSpPr/>
          <p:nvPr/>
        </p:nvSpPr>
        <p:spPr>
          <a:xfrm>
            <a:off x="5029200" y="37490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0D9368C-1FE5-A26A-5C44-8976F4DD97CA}"/>
              </a:ext>
            </a:extLst>
          </p:cNvPr>
          <p:cNvSpPr/>
          <p:nvPr/>
        </p:nvSpPr>
        <p:spPr>
          <a:xfrm>
            <a:off x="530352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Industry standard for most tasks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159F7EE-DFFE-3EF7-FBA1-F556C96E0206}"/>
              </a:ext>
            </a:extLst>
          </p:cNvPr>
          <p:cNvSpPr/>
          <p:nvPr/>
        </p:nvSpPr>
        <p:spPr>
          <a:xfrm>
            <a:off x="457200" y="3657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22/35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4463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761"/>
                </a:solidFill>
              </a:rPr>
              <a:t>Optimizer Comparison: </a:t>
            </a:r>
            <a:r>
              <a:rPr lang="en-US" sz="2400" dirty="0">
                <a:solidFill>
                  <a:schemeClr val="accent5"/>
                </a:solidFill>
              </a:rPr>
              <a:t>Choosing the Right Optimizer for Your Problem</a:t>
            </a:r>
          </a:p>
          <a:p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3137" y="1097280"/>
            <a:ext cx="8229600" cy="4572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433137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Optimizer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79057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Speed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24977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Memory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70897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Stability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16817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Best Use Case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137" y="164592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33137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212121"/>
                </a:solidFill>
              </a:rPr>
              <a:t>SGD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79057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Slow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24977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70897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Unstable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16817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Simple problems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3137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433137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212121"/>
                </a:solidFill>
              </a:rPr>
              <a:t>SGD + Momentum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79057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Medium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24977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70897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16817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General purpose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3137" y="292608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433137" y="2926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212121"/>
                </a:solidFill>
              </a:rPr>
              <a:t>RMSprop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79057" y="2926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Fast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24977" y="2926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Medium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70897" y="2926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Good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16817" y="2926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RNNs, online learning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3137" y="35661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433137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212121"/>
                </a:solidFill>
              </a:rPr>
              <a:t>Adam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79057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Fast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24977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Medium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70897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Excellent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16817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12121"/>
                </a:solidFill>
              </a:rPr>
              <a:t>Default choice (most tasks)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5303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5669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23/35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4991"/>
            <a:ext cx="8412480" cy="235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accent5"/>
                </a:solidFill>
              </a:rPr>
              <a:t>Learning Rate: The Most Important Hyperparameter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172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Controls how big each step is when updating weights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90802"/>
            <a:ext cx="8229600" cy="1097280"/>
          </a:xfrm>
          <a:prstGeom prst="roundRect">
            <a:avLst/>
          </a:prstGeom>
          <a:solidFill>
            <a:srgbClr val="F8D7DA"/>
          </a:solidFill>
          <a:ln w="25400">
            <a:solidFill>
              <a:srgbClr val="C8233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112796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721C24"/>
                </a:solidFill>
              </a:rPr>
              <a:t>Too High (α = 0.1)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9372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721C24"/>
                </a:solidFill>
              </a:rPr>
              <a:t>Overshoots minimum, diverges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31084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721C24"/>
                </a:solidFill>
              </a:rPr>
              <a:t>↗↘ Oscillates wildly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45094"/>
            <a:ext cx="8229600" cy="109728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640080" y="238225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55724"/>
                </a:solidFill>
              </a:rPr>
              <a:t>Just Right (α = 0.001-0.01)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801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55724"/>
                </a:solidFill>
              </a:rPr>
              <a:t>Smooth convergence to minimum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56513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155724"/>
                </a:solidFill>
              </a:rPr>
              <a:t>→ Steady progress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13962"/>
            <a:ext cx="8229600" cy="109728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40080" y="355112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856404"/>
                </a:solidFill>
              </a:rPr>
              <a:t>Too Low (α = 0.00001)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1688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56404"/>
                </a:solidFill>
              </a:rPr>
              <a:t>Very slow training, may get stuck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73400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856404"/>
                </a:solidFill>
              </a:rPr>
              <a:t>→→→ Painfully slow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24/35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9793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chemeClr val="accent5"/>
                </a:solidFill>
              </a:rPr>
              <a:t>Batch Size &amp; Epochs</a:t>
            </a:r>
            <a:endParaRPr lang="en-US" sz="3600" dirty="0">
              <a:solidFill>
                <a:schemeClr val="accent5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629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Two Critical Training Hyperparameters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E2761"/>
                </a:solidFill>
              </a:rPr>
              <a:t>Batch Size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</a:rPr>
              <a:t>Number of samples processed before updating weights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Small (16-32)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28A745"/>
                </a:solidFill>
              </a:rPr>
              <a:t>✓ More frequent updates, better generalization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66666"/>
                </a:solidFill>
              </a:rPr>
              <a:t>✗ Noisy gradients, slower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114800" cy="68580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Medium (64-128)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28A745"/>
                </a:solidFill>
              </a:rPr>
              <a:t>✓ Good balance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218688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66666"/>
                </a:solidFill>
              </a:rPr>
              <a:t>✗ Common choice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4114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Large (256-512)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28A745"/>
                </a:solidFill>
              </a:rPr>
              <a:t>✓ Stable gradients, GPU efficient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995928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66666"/>
                </a:solidFill>
              </a:rPr>
              <a:t>✗ May overfit, needs more memory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E2761"/>
                </a:solidFill>
              </a:rPr>
              <a:t>Epochs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</a:rPr>
              <a:t>Number of complete passes through the training dataset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393192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493776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12121"/>
                </a:solidFill>
              </a:rPr>
              <a:t>Finding the Right Number: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4688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Too Few Epochs:</a:t>
            </a:r>
            <a:endParaRPr lang="en-US" sz="1000" dirty="0"/>
          </a:p>
          <a:p>
            <a:r>
              <a:rPr lang="en-US" sz="1000" dirty="0">
                <a:solidFill>
                  <a:srgbClr val="212121"/>
                </a:solidFill>
              </a:rPr>
              <a:t>• Model underfits</a:t>
            </a:r>
            <a:endParaRPr lang="en-US" sz="1000" dirty="0"/>
          </a:p>
          <a:p>
            <a:r>
              <a:rPr lang="en-US" sz="1000" dirty="0">
                <a:solidFill>
                  <a:srgbClr val="212121"/>
                </a:solidFill>
              </a:rPr>
              <a:t>• Hasn't learned patterns yet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>
                <a:solidFill>
                  <a:srgbClr val="212121"/>
                </a:solidFill>
              </a:rPr>
              <a:t>Too Many Epochs:</a:t>
            </a:r>
            <a:endParaRPr lang="en-US" sz="1000" dirty="0"/>
          </a:p>
          <a:p>
            <a:r>
              <a:rPr lang="en-US" sz="1000" dirty="0">
                <a:solidFill>
                  <a:srgbClr val="212121"/>
                </a:solidFill>
              </a:rPr>
              <a:t>• Model overfits training data</a:t>
            </a:r>
            <a:endParaRPr lang="en-US" sz="1000" dirty="0"/>
          </a:p>
          <a:p>
            <a:r>
              <a:rPr lang="en-US" sz="1000" dirty="0">
                <a:solidFill>
                  <a:srgbClr val="212121"/>
                </a:solidFill>
              </a:rPr>
              <a:t>• Poor generalization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>
                <a:solidFill>
                  <a:srgbClr val="212121"/>
                </a:solidFill>
              </a:rPr>
              <a:t>Solution: Early Stopping</a:t>
            </a:r>
            <a:endParaRPr lang="en-US" sz="1000" dirty="0"/>
          </a:p>
          <a:p>
            <a:r>
              <a:rPr lang="en-US" sz="1000" dirty="0">
                <a:solidFill>
                  <a:srgbClr val="212121"/>
                </a:solidFill>
              </a:rPr>
              <a:t>• Monitor validation loss</a:t>
            </a:r>
            <a:endParaRPr lang="en-US" sz="1000" dirty="0"/>
          </a:p>
          <a:p>
            <a:r>
              <a:rPr lang="en-US" sz="1000" dirty="0">
                <a:solidFill>
                  <a:srgbClr val="212121"/>
                </a:solidFill>
              </a:rPr>
              <a:t>• Stop when it starts increasing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25/35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322" y="108284"/>
            <a:ext cx="8152598" cy="590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Regularization Techniques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0198" y="635268"/>
            <a:ext cx="4644189" cy="3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Preventing Overfitting in Neural Networks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332" y="1032020"/>
            <a:ext cx="8123722" cy="806116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54519" y="1146090"/>
            <a:ext cx="3159225" cy="230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L1 Regularization (Lasso)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4519" y="1480798"/>
            <a:ext cx="3159225" cy="307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Original Loss + λ × Σ|w|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29239" y="1235812"/>
            <a:ext cx="2256589" cy="460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Promotes sparsity, feature selection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98119" y="1235812"/>
            <a:ext cx="1985799" cy="460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28A745"/>
                </a:solidFill>
              </a:rPr>
              <a:t>Many irrelevant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1263" y="1886721"/>
            <a:ext cx="8123722" cy="806116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664143" y="1993284"/>
            <a:ext cx="3159225" cy="230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L2 Regularization (Ridge)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4143" y="2327992"/>
            <a:ext cx="3159225" cy="307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Original Loss + λ × Σw²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38863" y="2083006"/>
            <a:ext cx="2256589" cy="460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Prevents large weights, smooth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07743" y="2083006"/>
            <a:ext cx="1985799" cy="460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28A745"/>
                </a:solidFill>
              </a:rPr>
              <a:t>Most common, good default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514" y="2743200"/>
            <a:ext cx="8123722" cy="806116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683394" y="2859389"/>
            <a:ext cx="3159225" cy="230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Dropout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3394" y="3194097"/>
            <a:ext cx="3159225" cy="307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Randomly drop neurons during training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58114" y="2949111"/>
            <a:ext cx="2256589" cy="460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Prevents co-adaptation, ensemble effect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6994" y="2949111"/>
            <a:ext cx="1985799" cy="460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28A745"/>
                </a:solidFill>
              </a:rPr>
              <a:t>Deep networks, prevents overfitting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820" y="3617380"/>
            <a:ext cx="8123722" cy="806116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652700" y="3666191"/>
            <a:ext cx="3159225" cy="230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Early Stopping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2700" y="4000899"/>
            <a:ext cx="3159225" cy="307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when validation loss increases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27420" y="3755913"/>
            <a:ext cx="2256589" cy="460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Prevents training too long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96300" y="3755913"/>
            <a:ext cx="1985799" cy="460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28A745"/>
                </a:solidFill>
              </a:rPr>
              <a:t>Always use with validation 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309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26/35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47" y="1600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Dropout: A Powerful Regularizer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0947" y="7543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Randomly Deactivating Neurons During Training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How It Works: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During each training iteration: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1. Randomly drop (set to 0) a fraction of neurons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2. Forward pass with reduced network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3. Backward pass and weight updates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4. Next iteration: different random set dropped</a:t>
            </a:r>
            <a:endParaRPr lang="en-US" sz="1200" dirty="0"/>
          </a:p>
          <a:p>
            <a:r>
              <a:rPr lang="en-US" sz="1200" dirty="0">
                <a:solidFill>
                  <a:srgbClr val="212121"/>
                </a:solidFill>
              </a:rPr>
              <a:t>5. At test time: use all neurons (scaled)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Why It Works: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Prevents co-adaptation of neurons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2148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Creates ensemble of sub-networks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Forces redundant representations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880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Reduces overfitting significantly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Works like model averaging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42FEB-7406-8EFD-9BF5-4C5AB813C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92C809-1826-9175-1BCD-C310B68B91E3}"/>
              </a:ext>
            </a:extLst>
          </p:cNvPr>
          <p:cNvSpPr/>
          <p:nvPr/>
        </p:nvSpPr>
        <p:spPr>
          <a:xfrm>
            <a:off x="360947" y="1600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Dropout: A Powerful Regularizer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EC0B53-C1BD-AEA3-8D73-E9DC2E972D01}"/>
              </a:ext>
            </a:extLst>
          </p:cNvPr>
          <p:cNvSpPr/>
          <p:nvPr/>
        </p:nvSpPr>
        <p:spPr>
          <a:xfrm>
            <a:off x="360947" y="7543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Randomly Deactivating Neurons During Training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2880" y="1476876"/>
            <a:ext cx="8229600" cy="2604236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365760" y="169825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Typical Dropout Rates: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06401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12121"/>
                </a:solidFill>
              </a:rPr>
              <a:t>Input Layer: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06401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28090"/>
                </a:solidFill>
              </a:rPr>
              <a:t>0.1 - 0.2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206401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Keep most input information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47549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12121"/>
                </a:solidFill>
              </a:rPr>
              <a:t>Hidden Layers: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247549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28090"/>
                </a:solidFill>
              </a:rPr>
              <a:t>0.3 - 0.5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247549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Standard regularization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88697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12121"/>
                </a:solidFill>
              </a:rPr>
              <a:t>Last Hidden Layer: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288697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28090"/>
                </a:solidFill>
              </a:rPr>
              <a:t>0.5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288697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6666"/>
                </a:solidFill>
              </a:rPr>
              <a:t>Heavy regularization before output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0198" y="3506905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82333"/>
                </a:solidFill>
              </a:rPr>
              <a:t>⚠ Important: Dropout is only applied during training, NOT during testing/inference!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25515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Batch Normalization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Normalizing Activations for Faster, More Stable Training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82333"/>
                </a:solidFill>
              </a:rPr>
              <a:t>The Problem: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During training, the distribution of layer inputs constantly changes (internal covariate shift). This slows down training and requires careful initialization and lower learning rates.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8A745"/>
                </a:solidFill>
              </a:rPr>
              <a:t>The Solution: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Normalize the inputs of each layer to have zero mean and unit variance. Then scale and shift with learnable parameters.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</a:rPr>
              <a:t>Benefits: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Allows higher learning rates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Reduces sensitivity to initialization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43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Acts as regularizer (slight noise)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108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Accelerates training significantly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Enables deeper networks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8404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8A745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12121"/>
                </a:solidFill>
              </a:rPr>
              <a:t>Reduces internal covariate shift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28/35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AE36-94FA-401B-559C-4CB77D4F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D76964-CBFF-D466-30A3-9E4BF91DD65B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Batch Normalization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1128DF-148C-30C4-945E-85FCCC9391BD}"/>
              </a:ext>
            </a:extLst>
          </p:cNvPr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Normalizing Activations for Faster, More Stable Training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3C9D277-E02F-CAB3-85E8-749FF7812440}"/>
              </a:ext>
            </a:extLst>
          </p:cNvPr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28/35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78130"/>
            <a:ext cx="4114800" cy="100584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640080" y="201529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mean(x),  σ² = var(x)</a:t>
            </a:r>
            <a:endParaRPr lang="en-US" sz="1000" dirty="0"/>
          </a:p>
          <a:p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 = (x - μ) / √(σ² + ε)</a:t>
            </a:r>
            <a:endParaRPr lang="en-US" sz="1000" dirty="0"/>
          </a:p>
          <a:p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γ × x̂ + β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γ, β: learnable parameters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061010"/>
            <a:ext cx="3931920" cy="82296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4937760" y="219817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856404"/>
                </a:solidFill>
              </a:rPr>
              <a:t>Best Practice: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856404"/>
                </a:solidFill>
              </a:rPr>
              <a:t>Add batch norm after linear/conv layers, before activation functions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24973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C82333"/>
                </a:solidFill>
              </a:rPr>
              <a:t>Note: Batch norm has different behavior in training vs. inference modes!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59978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1E2761"/>
                </a:solidFill>
              </a:rPr>
              <a:t>LIVE 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</a:rPr>
              <a:t>Training Networks with Different Optimizers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44855" y="2348865"/>
            <a:ext cx="5520089" cy="209169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1727735" y="2397420"/>
            <a:ext cx="5204655" cy="17928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12121"/>
                </a:solidFill>
              </a:rPr>
              <a:t>Exercise:</a:t>
            </a:r>
            <a:endParaRPr lang="en-US" sz="1300" dirty="0"/>
          </a:p>
          <a:p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Compare SGD, SGD+Momentum, Adam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Experiment with learning rates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Add dropout and batch normalization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Monitor training and validation loss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Tune hyperparameters for best performance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Visualize convergence curves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29/35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Hyperparameter Tuning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A Systematic Approach to Finding Optimal Settings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Start with Defaults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Adam (α=0.001), batch=32, no regularization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Establish baseline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Tune Learning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Try [0.0001, 0.001, 0.01] - most impactful!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Find optimal step size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Adjust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Experiment with depth and width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Match model capacity to problem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C326-B0D0-BFB2-2C5A-D0CD016C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B39A6A-067A-47B7-B66C-6836BE0395C5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Hyperparameter Tuning Strategy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433893-5C51-1AF8-123D-D2C222172D44}"/>
              </a:ext>
            </a:extLst>
          </p:cNvPr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A Systematic Approach to Finding Optimal Settings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1648326"/>
            <a:ext cx="365760" cy="3657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548640" y="164832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164832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Add Regularization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164832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Dropout (0.2-0.5) if overfitting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164832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Improve generalization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379846"/>
            <a:ext cx="365760" cy="3657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548640" y="237984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237984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Fine-tune Batch Size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237984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Try [32, 64, 128] based on GPU memory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237984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Balance speed and stability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111366"/>
            <a:ext cx="365760" cy="3657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548640" y="311136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11136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Try Different Optimizers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311136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SGD+momentum if Adam overfits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311136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Sometimes simpler is better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744227"/>
            <a:ext cx="8229600" cy="73152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457200" y="3744227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Remember: Change ONE hyperparameter at a time and track all experiments!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79696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Monitoring Training Progress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Key Metrics to Track During Training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77724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Training Loss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8A745"/>
                </a:solidFill>
              </a:rPr>
              <a:t>Should decrease steadily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C82333"/>
                </a:solidFill>
              </a:rPr>
              <a:t>If not decreasing: increase learning rate or model capacity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Validation Loss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8A745"/>
                </a:solidFill>
              </a:rPr>
              <a:t>Should track training loss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C82333"/>
                </a:solidFill>
              </a:rPr>
              <a:t>If increasing while training ↓: overfitting, add regularization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77724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Gap Between Losses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8A745"/>
                </a:solidFill>
              </a:rPr>
              <a:t>Should be small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C82333"/>
                </a:solidFill>
              </a:rPr>
              <a:t>Large gap = overfitting, need dropout/L2/more data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12ADF-33AE-C6C5-D111-92CFBC91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C003A1-4A18-269B-14F7-67D77FFCD95E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Monitoring Training Progress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63BBA7-5A57-2F07-52AF-9538EB39495E}"/>
              </a:ext>
            </a:extLst>
          </p:cNvPr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Key Metrics to Track During Training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1794510"/>
            <a:ext cx="82296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640080" y="188595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Training Accuracy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188595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8A745"/>
                </a:solidFill>
              </a:rPr>
              <a:t>Should increase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25171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C82333"/>
                </a:solidFill>
              </a:rPr>
              <a:t>Plateaus early: model too simple or learning rate too low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708910"/>
            <a:ext cx="8229600" cy="77724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640080" y="280035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Validation Accuracy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280035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8A745"/>
                </a:solidFill>
              </a:rPr>
              <a:t>Ultimate goal metric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16611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C82333"/>
                </a:solidFill>
              </a:rPr>
              <a:t>Doesn't improve: try different architecture/optimizer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23310"/>
            <a:ext cx="8229600" cy="64008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640080" y="366903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55724"/>
                </a:solidFill>
              </a:rPr>
              <a:t>Pro Tip: Plot training and validation curves together - visual inspection reveals issues instantly!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389763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31/35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710109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rgbClr val="1E2761"/>
                </a:solidFill>
              </a:rPr>
              <a:t>Common Training Problems &amp; Solutions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626670"/>
            <a:ext cx="8229600" cy="685800"/>
          </a:xfrm>
          <a:prstGeom prst="roundRect">
            <a:avLst/>
          </a:prstGeom>
          <a:solidFill>
            <a:srgbClr val="F8D7DA"/>
          </a:solidFill>
          <a:ln w="25400">
            <a:solidFill>
              <a:srgbClr val="C8233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69982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721C24"/>
                </a:solidFill>
              </a:rPr>
              <a:t>Loss is NaN or Exploding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169982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Learning rate too high, gradient explosion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01071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A745"/>
                </a:solidFill>
              </a:rPr>
              <a:t>Solutions: Lower learning rate, gradient clipping, batch norm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449630"/>
            <a:ext cx="8229600" cy="68580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40080" y="252278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856404"/>
                </a:solidFill>
              </a:rPr>
              <a:t>Loss Plateaus Early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52278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Model too simple, learning rate too 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83367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A745"/>
                </a:solidFill>
              </a:rPr>
              <a:t>Solutions: Add layers/neurons, increase learning rate, different optimizer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272590"/>
            <a:ext cx="8229600" cy="685800"/>
          </a:xfrm>
          <a:prstGeom prst="roundRect">
            <a:avLst/>
          </a:prstGeom>
          <a:solidFill>
            <a:srgbClr val="F8D7DA"/>
          </a:solidFill>
          <a:ln w="25400">
            <a:solidFill>
              <a:srgbClr val="C8233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40080" y="334574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721C24"/>
                </a:solidFill>
              </a:rPr>
              <a:t>Overfitting (val loss ↑)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34574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Model too complex, not enough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65663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A745"/>
                </a:solidFill>
              </a:rPr>
              <a:t>Solutions: Dropout, L2 regularization, more data, early stopping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32/35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0FB2-6EB8-4183-7BA4-009EE794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E84798-B912-23D6-14D7-914166E897A9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rgbClr val="1E2761"/>
                </a:solidFill>
              </a:rPr>
              <a:t>Common Training Problems &amp; Solutions</a:t>
            </a:r>
            <a:endParaRPr lang="en-US" sz="3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D6D7AF4-12AF-3541-5547-66D8243649DC}"/>
              </a:ext>
            </a:extLst>
          </p:cNvPr>
          <p:cNvSpPr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32/35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417320"/>
            <a:ext cx="8229600" cy="68580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40080" y="1490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856404"/>
                </a:solidFill>
              </a:rPr>
              <a:t>Underfitting (both losses high)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1490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Model too simple, training too short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1801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A745"/>
                </a:solidFill>
              </a:rPr>
              <a:t>Solutions: Add capacity, train longer, reduce regularization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240280"/>
            <a:ext cx="8229600" cy="685800"/>
          </a:xfrm>
          <a:prstGeom prst="roundRect">
            <a:avLst/>
          </a:prstGeom>
          <a:solidFill>
            <a:srgbClr val="F8D7DA"/>
          </a:solidFill>
          <a:ln w="25400">
            <a:solidFill>
              <a:srgbClr val="C8233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640080" y="2313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721C24"/>
                </a:solidFill>
              </a:rPr>
              <a:t>Training is Very Slow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2313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Learning rate too low, poor initialization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26243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A745"/>
                </a:solidFill>
              </a:rPr>
              <a:t>Solutions: Increase learning rate, use Adam, batch normalization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8229600" cy="68580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640080" y="31363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856404"/>
                </a:solidFill>
              </a:rPr>
              <a:t>Dying ReLU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1363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66666"/>
                </a:solidFill>
              </a:rPr>
              <a:t>Many neurons output 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A745"/>
                </a:solidFill>
              </a:rPr>
              <a:t>Solutions: Use Leaky ReLU, lower learning rate, better initialization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69255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Best Practices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Your Neural Network Training Checklist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114800" cy="2011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Start simple: 2-3 layers, 64-256 neurons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Use ReLU for hidden layers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38328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Match output layer to task (sigmoid/softmax/linear)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828800"/>
            <a:ext cx="4114800" cy="2011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Optimization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46888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5166360" y="2423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Default to Adam with learning rate 0.001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92608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16636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Use mini-batch GD with batch size 32-128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338328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5166360" y="3337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Always split data: train/validation/test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13F1B-B79C-BECC-A6C3-BF2586F1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45F508-217E-D346-0B64-98EBBCED5DA4}"/>
              </a:ext>
            </a:extLst>
          </p:cNvPr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E2761"/>
                </a:solidFill>
              </a:rPr>
              <a:t>Best Practices Summary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C3C4B4-F732-388E-1B9A-6EB0C06F8983}"/>
              </a:ext>
            </a:extLst>
          </p:cNvPr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28090"/>
                </a:solidFill>
              </a:rPr>
              <a:t>Your Neural Network Training Checklist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4577" y="1595387"/>
            <a:ext cx="4114800" cy="2011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707457" y="1732547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Regularization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3177" y="2235467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890337" y="218974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Add dropout (0.2-0.5) to prevent overfitting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3177" y="2692667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890337" y="264694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Use batch normalization for deep networks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3177" y="3149867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890337" y="310414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Implement early stopping based on validation loss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67977" y="1595387"/>
            <a:ext cx="4114800" cy="2011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5050857" y="1732547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96577" y="2235467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5233737" y="218974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Track both training and validation metrics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96577" y="2692667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5233737" y="264694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Plot loss curves to diagnose issues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96577" y="3149867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5233737" y="310414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12121"/>
                </a:solidFill>
              </a:rPr>
              <a:t>Save best model based on validation performance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4577" y="3789947"/>
            <a:ext cx="8229600" cy="73152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524577" y="3789947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Remember: Experimentation is key! Track all experiments and iterate.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1697" y="4155707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</a:rPr>
              <a:t>Slide 33/35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505975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ASSIGNMENT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188720" y="822960"/>
            <a:ext cx="73152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1463040" y="10058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E2761"/>
                </a:solidFill>
              </a:rPr>
              <a:t>Build a Multilayer Perceptron for Real Classification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6766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12121"/>
                </a:solidFill>
              </a:rPr>
              <a:t>Requirements:</a:t>
            </a:r>
            <a:endParaRPr lang="en-US" sz="1300" dirty="0"/>
          </a:p>
          <a:p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Choose a dataset (MNIST, Fashion-MNIST, or CIFAR-10)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Design and implement an MLP architecture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Experiment with different optimizers (SGD, Adam)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Try various learning rates (0.0001, 0.001, 0.01)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Apply regularization techniques (dropout, L2)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Track experiments and compare results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Document findings and best configuration</a:t>
            </a:r>
            <a:endParaRPr lang="en-US" sz="1300" dirty="0"/>
          </a:p>
          <a:p>
            <a:r>
              <a:rPr lang="en-US" sz="1300" dirty="0">
                <a:solidFill>
                  <a:srgbClr val="212121"/>
                </a:solidFill>
              </a:rPr>
              <a:t>• Prepare 5-minute presentation for next session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i="1" dirty="0">
                <a:solidFill>
                  <a:srgbClr val="CADCFC"/>
                </a:solidFill>
              </a:rPr>
              <a:t>Due: Before MLOps Session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46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chemeClr val="accent5"/>
                </a:solidFill>
              </a:rPr>
              <a:t>Thank You!</a:t>
            </a:r>
            <a:endParaRPr lang="en-US" sz="4800" dirty="0">
              <a:solidFill>
                <a:schemeClr val="accent5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11274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CADCFC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897204" y="3137836"/>
            <a:ext cx="3657600" cy="640080"/>
          </a:xfrm>
          <a:prstGeom prst="round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2897204" y="313783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Keep Learning, Keep Building!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 theme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 theme" id="{B984A8E7-233D-4992-8743-41EAFFF94261}" vid="{D8C495CA-6F99-401E-AE3B-AE8955379D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 theme</Template>
  <TotalTime>1110</TotalTime>
  <Words>3477</Words>
  <Application>Microsoft Office PowerPoint</Application>
  <PresentationFormat>On-screen Show (16:9)</PresentationFormat>
  <Paragraphs>684</Paragraphs>
  <Slides>45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Consolas</vt:lpstr>
      <vt:lpstr>Neue Haas Grotesk Text Pro</vt:lpstr>
      <vt:lpstr>AI4SID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Deep Learning: Building Neural Networks</dc:title>
  <dc:subject>Neural Networks Training and Optimization</dc:subject>
  <dc:creator>Deep Learning Accelerator</dc:creator>
  <cp:lastModifiedBy>Uthman Abdulrahman</cp:lastModifiedBy>
  <cp:revision>2</cp:revision>
  <dcterms:created xsi:type="dcterms:W3CDTF">2026-02-03T06:00:15Z</dcterms:created>
  <dcterms:modified xsi:type="dcterms:W3CDTF">2026-02-04T10:01:27Z</dcterms:modified>
</cp:coreProperties>
</file>