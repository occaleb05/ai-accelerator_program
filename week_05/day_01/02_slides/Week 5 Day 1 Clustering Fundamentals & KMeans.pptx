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3" r:id="rId2"/>
  </p:sldMasterIdLst>
  <p:notesMasterIdLst>
    <p:notesMasterId r:id="rId50"/>
  </p:notesMasterIdLst>
  <p:handoutMasterIdLst>
    <p:handoutMasterId r:id="rId51"/>
  </p:handout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301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CEA168-88C5-A35E-0800-5E80FCB31C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472E2-F595-302D-0639-CFB27FE39C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DC4DB-FDE3-4218-A680-A65E867C2BD0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F8093-A11E-9431-E10A-47BE7DCFFF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75695-1104-9A3B-68E6-6A934DE7D3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2CA66-0807-471B-9E5E-1C22721D79C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80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73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018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085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680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170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4045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475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50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6134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6242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771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6097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orange lines&#10;&#10;AI-generated content may be incorrect.">
            <a:extLst>
              <a:ext uri="{FF2B5EF4-FFF2-40B4-BE49-F238E27FC236}">
                <a16:creationId xmlns:a16="http://schemas.microsoft.com/office/drawing/2014/main" id="{2FC10414-2896-BC32-F0DF-9C461F3B4B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48277" y="247775"/>
            <a:ext cx="647448" cy="9144002"/>
          </a:xfrm>
          <a:prstGeom prst="rect">
            <a:avLst/>
          </a:prstGeom>
        </p:spPr>
      </p:pic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8E7A17EA-E816-8961-267C-8E4DDC0288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162" y="274320"/>
            <a:ext cx="850588" cy="6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26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548A-DDCB-58A0-DB8B-3E0E05470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08B9F-979D-C300-E2D4-FDE0DE690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8A20-4CC9-4731-070D-540586036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F2EE-95ED-05C3-FA15-28EF681B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95F8E-BDFF-94C8-D1CB-C5814D45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40670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DE4A-8862-A7BC-F55B-35160FC6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F70A1-1371-5C39-80A8-5135D47D2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36480-16BC-84F2-444B-B8A5C3AA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FEFC6-A62F-580D-56F5-2D395F9E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824CC-D50C-AB38-D6A1-734F97B1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37329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50C3-F1D8-15C4-1B37-66214407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B8EE8-8FF2-D159-ECDD-93D65D9C5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D8744-D23D-2A09-E572-1EC90246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31E83-1BBD-1742-DC6F-8F2FBA2F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5AB60-8100-BC08-6AAC-3934FA2B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42836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EBF8-FCCA-D74E-8E43-FD63827D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705F7-A4B1-841C-8BCA-B2A7814E3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70F11-A7B2-38AE-E6CD-78BEBCD60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7847-0BF9-32DF-E713-380B3B9F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8B1E5-0F98-82B5-A6AF-C91BD329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F9C05-9E53-2A37-1AC8-FAEBA693A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4328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2F3B-A958-E520-022A-388FC284B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42537-752A-FC3B-9F8F-7949FC8A4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6D259-D5D2-F252-FD0F-A4DEC9E86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4BEDB-1B34-DE6C-C6B7-E104E2C0F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669A4-BDC0-CA34-6948-B6EC054F5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3088F-8C40-A5F1-897C-25FB5224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8C48FD-7975-8215-1295-0303CE93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28274-7AFF-26CE-681F-A8713011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24144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D68F-213D-64C8-ADDB-5651C291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D3569F-3D2E-1D0B-04DF-87D343A8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8B2C6-F806-6BE7-4CFD-D10DBCF8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16F16-DDC0-A6EA-62EF-CBA0D332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99755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39DE6E-7DA3-30D4-6810-AB85680E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ED67A-B023-298D-871A-B49021FE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A4E69-E268-4A34-F836-3F367B86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95414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4745-656F-07E4-EC42-8606EA74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5262D-B3C7-83D4-5062-9E189C2C2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584B8-68AC-5AFC-A02E-AE7689E76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22C29-B607-C944-29B5-289CDD08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FC4E0-D6C0-4AC9-9D46-8BED9CB0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67EBB-4EDD-6EA5-8941-71D44D73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61917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30A1B-C8A3-1F55-3022-E3179680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7ED2E-5B70-F6D9-E0D7-F3FB75666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27C98-EF60-1AEE-5A28-29382C3D0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FBA27-A29C-C8B6-7A8C-A21DF122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2A6F5-A81C-A3FF-C14B-00D8E04D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46AAD-DE06-7EDD-8D7D-8E803BEF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23161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4F9F-AA61-4AD8-9D9E-DF4C6FA3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FE9B7-3BEE-0067-91EA-13F51B8EE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45DAA-D277-824E-98A5-0309C945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DA2D9-6762-A448-E169-50057FC6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75AD-89B5-13A8-97A2-4539F737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258320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FE2B8-DEA4-81A8-A0F3-B2FA79134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20081-FA08-350C-35FE-BD2CBE46B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3859-492A-D989-B6F4-260816BD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0B45F-2CEF-EC08-26D6-D08A6452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4B7C6-8A1C-EFCD-3380-1435AF5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8243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7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B28E15-A722-646E-D0B8-7E268AE3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3A4EE-A8A8-CE2F-27C2-AC2329035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BEB6A-328F-F111-E889-E31B59F28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D1A8A-41A9-4856-B7E7-6519D335B59D}" type="datetimeFigureOut">
              <a:rPr lang="en-NG" smtClean="0"/>
              <a:t>03/02/2026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B78D-4B78-6F05-0492-FFA076A78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0117-CCAF-F2AF-0BB4-98189AA6D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A2240-A79E-4435-88F5-4FD7E0E080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7351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436" y="1110343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Clustering Fundamentals &amp; K-Means</a:t>
            </a:r>
            <a:endParaRPr lang="en-US" sz="44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983921" y="3543300"/>
            <a:ext cx="5331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2C39A"/>
                </a:solidFill>
              </a:rPr>
              <a:t>Unsupervised Machine Learning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" y="289016"/>
            <a:ext cx="4171950" cy="419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4:00-4:15 PM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996043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</a:rPr>
              <a:t>Classification Project Showcase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4:15-4:45 PM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727563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</a:rPr>
              <a:t>Introduction to Unsupervised 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2459083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</a:rPr>
              <a:t>K-Means Clustering Deep Dive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3190603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</a:rPr>
              <a:t>Clustering Evaluation Metrics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68880" y="3922123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</a:rPr>
              <a:t>Unsupervised Project Introduction</a:t>
            </a:r>
            <a:endParaRPr lang="en-US" sz="16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ED6408EC-08DE-B9EE-4BCF-AA209EADFAD4}"/>
              </a:ext>
            </a:extLst>
          </p:cNvPr>
          <p:cNvSpPr/>
          <p:nvPr/>
        </p:nvSpPr>
        <p:spPr>
          <a:xfrm>
            <a:off x="1965960" y="1149531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187D1B3C-8B7D-9C93-32B5-6E1A4BE9751D}"/>
              </a:ext>
            </a:extLst>
          </p:cNvPr>
          <p:cNvSpPr/>
          <p:nvPr/>
        </p:nvSpPr>
        <p:spPr>
          <a:xfrm>
            <a:off x="1965960" y="1861457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28C93563-99A4-6E9F-2208-3FE36997459D}"/>
              </a:ext>
            </a:extLst>
          </p:cNvPr>
          <p:cNvSpPr/>
          <p:nvPr/>
        </p:nvSpPr>
        <p:spPr>
          <a:xfrm>
            <a:off x="1981200" y="2588078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160450FD-2BA7-6FDE-8118-3E9D252D369B}"/>
              </a:ext>
            </a:extLst>
          </p:cNvPr>
          <p:cNvSpPr/>
          <p:nvPr/>
        </p:nvSpPr>
        <p:spPr>
          <a:xfrm>
            <a:off x="1981200" y="3314699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8FF8431C-EEFE-12D9-02F9-62EA9A762E66}"/>
              </a:ext>
            </a:extLst>
          </p:cNvPr>
          <p:cNvSpPr/>
          <p:nvPr/>
        </p:nvSpPr>
        <p:spPr>
          <a:xfrm>
            <a:off x="1981200" y="4042953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Classification Project</a:t>
            </a:r>
            <a:endParaRPr lang="en-US" sz="48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Showcase</a:t>
            </a:r>
            <a:endParaRPr lang="en-US" sz="4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94015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Introduction to</a:t>
            </a:r>
            <a:endParaRPr lang="en-US" sz="48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Unsupervised Learning</a:t>
            </a:r>
            <a:endParaRPr lang="en-US" sz="4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What is Unsupervised Learning?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Unsupervised learning analyzes and clusters unlabeled datasets without predefined categories or outcomes. The algorithm discovers hidden patterns and structures in data independently.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749040" cy="1946366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400292" cy="24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SUPERVISED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00292" cy="1216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Labeled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Predefined outputs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Learns input-output mapping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Examples: Classification, Regression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103120"/>
            <a:ext cx="3749040" cy="1946366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937760" y="2286000"/>
            <a:ext cx="3400292" cy="24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UNSUPERVISED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743200"/>
            <a:ext cx="3400292" cy="1216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Unlabeled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No predefined outputs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Discovers patterns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Examples: Clustering, Dimensionality Reduction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392" y="7601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Types of Unsupervised Learning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02128"/>
            <a:ext cx="8229600" cy="62375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 sz="1400"/>
          </a:p>
        </p:txBody>
      </p:sp>
      <p:sp>
        <p:nvSpPr>
          <p:cNvPr id="4" name="Text 2"/>
          <p:cNvSpPr/>
          <p:nvPr/>
        </p:nvSpPr>
        <p:spPr>
          <a:xfrm>
            <a:off x="1280160" y="682896"/>
            <a:ext cx="7132320" cy="277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Clustering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037590"/>
            <a:ext cx="7132320" cy="2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Grouping similar data points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7968"/>
            <a:ext cx="8229600" cy="62375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 sz="1400"/>
          </a:p>
        </p:txBody>
      </p:sp>
      <p:sp>
        <p:nvSpPr>
          <p:cNvPr id="7" name="Text 5"/>
          <p:cNvSpPr/>
          <p:nvPr/>
        </p:nvSpPr>
        <p:spPr>
          <a:xfrm>
            <a:off x="1280160" y="1688736"/>
            <a:ext cx="7132320" cy="277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Dimensionality Reduction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043430"/>
            <a:ext cx="7132320" cy="2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Reducing number of features while preserving information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13808"/>
            <a:ext cx="8229600" cy="62375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 sz="1400"/>
          </a:p>
        </p:txBody>
      </p:sp>
      <p:sp>
        <p:nvSpPr>
          <p:cNvPr id="10" name="Text 8"/>
          <p:cNvSpPr/>
          <p:nvPr/>
        </p:nvSpPr>
        <p:spPr>
          <a:xfrm>
            <a:off x="1280160" y="2694576"/>
            <a:ext cx="7132320" cy="277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Anomaly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049270"/>
            <a:ext cx="7132320" cy="2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Identifying unusual patterns that don't fit expected behavior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19648"/>
            <a:ext cx="8229600" cy="62375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 sz="1400"/>
          </a:p>
        </p:txBody>
      </p:sp>
      <p:sp>
        <p:nvSpPr>
          <p:cNvPr id="13" name="Text 11"/>
          <p:cNvSpPr/>
          <p:nvPr/>
        </p:nvSpPr>
        <p:spPr>
          <a:xfrm>
            <a:off x="1280160" y="3700416"/>
            <a:ext cx="7132320" cy="277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Association Rules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055110"/>
            <a:ext cx="7132320" cy="2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Discovering relationships between variables in datasets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407" y="119197"/>
            <a:ext cx="8229600" cy="391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Real-World Applications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199" y="850717"/>
            <a:ext cx="47483" cy="1861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79" y="66947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Customer Segmentation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79" y="94379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Banks grouping customers by spending behavior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199" y="1536517"/>
            <a:ext cx="47483" cy="1861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40079" y="135527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Market Basket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79" y="162959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Retailers discovering products frequently bought together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199" y="2222317"/>
            <a:ext cx="47483" cy="1861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40079" y="204107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Document Clustering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79" y="231539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News platforms categorizing articles automatically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99" y="2908117"/>
            <a:ext cx="47483" cy="1861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40079" y="272687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Image Compression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79" y="300119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Reducing image file sizes while maintaining quality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199" y="3593917"/>
            <a:ext cx="47483" cy="1861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79" y="341267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Anomaly Detection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79" y="368699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Fraud detection in financial transactions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199" y="4279717"/>
            <a:ext cx="47483" cy="1861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640079" y="409847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Recommendation Systems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79" y="4372791"/>
            <a:ext cx="8356963" cy="9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Music platforms suggesting playlists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7164"/>
            <a:ext cx="7437664" cy="377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Applications in Nigerian Context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2951"/>
            <a:ext cx="1987187" cy="404948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742951"/>
            <a:ext cx="1987187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E-commerce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1760" y="742951"/>
            <a:ext cx="5961561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Jumia, Konga - Product recommendations and customer segmentation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83031"/>
            <a:ext cx="1987187" cy="404948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57200" y="1383031"/>
            <a:ext cx="1987187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Banking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1383031"/>
            <a:ext cx="5961561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First Bank, GTBank - Fraud detection and customer profiling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3111"/>
            <a:ext cx="2057400" cy="404948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57200" y="2023111"/>
            <a:ext cx="2114550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Telecommunications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023111"/>
            <a:ext cx="5961561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MTN, Airtel - Network optimization and churn prediction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63191"/>
            <a:ext cx="1987187" cy="404948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57200" y="2663191"/>
            <a:ext cx="1987187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Agriculture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663191"/>
            <a:ext cx="5961561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Crop yield prediction and farmer segmentation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03271"/>
            <a:ext cx="1987187" cy="404948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57200" y="3303271"/>
            <a:ext cx="1987187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303271"/>
            <a:ext cx="5961561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Patient grouping for resource allocation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43351"/>
            <a:ext cx="1987187" cy="404948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57200" y="3943351"/>
            <a:ext cx="1987187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Transportation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3943351"/>
            <a:ext cx="5961561" cy="404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Ride-hailing apps - Route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984421" cy="605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Challenges &amp; Limitations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No ground truth labels to validate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Difficult to evaluate model performance objectively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Results can be subjective and interpretative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Choosing optimal number of clusters is not trivial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507492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Sensitive to initialization and parameter selection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4884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May not discover meaningful patterns in noisy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07492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Computational complexity with large datasets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70332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07492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Interpretability challenges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9378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K-Means Clustering</a:t>
            </a:r>
            <a:endParaRPr lang="en-US" sz="48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Deep Dive</a:t>
            </a:r>
            <a:endParaRPr lang="en-US" sz="4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What is K-Means Clustering?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K-Means is a partitioning algorithm that divides a dataset into K distinct, non-overlapping clusters. Each data point belongs to the cluster with the nearest mean (centroid).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109728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Goal: </a:t>
            </a:r>
            <a:r>
              <a:rPr lang="en-US" sz="1800" dirty="0">
                <a:solidFill>
                  <a:srgbClr val="FFFFFF"/>
                </a:solidFill>
              </a:rPr>
              <a:t>Minimize within-cluster variance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Minimize: </a:t>
            </a:r>
            <a:r>
              <a:rPr lang="en-US" sz="1600" dirty="0">
                <a:solidFill>
                  <a:srgbClr val="FFFFFF"/>
                </a:solidFill>
              </a:rPr>
              <a:t>Sum of squared distances from points to centroids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957" y="35351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 Simple and intuitive algorithm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957" y="39923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 Fast and efficient for large datasets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9972" y="3456759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 Works well with spherical clusters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9972" y="3913959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 Scales to large number of samples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K-Means Algorithm: 4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Initialize K Centroids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Choose K initial cluster centers randomly or using k-means++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Assign Points to Nearest Centroid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Calculate distance from each point to all centroids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Recalculate Centroids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Update centroid position to mean of all assigned points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Repeat Until Convergence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983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Iterate steps 2-3 until centroids no longer move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Understanding Centroids &amp; Iterations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Centroid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The center point of a cluster, calculated as the mean of all data points assigned to that cluster.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Formula: mean of all points in cluster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Convergence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Algorithm stops when: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Centroids don't move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Movement &lt; threshold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Max iterations reached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Assignments unchanged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2514" y="3108960"/>
            <a:ext cx="8229600" cy="64008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Key Insight: Each iteration improves cluster quality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4114800"/>
            <a:ext cx="163286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Typical convergence: 10-50 iterations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91594" y="4114800"/>
            <a:ext cx="96555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957354" y="4069080"/>
            <a:ext cx="4007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More data points require more iterations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303520"/>
            <a:ext cx="18288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1097280" y="5257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Good initialization reduces iterations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Distance Metrics in K-Means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</a:rPr>
              <a:t>K-Means primarily uses Euclidean distance to measure similarity between points and centroids.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118872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Euclidean Distance Formula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d(x, y) = square root of sum of squared differences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775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Manhattan: Sum of absolute differences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31775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Grid-like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347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Cosine: Angle between vectors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36347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Text and high-dimensional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919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Minkowski: Generalization of Euclidean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40919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Flexible distance metric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The number of clusters (K) is a hyperparameter that must be specified before running the algorithm. Choosing the wrong K can lead to poor clustering results.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5770" y="1738993"/>
            <a:ext cx="3931920" cy="2011680"/>
          </a:xfrm>
          <a:prstGeom prst="round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28650" y="1921873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K Too Small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8650" y="2379073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• Merges distinct groups</a:t>
            </a:r>
          </a:p>
          <a:p>
            <a:pPr marL="0" indent="0">
              <a:buNone/>
            </a:pPr>
            <a:r>
              <a:rPr lang="en-US" sz="1400" dirty="0"/>
              <a:t>• Loses important patterns</a:t>
            </a:r>
          </a:p>
          <a:p>
            <a:pPr marL="0" indent="0">
              <a:buNone/>
            </a:pPr>
            <a:r>
              <a:rPr lang="en-US" sz="1400" dirty="0"/>
              <a:t>• High within-cluster variance</a:t>
            </a:r>
          </a:p>
          <a:p>
            <a:pPr marL="0" indent="0">
              <a:buNone/>
            </a:pPr>
            <a:r>
              <a:rPr lang="en-US" sz="1400" dirty="0"/>
              <a:t>• Under-segmentation</a:t>
            </a:r>
          </a:p>
        </p:txBody>
      </p:sp>
      <p:sp>
        <p:nvSpPr>
          <p:cNvPr id="7" name="Shape 5"/>
          <p:cNvSpPr/>
          <p:nvPr/>
        </p:nvSpPr>
        <p:spPr>
          <a:xfrm>
            <a:off x="4743450" y="1738993"/>
            <a:ext cx="3931920" cy="2011680"/>
          </a:xfrm>
          <a:prstGeom prst="round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926330" y="1921873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K Too Large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26330" y="2379073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• Splits natural groups</a:t>
            </a:r>
          </a:p>
          <a:p>
            <a:pPr marL="0" indent="0">
              <a:buNone/>
            </a:pPr>
            <a:r>
              <a:rPr lang="en-US" sz="1400" dirty="0"/>
              <a:t>• Creates artificial clusters</a:t>
            </a:r>
          </a:p>
          <a:p>
            <a:pPr marL="0" indent="0">
              <a:buNone/>
            </a:pPr>
            <a:r>
              <a:rPr lang="en-US" sz="1400" dirty="0"/>
              <a:t>• Overfitting</a:t>
            </a:r>
          </a:p>
          <a:p>
            <a:pPr marL="0" indent="0">
              <a:buNone/>
            </a:pPr>
            <a:r>
              <a:rPr lang="en-US" sz="1400" dirty="0"/>
              <a:t>• Over-segmentation</a:t>
            </a:r>
          </a:p>
        </p:txBody>
      </p:sp>
      <p:sp>
        <p:nvSpPr>
          <p:cNvPr id="10" name="Shape 8"/>
          <p:cNvSpPr/>
          <p:nvPr/>
        </p:nvSpPr>
        <p:spPr>
          <a:xfrm>
            <a:off x="2103120" y="3750673"/>
            <a:ext cx="4656909" cy="684167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2286000" y="3796393"/>
            <a:ext cx="4572000" cy="547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Solution: </a:t>
            </a:r>
            <a:r>
              <a:rPr lang="en-US" sz="1800" dirty="0">
                <a:solidFill>
                  <a:srgbClr val="FFFFFF"/>
                </a:solidFill>
              </a:rPr>
              <a:t>Use evaluation methods to find optimal K</a:t>
            </a:r>
            <a:endParaRPr lang="en-US" sz="18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FB51C8-C996-358F-6F61-AD3D1AF58E03}"/>
              </a:ext>
            </a:extLst>
          </p:cNvPr>
          <p:cNvSpPr txBox="1">
            <a:spLocks/>
          </p:cNvSpPr>
          <p:nvPr/>
        </p:nvSpPr>
        <p:spPr>
          <a:xfrm>
            <a:off x="364466" y="108446"/>
            <a:ext cx="7358948" cy="9888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highlight>
                  <a:srgbClr val="FBA31C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Choosing K: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Fundamental</a:t>
            </a:r>
          </a:p>
          <a:p>
            <a:r>
              <a:rPr lang="en-GB" sz="2800" dirty="0">
                <a:solidFill>
                  <a:srgbClr val="45C2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Elbow Method for Choosing 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The elbow method plots the Within-Cluster Sum of Squares (WCSS) or inertia against different values of K. The 'elbow' point indicates optimal 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8229600" cy="91440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Inertia (WCSS) = Sum of squared distances from points to centroids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Sum of squared distances between each point and its cluster centroid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1. Run K-Means for K = 1 to 10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2. Calculate inertia for each K value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27222" y="3200400"/>
            <a:ext cx="220435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3. Plot K vs. Inertia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27222" y="3520440"/>
            <a:ext cx="346165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4. Look for the 'elbow' - point where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inertia decrease slows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61557" y="4090306"/>
            <a:ext cx="3804557" cy="435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5. Choose K at the elbow as optimal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Elbow Method: Visual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F3C7E"/>
                </a:solidFill>
              </a:rPr>
              <a:t>The 'elbow' is where adding more clusters doesn't significantly reduce inertia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0" cy="274320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1371600" y="4572000"/>
            <a:ext cx="640080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 rot="16200000">
            <a:off x="45720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Inertia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Number of Clusters (K)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2011680"/>
            <a:ext cx="731520" cy="5486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2286000" y="2560320"/>
            <a:ext cx="731520" cy="45720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017520" y="3017520"/>
            <a:ext cx="731520" cy="27432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3749040" y="3291840"/>
            <a:ext cx="731520" cy="3657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480560" y="3657600"/>
            <a:ext cx="731520" cy="18288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5212080" y="3840480"/>
            <a:ext cx="73152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5943600" y="3977640"/>
            <a:ext cx="731520" cy="914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6675120" y="4069080"/>
            <a:ext cx="731520" cy="4572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3566160" y="310896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10896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ELBOW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(K=4)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</a:rPr>
              <a:t>Clear elbow at K=4 suggests optimal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071904" cy="27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Elbow Method: 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37260"/>
            <a:ext cx="4572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9372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Subjective Interpretation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2573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The elbow point may not always be clear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14500"/>
            <a:ext cx="4572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40080" y="17145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Smooth Curves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345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Curve may be smooth with no distinct elbow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18264"/>
            <a:ext cx="4572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40080" y="241826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Multiple Elbows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7383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Sometimes multiple potential elbow points exist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30187"/>
            <a:ext cx="4572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40080" y="3130187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Only Considers Inertia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50227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Doesn't account for cluster separation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30682"/>
            <a:ext cx="4572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4070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Sensitive to Outliers                                                                                                                                                                                                                                                                  .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15072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Outliers can skew inertia calculations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078" y="28411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Silhouette Analysis for Choosing 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2078" y="873581"/>
            <a:ext cx="8229600" cy="447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Silhouette score measures how similar a point is to its own cluster compared to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other clusters. Ranges from -1 to +1.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8649" y="1528353"/>
            <a:ext cx="7511143" cy="82296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93073" y="16459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Silhouette Coefficient = (b - a) / max(a, b)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073" y="20116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a = mean intra-cluster distance  |  b = mean nearest-cluster distance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9491" y="2441125"/>
            <a:ext cx="914400" cy="365760"/>
          </a:xfrm>
          <a:prstGeom prst="rect">
            <a:avLst/>
          </a:prstGeom>
          <a:solidFill>
            <a:srgbClr val="00CC6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829491" y="244112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+1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6771" y="2441125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Perfect: Point is far from neighboring clusters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9491" y="2989765"/>
            <a:ext cx="914400" cy="36576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829491" y="298976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6771" y="2989765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Borderline: Point is on decision boundary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9491" y="3538405"/>
            <a:ext cx="914400" cy="365760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829491" y="353840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-1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6771" y="3538405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</a:rPr>
              <a:t>Poor: Point may be in wrong cluster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5171" y="3966210"/>
            <a:ext cx="8229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Choose K with highest average silhouette score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MiniBatch K-Means for Large Datasets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2790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MiniBatch K-Means uses random samples (mini-batches) of the dataset in each iteration, making it faster and more memory-efficient for large datasets.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93192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Standard K-Means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Uses entire dataset per iteration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More accurate results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Slower on large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High memory usage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Best for &lt; 100k samples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93192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MiniBatch K-Means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6517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Uses random samples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Slightly less accurate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Much faster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Low memory usage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• Great for &gt; 100k samples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</a:rPr>
              <a:t>Speed: 3-10x faster than standard K-Means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</a:rPr>
              <a:t>Memory: Can handle datasets that don't fit in RAM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</a:rPr>
              <a:t>Accuracy: Typically 95-99% as accurate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When K-Means Fails: 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Assumes Spherical Clusters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Struggles with elongated or irregular shapes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Use DBSCAN or Gaussian Mixture Models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5720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Sensitive to Initialization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Different starting centroids yield different results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Use k-means++ initialization or run multiple times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5720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Requires Specifying 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Must know number of clusters beforehand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Use elbow method and silhouette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2" y="1280160"/>
            <a:ext cx="45720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029202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Sensitive to Outliers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2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Outliers can pull centroids away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2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Remove outliers or use K-medoids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2" y="2103120"/>
            <a:ext cx="45720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5029202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Struggles with Different Sizes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2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Assumes all clusters have similar size and density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2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Consider hierarchical clustering or DBSCAN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Live Coding:</a:t>
            </a:r>
            <a:endParaRPr lang="en-US" sz="48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K-Means Implementation</a:t>
            </a:r>
            <a:endParaRPr lang="en-US" sz="48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</a:rPr>
              <a:t>Follow along in your Jupyter Notebook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Step 1: Import Libraries &amp; Load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931920"/>
          </a:xfrm>
          <a:prstGeom prst="round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pd.read_csv('your_data.csv')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Step 2: Data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931920"/>
          </a:xfrm>
          <a:prstGeom prst="round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['feature1', 'feature2', 'feature3']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df[features]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X.dropna()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print(f'Shape: {X_scaled.shape}')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print(f'Mean: {X_scaled.mean():.2f}')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print(f'Std: {X_scaled.std():.2f}')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Step 3: Elbow Method for Optimal 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931920"/>
          </a:xfrm>
          <a:prstGeom prst="round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inertias = []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K_range = range(1, 11)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K_range: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kmeans = KMeans(n_clusters=k, random_state=42)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kmeans.fit(X_scaled)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inertias.append(kmeans.inertia_)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plt.plot(K_range, inertias, 'bo-')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plt.xlabel('Number of Clusters (K)')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plt.ylabel('Inertia (WCSS)')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plt.title('Elbow Method')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Step 4: Silhouette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931920"/>
          </a:xfrm>
          <a:prstGeom prst="round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silhouette_scores = []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K_range = range(2, 11)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K_range: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kmeans = KMeans(n_clusters=k, random_state=42)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 = kmeans.fit_predict(X_scaled)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silhouette_score(X_scaled, labels)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silhouette_scores.append(score)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plt.plot(K_range, silhouette_scores, 'go-')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plt.xlabel('Number of Clusters (K)')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plt.ylabel('Silhouette Score')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Step 5: Fit K-Means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931920"/>
          </a:xfrm>
          <a:prstGeom prst="round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optimal_k = 4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kmeans_final = KMeans(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n_clusters=optimal_k,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init='k-means++',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n_init=10,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max_iter=300,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cluster_labels = kmeans_final.fit_predict(X_scaled)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df['Cluster'] = cluster_labels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print(f'Inertia: {kmeans_final.inertia_:.2f}')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Step 6: Visualize Clusters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931920"/>
          </a:xfrm>
          <a:prstGeom prst="round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8))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X_scaled[:, 0],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X_scaled[:, 1],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c=cluster_labels,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cmap='viridis'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centroids = kmeans_final.cluster_centers_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plt.scatter(centroids[:, 0], centroids[:, 1],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c='red', s=300, marker='X')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plt.title('K-Means Clustering')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Clustering Evaluation</a:t>
            </a:r>
            <a:endParaRPr lang="en-US" sz="48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Metrics</a:t>
            </a:r>
            <a:endParaRPr lang="en-US" sz="48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</a:rPr>
              <a:t>30 minutes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886" y="2514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Why Evaluate Clustering?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00031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Unlike supervised learning, we don't have labels to measure accuracy. We need metrics to assess cluster quality and validate our choices.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1886" y="1508760"/>
            <a:ext cx="8229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74766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Internal Metrics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4766" y="18745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Based on data and clustering results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4766" y="20848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Examples: Silhouette, Inertia, Davies-Bouldin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1886" y="2514600"/>
            <a:ext cx="8229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574766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External Metrics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4766" y="28803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Require ground truth labels for comparison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4766" y="309067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Examples: Adjusted Rand Index, Mutual Information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1886" y="3520440"/>
            <a:ext cx="8229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74766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Visual Evaluation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4766" y="38862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Graphical assessment of cluster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4766" y="409651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Examples: Scatter plots, Dendrograms, Silhouette plots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71104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Silhouette Score: Deep Dive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Formula: s(i) = (b(i) - a(i)) / max{a(i), b(i)}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a(i) = avg distance to same cluster | b(i) = avg distance to nearest cluster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679" y="182880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30679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0.71 - 1.0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42359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Strong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49881" y="1874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Well-separated, natural clusters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679" y="251460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30679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0.51 - 0.70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42359" y="2514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Reasonable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49881" y="2560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Acceptable cluster 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679" y="320040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30679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0.26 - 0.50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359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Weak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49881" y="3246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Overlapping clusters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679" y="388620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30679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&lt; 0.25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42359" y="3886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Poor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49881" y="3931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No substantial cluster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Davies-Bouldin Index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Measures the average similarity between each cluster and its most similar cluster. Lower values indicate better clustering.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73152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DB = (1/K) Sum of max similarity ratios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Lower is better | 0 = perfect separation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Range: 0 to infinity (lower is better)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0 indicates perfect separation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Higher values mean overlapping clusters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507492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Computationally efficient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07492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Works well with K-Means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402336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07492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Assumes convex clusters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663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davies_bouldin_score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db_score = davies_bouldin_score(X_scaled, cluster_labels)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print(f'DB Index: {db_score:.3f}')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Inertia (WCSS)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C7E"/>
                </a:solidFill>
              </a:rPr>
              <a:t>Measures how tightly clustered the data points are within each cluster. Lower inertia means more compact clusters.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82296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Inertia = Sum of squared distances from points to centroids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Sum of squared distances between each point and its cluster centroid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601" y="2834640"/>
            <a:ext cx="3580856" cy="1546316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749481" y="3017520"/>
            <a:ext cx="3247753" cy="231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481" y="3383280"/>
            <a:ext cx="3247753" cy="92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Automatically calculated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Fast to compute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Intuitive interpretation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Useful for elbow method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64281" y="2834640"/>
            <a:ext cx="3580856" cy="1546316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047161" y="3017520"/>
            <a:ext cx="3247753" cy="231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47161" y="3383280"/>
            <a:ext cx="3247753" cy="92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Always decreases with more 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Not normalized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Doesn't consider separation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Can't compare across datasets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1568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Visual Evaluation Techniques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4572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Scatter Plots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2D/3D visualization with centroids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Best for: Low-dimensional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4572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Silhouette Plots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Shows coefficient for each sample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Best for: Identifying poorly clustered 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4572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Cluster Heatmaps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2560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Shows feature patterns across clusters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Best for: Understanding cluster characteristics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4572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858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Pair Plots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Pairwise scatter plots colored by cluster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Best for: Multi-dimensional exploration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4572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Cluster Size Distribution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Bar chart of points per cluster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Best for: Identifying imbalanced clusters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Hands-On Exercise:</a:t>
            </a:r>
            <a:endParaRPr lang="en-US" sz="44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Calculate &amp; Compare Metrics</a:t>
            </a:r>
            <a:endParaRPr lang="en-US" sz="4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2464"/>
            <a:ext cx="88582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Exercise: Compare Different K Values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062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9062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9062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Load sample dataset from shared folder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634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40080" y="13634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3634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Standardize features using StandardScaler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8206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40080" y="18206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8206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Run K-Means for K = 2, 3, 4, 5,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2778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40080" y="22778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2778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Calculate: Inertia, Silhouette Score, Davies-Bouldin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7350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27350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7350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Create comparison table showing all metrics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1922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640080" y="31922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1922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Plot elbow curve and silhouette scores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6494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640080" y="36494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494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Determine optimal K and justify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1066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640080" y="41066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1066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Visualize final clusters with scatter plot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Unsupervised Project</a:t>
            </a:r>
            <a:endParaRPr lang="en-US" sz="48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Introduction</a:t>
            </a:r>
            <a:endParaRPr lang="en-US" sz="4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Unsupervised Learning Project Options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59228" y="719763"/>
            <a:ext cx="8327571" cy="6126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42108" y="749023"/>
            <a:ext cx="2775857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Customer Segmentation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2108" y="1036755"/>
            <a:ext cx="7957457" cy="20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Segment bank customers by transaction 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9228" y="1497003"/>
            <a:ext cx="8327571" cy="6126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42108" y="1526263"/>
            <a:ext cx="2775857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Market Basket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2108" y="1813995"/>
            <a:ext cx="7957457" cy="20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Discover product associations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9228" y="2274243"/>
            <a:ext cx="8327571" cy="6126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42108" y="2303503"/>
            <a:ext cx="2775857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2108" y="2591235"/>
            <a:ext cx="7957457" cy="20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Identify fraudulent transactions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228" y="3051483"/>
            <a:ext cx="8327571" cy="6126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42108" y="3080743"/>
            <a:ext cx="2775857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Document Clustering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2108" y="3368475"/>
            <a:ext cx="7957457" cy="20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Categorize news articles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9228" y="3828723"/>
            <a:ext cx="8327571" cy="6126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42108" y="3857983"/>
            <a:ext cx="2775857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User Behavior Analysis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2108" y="4145715"/>
            <a:ext cx="7957457" cy="20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Group users by app usage patterns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Project Requirements &amp; Deliverables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749040" cy="32689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Select domain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Find dataset (min 1000 rows)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Perform EDA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Apply K-Means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Evaluate with multiple 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Use elbow &amp; silhouette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Interpret clusters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Document findings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Deliverables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Jupyter Notebook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EDA visualizations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Clustering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Evaluation 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Business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Cluster profiles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Recommendations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069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• 5-min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Project Timeline &amp; Milestones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71500" y="1096758"/>
            <a:ext cx="1371600" cy="35975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71500" y="1096758"/>
            <a:ext cx="1371600" cy="35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Day 18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25980" y="1032292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Domain &amp;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25980" y="1279180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Choose domain, find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605230"/>
            <a:ext cx="1371600" cy="35975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71500" y="1605230"/>
            <a:ext cx="1371600" cy="35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Day 19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25980" y="1540764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EDA Complete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25980" y="1787652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Data cleaning, visualization, feature selection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" y="2150146"/>
            <a:ext cx="1371600" cy="35975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571500" y="2150146"/>
            <a:ext cx="1371600" cy="35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Day 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25980" y="2085680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Initial Clustering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25980" y="2332568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First K-Means implementation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" y="2673216"/>
            <a:ext cx="1371600" cy="35975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71500" y="2673216"/>
            <a:ext cx="1371600" cy="35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Day 21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25980" y="2608750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Optimization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25980" y="2855638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Test multiple K, compare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" y="3277651"/>
            <a:ext cx="1371600" cy="35975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571500" y="3277651"/>
            <a:ext cx="1371600" cy="35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Day 22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25980" y="3213185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Final Analysis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25980" y="3460073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Interpret clusters, insights, documentation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1500" y="3858899"/>
            <a:ext cx="1371600" cy="35975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571500" y="3858899"/>
            <a:ext cx="1371600" cy="35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Day 23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25980" y="3794433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Presentations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25980" y="4041321"/>
            <a:ext cx="6675120" cy="149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5-minute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/>
              <a:t>Where to Find Datasets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Kaggle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</a:rPr>
              <a:t>kaggle.com/datasets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4088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Wide variety with notebooks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UCI ML 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</a:rPr>
              <a:t>archive.ics.uci.edu/ml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Classic ML datasets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Google Dataset 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</a:rPr>
              <a:t>datasetsearch.research.google.com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Search engine for datasets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Data.gov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</a:rPr>
              <a:t>data.gov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743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US government open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9144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World Bank Data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</a:rPr>
              <a:t>data.worldbank.org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Global development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91440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Nigerian Data Portal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</a:rPr>
              <a:t>nigeria.opendataforafrica.org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Nigerian-specific datasets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African Data Portal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</a:rPr>
              <a:t>dataportal.opendataforafrica.org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African countries data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41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/>
              <a:t>Project Evaluation Criteria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8001"/>
            <a:ext cx="45720" cy="264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7223760" y="1123588"/>
            <a:ext cx="109728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223760" y="112358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001668"/>
            <a:ext cx="62179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Data Quality &amp; EDA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250588"/>
            <a:ext cx="621792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Thorough exploration and cleaning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96025"/>
            <a:ext cx="45720" cy="264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7223760" y="1682932"/>
            <a:ext cx="109728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7223760" y="16829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1561012"/>
            <a:ext cx="62179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Clustering Implementation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1809932"/>
            <a:ext cx="621792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Correct K-Means with preprocessing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51199"/>
            <a:ext cx="45720" cy="264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7223760" y="2279832"/>
            <a:ext cx="109728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223760" y="22798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157912"/>
            <a:ext cx="62179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Model 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2406832"/>
            <a:ext cx="621792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Multiple metrics, optimal K selection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16894"/>
            <a:ext cx="45720" cy="264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7223760" y="2796540"/>
            <a:ext cx="109728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7223760" y="27965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2674620"/>
            <a:ext cx="62179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2923540"/>
            <a:ext cx="621792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Clear characterization and insights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220723"/>
            <a:ext cx="45720" cy="264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7223760" y="3324860"/>
            <a:ext cx="109728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7223760" y="33248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3202940"/>
            <a:ext cx="62179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Code Quality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3451860"/>
            <a:ext cx="621792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Clean, documented code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704771"/>
            <a:ext cx="45720" cy="264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7223760" y="3825240"/>
            <a:ext cx="109728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7223760" y="38252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3703320"/>
            <a:ext cx="62179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3952240"/>
            <a:ext cx="621792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7E"/>
                </a:solidFill>
              </a:rPr>
              <a:t>Clear communication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637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/>
              <a:t>Key Takeaways from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99" y="86868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199" y="86868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49135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Unsupervised learning discovers patterns in unlabeled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199" y="123444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57199" y="123444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9135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K-Means partitions data into K clusters using centroids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199" y="160020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57199" y="160020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49135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Choosing optimal K requires elbow method and silhouette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99" y="196596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57199" y="196596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49135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Multiple evaluation metrics provide comprehensive assessment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199" y="233172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57199" y="233172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49135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MiniBatch K-Means enables clustering on large datasets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199" y="269748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57199" y="269748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49135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K-Means works best with spherical, similar-sized clusters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199" y="306324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57199" y="306324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49135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Always standardize features before clustering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199" y="342900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457199" y="342900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49135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Visual evaluation complements numerical metrics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199" y="379476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457199" y="379476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49135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Domain knowledge is crucial for interpreting clusters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199" y="4160520"/>
            <a:ext cx="587829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457199" y="4160520"/>
            <a:ext cx="5878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49135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Applications range from segmentation to anomaly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/>
              <a:t>Additional Resources &amp;</a:t>
            </a:r>
          </a:p>
          <a:p>
            <a:pPr marL="0" indent="0">
              <a:buNone/>
            </a:pPr>
            <a:r>
              <a:rPr lang="en-US" sz="3600" b="1" dirty="0"/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Books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"Hands-On ML" by Geron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"Pattern Recognition" by Bishop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Online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Coursera: ML by Andrew 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DataCamp: Unsupervised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Docs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scikit-learn.org/stable/modules/clustering.html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K-Means Documentation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53743" y="13030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Papers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16583" y="157734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5512526" y="1525088"/>
            <a:ext cx="2743200" cy="372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Stuart Lloyd (1982)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16583" y="185166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5512526" y="1799408"/>
            <a:ext cx="2743200" cy="372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Image Compression examples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</a:rPr>
              <a:t>Today's Assignment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206066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✓ Select your project domain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1786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✓ Find and download dataset (min 1000 rows)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97506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✓ Perform initial EDA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3226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✓ Apply K-Means with multiple K values (2-10)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8946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✓ Calculate and compare evaluation metrics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/>
              <a:t>Questions?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</a:rPr>
              <a:t>Let's discuss your clustering questions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/>
              <a:t>Thank You!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02C39A"/>
                </a:solidFill>
              </a:rPr>
              <a:t>Happy Clustering!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See you on Day 18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133</TotalTime>
  <Words>2689</Words>
  <Application>Microsoft Office PowerPoint</Application>
  <PresentationFormat>On-screen Show (16:9)</PresentationFormat>
  <Paragraphs>563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Courier New</vt:lpstr>
      <vt:lpstr>Neue Haas Grotesk Text Pro</vt:lpstr>
      <vt:lpstr>AI4SID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17 - Clustering Fundamentals &amp; K-Means</dc:title>
  <dc:subject>PptxGenJS Presentation</dc:subject>
  <dc:creator>Data Science Accelerator Program</dc:creator>
  <cp:lastModifiedBy>Uthman Abdulrahman</cp:lastModifiedBy>
  <cp:revision>2</cp:revision>
  <dcterms:created xsi:type="dcterms:W3CDTF">2026-02-02T16:13:00Z</dcterms:created>
  <dcterms:modified xsi:type="dcterms:W3CDTF">2026-02-03T14:54:47Z</dcterms:modified>
</cp:coreProperties>
</file>