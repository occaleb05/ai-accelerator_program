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841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666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345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9880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8001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291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224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292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9970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9097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659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2743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995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B5649B9B-7820-6F4E-F2B7-1B240E5EF19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3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Implementation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200400"/>
            <a:ext cx="1645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365760" y="3398520"/>
            <a:ext cx="15621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3200400"/>
            <a:ext cx="1645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228600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LEVEL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8600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Advanced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3200400"/>
            <a:ext cx="164592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206240" y="3246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FOCUS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062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GANs + Projects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548640"/>
            <a:ext cx="274320" cy="274320"/>
          </a:xfrm>
          <a:prstGeom prst="ellipse">
            <a:avLst/>
          </a:prstGeom>
          <a:solidFill>
            <a:srgbClr val="00D4AA">
              <a:alpha val="60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274320" cy="274320"/>
          </a:xfrm>
          <a:prstGeom prst="ellipse">
            <a:avLst/>
          </a:prstGeom>
          <a:solidFill>
            <a:srgbClr val="00D4AA">
              <a:alpha val="60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6949440" y="2011680"/>
            <a:ext cx="274320" cy="274320"/>
          </a:xfrm>
          <a:prstGeom prst="ellipse">
            <a:avLst/>
          </a:prstGeom>
          <a:solidFill>
            <a:srgbClr val="00D4AA">
              <a:alpha val="60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6949440" y="2743200"/>
            <a:ext cx="274320" cy="274320"/>
          </a:xfrm>
          <a:prstGeom prst="ellipse">
            <a:avLst/>
          </a:prstGeom>
          <a:solidFill>
            <a:srgbClr val="00D4AA">
              <a:alpha val="60000"/>
            </a:srgbClr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7772400" y="822960"/>
            <a:ext cx="274320" cy="274320"/>
          </a:xfrm>
          <a:prstGeom prst="ellipse">
            <a:avLst/>
          </a:prstGeom>
          <a:solidFill>
            <a:srgbClr val="FF6B35">
              <a:alpha val="6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7772400" y="1554480"/>
            <a:ext cx="274320" cy="274320"/>
          </a:xfrm>
          <a:prstGeom prst="ellipse">
            <a:avLst/>
          </a:prstGeom>
          <a:solidFill>
            <a:srgbClr val="FF6B35">
              <a:alpha val="6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7772400" y="2286000"/>
            <a:ext cx="274320" cy="274320"/>
          </a:xfrm>
          <a:prstGeom prst="ellipse">
            <a:avLst/>
          </a:prstGeom>
          <a:solidFill>
            <a:srgbClr val="FF6B35">
              <a:alpha val="60000"/>
            </a:srgbClr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8503920" y="1097280"/>
            <a:ext cx="274320" cy="274320"/>
          </a:xfrm>
          <a:prstGeom prst="ellipse">
            <a:avLst/>
          </a:prstGeom>
          <a:solidFill>
            <a:srgbClr val="7C3AED">
              <a:alpha val="6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8503920" y="1828800"/>
            <a:ext cx="274320" cy="274320"/>
          </a:xfrm>
          <a:prstGeom prst="ellipse">
            <a:avLst/>
          </a:prstGeom>
          <a:solidFill>
            <a:srgbClr val="7C3AED">
              <a:alpha val="60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18288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By the end of this session, you will be equipped to: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32004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3200400" y="320040"/>
            <a:ext cx="64008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383280" y="502920"/>
            <a:ext cx="502920" cy="50292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3832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411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Generative vs. Discriminative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822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conceptual distinction in modern ML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41732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3200400" y="1417320"/>
            <a:ext cx="64008" cy="9601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383280" y="1600200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383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GAN Architecture &amp; Training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764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Generator, Discriminator, minimax game, convergence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51460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3200400" y="251460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3383280" y="26974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33832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2606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Basic GANs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live coding: build a working GAN from scratch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611880"/>
            <a:ext cx="56692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3200400" y="361188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3383280" y="3794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33832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Nigerian AI Opportunities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7764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real-world applications in local creative industries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400" dirty="0">
                <a:solidFill>
                  <a:srgbClr val="FFFFFF"/>
                </a:solidFill>
              </a:rPr>
              <a:t>SESSION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37490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01168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01752" y="11887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0175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20 min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4:00–4:20 PM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Introduction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242316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0292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Generative AI landscape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292608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0292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Applications overview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" y="342900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0292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Nigerian opportunities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8328" y="3931920"/>
            <a:ext cx="91440" cy="9144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Project options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1051560"/>
            <a:ext cx="2011680" cy="37490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2423160" y="1051560"/>
            <a:ext cx="20116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2496312" y="11887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249631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60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96312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4:20–5:20 PM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96312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8803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Gen 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32888" y="2423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269748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Gen vs Discriminative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32888" y="292608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269748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Model types: GANs, VAEs,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Diffusion, Autoregressive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32888" y="342900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269748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Ethics &amp; deepfakes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32888" y="393192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269748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Nigerian use cases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1051560"/>
            <a:ext cx="2011680" cy="37490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4617720" y="1051560"/>
            <a:ext cx="20116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4690872" y="11887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469087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55 min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90872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5:20–6:15 PM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90872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0749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Deep Dive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27448" y="242316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489204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Architecture &amp; training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27448" y="292608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489204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Mode collapse &amp; challenges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27448" y="342900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489204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DCGAN, StyleGAN, CycleGAN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27448" y="3931920"/>
            <a:ext cx="91440" cy="914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489204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Live coding + practice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812280" y="1051560"/>
            <a:ext cx="2011680" cy="37490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1" name="Shape 49"/>
          <p:cNvSpPr/>
          <p:nvPr/>
        </p:nvSpPr>
        <p:spPr>
          <a:xfrm>
            <a:off x="6812280" y="105156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2" name="Shape 50"/>
          <p:cNvSpPr/>
          <p:nvPr/>
        </p:nvSpPr>
        <p:spPr>
          <a:xfrm>
            <a:off x="6885432" y="118872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Text 51"/>
          <p:cNvSpPr/>
          <p:nvPr/>
        </p:nvSpPr>
        <p:spPr>
          <a:xfrm>
            <a:off x="688543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15 min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85432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6:15–6:30 PM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85432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726948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922008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Text 56"/>
          <p:cNvSpPr/>
          <p:nvPr/>
        </p:nvSpPr>
        <p:spPr>
          <a:xfrm>
            <a:off x="7086600" y="2377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Project options briefing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22008" y="29260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0" name="Text 58"/>
          <p:cNvSpPr/>
          <p:nvPr/>
        </p:nvSpPr>
        <p:spPr>
          <a:xfrm>
            <a:off x="7086600" y="2880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Datasets &amp; targets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22008" y="3429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2" name="Text 60"/>
          <p:cNvSpPr/>
          <p:nvPr/>
        </p:nvSpPr>
        <p:spPr>
          <a:xfrm>
            <a:off x="7086600" y="3383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Architecture choices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22008" y="39319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4" name="Text 62"/>
          <p:cNvSpPr/>
          <p:nvPr/>
        </p:nvSpPr>
        <p:spPr>
          <a:xfrm>
            <a:off x="7086600" y="3886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Assignment details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40280" y="2926080"/>
            <a:ext cx="201168" cy="0"/>
          </a:xfrm>
          <a:prstGeom prst="line">
            <a:avLst/>
          </a:prstGeom>
          <a:noFill/>
          <a:ln w="2540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66" name="Shape 64"/>
          <p:cNvSpPr/>
          <p:nvPr/>
        </p:nvSpPr>
        <p:spPr>
          <a:xfrm>
            <a:off x="4434840" y="2926080"/>
            <a:ext cx="201168" cy="0"/>
          </a:xfrm>
          <a:prstGeom prst="line">
            <a:avLst/>
          </a:prstGeom>
          <a:noFill/>
          <a:ln w="2540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67" name="Shape 65"/>
          <p:cNvSpPr/>
          <p:nvPr/>
        </p:nvSpPr>
        <p:spPr>
          <a:xfrm>
            <a:off x="6629400" y="2926080"/>
            <a:ext cx="201168" cy="0"/>
          </a:xfrm>
          <a:prstGeom prst="line">
            <a:avLst/>
          </a:prstGeom>
          <a:noFill/>
          <a:ln w="25400">
            <a:solidFill>
              <a:srgbClr val="2A4A6A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Generative AI Landscape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5303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4:00–4:20 PM  ·  Module 4 Introduction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9260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Synthesis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images, art generation, style transfer, face generation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3154680" y="109728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326440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Storytelling, translation, code generation, dialogue, summarization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623620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Music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36208" y="16916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synthesis, music composition, sound effects, audio enhancement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182880" y="28346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29260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724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2608" y="34290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creation, deepfake (ethical), animation, video editing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5468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3154680" y="28346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26440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74904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64408" y="34290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for ML training, privacy-preserving data, minority class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6126480" y="28346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6236208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0840" y="29443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Tools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34290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assistants, content automation, Nigerian pattern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🇳🇬  Nigerian Opportunities in Generative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Local context, global impact — where AI meets Nigerian creativity and commerce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161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&amp; Film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73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scriptwriting, scene generation, background synthesis for low-budget productions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154680" y="105156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29184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94760" y="1161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Afrobeats &amp; Music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673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composition tools, beat generation, voice synthesis for artists and producers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54864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621792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16128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Textiles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67335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Ankara, Adire, Aso-oke patterns; digital fashion design for e-commerce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228600" y="2834640"/>
            <a:ext cx="54864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36576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Agri-Tech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4564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crop disease data for ML training in areas with limited labelled datasets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3154680" y="2834640"/>
            <a:ext cx="54864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2918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94760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4564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financial data, fraud detection training, document generation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743200" cy="160020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6080760" y="2834640"/>
            <a:ext cx="54864" cy="1600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21792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29443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&amp; Content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45643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educational content generation, Yoruba/Igbo/Hausa text synthesis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🧠  Generative vs. Discriminative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4:20–5:20 PM  ·  Foundations of Generative AI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4114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1B2D"/>
                </a:solidFill>
              </a:rPr>
              <a:t>DISCRIMINATIVE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B82F6"/>
                </a:solidFill>
              </a:rPr>
              <a:t>P(Y | X) — Learn the boundary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8745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30352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Maps inputs → labels or decisions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3134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30352" y="2267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Learns decision boundaries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7523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30352" y="2706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Examples: Logistic Regression,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SVM, CNN classifiers, BERT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19125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30352" y="3145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Task: 'Is this image a cat or dog?'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63016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30352" y="3584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Efficient, high accuracy on classification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06908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530352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Cannot generate new samples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4800600" y="1051560"/>
            <a:ext cx="41148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8920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1B2D"/>
                </a:solidFill>
              </a:rPr>
              <a:t>GENERATIVE MODELS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AA"/>
                </a:solidFill>
              </a:rPr>
              <a:t>P(X, Y) — Learn the distribution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1874520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102352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Models joint distribution of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19472" y="2313432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102352" y="2267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Learns the underlying structure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2752344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102352" y="2706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Examples: GANs, VAEs, Diffusion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Models, Autoregressive Models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3191256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102352" y="31455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Task: 'Generate a realistic cat image'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19472" y="3630168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5102352" y="3584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Can synthesize entirely new samples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19472" y="4069080"/>
            <a:ext cx="109728" cy="10972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5102352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Harder to train, evaluate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51960" y="2651760"/>
            <a:ext cx="640080" cy="64008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4251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Overview of Generative Model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Four major families — each with distinct strengths, weaknesses, and use cases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384048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0116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GANs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Generative Adversarial Networks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23591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Two neural nets (Generator + Discriminator) compete in a minimax game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✅ Sharp images, fast inference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8328" y="33101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⚠️ Training instability, mode collapse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8328" y="36393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Uses: Image synthesis, style transfer, deepfakes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23160" y="1005840"/>
            <a:ext cx="2011680" cy="384048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2423160" y="1005840"/>
            <a:ext cx="20116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2560320" y="1143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256032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VAEs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532888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Variational Autoencoders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32888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23591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Encode data into latent space, then decode; learn smooth, structured representation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32888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✅ Stable training, interpretable latent space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32888" y="33101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⚠️ Blurry outputs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32888" y="36393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Uses: Anomaly detection, data compression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17720" y="1005840"/>
            <a:ext cx="2011680" cy="384048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4617720" y="100584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4754880" y="1143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75488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Diffusion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27448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Diffusion Models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27448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7448" y="23591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Gradually add noise, then learn to denoise; reverse the process to generate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27448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✅ State-of-the-art image quality (DALL-E, Stable Diffusion)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27448" y="33101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⚠️ Slow sampling, compute heavy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27448" y="36393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Uses: Image, audio, video generation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12280" y="1005840"/>
            <a:ext cx="2011680" cy="384048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6812280" y="1005840"/>
            <a:ext cx="201168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6949440" y="1143000"/>
            <a:ext cx="1737360" cy="475488"/>
          </a:xfrm>
          <a:prstGeom prst="roundRect">
            <a:avLst>
              <a:gd name="adj" fmla="val 1153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949440" y="11430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AR Models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22008" y="1691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Autoregressive Models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22008" y="214884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35"/>
                </a:solidFill>
              </a:rPr>
              <a:t>How it works: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235915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Generate data token-by-token, each conditioned on previous tokens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22008" y="299923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✅ Natural for sequences, exact likelihood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22008" y="33101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35"/>
                </a:solidFill>
              </a:rPr>
              <a:t>⚠️ Sequential = slow generation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22008" y="36393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Uses: Text (GPT), audio (WaveNet), images (PixelCNN)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⚖️  Ethical Considerations in Generative AI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Critical issues every practitioner must understand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3832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🎭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0392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&amp; Misinformation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" y="1810512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338328" y="1938528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484632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AI-generated faces, voices, videos can deceive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" y="2596896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84632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Political manipulation, non-consensual imagery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" y="3255264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84632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Detection tools: FaceForensics++, DeepFace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" y="3913632"/>
            <a:ext cx="54864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84632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Nigeria context: electoral misinformation risks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3200400" y="10515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31012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©️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822192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&amp; Ownership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1810512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3310128" y="1938528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456432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Models trained on scraped copyrighted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10128" y="2596896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456432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Who owns AI-generated art? Creator, trainer, nobody?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10128" y="3255264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456432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Ongoing legal battles (Getty, OpenAI, Stability AI)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10128" y="3913632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3456432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Best practice: use permissive-licensed datasets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2200" y="105156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6172200" y="105156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6281928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93992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&amp; Trust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81928" y="1810512"/>
            <a:ext cx="2514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6281928" y="1938528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428232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Synthetic media erodes trust in real content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81928" y="2596896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6428232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Content provenance (C2PA standard, watermarking)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1928" y="3255264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6428232" y="32369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Disclosure obligations for AI-generated content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1928" y="3913632"/>
            <a:ext cx="54864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/>
          <p:nvPr/>
        </p:nvSpPr>
        <p:spPr>
          <a:xfrm>
            <a:off x="6428232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Building responsible AI practices from the start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6" name="Text 44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4700"/>
                </a:solidFill>
              </a:rPr>
              <a:t>💬  Discussion: How might these ethical challenges manifest specifically in Nigeria? What safeguards would you propose?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⚡  GAN Architecture: Generator vs. Discriminator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5:20–6:15 PM  ·  The adversarial minimax game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188720"/>
            <a:ext cx="1234440" cy="1463040"/>
          </a:xfrm>
          <a:prstGeom prst="rect">
            <a:avLst/>
          </a:prstGeom>
          <a:solidFill>
            <a:srgbClr val="1A2F4A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182880" y="12344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" y="1719072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Random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</a:rPr>
              <a:t>Noise z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2402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8AA0"/>
                </a:solidFill>
              </a:rPr>
              <a:t>z ~ N(0,1)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1737360" y="1051560"/>
            <a:ext cx="2286000" cy="1783080"/>
          </a:xfrm>
          <a:prstGeom prst="rect">
            <a:avLst/>
          </a:prstGeom>
          <a:solidFill>
            <a:srgbClr val="0D2A1A"/>
          </a:solidFill>
          <a:ln w="25400">
            <a:solidFill>
              <a:srgbClr val="00D4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173736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D4AA"/>
                </a:solidFill>
              </a:rPr>
              <a:t>GENERATOR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4356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C4A0"/>
                </a:solidFill>
              </a:rPr>
              <a:t>G(z)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71907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Neural network that maps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latent vector z → fake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(images, audio, text)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0" y="1920240"/>
            <a:ext cx="4572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977640" y="15544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AA"/>
                </a:solidFill>
              </a:rPr>
              <a:t>Fake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AA"/>
                </a:solidFill>
              </a:rPr>
              <a:t>Data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737360" y="2971800"/>
            <a:ext cx="2286000" cy="1280160"/>
          </a:xfrm>
          <a:prstGeom prst="rect">
            <a:avLst/>
          </a:prstGeom>
          <a:solidFill>
            <a:srgbClr val="1A2F4A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1737360" y="3017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83080" y="345643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Training dataset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(real images, audio, text)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23360" y="3611880"/>
            <a:ext cx="4572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977640" y="32461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Real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Data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80560" y="1325880"/>
            <a:ext cx="2286000" cy="2651760"/>
          </a:xfrm>
          <a:prstGeom prst="rect">
            <a:avLst/>
          </a:prstGeom>
          <a:solidFill>
            <a:srgbClr val="2A0D0D"/>
          </a:solidFill>
          <a:ln w="254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4805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6B35"/>
                </a:solidFill>
              </a:rPr>
              <a:t>DISCRIMINATOR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17099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806A"/>
                </a:solidFill>
              </a:rPr>
              <a:t>D(x)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199339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Neural network that classifies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input as Real or Fake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Outputs: P(real | x) ∈ [0,1]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26280" y="2926080"/>
            <a:ext cx="2194560" cy="7772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52628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or Fake?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26280" y="326440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</a:rPr>
              <a:t>D(real) → 1.0   D(fake) → 0.0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2651760"/>
            <a:ext cx="36576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7132320" y="2103120"/>
            <a:ext cx="1737360" cy="118872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13232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Loss Signal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27249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Backprop to both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G and 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" y="4370832"/>
            <a:ext cx="8778240" cy="658368"/>
          </a:xfrm>
          <a:prstGeom prst="rect">
            <a:avLst/>
          </a:prstGeom>
          <a:solidFill>
            <a:srgbClr val="1A2F4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365760" y="44165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</a:rPr>
              <a:t>Minimax Objective: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0" y="44165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min_G  max_D  [ E[log D(x)] + E[log(1 − D(G(z)))] 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709160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 wants D to output 1 (fool it)  |  D wants to correctly classify real vs. fake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⚠️  Training Dynamics &amp; Common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760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Why GANs are notoriously difficult to train — and how to address 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Training Loop (Alternating Steps)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286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490472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804672" y="151790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real data batch x ~ p_data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8483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2286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112264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804672" y="2139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noise z ~ N(0,1), generate G(z)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0662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2286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734056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804672" y="27614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D: maximize log D(x) + log(1−D(G(z)))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32841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2286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355848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804672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G: minimize log(1−D(G(z)))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95020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2286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3566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804672" y="40050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— ideally reach Nash equilibrium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Common Failure Modes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146304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4663440" y="1463040"/>
            <a:ext cx="54864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4773168" y="1536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💥  Mode Collapse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73168" y="18470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Generator produces only a few varieties, ignoring most of the data distribution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213969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35"/>
                </a:solidFill>
              </a:rPr>
              <a:t>Fix: Minibatch discrimination, Wasserstein GAN (WGAN), unrolled GANs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265176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54864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4773168" y="2724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📉  Training Instability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73168" y="30358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Loss oscillates, training diverges — G or D becomes dominant too quickly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73168" y="33284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</a:rPr>
              <a:t>Fix: Learning rate tuning, spectral normalization, gradient penalty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84048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9" name="Shape 37"/>
          <p:cNvSpPr/>
          <p:nvPr/>
        </p:nvSpPr>
        <p:spPr>
          <a:xfrm>
            <a:off x="4663440" y="3840480"/>
            <a:ext cx="54864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4773168" y="39136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</a:rPr>
              <a:t>👻  Vanishing Gradients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73168" y="42245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Discriminator becomes too good early; no gradient signal reaches Generator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4517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B82F6"/>
                </a:solidFill>
              </a:rPr>
              <a:t>Fix: Feature matching, historical averaging, label smoothing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Types of GANs: A Family Tree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From vanilla GANs to state-of-the-art architectures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664208" cy="39776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1664208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DCGAN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16733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Deep Convolutional GAN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2015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3134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A"/>
                </a:solidFill>
              </a:rPr>
              <a:t>Key: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487168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First stable CNN-based GAN; uses strided convolutions, batch norm, ReLU/Tanh activations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A"/>
                </a:solidFill>
              </a:rPr>
              <a:t>Uses: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350215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Image generation baselines; starting point for most architectures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4224528"/>
            <a:ext cx="14813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92608" y="425196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D4AA"/>
                </a:solidFill>
              </a:rPr>
              <a:t>💡 Proved GANs could reliably generate coherent images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993392" y="1005840"/>
            <a:ext cx="1664208" cy="39776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1993392" y="1005840"/>
            <a:ext cx="166420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2084832" y="114300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2084832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StyleGAN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084832" y="16733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Style-based GAN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496312" y="2011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2496312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2019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84832" y="23134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Key: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84832" y="2487168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Separate style and content via AdaIN; progressive growing; mapping network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084832" y="33375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Uses: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84832" y="350215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Photorealistic faces (thispersondoesnotexist.com), fashion, art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084832" y="4224528"/>
            <a:ext cx="14813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2103120" y="425196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C3AED"/>
                </a:solidFill>
              </a:rPr>
              <a:t>💡 Unprecedented realism; controllable style attributes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03904" y="1005840"/>
            <a:ext cx="1664208" cy="39776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3803904" y="1005840"/>
            <a:ext cx="1664208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3895344" y="114300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3895344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CycleGAN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95344" y="16733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Cycle-Consistent GAN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306824" y="2011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4306824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895344" y="23134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</a:rPr>
              <a:t>Key: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95344" y="2487168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Unpaired image translation; cycle consistency loss; two generator-discriminator pairs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95344" y="33375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</a:rPr>
              <a:t>Uses: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95344" y="350215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Photo ↔ painting, horse ↔ zebra, summer ↔ winter, Ankara pattern conversion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895344" y="4224528"/>
            <a:ext cx="14813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3913632" y="425196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B82F6"/>
                </a:solidFill>
              </a:rPr>
              <a:t>💡 No paired training data needed — huge practical advantage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614416" y="1005840"/>
            <a:ext cx="1664208" cy="39776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5" name="Shape 43"/>
          <p:cNvSpPr/>
          <p:nvPr/>
        </p:nvSpPr>
        <p:spPr>
          <a:xfrm>
            <a:off x="5614416" y="1005840"/>
            <a:ext cx="1664208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6" name="Shape 44"/>
          <p:cNvSpPr/>
          <p:nvPr/>
        </p:nvSpPr>
        <p:spPr>
          <a:xfrm>
            <a:off x="5705856" y="114300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5705856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WGAN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705856" y="16733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Wasserstein GAN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17336" y="2011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Text 48"/>
          <p:cNvSpPr/>
          <p:nvPr/>
        </p:nvSpPr>
        <p:spPr>
          <a:xfrm>
            <a:off x="6117336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705856" y="23134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</a:rPr>
              <a:t>Key: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05856" y="2487168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Replaces JS divergence with Wasserstein distance; weight clipping / gradient penalty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705856" y="33375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</a:rPr>
              <a:t>Uses: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705856" y="350215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More stable training; better convergence diagnostics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05856" y="4224528"/>
            <a:ext cx="14813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6" name="Text 54"/>
          <p:cNvSpPr/>
          <p:nvPr/>
        </p:nvSpPr>
        <p:spPr>
          <a:xfrm>
            <a:off x="5724144" y="425196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6B35"/>
                </a:solidFill>
              </a:rPr>
              <a:t>💡 Solved mode collapse and training instability in many cases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424928" y="1005840"/>
            <a:ext cx="1664208" cy="39776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8" name="Shape 56"/>
          <p:cNvSpPr/>
          <p:nvPr/>
        </p:nvSpPr>
        <p:spPr>
          <a:xfrm>
            <a:off x="7424928" y="1005840"/>
            <a:ext cx="166420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9" name="Shape 57"/>
          <p:cNvSpPr/>
          <p:nvPr/>
        </p:nvSpPr>
        <p:spPr>
          <a:xfrm>
            <a:off x="7516368" y="1143000"/>
            <a:ext cx="1481328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0" name="Text 58"/>
          <p:cNvSpPr/>
          <p:nvPr/>
        </p:nvSpPr>
        <p:spPr>
          <a:xfrm>
            <a:off x="7516368" y="114300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Pix2Pix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516368" y="16733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Conditional Image-to-Image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27848" y="2011680"/>
            <a:ext cx="640080" cy="201168"/>
          </a:xfrm>
          <a:prstGeom prst="roundRect">
            <a:avLst>
              <a:gd name="adj" fmla="val 13636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3" name="Text 61"/>
          <p:cNvSpPr/>
          <p:nvPr/>
        </p:nvSpPr>
        <p:spPr>
          <a:xfrm>
            <a:off x="7927848" y="20116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2017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16368" y="23134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Key: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516368" y="2487168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Conditional GAN; paired training; U-Net generator; PatchGAN discriminator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516368" y="333756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Uses: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516368" y="3502152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</a:rPr>
              <a:t>Sketch→photo, map→aerial, B&amp;W→color, medical image synthesis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516368" y="4224528"/>
            <a:ext cx="1481328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9" name="Text 67"/>
          <p:cNvSpPr/>
          <p:nvPr/>
        </p:nvSpPr>
        <p:spPr>
          <a:xfrm>
            <a:off x="7534656" y="4251960"/>
            <a:ext cx="1444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</a:rPr>
              <a:t>💡 Versatile conditional image generation with paired data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💻  Live Coding: Build a Simple GAN in PyTorch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AA0"/>
                </a:solidFill>
              </a:rPr>
              <a:t>Follow along — we build from scratch in real-time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539496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Generator Network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20040" y="114757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Generator(nn.Module):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20040" y="128930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z_dim=100):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20040" y="1431036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320040" y="1572768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self.net = nn.Sequential(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20040" y="171450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nn.Linear(z_dim, 256),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20040" y="185623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nn.ReLU(), nn.Linear(256, 784),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0040" y="199796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nn.Tanh())  # MNIST: 28×28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0040" y="2139696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Discriminator Network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20040" y="2281428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Discriminator(nn.Module):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0040" y="242316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256489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self.net = nn.Sequential(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0040" y="270662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nn.Linear(784, 256), nn.LeakyReLU(0.2),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20040" y="2848356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nn.Linear(256, 1), nn.Sigmoid())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0040" y="2990088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Training Loop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20040" y="313182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real in dataloader: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0040" y="327355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Train D: real → 1, fake → 0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20040" y="3415284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 = torch.randn(batch, z_dim)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20040" y="3557016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fake = G(z).detach()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20040" y="3698748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loss_D = -log(D(real))-log(1-D(fake))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20040" y="384048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Train G: fool D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20040" y="3982212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loss_G = -log(D(G(z)))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715000" y="932688"/>
            <a:ext cx="32461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85216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🔑  Build Steps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52160" y="14447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85216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435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Define Generator G(z)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161848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z_dim=100, output=784 (MNIST)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852160" y="194767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5852160" y="1947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17920" y="1938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Define Discriminator D(x)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179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Output sigmoid ∈ [0,1]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52160" y="245059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5852160" y="2450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24414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Setup optimizers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17920" y="26243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Adam, lr=2e-4, β=(0.5,0.999)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852160" y="295351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585216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294436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 D on real + fake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31272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Binary cross-entropy loss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52160" y="345643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585216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3447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 G to fool 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363016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Freeze D, backprop through 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852160" y="39593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585216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</a:rPr>
              <a:t>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39502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Visualize samples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17920" y="413308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Save grid every N epochs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715000" y="4187952"/>
            <a:ext cx="3246120" cy="658368"/>
          </a:xfrm>
          <a:prstGeom prst="rect">
            <a:avLst/>
          </a:prstGeom>
          <a:solidFill>
            <a:srgbClr val="1F2A3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Text 53"/>
          <p:cNvSpPr/>
          <p:nvPr/>
        </p:nvSpPr>
        <p:spPr>
          <a:xfrm>
            <a:off x="5852160" y="422452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💡 Pro Tips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852160" y="440740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• Label smooth: real=0.9, not 1.0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• Noise D inputs slightly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• Use LeakyReLU in Discriminator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Text 56"/>
          <p:cNvSpPr/>
          <p:nvPr/>
        </p:nvSpPr>
        <p:spPr>
          <a:xfrm>
            <a:off x="274320" y="4974336"/>
            <a:ext cx="8686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AA0"/>
                </a:solidFill>
              </a:rPr>
              <a:t>Dataset: MNIST (handwritten digits) | Framework: PyTorch | Runtime: Google Colab / local GPU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🎯  Generative AI Project Options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166420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777240" y="11430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777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6916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Pattern 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60604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Generate Ankara, Adire, or Aso-oke fabric patterns using a GAN or diffusion model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274320" y="34015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Tasks: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63016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384048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Collect/curate Nigerian pattern datasets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8862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84048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Train DCGAN or StyleGAN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41422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384048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Controllable pattern attributes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097280" cy="210312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Intermediate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984248" y="105156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1984248" y="1051560"/>
            <a:ext cx="16642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2578608" y="11430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2578608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75688" y="16916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075688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75688" y="260604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Build a conditional GAN (CGAN) to generate or transform images from a chosen domain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75688" y="333756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2075688" y="34015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Tasks: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75688" y="3630168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185416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Choose dataset: faces, buildings, nature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075688" y="388620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2185416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Implement DCGAN or Pix2Pix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075688" y="414223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2185416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Evaluate with FID score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258568" y="4572000"/>
            <a:ext cx="1097280" cy="210312"/>
          </a:xfrm>
          <a:prstGeom prst="roundRect">
            <a:avLst>
              <a:gd name="adj" fmla="val 173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2258568" y="45720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Intermediate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85616" y="105156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1" name="Shape 39"/>
          <p:cNvSpPr/>
          <p:nvPr/>
        </p:nvSpPr>
        <p:spPr>
          <a:xfrm>
            <a:off x="3785616" y="1051560"/>
            <a:ext cx="1664208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Shape 40"/>
          <p:cNvSpPr/>
          <p:nvPr/>
        </p:nvSpPr>
        <p:spPr>
          <a:xfrm>
            <a:off x="4379976" y="11430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437997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877056" y="16916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877056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77056" y="260604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Train an autoregressive model on Nigerian creative writing, news, or social media text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77056" y="333756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Text 46"/>
          <p:cNvSpPr/>
          <p:nvPr/>
        </p:nvSpPr>
        <p:spPr>
          <a:xfrm>
            <a:off x="3877056" y="34015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</a:rPr>
              <a:t>Tasks: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77056" y="363016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Text 48"/>
          <p:cNvSpPr/>
          <p:nvPr/>
        </p:nvSpPr>
        <p:spPr>
          <a:xfrm>
            <a:off x="3986784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Scrape/curate local text corpus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877056" y="388620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2" name="Text 50"/>
          <p:cNvSpPr/>
          <p:nvPr/>
        </p:nvSpPr>
        <p:spPr>
          <a:xfrm>
            <a:off x="3986784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Fine-tune GPT-2 or train RNN/LSTM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877056" y="414223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4" name="Text 52"/>
          <p:cNvSpPr/>
          <p:nvPr/>
        </p:nvSpPr>
        <p:spPr>
          <a:xfrm>
            <a:off x="3986784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Evaluate perplexity + human eval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59936" y="4572000"/>
            <a:ext cx="1097280" cy="210312"/>
          </a:xfrm>
          <a:prstGeom prst="roundRect">
            <a:avLst>
              <a:gd name="adj" fmla="val 17391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6" name="Text 54"/>
          <p:cNvSpPr/>
          <p:nvPr/>
        </p:nvSpPr>
        <p:spPr>
          <a:xfrm>
            <a:off x="4059936" y="45720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Advanced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586984" y="105156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8" name="Shape 56"/>
          <p:cNvSpPr/>
          <p:nvPr/>
        </p:nvSpPr>
        <p:spPr>
          <a:xfrm>
            <a:off x="5586984" y="1051560"/>
            <a:ext cx="166420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9" name="Shape 57"/>
          <p:cNvSpPr/>
          <p:nvPr/>
        </p:nvSpPr>
        <p:spPr>
          <a:xfrm>
            <a:off x="6181344" y="11430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0" name="Text 58"/>
          <p:cNvSpPr/>
          <p:nvPr/>
        </p:nvSpPr>
        <p:spPr>
          <a:xfrm>
            <a:off x="6181344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678424" y="16916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678424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78424" y="260604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Use GANs to generate synthetic training data for a classification task with limited real data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678424" y="333756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5" name="Text 63"/>
          <p:cNvSpPr/>
          <p:nvPr/>
        </p:nvSpPr>
        <p:spPr>
          <a:xfrm>
            <a:off x="5678424" y="34015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</a:rPr>
              <a:t>Tasks: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678424" y="3630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7" name="Text 65"/>
          <p:cNvSpPr/>
          <p:nvPr/>
        </p:nvSpPr>
        <p:spPr>
          <a:xfrm>
            <a:off x="5788152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Identify data-scarce domain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678424" y="388620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9" name="Text 67"/>
          <p:cNvSpPr/>
          <p:nvPr/>
        </p:nvSpPr>
        <p:spPr>
          <a:xfrm>
            <a:off x="5788152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Train GAN to generate synthetic samples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678424" y="41422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1" name="Text 69"/>
          <p:cNvSpPr/>
          <p:nvPr/>
        </p:nvSpPr>
        <p:spPr>
          <a:xfrm>
            <a:off x="5788152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Show improvement on downstream task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61304" y="4572000"/>
            <a:ext cx="1097280" cy="210312"/>
          </a:xfrm>
          <a:prstGeom prst="roundRect">
            <a:avLst>
              <a:gd name="adj" fmla="val 1739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3" name="Text 71"/>
          <p:cNvSpPr/>
          <p:nvPr/>
        </p:nvSpPr>
        <p:spPr>
          <a:xfrm>
            <a:off x="5861304" y="45720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Intermediate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388352" y="105156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5" name="Shape 73"/>
          <p:cNvSpPr/>
          <p:nvPr/>
        </p:nvSpPr>
        <p:spPr>
          <a:xfrm>
            <a:off x="7388352" y="1051560"/>
            <a:ext cx="166420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6" name="Shape 74"/>
          <p:cNvSpPr/>
          <p:nvPr/>
        </p:nvSpPr>
        <p:spPr>
          <a:xfrm>
            <a:off x="7982712" y="11430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7" name="Text 75"/>
          <p:cNvSpPr/>
          <p:nvPr/>
        </p:nvSpPr>
        <p:spPr>
          <a:xfrm>
            <a:off x="798271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7479792" y="16916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7479792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Tools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479792" y="2606040"/>
            <a:ext cx="14813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Build an interactive application powered by a generative model for real users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479792" y="333756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2" name="Text 80"/>
          <p:cNvSpPr/>
          <p:nvPr/>
        </p:nvSpPr>
        <p:spPr>
          <a:xfrm>
            <a:off x="7479792" y="34015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35"/>
                </a:solidFill>
              </a:rPr>
              <a:t>Tasks: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479792" y="3630168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4" name="Text 82"/>
          <p:cNvSpPr/>
          <p:nvPr/>
        </p:nvSpPr>
        <p:spPr>
          <a:xfrm>
            <a:off x="7589520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Design user interface (Gradio/Streamlit)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479792" y="3886200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6" name="Text 84"/>
          <p:cNvSpPr/>
          <p:nvPr/>
        </p:nvSpPr>
        <p:spPr>
          <a:xfrm>
            <a:off x="7589520" y="38496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Integrate pre-trained model (Stable Diffusion)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7479792" y="4142232"/>
            <a:ext cx="73152" cy="7315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8" name="Text 86"/>
          <p:cNvSpPr/>
          <p:nvPr/>
        </p:nvSpPr>
        <p:spPr>
          <a:xfrm>
            <a:off x="7589520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</a:rPr>
              <a:t>Demo to potential users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7662672" y="4572000"/>
            <a:ext cx="1097280" cy="210312"/>
          </a:xfrm>
          <a:prstGeom prst="roundRect">
            <a:avLst>
              <a:gd name="adj" fmla="val 1739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0" name="Text 88"/>
          <p:cNvSpPr/>
          <p:nvPr/>
        </p:nvSpPr>
        <p:spPr>
          <a:xfrm>
            <a:off x="7662672" y="4572000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Advanced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📋  Assignment &amp; Expected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Your roadmap for Week 9–10 — what to build, what to know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754880" cy="393192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475488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📌  Assignment Tasks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47472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1️⃣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" y="15819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Decide on your generative AI project direction from the 5 options presented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347472" y="2130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2️⃣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21305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Research datasets or generation targets specific to your chosen project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65176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47472" y="2679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3️⃣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2679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 a basic GAN (at minimum: Generator + Discriminator + training loop)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347472" y="3227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4️⃣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" y="3227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Experiment with generator and discriminator architectures (vary layers, units, activations)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47472" y="3776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5️⃣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95528" y="37764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Document your experiments: loss curves, generated samples, architecture choices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97680"/>
            <a:ext cx="4480560" cy="475488"/>
          </a:xfrm>
          <a:prstGeom prst="rect">
            <a:avLst/>
          </a:prstGeom>
          <a:solidFill>
            <a:srgbClr val="0F1B2D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347472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6️⃣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95528" y="4325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Prepare a 5-min progress demo for Week 10 check-in session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1005840"/>
            <a:ext cx="3840480" cy="393192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5120640" y="1005840"/>
            <a:ext cx="3840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530352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Expected Outcomes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57800" y="1554480"/>
            <a:ext cx="356616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5257800" y="1554480"/>
            <a:ext cx="54864" cy="9601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5376672" y="1627632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537667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16168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Understanding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16168" y="19933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Explain the generative AI landscape and how each model family differs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2651760"/>
            <a:ext cx="356616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5257800" y="2651760"/>
            <a:ext cx="54864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5376672" y="272491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537667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916168" y="2743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GAN Mastery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16168" y="30906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Implement and train a working GAN; understand loss dynamics and debugging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3749040"/>
            <a:ext cx="3566160" cy="960120"/>
          </a:xfrm>
          <a:prstGeom prst="rect">
            <a:avLst/>
          </a:prstGeom>
          <a:solidFill>
            <a:srgbClr val="0F1B2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Shape 40"/>
          <p:cNvSpPr/>
          <p:nvPr/>
        </p:nvSpPr>
        <p:spPr>
          <a:xfrm>
            <a:off x="5257800" y="374904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5376672" y="382219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/>
          <p:nvPr/>
        </p:nvSpPr>
        <p:spPr>
          <a:xfrm>
            <a:off x="5376672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916168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 Direction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16168" y="41879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A clearly scoped, feasible generative AI project with a dataset plan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🎉  Session Complete!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D4AA"/>
                </a:solidFill>
              </a:rPr>
              <a:t>Module 4: Generative AI &amp; GANs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182880" y="12344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29260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Landscape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18562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GANs, VAEs, Diffusion, Autoregressive — four families, unique strengths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23444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26440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9476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Foundations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8562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Deepfakes, copyright, authenticity — build responsibly from day 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623620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8562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Generator vs Discriminator, minimax game, training dynamics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265176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182880" y="2651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29260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Fluency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" y="3273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Built a GAN in PyTorch — you can now implement &amp; extend 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265176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3154680" y="2651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326440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🇳🇬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79476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Context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64408" y="3273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Nollywood, Afrobeats, fashion, AgriTech — local opportunities are real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2651760"/>
            <a:ext cx="2743200" cy="1234440"/>
          </a:xfrm>
          <a:prstGeom prst="rect">
            <a:avLst/>
          </a:prstGeom>
          <a:solidFill>
            <a:srgbClr val="1A2F4A"/>
          </a:solidFill>
          <a:ln w="12700">
            <a:solidFill>
              <a:srgbClr val="2A4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6126480" y="2651760"/>
            <a:ext cx="27432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6236208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766560" y="2743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Ready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327355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You have a direction, a dataset plan, and a working GAN baseline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4187952"/>
            <a:ext cx="8778240" cy="804672"/>
          </a:xfrm>
          <a:prstGeom prst="rect">
            <a:avLst/>
          </a:prstGeom>
          <a:solidFill>
            <a:srgbClr val="1A3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365760" y="425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⏭  Next Session (Week 10):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988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Project Deep-dives · Advanced GAN variants · Diffusion models hands-on · Evaluation metrics (FID, IS) · Project presentations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125</TotalTime>
  <Words>2207</Words>
  <Application>Microsoft Office PowerPoint</Application>
  <PresentationFormat>On-screen Show (16:9)</PresentationFormat>
  <Paragraphs>424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Generative AI &amp; GANs</dc:title>
  <dc:subject>PptxGenJS Presentation</dc:subject>
  <dc:creator>AI Learning Series</dc:creator>
  <cp:lastModifiedBy>Uthman Abdulrahman</cp:lastModifiedBy>
  <cp:revision>2</cp:revision>
  <dcterms:created xsi:type="dcterms:W3CDTF">2026-04-20T15:43:47Z</dcterms:created>
  <dcterms:modified xsi:type="dcterms:W3CDTF">2026-04-20T17:59:46Z</dcterms:modified>
</cp:coreProperties>
</file>