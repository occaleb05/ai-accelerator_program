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9" r:id="rId12"/>
    <p:sldId id="288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318" r:id="rId21"/>
    <p:sldId id="319" r:id="rId22"/>
    <p:sldId id="320" r:id="rId23"/>
    <p:sldId id="321" r:id="rId24"/>
    <p:sldId id="322" r:id="rId25"/>
    <p:sldId id="298" r:id="rId26"/>
    <p:sldId id="299" r:id="rId27"/>
    <p:sldId id="300" r:id="rId28"/>
    <p:sldId id="297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36038" y="1200590"/>
            <a:ext cx="795699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Transformer-Based Generative Models &amp; Prompt Engineering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2817423" y="2553140"/>
            <a:ext cx="539407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Generation Techniques</a:t>
            </a: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303020" y="1393874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303020" y="2222549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architecture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text generation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generative models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generation parameters for desired outputs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advanced sampling strategies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26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78504" y="2252003"/>
            <a:ext cx="80720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 smtClean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</a:t>
            </a:r>
            <a:r>
              <a:rPr lang="en-US" sz="4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Models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64665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218614" y="1028114"/>
            <a:ext cx="51589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GPT Architecture?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218614" y="1856789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Generative Pre-trained Transformer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to predict the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token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sequence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transformer self-attention mechanisms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from millions to billions of parameters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4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70306" y="1014046"/>
            <a:ext cx="513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 vs BERT Architecture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70306" y="1890346"/>
            <a:ext cx="297294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(Decoder-Only)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570306" y="2371805"/>
            <a:ext cx="3810000" cy="20955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generation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Left-to-right processing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masking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 at text generation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5761306" y="1890346"/>
            <a:ext cx="318668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(Encoder-Only)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761306" y="2371805"/>
            <a:ext cx="3810000" cy="20955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understanding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causal constraint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 at comprehension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86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99968" y="929640"/>
            <a:ext cx="61693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Autoregressive Text Generation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499968" y="1758315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predicts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token at a time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prediction depends on all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tokens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continues until stopping condition met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probability distribution over vocabulary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loop: Predict → Select → Append → Repeat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52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76411" y="999979"/>
            <a:ext cx="69465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Autoregressive Generation Process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176411" y="1828654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prompt tokens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probabilities for next token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token using sampling strategy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token to sequence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stopping condition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60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70306" y="1295400"/>
            <a:ext cx="41096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 Model Evolution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70306" y="2124075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GPT-1: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117M parameters, 12 layers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1.5B parameters, 48 layers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175B parameters, 96 layers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undisclosed (estimated 1T+ parameters)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generation improves quality and capabilities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59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58293" y="2209800"/>
            <a:ext cx="776875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 smtClean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Controlling </a:t>
            </a:r>
            <a:r>
              <a:rPr lang="en-US" sz="4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625241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84374" y="859302"/>
            <a:ext cx="60624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Control Parameters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84374" y="1621302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 parameters control output diversity and quality: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1584374" y="2145177"/>
            <a:ext cx="8001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Controls randomness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Limits vocabulary to k most likely tokens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(nucleus):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Cumulative probability threshold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584374" y="4135902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225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parameters shape the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 vs coherence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tradeoff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241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15562" y="1070317"/>
            <a:ext cx="45565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Parameter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415562" y="1898992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randomness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predictions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temperature (0.1-0.5):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deterministic, focused output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temperature (0.7-0.9):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creativity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temperature (1.0-2.0):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random, diverse output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0: Always picks most likely token (greedy)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220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232682" y="746760"/>
            <a:ext cx="68785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Temperature: Visual Understanding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232682" y="1575435"/>
            <a:ext cx="8001000" cy="1504950"/>
          </a:xfrm>
          <a:prstGeom prst="roundRect">
            <a:avLst>
              <a:gd name="adj" fmla="val 379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1251732" y="1575435"/>
            <a:ext cx="0" cy="15049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461282" y="1794510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 (0.2): "The cat sat on the mat."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61282" y="2175510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Temp (0.8): "The cat lounged on the mat."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461282" y="2556510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 (1.5): "The cat danced upon the mat!"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2682" y="341376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2682" y="3937635"/>
            <a:ext cx="8001000" cy="10287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tasks → Low temperature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 → High temperature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69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98441" y="676422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Sampling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98441" y="1505097"/>
            <a:ext cx="8001000" cy="31623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sampling to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most probable tokens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out unlikely tokens from consideration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Greedy decoding (most likely token)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k=5-20: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Focused and coherent output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k=50-500: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diverse possibilities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vocabulary size at each step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979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71500" y="381000"/>
            <a:ext cx="50326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Top-p (Nucleus) Sampling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571500" y="1209675"/>
            <a:ext cx="8001000" cy="31623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tokens until cumulative probability reaches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p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vocabulary size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adapts to context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p=0.9: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Consider top 90% probability mass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p=0.95: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for balanced generation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flexible than top-k sampling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handles varying prediction confidence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1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288953" y="451338"/>
            <a:ext cx="61984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Sampling Strategies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288953" y="1327638"/>
            <a:ext cx="195281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288953" y="1809097"/>
            <a:ext cx="3810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number of tokens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understand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predictable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5479953" y="1327638"/>
            <a:ext cx="1952816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79953" y="1809097"/>
            <a:ext cx="3810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vocabulary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Contextually appropriate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diverse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288953" y="4451838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top-p with temperature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7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331155" y="845234"/>
            <a:ext cx="48383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 Combinations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331155" y="1673909"/>
            <a:ext cx="8001000" cy="2647950"/>
          </a:xfrm>
          <a:prstGeom prst="roundRect">
            <a:avLst>
              <a:gd name="adj" fmla="val 215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1350205" y="1673909"/>
            <a:ext cx="0" cy="26479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59755" y="1892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Factual/Technical: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59755" y="2273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temp=0.2, top_p=0.9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59755" y="2654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9755" y="3035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temp=0.9, top_p=0.95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9755" y="3416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Generation: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9755" y="3797984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temp=0.3, top_k=40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1231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26577" y="1140655"/>
            <a:ext cx="51492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Generation Controls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626577" y="1969330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Length: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Maximum tokens to generate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Sequences: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Strings that end generation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Penalty: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repetition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Penalty: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Encourages topic diversity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 Penalty: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verbatim repetition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934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256032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2560320" y="16459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 &amp; Craft of</a:t>
            </a:r>
            <a:endParaRPr lang="en-US" sz="300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3000"/>
          </a:p>
        </p:txBody>
      </p:sp>
      <p:sp>
        <p:nvSpPr>
          <p:cNvPr id="6" name="Text 5"/>
          <p:cNvSpPr/>
          <p:nvPr/>
        </p:nvSpPr>
        <p:spPr>
          <a:xfrm>
            <a:off x="2560320" y="3291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Frameworks &amp; Mental Models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59403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/>
          <p:nvPr/>
        </p:nvSpPr>
        <p:spPr>
          <a:xfrm>
            <a:off x="1181686" y="331998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Shape 4"/>
          <p:cNvSpPr/>
          <p:nvPr/>
        </p:nvSpPr>
        <p:spPr>
          <a:xfrm>
            <a:off x="1181686" y="5430481"/>
            <a:ext cx="9144000" cy="36576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grpSp>
        <p:nvGrpSpPr>
          <p:cNvPr id="2" name="Group 1"/>
          <p:cNvGrpSpPr/>
          <p:nvPr/>
        </p:nvGrpSpPr>
        <p:grpSpPr>
          <a:xfrm>
            <a:off x="872197" y="396709"/>
            <a:ext cx="9580098" cy="5475938"/>
            <a:chOff x="1684606" y="396709"/>
            <a:chExt cx="8138160" cy="4978908"/>
          </a:xfrm>
        </p:grpSpPr>
        <p:sp>
          <p:nvSpPr>
            <p:cNvPr id="7" name="Text 2"/>
            <p:cNvSpPr/>
            <p:nvPr/>
          </p:nvSpPr>
          <p:spPr>
            <a:xfrm>
              <a:off x="1684606" y="396709"/>
              <a:ext cx="81381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0B254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What Is Prompt Engineering?</a:t>
              </a:r>
              <a:endParaRPr lang="en-US" sz="2000"/>
            </a:p>
          </p:txBody>
        </p:sp>
        <p:sp>
          <p:nvSpPr>
            <p:cNvPr id="8" name="Text 3"/>
            <p:cNvSpPr/>
            <p:nvPr/>
          </p:nvSpPr>
          <p:spPr>
            <a:xfrm>
              <a:off x="1684606" y="5037289"/>
              <a:ext cx="5696712" cy="3383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 dirty="0"/>
            </a:p>
          </p:txBody>
        </p:sp>
        <p:sp>
          <p:nvSpPr>
            <p:cNvPr id="10" name="Shape 5"/>
            <p:cNvSpPr/>
            <p:nvPr/>
          </p:nvSpPr>
          <p:spPr>
            <a:xfrm>
              <a:off x="1684606" y="1283677"/>
              <a:ext cx="8138160" cy="1005840"/>
            </a:xfrm>
            <a:prstGeom prst="rect">
              <a:avLst/>
            </a:prstGeom>
            <a:solidFill>
              <a:srgbClr val="EAF6F8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1" name="Shape 6"/>
            <p:cNvSpPr/>
            <p:nvPr/>
          </p:nvSpPr>
          <p:spPr>
            <a:xfrm>
              <a:off x="1684606" y="1283677"/>
              <a:ext cx="54864" cy="10058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2" name="Text 7"/>
            <p:cNvSpPr/>
            <p:nvPr/>
          </p:nvSpPr>
          <p:spPr>
            <a:xfrm>
              <a:off x="1867486" y="1329397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>
                  <a:solidFill>
                    <a:srgbClr val="1378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DEFINITION</a:t>
              </a:r>
              <a:endParaRPr lang="en-US" sz="900"/>
            </a:p>
          </p:txBody>
        </p:sp>
        <p:sp>
          <p:nvSpPr>
            <p:cNvPr id="13" name="Text 8"/>
            <p:cNvSpPr/>
            <p:nvPr/>
          </p:nvSpPr>
          <p:spPr>
            <a:xfrm>
              <a:off x="1867486" y="1585429"/>
              <a:ext cx="77724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systematic practice of designing, structuring, and iterating on natural-language instructions given to a Large Language Model to elicit accurate, relevant, and high-quality outputs.</a:t>
              </a:r>
              <a:endParaRPr lang="en-US" sz="1200"/>
            </a:p>
          </p:txBody>
        </p:sp>
        <p:sp>
          <p:nvSpPr>
            <p:cNvPr id="14" name="Text 9"/>
            <p:cNvSpPr/>
            <p:nvPr/>
          </p:nvSpPr>
          <p:spPr>
            <a:xfrm>
              <a:off x="1684606" y="2518117"/>
              <a:ext cx="8138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B254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Why "Engineering" and Not Just "Asking"?</a:t>
              </a:r>
              <a:endParaRPr lang="en-US" sz="1400"/>
            </a:p>
          </p:txBody>
        </p:sp>
        <p:sp>
          <p:nvSpPr>
            <p:cNvPr id="15" name="Shape 10"/>
            <p:cNvSpPr/>
            <p:nvPr/>
          </p:nvSpPr>
          <p:spPr>
            <a:xfrm>
              <a:off x="1684606" y="2975317"/>
              <a:ext cx="397764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6" name="Shape 11"/>
            <p:cNvSpPr/>
            <p:nvPr/>
          </p:nvSpPr>
          <p:spPr>
            <a:xfrm>
              <a:off x="1684606" y="2975317"/>
              <a:ext cx="54864" cy="118872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7" name="Text 12"/>
            <p:cNvSpPr/>
            <p:nvPr/>
          </p:nvSpPr>
          <p:spPr>
            <a:xfrm>
              <a:off x="1913206" y="3048469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CASUAL QUESTION</a:t>
              </a:r>
              <a:endParaRPr lang="en-US" sz="900"/>
            </a:p>
          </p:txBody>
        </p:sp>
        <p:sp>
          <p:nvSpPr>
            <p:cNvPr id="18" name="Text 13"/>
            <p:cNvSpPr/>
            <p:nvPr/>
          </p:nvSpPr>
          <p:spPr>
            <a:xfrm>
              <a:off x="1913206" y="3341077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 a rough sketch on a napkin.</a:t>
              </a:r>
              <a:endParaRPr lang="en-US" sz="11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 generic, wrong format, unusable.</a:t>
              </a:r>
              <a:endParaRPr lang="en-US" sz="1100"/>
            </a:p>
          </p:txBody>
        </p:sp>
        <p:sp>
          <p:nvSpPr>
            <p:cNvPr id="19" name="Shape 14"/>
            <p:cNvSpPr/>
            <p:nvPr/>
          </p:nvSpPr>
          <p:spPr>
            <a:xfrm>
              <a:off x="5845126" y="2975317"/>
              <a:ext cx="397764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20" name="Shape 15"/>
            <p:cNvSpPr/>
            <p:nvPr/>
          </p:nvSpPr>
          <p:spPr>
            <a:xfrm>
              <a:off x="5845126" y="2975317"/>
              <a:ext cx="54864" cy="1188720"/>
            </a:xfrm>
            <a:prstGeom prst="rect">
              <a:avLst/>
            </a:prstGeom>
            <a:solidFill>
              <a:srgbClr val="1B8A6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1" name="Text 16"/>
            <p:cNvSpPr/>
            <p:nvPr/>
          </p:nvSpPr>
          <p:spPr>
            <a:xfrm>
              <a:off x="6073726" y="3048469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>
                  <a:solidFill>
                    <a:srgbClr val="1B8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ENGINEERED PROMPT</a:t>
              </a:r>
              <a:endParaRPr lang="en-US" sz="900"/>
            </a:p>
          </p:txBody>
        </p:sp>
        <p:sp>
          <p:nvSpPr>
            <p:cNvPr id="22" name="Text 17"/>
            <p:cNvSpPr/>
            <p:nvPr/>
          </p:nvSpPr>
          <p:spPr>
            <a:xfrm>
              <a:off x="6073726" y="3341077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 an architectural blueprint with specs.</a:t>
              </a:r>
              <a:endParaRPr lang="en-US" sz="11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 precise, structured, usable.</a:t>
              </a:r>
              <a:endParaRPr lang="en-US" sz="1100"/>
            </a:p>
          </p:txBody>
        </p:sp>
        <p:sp>
          <p:nvSpPr>
            <p:cNvPr id="23" name="Shape 18"/>
            <p:cNvSpPr/>
            <p:nvPr/>
          </p:nvSpPr>
          <p:spPr>
            <a:xfrm>
              <a:off x="5570806" y="3249637"/>
              <a:ext cx="457200" cy="457200"/>
            </a:xfrm>
            <a:prstGeom prst="ellipse">
              <a:avLst/>
            </a:prstGeom>
            <a:solidFill>
              <a:srgbClr val="0B2545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4" name="Text 19"/>
            <p:cNvSpPr/>
            <p:nvPr/>
          </p:nvSpPr>
          <p:spPr>
            <a:xfrm>
              <a:off x="5570806" y="3249637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vs</a:t>
              </a:r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6276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069145" y="388269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069145" y="5458617"/>
            <a:ext cx="9144000" cy="36576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grpSp>
        <p:nvGrpSpPr>
          <p:cNvPr id="20" name="Group 19"/>
          <p:cNvGrpSpPr/>
          <p:nvPr/>
        </p:nvGrpSpPr>
        <p:grpSpPr>
          <a:xfrm>
            <a:off x="1069146" y="424844"/>
            <a:ext cx="9425352" cy="4808338"/>
            <a:chOff x="1572065" y="424845"/>
            <a:chExt cx="8138160" cy="3950208"/>
          </a:xfrm>
        </p:grpSpPr>
        <p:sp>
          <p:nvSpPr>
            <p:cNvPr id="5" name="Text 2"/>
            <p:cNvSpPr/>
            <p:nvPr/>
          </p:nvSpPr>
          <p:spPr>
            <a:xfrm>
              <a:off x="1572065" y="424845"/>
              <a:ext cx="81381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0B254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Mental Model: The Briefing Analogy</a:t>
              </a:r>
              <a:endParaRPr lang="en-US" sz="2000"/>
            </a:p>
          </p:txBody>
        </p:sp>
        <p:sp>
          <p:nvSpPr>
            <p:cNvPr id="7" name="Shape 5"/>
            <p:cNvSpPr/>
            <p:nvPr/>
          </p:nvSpPr>
          <p:spPr>
            <a:xfrm>
              <a:off x="1572065" y="1266093"/>
              <a:ext cx="8138160" cy="594360"/>
            </a:xfrm>
            <a:prstGeom prst="rect">
              <a:avLst/>
            </a:prstGeom>
            <a:solidFill>
              <a:srgbClr val="FFF8F0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8" name="Shape 6"/>
            <p:cNvSpPr/>
            <p:nvPr/>
          </p:nvSpPr>
          <p:spPr>
            <a:xfrm>
              <a:off x="1572065" y="1266093"/>
              <a:ext cx="54864" cy="594360"/>
            </a:xfrm>
            <a:prstGeom prst="rect">
              <a:avLst/>
            </a:prstGeom>
            <a:solidFill>
              <a:srgbClr val="D4A843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9" name="Text 7"/>
            <p:cNvSpPr/>
            <p:nvPr/>
          </p:nvSpPr>
          <p:spPr>
            <a:xfrm>
              <a:off x="1754945" y="1330101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Think of the LLM as a highly intelligent, incredibly fast consultant who has read millions of documents but has never worked at your organization and has no idea what you need unless you tell them.</a:t>
              </a:r>
              <a:endParaRPr lang="en-US" sz="1100"/>
            </a:p>
          </p:txBody>
        </p:sp>
        <p:sp>
          <p:nvSpPr>
            <p:cNvPr id="10" name="Shape 8"/>
            <p:cNvSpPr/>
            <p:nvPr/>
          </p:nvSpPr>
          <p:spPr>
            <a:xfrm>
              <a:off x="1572065" y="2089053"/>
              <a:ext cx="3977640" cy="22860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1" name="Shape 9"/>
            <p:cNvSpPr/>
            <p:nvPr/>
          </p:nvSpPr>
          <p:spPr>
            <a:xfrm>
              <a:off x="1572065" y="2089053"/>
              <a:ext cx="54864" cy="228600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2" name="Text 10"/>
            <p:cNvSpPr/>
            <p:nvPr/>
          </p:nvSpPr>
          <p:spPr>
            <a:xfrm>
              <a:off x="1800665" y="2180493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 BAD BRIEFING</a:t>
              </a:r>
              <a:endParaRPr lang="en-US" sz="1100"/>
            </a:p>
          </p:txBody>
        </p:sp>
        <p:sp>
          <p:nvSpPr>
            <p:cNvPr id="13" name="Text 11"/>
            <p:cNvSpPr/>
            <p:nvPr/>
          </p:nvSpPr>
          <p:spPr>
            <a:xfrm>
              <a:off x="1800665" y="2546253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"Write me a report."</a:t>
              </a:r>
              <a:endParaRPr lang="en-US" sz="1300"/>
            </a:p>
          </p:txBody>
        </p:sp>
        <p:sp>
          <p:nvSpPr>
            <p:cNvPr id="14" name="Text 12"/>
            <p:cNvSpPr/>
            <p:nvPr/>
          </p:nvSpPr>
          <p:spPr>
            <a:xfrm>
              <a:off x="1800665" y="3049173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 Generic, wrong format, wrong tone, missing data, unusable.</a:t>
              </a:r>
              <a:endParaRPr lang="en-US" sz="1000"/>
            </a:p>
          </p:txBody>
        </p:sp>
        <p:sp>
          <p:nvSpPr>
            <p:cNvPr id="15" name="Shape 13"/>
            <p:cNvSpPr/>
            <p:nvPr/>
          </p:nvSpPr>
          <p:spPr>
            <a:xfrm>
              <a:off x="5732585" y="2089053"/>
              <a:ext cx="3977640" cy="22860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6" name="Shape 14"/>
            <p:cNvSpPr/>
            <p:nvPr/>
          </p:nvSpPr>
          <p:spPr>
            <a:xfrm>
              <a:off x="5732585" y="2089053"/>
              <a:ext cx="54864" cy="2286000"/>
            </a:xfrm>
            <a:prstGeom prst="rect">
              <a:avLst/>
            </a:prstGeom>
            <a:solidFill>
              <a:srgbClr val="1B8A6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7" name="Text 15"/>
            <p:cNvSpPr/>
            <p:nvPr/>
          </p:nvSpPr>
          <p:spPr>
            <a:xfrm>
              <a:off x="5961185" y="2180493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1B8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GOOD BRIEFING</a:t>
              </a:r>
              <a:endParaRPr lang="en-US" sz="1100"/>
            </a:p>
          </p:txBody>
        </p:sp>
        <p:sp>
          <p:nvSpPr>
            <p:cNvPr id="18" name="Text 16"/>
            <p:cNvSpPr/>
            <p:nvPr/>
          </p:nvSpPr>
          <p:spPr>
            <a:xfrm>
              <a:off x="5961185" y="2546253"/>
              <a:ext cx="356616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"You are a MEL specialist at an NGO in northern Nigeria. Write a 3-page quarterly progress report for our USAID-funded maternal health program. Include: executive summary, progress against indicators, challenges, recommendations. Tone: professional. Audience: donor program officer."</a:t>
              </a:r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106556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139483" y="706197"/>
            <a:ext cx="8813409" cy="4737999"/>
            <a:chOff x="1769012" y="706198"/>
            <a:chExt cx="8183880" cy="3950208"/>
          </a:xfrm>
        </p:grpSpPr>
        <p:sp>
          <p:nvSpPr>
            <p:cNvPr id="4" name="Text 2"/>
            <p:cNvSpPr/>
            <p:nvPr/>
          </p:nvSpPr>
          <p:spPr>
            <a:xfrm>
              <a:off x="1769012" y="706198"/>
              <a:ext cx="81381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0B254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Prompt Engineering Mindset: Three Core Shifts</a:t>
              </a:r>
              <a:endParaRPr lang="en-US" sz="2000"/>
            </a:p>
          </p:txBody>
        </p:sp>
        <p:sp>
          <p:nvSpPr>
            <p:cNvPr id="5" name="Shape 5"/>
            <p:cNvSpPr/>
            <p:nvPr/>
          </p:nvSpPr>
          <p:spPr>
            <a:xfrm>
              <a:off x="1769012" y="1638886"/>
              <a:ext cx="2606040" cy="3017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6" name="Shape 6"/>
            <p:cNvSpPr/>
            <p:nvPr/>
          </p:nvSpPr>
          <p:spPr>
            <a:xfrm>
              <a:off x="2619404" y="1867486"/>
              <a:ext cx="914400" cy="914400"/>
            </a:xfrm>
            <a:prstGeom prst="ellipse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7" name="Text 7"/>
            <p:cNvSpPr/>
            <p:nvPr/>
          </p:nvSpPr>
          <p:spPr>
            <a:xfrm>
              <a:off x="2619404" y="1867486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>
                  <a:solidFill>
                    <a:srgbClr val="FFFFFF"/>
                  </a:solidFill>
                </a:rPr>
                <a:t>◎</a:t>
              </a:r>
              <a:endParaRPr lang="en-US" sz="3200"/>
            </a:p>
          </p:txBody>
        </p:sp>
        <p:sp>
          <p:nvSpPr>
            <p:cNvPr id="8" name="Text 8"/>
            <p:cNvSpPr/>
            <p:nvPr/>
          </p:nvSpPr>
          <p:spPr>
            <a:xfrm>
              <a:off x="1951892" y="2964766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Specificity</a:t>
              </a:r>
              <a:endParaRPr lang="en-US" sz="14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Over Vagueness</a:t>
              </a:r>
              <a:endParaRPr lang="en-US" sz="1400"/>
            </a:p>
          </p:txBody>
        </p:sp>
        <p:sp>
          <p:nvSpPr>
            <p:cNvPr id="9" name="Text 9"/>
            <p:cNvSpPr/>
            <p:nvPr/>
          </p:nvSpPr>
          <p:spPr>
            <a:xfrm>
              <a:off x="1951892" y="3650566"/>
              <a:ext cx="22402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more precise your instruction, the more precise the output.</a:t>
              </a:r>
              <a:endParaRPr lang="en-US" sz="1100"/>
            </a:p>
          </p:txBody>
        </p:sp>
        <p:sp>
          <p:nvSpPr>
            <p:cNvPr id="10" name="Shape 10"/>
            <p:cNvSpPr/>
            <p:nvPr/>
          </p:nvSpPr>
          <p:spPr>
            <a:xfrm>
              <a:off x="4557932" y="1638886"/>
              <a:ext cx="2606040" cy="3017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1" name="Shape 11"/>
            <p:cNvSpPr/>
            <p:nvPr/>
          </p:nvSpPr>
          <p:spPr>
            <a:xfrm>
              <a:off x="5408324" y="1867486"/>
              <a:ext cx="914400" cy="914400"/>
            </a:xfrm>
            <a:prstGeom prst="ellipse">
              <a:avLst/>
            </a:prstGeom>
            <a:solidFill>
              <a:srgbClr val="0B2545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2" name="Text 12"/>
            <p:cNvSpPr/>
            <p:nvPr/>
          </p:nvSpPr>
          <p:spPr>
            <a:xfrm>
              <a:off x="5408324" y="1867486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>
                  <a:solidFill>
                    <a:srgbClr val="FFFFFF"/>
                  </a:solidFill>
                </a:rPr>
                <a:t>▣</a:t>
              </a:r>
              <a:endParaRPr lang="en-US" sz="3200"/>
            </a:p>
          </p:txBody>
        </p:sp>
        <p:sp>
          <p:nvSpPr>
            <p:cNvPr id="13" name="Text 13"/>
            <p:cNvSpPr/>
            <p:nvPr/>
          </p:nvSpPr>
          <p:spPr>
            <a:xfrm>
              <a:off x="4740812" y="2964766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Structure Over</a:t>
              </a:r>
              <a:endParaRPr lang="en-US" sz="14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Stream-of-Consciousness</a:t>
              </a:r>
              <a:endParaRPr lang="en-US" sz="1400"/>
            </a:p>
          </p:txBody>
        </p:sp>
        <p:sp>
          <p:nvSpPr>
            <p:cNvPr id="14" name="Text 14"/>
            <p:cNvSpPr/>
            <p:nvPr/>
          </p:nvSpPr>
          <p:spPr>
            <a:xfrm>
              <a:off x="4740812" y="3650566"/>
              <a:ext cx="22402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Organized prompts produce organized results.</a:t>
              </a:r>
              <a:endParaRPr lang="en-US" sz="1100"/>
            </a:p>
          </p:txBody>
        </p:sp>
        <p:sp>
          <p:nvSpPr>
            <p:cNvPr id="15" name="Shape 15"/>
            <p:cNvSpPr/>
            <p:nvPr/>
          </p:nvSpPr>
          <p:spPr>
            <a:xfrm>
              <a:off x="7346852" y="1638886"/>
              <a:ext cx="2606040" cy="3017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6" name="Shape 16"/>
            <p:cNvSpPr/>
            <p:nvPr/>
          </p:nvSpPr>
          <p:spPr>
            <a:xfrm>
              <a:off x="8197244" y="1867486"/>
              <a:ext cx="914400" cy="914400"/>
            </a:xfrm>
            <a:prstGeom prst="ellipse">
              <a:avLst/>
            </a:prstGeom>
            <a:solidFill>
              <a:srgbClr val="D4A843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7" name="Text 17"/>
            <p:cNvSpPr/>
            <p:nvPr/>
          </p:nvSpPr>
          <p:spPr>
            <a:xfrm>
              <a:off x="8197244" y="1867486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>
                  <a:solidFill>
                    <a:srgbClr val="FFFFFF"/>
                  </a:solidFill>
                </a:rPr>
                <a:t>⟳</a:t>
              </a:r>
              <a:endParaRPr lang="en-US" sz="3200"/>
            </a:p>
          </p:txBody>
        </p:sp>
        <p:sp>
          <p:nvSpPr>
            <p:cNvPr id="18" name="Text 18"/>
            <p:cNvSpPr/>
            <p:nvPr/>
          </p:nvSpPr>
          <p:spPr>
            <a:xfrm>
              <a:off x="7529732" y="2964766"/>
              <a:ext cx="2240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Iteration</a:t>
              </a:r>
              <a:endParaRPr lang="en-US" sz="14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400" b="1">
                  <a:solidFill>
                    <a:srgbClr val="1C283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Over One-Shot</a:t>
              </a:r>
              <a:endParaRPr lang="en-US" sz="1400"/>
            </a:p>
          </p:txBody>
        </p:sp>
        <p:sp>
          <p:nvSpPr>
            <p:cNvPr id="19" name="Text 19"/>
            <p:cNvSpPr/>
            <p:nvPr/>
          </p:nvSpPr>
          <p:spPr>
            <a:xfrm>
              <a:off x="7529732" y="3650566"/>
              <a:ext cx="22402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1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Great outputs rarely come from the first attempt. Refining is part of the process.</a:t>
              </a:r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03873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66092" y="1226703"/>
            <a:ext cx="8641080" cy="86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Concepts You Need to Know</a:t>
            </a:r>
            <a:endParaRPr lang="en-US" sz="2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4586"/>
              </p:ext>
            </p:extLst>
          </p:nvPr>
        </p:nvGraphicFramePr>
        <p:xfrm>
          <a:off x="1266092" y="2067951"/>
          <a:ext cx="8641080" cy="2560319"/>
        </p:xfrm>
        <a:graphic>
          <a:graphicData uri="http://schemas.openxmlformats.org/drawingml/2006/table">
            <a:tbl>
              <a:tblPr/>
              <a:tblGrid>
                <a:gridCol w="1359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for Your Prompts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unit processed. Roughly ¾ of a word.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+ responses have token limits.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text (prompt + response) at once. 4K to 200K+ tokens.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paste reports, but longer ≠ better.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randomness. Low = focused. High = creative.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Reports: low. Brainstorming: higher.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instructions setting overall model behavior.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powerful for consistent outputs.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generates confident but incorrect information.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verify. Non-negotiable.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803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"/>
          <p:cNvSpPr/>
          <p:nvPr/>
        </p:nvSpPr>
        <p:spPr>
          <a:xfrm>
            <a:off x="1266093" y="303863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7" name="Text 2"/>
          <p:cNvSpPr/>
          <p:nvPr/>
        </p:nvSpPr>
        <p:spPr>
          <a:xfrm>
            <a:off x="1769013" y="340439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RICCE Framework: Five Pillars of Effective Prompts</a:t>
            </a:r>
            <a:endParaRPr lang="en-US" sz="2000"/>
          </a:p>
        </p:txBody>
      </p:sp>
      <p:sp>
        <p:nvSpPr>
          <p:cNvPr id="38" name="Shape 4"/>
          <p:cNvSpPr/>
          <p:nvPr/>
        </p:nvSpPr>
        <p:spPr>
          <a:xfrm>
            <a:off x="1266093" y="5374211"/>
            <a:ext cx="9144000" cy="36576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9" name="Shape 5"/>
          <p:cNvSpPr/>
          <p:nvPr/>
        </p:nvSpPr>
        <p:spPr>
          <a:xfrm>
            <a:off x="1769013" y="1318847"/>
            <a:ext cx="1572768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0" name="Shape 6"/>
          <p:cNvSpPr/>
          <p:nvPr/>
        </p:nvSpPr>
        <p:spPr>
          <a:xfrm>
            <a:off x="2189637" y="1501727"/>
            <a:ext cx="731520" cy="731520"/>
          </a:xfrm>
          <a:prstGeom prst="ellipse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1" name="Text 7"/>
          <p:cNvSpPr/>
          <p:nvPr/>
        </p:nvSpPr>
        <p:spPr>
          <a:xfrm>
            <a:off x="2189637" y="1501727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/>
          </a:p>
        </p:txBody>
      </p:sp>
      <p:sp>
        <p:nvSpPr>
          <p:cNvPr id="42" name="Text 8"/>
          <p:cNvSpPr/>
          <p:nvPr/>
        </p:nvSpPr>
        <p:spPr>
          <a:xfrm>
            <a:off x="1860453" y="2370407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1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/>
          </a:p>
        </p:txBody>
      </p:sp>
      <p:sp>
        <p:nvSpPr>
          <p:cNvPr id="43" name="Text 9"/>
          <p:cNvSpPr/>
          <p:nvPr/>
        </p:nvSpPr>
        <p:spPr>
          <a:xfrm>
            <a:off x="1860453" y="2736167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AI a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identity</a:t>
            </a:r>
            <a:endParaRPr lang="en-US" sz="1000"/>
          </a:p>
        </p:txBody>
      </p:sp>
      <p:sp>
        <p:nvSpPr>
          <p:cNvPr id="44" name="Text 10"/>
          <p:cNvSpPr/>
          <p:nvPr/>
        </p:nvSpPr>
        <p:spPr>
          <a:xfrm>
            <a:off x="3250341" y="1684607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0BEC5"/>
                </a:solidFill>
              </a:rPr>
              <a:t>▶</a:t>
            </a:r>
            <a:endParaRPr lang="en-US" sz="1200"/>
          </a:p>
        </p:txBody>
      </p:sp>
      <p:sp>
        <p:nvSpPr>
          <p:cNvPr id="45" name="Shape 11"/>
          <p:cNvSpPr/>
          <p:nvPr/>
        </p:nvSpPr>
        <p:spPr>
          <a:xfrm>
            <a:off x="3433221" y="1318847"/>
            <a:ext cx="1572768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6" name="Shape 12"/>
          <p:cNvSpPr/>
          <p:nvPr/>
        </p:nvSpPr>
        <p:spPr>
          <a:xfrm>
            <a:off x="3853845" y="1501727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7" name="Text 13"/>
          <p:cNvSpPr/>
          <p:nvPr/>
        </p:nvSpPr>
        <p:spPr>
          <a:xfrm>
            <a:off x="3853845" y="1501727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/>
          </a:p>
        </p:txBody>
      </p:sp>
      <p:sp>
        <p:nvSpPr>
          <p:cNvPr id="48" name="Text 14"/>
          <p:cNvSpPr/>
          <p:nvPr/>
        </p:nvSpPr>
        <p:spPr>
          <a:xfrm>
            <a:off x="3524661" y="2370407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000"/>
          </a:p>
        </p:txBody>
      </p:sp>
      <p:sp>
        <p:nvSpPr>
          <p:cNvPr id="49" name="Text 15"/>
          <p:cNvSpPr/>
          <p:nvPr/>
        </p:nvSpPr>
        <p:spPr>
          <a:xfrm>
            <a:off x="3524661" y="2736167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action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</a:t>
            </a:r>
            <a:endParaRPr lang="en-US" sz="1000"/>
          </a:p>
        </p:txBody>
      </p:sp>
      <p:sp>
        <p:nvSpPr>
          <p:cNvPr id="50" name="Text 16"/>
          <p:cNvSpPr/>
          <p:nvPr/>
        </p:nvSpPr>
        <p:spPr>
          <a:xfrm>
            <a:off x="4914549" y="1684607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0BEC5"/>
                </a:solidFill>
              </a:rPr>
              <a:t>▶</a:t>
            </a:r>
            <a:endParaRPr lang="en-US" sz="1200"/>
          </a:p>
        </p:txBody>
      </p:sp>
      <p:sp>
        <p:nvSpPr>
          <p:cNvPr id="51" name="Shape 17"/>
          <p:cNvSpPr/>
          <p:nvPr/>
        </p:nvSpPr>
        <p:spPr>
          <a:xfrm>
            <a:off x="5097429" y="1318847"/>
            <a:ext cx="1572768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2" name="Shape 18"/>
          <p:cNvSpPr/>
          <p:nvPr/>
        </p:nvSpPr>
        <p:spPr>
          <a:xfrm>
            <a:off x="5518053" y="1501727"/>
            <a:ext cx="731520" cy="731520"/>
          </a:xfrm>
          <a:prstGeom prst="ellipse">
            <a:avLst/>
          </a:prstGeom>
          <a:solidFill>
            <a:srgbClr val="1A9F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3" name="Text 19"/>
          <p:cNvSpPr/>
          <p:nvPr/>
        </p:nvSpPr>
        <p:spPr>
          <a:xfrm>
            <a:off x="5518053" y="1501727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/>
          </a:p>
        </p:txBody>
      </p:sp>
      <p:sp>
        <p:nvSpPr>
          <p:cNvPr id="54" name="Text 20"/>
          <p:cNvSpPr/>
          <p:nvPr/>
        </p:nvSpPr>
        <p:spPr>
          <a:xfrm>
            <a:off x="5188869" y="2370407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1A9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/>
          </a:p>
        </p:txBody>
      </p:sp>
      <p:sp>
        <p:nvSpPr>
          <p:cNvPr id="55" name="Text 21"/>
          <p:cNvSpPr/>
          <p:nvPr/>
        </p:nvSpPr>
        <p:spPr>
          <a:xfrm>
            <a:off x="5188869" y="2736167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background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1000"/>
          </a:p>
        </p:txBody>
      </p:sp>
      <p:sp>
        <p:nvSpPr>
          <p:cNvPr id="56" name="Text 22"/>
          <p:cNvSpPr/>
          <p:nvPr/>
        </p:nvSpPr>
        <p:spPr>
          <a:xfrm>
            <a:off x="6578757" y="1684607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0BEC5"/>
                </a:solidFill>
              </a:rPr>
              <a:t>▶</a:t>
            </a:r>
            <a:endParaRPr lang="en-US" sz="1200"/>
          </a:p>
        </p:txBody>
      </p:sp>
      <p:sp>
        <p:nvSpPr>
          <p:cNvPr id="57" name="Shape 23"/>
          <p:cNvSpPr/>
          <p:nvPr/>
        </p:nvSpPr>
        <p:spPr>
          <a:xfrm>
            <a:off x="6761637" y="1318847"/>
            <a:ext cx="1572768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8" name="Shape 24"/>
          <p:cNvSpPr/>
          <p:nvPr/>
        </p:nvSpPr>
        <p:spPr>
          <a:xfrm>
            <a:off x="7182261" y="1501727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9" name="Text 25"/>
          <p:cNvSpPr/>
          <p:nvPr/>
        </p:nvSpPr>
        <p:spPr>
          <a:xfrm>
            <a:off x="7182261" y="1501727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/>
          </a:p>
        </p:txBody>
      </p:sp>
      <p:sp>
        <p:nvSpPr>
          <p:cNvPr id="60" name="Text 26"/>
          <p:cNvSpPr/>
          <p:nvPr/>
        </p:nvSpPr>
        <p:spPr>
          <a:xfrm>
            <a:off x="6853077" y="2370407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/>
          </a:p>
        </p:txBody>
      </p:sp>
      <p:sp>
        <p:nvSpPr>
          <p:cNvPr id="61" name="Text 27"/>
          <p:cNvSpPr/>
          <p:nvPr/>
        </p:nvSpPr>
        <p:spPr>
          <a:xfrm>
            <a:off x="6853077" y="2736167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boundaries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format</a:t>
            </a:r>
            <a:endParaRPr lang="en-US" sz="1000"/>
          </a:p>
        </p:txBody>
      </p:sp>
      <p:sp>
        <p:nvSpPr>
          <p:cNvPr id="62" name="Text 28"/>
          <p:cNvSpPr/>
          <p:nvPr/>
        </p:nvSpPr>
        <p:spPr>
          <a:xfrm>
            <a:off x="8242965" y="1684607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0BEC5"/>
                </a:solidFill>
              </a:rPr>
              <a:t>▶</a:t>
            </a:r>
            <a:endParaRPr lang="en-US" sz="1200"/>
          </a:p>
        </p:txBody>
      </p:sp>
      <p:sp>
        <p:nvSpPr>
          <p:cNvPr id="63" name="Shape 29"/>
          <p:cNvSpPr/>
          <p:nvPr/>
        </p:nvSpPr>
        <p:spPr>
          <a:xfrm>
            <a:off x="8425845" y="1318847"/>
            <a:ext cx="1572768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4" name="Shape 30"/>
          <p:cNvSpPr/>
          <p:nvPr/>
        </p:nvSpPr>
        <p:spPr>
          <a:xfrm>
            <a:off x="8846469" y="1501727"/>
            <a:ext cx="731520" cy="731520"/>
          </a:xfrm>
          <a:prstGeom prst="ellipse">
            <a:avLst/>
          </a:prstGeom>
          <a:solidFill>
            <a:srgbClr val="1B8A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5" name="Text 31"/>
          <p:cNvSpPr/>
          <p:nvPr/>
        </p:nvSpPr>
        <p:spPr>
          <a:xfrm>
            <a:off x="8846469" y="1501727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800"/>
          </a:p>
        </p:txBody>
      </p:sp>
      <p:sp>
        <p:nvSpPr>
          <p:cNvPr id="66" name="Text 32"/>
          <p:cNvSpPr/>
          <p:nvPr/>
        </p:nvSpPr>
        <p:spPr>
          <a:xfrm>
            <a:off x="8517285" y="2370407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1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/>
          </a:p>
        </p:txBody>
      </p:sp>
      <p:sp>
        <p:nvSpPr>
          <p:cNvPr id="67" name="Text 33"/>
          <p:cNvSpPr/>
          <p:nvPr/>
        </p:nvSpPr>
        <p:spPr>
          <a:xfrm>
            <a:off x="8517285" y="2736167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good</a:t>
            </a:r>
            <a:endParaRPr lang="en-US" sz="10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</a:t>
            </a:r>
            <a:endParaRPr lang="en-US" sz="1000"/>
          </a:p>
        </p:txBody>
      </p:sp>
      <p:sp>
        <p:nvSpPr>
          <p:cNvPr id="68" name="Shape 34"/>
          <p:cNvSpPr/>
          <p:nvPr/>
        </p:nvSpPr>
        <p:spPr>
          <a:xfrm>
            <a:off x="1769013" y="4290647"/>
            <a:ext cx="8138160" cy="4572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9" name="Shape 35"/>
          <p:cNvSpPr/>
          <p:nvPr/>
        </p:nvSpPr>
        <p:spPr>
          <a:xfrm>
            <a:off x="1769013" y="4290647"/>
            <a:ext cx="54864" cy="4572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0" name="Text 36"/>
          <p:cNvSpPr/>
          <p:nvPr/>
        </p:nvSpPr>
        <p:spPr>
          <a:xfrm>
            <a:off x="1951893" y="4336367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represents one essential component. Miss one, and output quality drops significantly.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09384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928468" y="450166"/>
            <a:ext cx="9144000" cy="36576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1"/>
          <p:cNvSpPr/>
          <p:nvPr/>
        </p:nvSpPr>
        <p:spPr>
          <a:xfrm>
            <a:off x="928468" y="48674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2"/>
          <p:cNvSpPr/>
          <p:nvPr/>
        </p:nvSpPr>
        <p:spPr>
          <a:xfrm>
            <a:off x="1431388" y="52331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RICCE in Action: Complete Prompt Example</a:t>
            </a:r>
            <a:endParaRPr lang="en-US" sz="2000"/>
          </a:p>
        </p:txBody>
      </p:sp>
      <p:sp>
        <p:nvSpPr>
          <p:cNvPr id="7" name="Text 3"/>
          <p:cNvSpPr/>
          <p:nvPr/>
        </p:nvSpPr>
        <p:spPr>
          <a:xfrm>
            <a:off x="1431388" y="5273626"/>
            <a:ext cx="5696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928468" y="5557090"/>
            <a:ext cx="9144000" cy="36576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Shape 5"/>
          <p:cNvSpPr/>
          <p:nvPr/>
        </p:nvSpPr>
        <p:spPr>
          <a:xfrm>
            <a:off x="1431388" y="1364566"/>
            <a:ext cx="1051560" cy="640080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1431388" y="1364566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/>
          </a:p>
        </p:txBody>
      </p:sp>
      <p:sp>
        <p:nvSpPr>
          <p:cNvPr id="11" name="Shape 7"/>
          <p:cNvSpPr/>
          <p:nvPr/>
        </p:nvSpPr>
        <p:spPr>
          <a:xfrm>
            <a:off x="2482948" y="1364566"/>
            <a:ext cx="7086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8"/>
          <p:cNvSpPr/>
          <p:nvPr/>
        </p:nvSpPr>
        <p:spPr>
          <a:xfrm>
            <a:off x="2665828" y="141028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program manager at an international health facility operating in West Africa.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431388" y="2114374"/>
            <a:ext cx="1051560" cy="6400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1431388" y="2114374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00"/>
          </a:p>
        </p:txBody>
      </p:sp>
      <p:sp>
        <p:nvSpPr>
          <p:cNvPr id="15" name="Shape 11"/>
          <p:cNvSpPr/>
          <p:nvPr/>
        </p:nvSpPr>
        <p:spPr>
          <a:xfrm>
            <a:off x="2482948" y="2114374"/>
            <a:ext cx="7086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2"/>
          <p:cNvSpPr/>
          <p:nvPr/>
        </p:nvSpPr>
        <p:spPr>
          <a:xfrm>
            <a:off x="2665828" y="216009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quarterly progress report for Q3 2025 for our CHW training program.</a:t>
            </a:r>
            <a:endParaRPr lang="en-US" sz="1000"/>
          </a:p>
        </p:txBody>
      </p:sp>
      <p:sp>
        <p:nvSpPr>
          <p:cNvPr id="17" name="Shape 13"/>
          <p:cNvSpPr/>
          <p:nvPr/>
        </p:nvSpPr>
        <p:spPr>
          <a:xfrm>
            <a:off x="1431388" y="2864182"/>
            <a:ext cx="1051560" cy="640080"/>
          </a:xfrm>
          <a:prstGeom prst="rect">
            <a:avLst/>
          </a:prstGeom>
          <a:solidFill>
            <a:srgbClr val="1A9FB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4"/>
          <p:cNvSpPr/>
          <p:nvPr/>
        </p:nvSpPr>
        <p:spPr>
          <a:xfrm>
            <a:off x="1431388" y="286418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/>
          </a:p>
        </p:txBody>
      </p:sp>
      <p:sp>
        <p:nvSpPr>
          <p:cNvPr id="19" name="Shape 15"/>
          <p:cNvSpPr/>
          <p:nvPr/>
        </p:nvSpPr>
        <p:spPr>
          <a:xfrm>
            <a:off x="2482948" y="2864182"/>
            <a:ext cx="7086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Text 16"/>
          <p:cNvSpPr/>
          <p:nvPr/>
        </p:nvSpPr>
        <p:spPr>
          <a:xfrm>
            <a:off x="2665828" y="290990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CHWs trained (target: 500). 89% passed competency assessment. 3 LGAs delayed by flooding. Funded by Gates Foundation Grant #GH-2024-0892.</a:t>
            </a:r>
            <a:endParaRPr lang="en-US" sz="1000"/>
          </a:p>
        </p:txBody>
      </p:sp>
      <p:sp>
        <p:nvSpPr>
          <p:cNvPr id="21" name="Shape 17"/>
          <p:cNvSpPr/>
          <p:nvPr/>
        </p:nvSpPr>
        <p:spPr>
          <a:xfrm>
            <a:off x="1431388" y="3613990"/>
            <a:ext cx="1051560" cy="6400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18"/>
          <p:cNvSpPr/>
          <p:nvPr/>
        </p:nvSpPr>
        <p:spPr>
          <a:xfrm>
            <a:off x="1431388" y="361399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900"/>
          </a:p>
        </p:txBody>
      </p:sp>
      <p:sp>
        <p:nvSpPr>
          <p:cNvPr id="23" name="Shape 19"/>
          <p:cNvSpPr/>
          <p:nvPr/>
        </p:nvSpPr>
        <p:spPr>
          <a:xfrm>
            <a:off x="2482948" y="3613990"/>
            <a:ext cx="7086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4" name="Text 20"/>
          <p:cNvSpPr/>
          <p:nvPr/>
        </p:nvSpPr>
        <p:spPr>
          <a:xfrm>
            <a:off x="2665828" y="365971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1,200–1,500 words. Structure: Exec Summary, Progress Table, Challenges, Next Quarter. Professional, evidence-based. No speculation.</a:t>
            </a:r>
            <a:endParaRPr lang="en-US" sz="1000"/>
          </a:p>
        </p:txBody>
      </p:sp>
      <p:sp>
        <p:nvSpPr>
          <p:cNvPr id="25" name="Shape 21"/>
          <p:cNvSpPr/>
          <p:nvPr/>
        </p:nvSpPr>
        <p:spPr>
          <a:xfrm>
            <a:off x="1431388" y="4363798"/>
            <a:ext cx="1051560" cy="640080"/>
          </a:xfrm>
          <a:prstGeom prst="rect">
            <a:avLst/>
          </a:prstGeom>
          <a:solidFill>
            <a:srgbClr val="1B8A6B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2"/>
          <p:cNvSpPr/>
          <p:nvPr/>
        </p:nvSpPr>
        <p:spPr>
          <a:xfrm>
            <a:off x="1431388" y="436379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27" name="Shape 23"/>
          <p:cNvSpPr/>
          <p:nvPr/>
        </p:nvSpPr>
        <p:spPr>
          <a:xfrm>
            <a:off x="2482948" y="4363798"/>
            <a:ext cx="7086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Text 24"/>
          <p:cNvSpPr/>
          <p:nvPr/>
        </p:nvSpPr>
        <p:spPr>
          <a:xfrm>
            <a:off x="2665828" y="440951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Indicator | Target | Achieved | % | Status |</a:t>
            </a:r>
            <a:endParaRPr lang="en-US" sz="1000"/>
          </a:p>
        </p:txBody>
      </p:sp>
      <p:pic>
        <p:nvPicPr>
          <p:cNvPr id="29" name="Picture 28" descr="A black and blue text with a black background&#10;&#10;AI-generated content may be incorrect.">
            <a:extLst>
              <a:ext uri="{FF2B5EF4-FFF2-40B4-BE49-F238E27FC236}">
                <a16:creationId xmlns:a16="http://schemas.microsoft.com/office/drawing/2014/main" id="{71284615-BF19-73AD-E3B9-FCA16AD6C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882" y="566054"/>
            <a:ext cx="9144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37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71500" y="381000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 Prompting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571500" y="1209675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task description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examples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Relies on model's pre-trained knowledge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fast to implement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for common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struggle with complex or ambiguous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4124325"/>
            <a:ext cx="8001000" cy="74295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590550" y="4124325"/>
            <a:ext cx="0" cy="7429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0100" y="4343400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"Classify sentiment: I love this product!"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0303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01494" y="676422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Prompting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401494" y="1505097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 examples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the task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"in-context learning"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teach the model the pattern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improves performance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domain-specific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434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2"/>
          <p:cNvSpPr/>
          <p:nvPr/>
        </p:nvSpPr>
        <p:spPr>
          <a:xfrm>
            <a:off x="981220" y="635860"/>
            <a:ext cx="10491103" cy="622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Prompting &amp; Role Stacking</a:t>
            </a:r>
            <a:endParaRPr lang="en-US" sz="2000"/>
          </a:p>
        </p:txBody>
      </p:sp>
      <p:sp>
        <p:nvSpPr>
          <p:cNvPr id="13" name="Shape 4"/>
          <p:cNvSpPr/>
          <p:nvPr/>
        </p:nvSpPr>
        <p:spPr>
          <a:xfrm>
            <a:off x="478301" y="5669632"/>
            <a:ext cx="9144000" cy="36576"/>
          </a:xfrm>
          <a:prstGeom prst="rect">
            <a:avLst/>
          </a:prstGeom>
          <a:solidFill>
            <a:srgbClr val="13788A"/>
          </a:solidFill>
          <a:ln/>
        </p:spPr>
        <p:txBody>
          <a:bodyPr/>
          <a:lstStyle/>
          <a:p>
            <a:endParaRPr lang="en-NG"/>
          </a:p>
        </p:txBody>
      </p:sp>
      <p:grpSp>
        <p:nvGrpSpPr>
          <p:cNvPr id="3" name="Group 2"/>
          <p:cNvGrpSpPr/>
          <p:nvPr/>
        </p:nvGrpSpPr>
        <p:grpSpPr>
          <a:xfrm>
            <a:off x="981220" y="1522828"/>
            <a:ext cx="9288195" cy="3611880"/>
            <a:chOff x="981220" y="1522828"/>
            <a:chExt cx="9288195" cy="3611880"/>
          </a:xfrm>
        </p:grpSpPr>
        <p:sp>
          <p:nvSpPr>
            <p:cNvPr id="14" name="Shape 5"/>
            <p:cNvSpPr/>
            <p:nvPr/>
          </p:nvSpPr>
          <p:spPr>
            <a:xfrm>
              <a:off x="981221" y="1522828"/>
              <a:ext cx="5127674" cy="36118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5" name="Shape 6"/>
            <p:cNvSpPr/>
            <p:nvPr/>
          </p:nvSpPr>
          <p:spPr>
            <a:xfrm>
              <a:off x="981220" y="1522828"/>
              <a:ext cx="70727" cy="361188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6" name="Text 7"/>
            <p:cNvSpPr/>
            <p:nvPr/>
          </p:nvSpPr>
          <p:spPr>
            <a:xfrm>
              <a:off x="1209820" y="1614268"/>
              <a:ext cx="3536327" cy="300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>
                  <a:solidFill>
                    <a:srgbClr val="1378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FEW-SHOT PROMPTING</a:t>
              </a:r>
              <a:endParaRPr lang="en-US" sz="1100"/>
            </a:p>
          </p:txBody>
        </p:sp>
        <p:sp>
          <p:nvSpPr>
            <p:cNvPr id="17" name="Text 8"/>
            <p:cNvSpPr/>
            <p:nvPr/>
          </p:nvSpPr>
          <p:spPr>
            <a:xfrm>
              <a:off x="1209820" y="1980028"/>
              <a:ext cx="4597225" cy="2809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 2–3 examples of the desired output pattern before asking the model to produce its own.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CASE: Standardizing case studies across your team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"Here are two examples of how we write beneficiary case studies. Study the structure, tone, and length, then write a new one using this data: [paste]"</a:t>
              </a:r>
              <a:endParaRPr lang="en-US" sz="1000"/>
            </a:p>
          </p:txBody>
        </p:sp>
        <p:sp>
          <p:nvSpPr>
            <p:cNvPr id="18" name="Shape 9"/>
            <p:cNvSpPr/>
            <p:nvPr/>
          </p:nvSpPr>
          <p:spPr>
            <a:xfrm>
              <a:off x="5141741" y="1522828"/>
              <a:ext cx="5127674" cy="36118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9" name="Shape 10"/>
            <p:cNvSpPr/>
            <p:nvPr/>
          </p:nvSpPr>
          <p:spPr>
            <a:xfrm>
              <a:off x="5141740" y="1522828"/>
              <a:ext cx="70727" cy="3611880"/>
            </a:xfrm>
            <a:prstGeom prst="rect">
              <a:avLst/>
            </a:prstGeom>
            <a:solidFill>
              <a:srgbClr val="0B2545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0" name="Text 11"/>
            <p:cNvSpPr/>
            <p:nvPr/>
          </p:nvSpPr>
          <p:spPr>
            <a:xfrm>
              <a:off x="5370340" y="1614268"/>
              <a:ext cx="3536327" cy="300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ROLE STACKING</a:t>
              </a:r>
              <a:endParaRPr lang="en-US" sz="1100"/>
            </a:p>
          </p:txBody>
        </p:sp>
        <p:sp>
          <p:nvSpPr>
            <p:cNvPr id="21" name="Text 12"/>
            <p:cNvSpPr/>
            <p:nvPr/>
          </p:nvSpPr>
          <p:spPr>
            <a:xfrm>
              <a:off x="5370340" y="1980028"/>
              <a:ext cx="4597225" cy="2809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Evaluate content from multiple professional perspectives. Ideal for pressure-testing.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"Review this concept note from 3 views: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USAID Program Officer: Is the ToC clear?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Ministry of Health: Aligned with strategy?</a:t>
              </a:r>
              <a:endParaRPr lang="en-US" sz="100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100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Gender Advisor: Gender-responsive?"</a:t>
              </a:r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894625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18977" y="422030"/>
            <a:ext cx="10564837" cy="4994031"/>
            <a:chOff x="942535" y="407963"/>
            <a:chExt cx="9144000" cy="3657600"/>
          </a:xfrm>
        </p:grpSpPr>
        <p:sp>
          <p:nvSpPr>
            <p:cNvPr id="6" name="Shape 0"/>
            <p:cNvSpPr/>
            <p:nvPr/>
          </p:nvSpPr>
          <p:spPr>
            <a:xfrm>
              <a:off x="942535" y="407963"/>
              <a:ext cx="9144000" cy="36576"/>
            </a:xfrm>
            <a:prstGeom prst="rect">
              <a:avLst/>
            </a:prstGeom>
            <a:solidFill>
              <a:srgbClr val="0B2545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7" name="Shape 1"/>
            <p:cNvSpPr/>
            <p:nvPr/>
          </p:nvSpPr>
          <p:spPr>
            <a:xfrm>
              <a:off x="942535" y="444539"/>
              <a:ext cx="9144000" cy="658368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8" name="Text 2"/>
            <p:cNvSpPr/>
            <p:nvPr/>
          </p:nvSpPr>
          <p:spPr>
            <a:xfrm>
              <a:off x="1445455" y="481115"/>
              <a:ext cx="81381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0B254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Chain-of-Thought: Step-by-Step Reasoning</a:t>
              </a:r>
              <a:endParaRPr lang="en-US" sz="2000"/>
            </a:p>
          </p:txBody>
        </p:sp>
        <p:sp>
          <p:nvSpPr>
            <p:cNvPr id="9" name="Shape 5"/>
            <p:cNvSpPr/>
            <p:nvPr/>
          </p:nvSpPr>
          <p:spPr>
            <a:xfrm>
              <a:off x="1445455" y="1368083"/>
              <a:ext cx="397764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0" name="Shape 6"/>
            <p:cNvSpPr/>
            <p:nvPr/>
          </p:nvSpPr>
          <p:spPr>
            <a:xfrm>
              <a:off x="1445455" y="1368083"/>
              <a:ext cx="54864" cy="164592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1" name="Text 7"/>
            <p:cNvSpPr/>
            <p:nvPr/>
          </p:nvSpPr>
          <p:spPr>
            <a:xfrm>
              <a:off x="1674055" y="1459523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 WEAK PROMPT</a:t>
              </a:r>
              <a:endParaRPr lang="en-US" sz="1000"/>
            </a:p>
          </p:txBody>
        </p:sp>
        <p:sp>
          <p:nvSpPr>
            <p:cNvPr id="12" name="Text 8"/>
            <p:cNvSpPr/>
            <p:nvPr/>
          </p:nvSpPr>
          <p:spPr>
            <a:xfrm>
              <a:off x="1674055" y="1779563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"Analyze whether our program achieved its objectives."</a:t>
              </a:r>
              <a:endParaRPr lang="en-US" sz="11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1674055" y="2328203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546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 Vague, superficial, no methodology.</a:t>
              </a:r>
              <a:endParaRPr lang="en-US" sz="1000"/>
            </a:p>
          </p:txBody>
        </p:sp>
        <p:sp>
          <p:nvSpPr>
            <p:cNvPr id="14" name="Shape 10"/>
            <p:cNvSpPr/>
            <p:nvPr/>
          </p:nvSpPr>
          <p:spPr>
            <a:xfrm>
              <a:off x="5605975" y="1368083"/>
              <a:ext cx="397764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NG"/>
            </a:p>
          </p:txBody>
        </p:sp>
        <p:sp>
          <p:nvSpPr>
            <p:cNvPr id="15" name="Shape 11"/>
            <p:cNvSpPr/>
            <p:nvPr/>
          </p:nvSpPr>
          <p:spPr>
            <a:xfrm>
              <a:off x="5605975" y="1368083"/>
              <a:ext cx="54864" cy="1645920"/>
            </a:xfrm>
            <a:prstGeom prst="rect">
              <a:avLst/>
            </a:prstGeom>
            <a:solidFill>
              <a:srgbClr val="1B8A6B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6" name="Text 12"/>
            <p:cNvSpPr/>
            <p:nvPr/>
          </p:nvSpPr>
          <p:spPr>
            <a:xfrm>
              <a:off x="5834575" y="1459523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B8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STRONG (CHAIN-OF-THOUGHT)</a:t>
              </a:r>
              <a:endParaRPr lang="en-US" sz="1000"/>
            </a:p>
          </p:txBody>
        </p:sp>
        <p:sp>
          <p:nvSpPr>
            <p:cNvPr id="17" name="Text 13"/>
            <p:cNvSpPr/>
            <p:nvPr/>
          </p:nvSpPr>
          <p:spPr>
            <a:xfrm>
              <a:off x="5834575" y="1733843"/>
              <a:ext cx="356616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"Analyze performance:</a:t>
              </a:r>
              <a:endParaRPr lang="en-US" sz="100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(1) List each objective</a:t>
              </a:r>
              <a:endParaRPr lang="en-US" sz="100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(2) Compare target vs achieved</a:t>
              </a:r>
              <a:endParaRPr lang="en-US" sz="100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(3) Classify each result</a:t>
              </a:r>
              <a:endParaRPr lang="en-US" sz="100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(4) Identify strongest &amp; weakest</a:t>
              </a:r>
              <a:endParaRPr lang="en-US" sz="100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i="1">
                  <a:solidFill>
                    <a:srgbClr val="1C28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(5) Suggest 3 recommendations"</a:t>
              </a:r>
              <a:endParaRPr lang="en-US" sz="1000"/>
            </a:p>
          </p:txBody>
        </p:sp>
        <p:sp>
          <p:nvSpPr>
            <p:cNvPr id="18" name="Shape 14"/>
            <p:cNvSpPr/>
            <p:nvPr/>
          </p:nvSpPr>
          <p:spPr>
            <a:xfrm>
              <a:off x="1628335" y="3288323"/>
              <a:ext cx="1234440" cy="7772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19" name="Text 15"/>
            <p:cNvSpPr/>
            <p:nvPr/>
          </p:nvSpPr>
          <p:spPr>
            <a:xfrm>
              <a:off x="1628335" y="3288323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</a:t>
              </a:r>
              <a:endParaRPr lang="en-US" sz="9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Objectives</a:t>
              </a:r>
              <a:endParaRPr lang="en-US" sz="900"/>
            </a:p>
          </p:txBody>
        </p:sp>
        <p:sp>
          <p:nvSpPr>
            <p:cNvPr id="20" name="Text 16"/>
            <p:cNvSpPr/>
            <p:nvPr/>
          </p:nvSpPr>
          <p:spPr>
            <a:xfrm>
              <a:off x="2862775" y="3471203"/>
              <a:ext cx="42976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D4A843"/>
                  </a:solidFill>
                </a:rPr>
                <a:t>▶</a:t>
              </a:r>
              <a:endParaRPr lang="en-US" sz="1400"/>
            </a:p>
          </p:txBody>
        </p:sp>
        <p:sp>
          <p:nvSpPr>
            <p:cNvPr id="21" name="Shape 17"/>
            <p:cNvSpPr/>
            <p:nvPr/>
          </p:nvSpPr>
          <p:spPr>
            <a:xfrm>
              <a:off x="3292543" y="3288323"/>
              <a:ext cx="1234440" cy="7772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2" name="Text 18"/>
            <p:cNvSpPr/>
            <p:nvPr/>
          </p:nvSpPr>
          <p:spPr>
            <a:xfrm>
              <a:off x="3292543" y="3288323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Compare</a:t>
              </a:r>
              <a:endParaRPr lang="en-US" sz="9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Targets</a:t>
              </a:r>
              <a:endParaRPr lang="en-US" sz="900"/>
            </a:p>
          </p:txBody>
        </p:sp>
        <p:sp>
          <p:nvSpPr>
            <p:cNvPr id="23" name="Text 19"/>
            <p:cNvSpPr/>
            <p:nvPr/>
          </p:nvSpPr>
          <p:spPr>
            <a:xfrm>
              <a:off x="4526983" y="3471203"/>
              <a:ext cx="42976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D4A843"/>
                  </a:solidFill>
                </a:rPr>
                <a:t>▶</a:t>
              </a:r>
              <a:endParaRPr lang="en-US" sz="1400"/>
            </a:p>
          </p:txBody>
        </p:sp>
        <p:sp>
          <p:nvSpPr>
            <p:cNvPr id="24" name="Shape 20"/>
            <p:cNvSpPr/>
            <p:nvPr/>
          </p:nvSpPr>
          <p:spPr>
            <a:xfrm>
              <a:off x="4956751" y="3288323"/>
              <a:ext cx="1234440" cy="7772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5" name="Text 21"/>
            <p:cNvSpPr/>
            <p:nvPr/>
          </p:nvSpPr>
          <p:spPr>
            <a:xfrm>
              <a:off x="4956751" y="3288323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Classify</a:t>
              </a:r>
              <a:endParaRPr lang="en-US" sz="9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</a:t>
              </a:r>
              <a:endParaRPr lang="en-US" sz="900"/>
            </a:p>
          </p:txBody>
        </p:sp>
        <p:sp>
          <p:nvSpPr>
            <p:cNvPr id="26" name="Text 22"/>
            <p:cNvSpPr/>
            <p:nvPr/>
          </p:nvSpPr>
          <p:spPr>
            <a:xfrm>
              <a:off x="6191191" y="3471203"/>
              <a:ext cx="42976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D4A843"/>
                  </a:solidFill>
                </a:rPr>
                <a:t>▶</a:t>
              </a:r>
              <a:endParaRPr lang="en-US" sz="1400"/>
            </a:p>
          </p:txBody>
        </p:sp>
        <p:sp>
          <p:nvSpPr>
            <p:cNvPr id="27" name="Shape 23"/>
            <p:cNvSpPr/>
            <p:nvPr/>
          </p:nvSpPr>
          <p:spPr>
            <a:xfrm>
              <a:off x="6620959" y="3288323"/>
              <a:ext cx="1234440" cy="7772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28" name="Text 24"/>
            <p:cNvSpPr/>
            <p:nvPr/>
          </p:nvSpPr>
          <p:spPr>
            <a:xfrm>
              <a:off x="6620959" y="3288323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Identify</a:t>
              </a:r>
              <a:endParaRPr lang="en-US" sz="9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Strengths</a:t>
              </a:r>
              <a:endParaRPr lang="en-US" sz="900"/>
            </a:p>
          </p:txBody>
        </p:sp>
        <p:sp>
          <p:nvSpPr>
            <p:cNvPr id="29" name="Text 25"/>
            <p:cNvSpPr/>
            <p:nvPr/>
          </p:nvSpPr>
          <p:spPr>
            <a:xfrm>
              <a:off x="7855399" y="3471203"/>
              <a:ext cx="42976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D4A843"/>
                  </a:solidFill>
                </a:rPr>
                <a:t>▶</a:t>
              </a:r>
              <a:endParaRPr lang="en-US" sz="1400"/>
            </a:p>
          </p:txBody>
        </p:sp>
        <p:sp>
          <p:nvSpPr>
            <p:cNvPr id="30" name="Shape 26"/>
            <p:cNvSpPr/>
            <p:nvPr/>
          </p:nvSpPr>
          <p:spPr>
            <a:xfrm>
              <a:off x="8285167" y="3288323"/>
              <a:ext cx="1234440" cy="777240"/>
            </a:xfrm>
            <a:prstGeom prst="rect">
              <a:avLst/>
            </a:prstGeom>
            <a:solidFill>
              <a:srgbClr val="13788A"/>
            </a:solidFill>
            <a:ln/>
          </p:spPr>
          <p:txBody>
            <a:bodyPr/>
            <a:lstStyle/>
            <a:p>
              <a:endParaRPr lang="en-NG"/>
            </a:p>
          </p:txBody>
        </p:sp>
        <p:sp>
          <p:nvSpPr>
            <p:cNvPr id="31" name="Text 27"/>
            <p:cNvSpPr/>
            <p:nvPr/>
          </p:nvSpPr>
          <p:spPr>
            <a:xfrm>
              <a:off x="8285167" y="3288323"/>
              <a:ext cx="12344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Recommend</a:t>
              </a:r>
              <a:endParaRPr lang="en-US" sz="90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Actions</a:t>
              </a:r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863856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373359" y="1351671"/>
            <a:ext cx="54698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 Chain-of-Thought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373359" y="2180346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add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"Let's think step by step"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prompt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examples needed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Surprisingly effective technique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behavior in large models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many reasoning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081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84374" y="1042182"/>
            <a:ext cx="44011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Prompting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84374" y="1870857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model a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role or persona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Influences tone, style, and expertise level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"You are an expert data scientist..."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frame context appropriately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quality of domain-specific responses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432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09124" y="746760"/>
            <a:ext cx="68299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Best Practices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909124" y="1575435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Clear, detailed instructions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Relevant background information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constraints: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Format, length, style requirements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examples: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desired output format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Refine based on results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276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739119" y="901505"/>
            <a:ext cx="57612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Prompting Mistakes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739119" y="1730180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instructions: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"Write something about AI"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context: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Unclear what format is needed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constraints: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length or style guidance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Over-complexity: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Trying to do too much at once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examples: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complex formatting tasks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747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087595" y="2209800"/>
            <a:ext cx="67411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 smtClean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Models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76950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06073" y="971843"/>
            <a:ext cx="57612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Multimodal Models?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106073" y="1800518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that work with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data types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modalities: text, images, audio, video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relationships across different modalities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cross-modal tasks (text → image, image → text)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closely mimic human perception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59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20140" y="648286"/>
            <a:ext cx="56058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CLIP: Contrastive Language-Image Pre-training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120140" y="1877011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2021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visual concepts from natural language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400 million image-text pairs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zero-shot image classification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many text-to-image models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960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204546" y="999979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CLIP Works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204546" y="1828654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encoder: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Vision Transformer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encoder: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Transformer model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shared embedding space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images to text descriptions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contrastive learning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485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96915" y="1028114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 Applications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696915" y="1856789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classification: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training data needed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search: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images using natural language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moderation: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inappropriate images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captioning: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descriptions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for generation: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in DALL-E 2/3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59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20140" y="704556"/>
            <a:ext cx="66648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DALL-E: Text-to-Image Generation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120140" y="1533231"/>
            <a:ext cx="8001000" cy="31623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1: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12B parameter autoregressive model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2: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Diffusion-based with CLIP guidance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3: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Improved prompt following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images from text descriptions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edit existing images (inpainting)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variations of images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015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42171" y="859301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DALL-E Capabilities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542171" y="1687976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images: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High-quality outputs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Artistic styles: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Various art movements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manipulation: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unusual concepts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control: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 viewpoints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integration: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text to images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429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725050" y="1140655"/>
            <a:ext cx="67425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Generation Prompt Patterns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725050" y="1969330"/>
            <a:ext cx="8001000" cy="2266950"/>
          </a:xfrm>
          <a:prstGeom prst="roundRect">
            <a:avLst>
              <a:gd name="adj" fmla="val 252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1744100" y="1969330"/>
            <a:ext cx="0" cy="22669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953650" y="2188405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953650" y="2569405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[Subject] + [Style] + [Composition] + [Lighting] + [Details]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953650" y="2950405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953650" y="3331405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futuristic cityscape at sunset, cyberpunk style,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953650" y="3712405"/>
            <a:ext cx="7733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angle view, dramatic lighting, highly detailed"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75388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77937" y="817098"/>
            <a:ext cx="56544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Prompt Best Practices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1077937" y="1645773"/>
            <a:ext cx="8001000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descriptive: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details = better results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style: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 style, medium, era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composition: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Angle, framing, focus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mood: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Lighting, atmosphere, colors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Refine prompts based on outputs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580628" y="514350"/>
            <a:ext cx="39825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2189559" y="1619250"/>
            <a:ext cx="4764732" cy="26289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models predict one token at a time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top-k, and top-p control output diversity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is essential for LLM performance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models bridge text and images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42875" indent="-142875" algn="l">
              <a:lnSpc>
                <a:spcPts val="2400"/>
              </a:lnSpc>
              <a:spcAft>
                <a:spcPts val="75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leads to better results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68421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21596</TotalTime>
  <Words>1817</Words>
  <Application>Microsoft Office PowerPoint</Application>
  <PresentationFormat>Widescreen</PresentationFormat>
  <Paragraphs>323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Georgia</vt:lpstr>
      <vt:lpstr>Neue Haas Grotesk Text Pro</vt:lpstr>
      <vt:lpstr>Segoe UI</vt:lpstr>
      <vt:lpstr>PunchcardVTI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Liberty</dc:creator>
  <cp:lastModifiedBy>USER</cp:lastModifiedBy>
  <cp:revision>12</cp:revision>
  <dcterms:created xsi:type="dcterms:W3CDTF">2025-11-05T12:47:00Z</dcterms:created>
  <dcterms:modified xsi:type="dcterms:W3CDTF">2026-04-15T12:22:54Z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