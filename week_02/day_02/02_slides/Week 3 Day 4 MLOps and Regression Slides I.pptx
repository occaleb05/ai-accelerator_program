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28"/>
  </p:notesMasterIdLst>
  <p:sldIdLst>
    <p:sldId id="257" r:id="rId2"/>
    <p:sldId id="260" r:id="rId3"/>
    <p:sldId id="259" r:id="rId4"/>
    <p:sldId id="279" r:id="rId5"/>
    <p:sldId id="261" r:id="rId6"/>
    <p:sldId id="262" r:id="rId7"/>
    <p:sldId id="263" r:id="rId8"/>
    <p:sldId id="280" r:id="rId9"/>
    <p:sldId id="264" r:id="rId10"/>
    <p:sldId id="265" r:id="rId11"/>
    <p:sldId id="281" r:id="rId12"/>
    <p:sldId id="282" r:id="rId13"/>
    <p:sldId id="283" r:id="rId14"/>
    <p:sldId id="266" r:id="rId15"/>
    <p:sldId id="285" r:id="rId16"/>
    <p:sldId id="284" r:id="rId17"/>
    <p:sldId id="286" r:id="rId18"/>
    <p:sldId id="287" r:id="rId19"/>
    <p:sldId id="288" r:id="rId20"/>
    <p:sldId id="289" r:id="rId21"/>
    <p:sldId id="290" r:id="rId22"/>
    <p:sldId id="291" r:id="rId23"/>
    <p:sldId id="292" r:id="rId24"/>
    <p:sldId id="293" r:id="rId25"/>
    <p:sldId id="294" r:id="rId26"/>
    <p:sldId id="29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78490" autoAdjust="0"/>
  </p:normalViewPr>
  <p:slideViewPr>
    <p:cSldViewPr snapToGrid="0">
      <p:cViewPr varScale="1">
        <p:scale>
          <a:sx n="49" d="100"/>
          <a:sy n="49" d="100"/>
        </p:scale>
        <p:origin x="1452" y="52"/>
      </p:cViewPr>
      <p:guideLst/>
    </p:cSldViewPr>
  </p:slideViewPr>
  <p:notesTextViewPr>
    <p:cViewPr>
      <p:scale>
        <a:sx n="1" d="1"/>
        <a:sy n="1" d="1"/>
      </p:scale>
      <p:origin x="0" y="0"/>
    </p:cViewPr>
  </p:notesTextViewPr>
  <p:sorterViewPr>
    <p:cViewPr>
      <p:scale>
        <a:sx n="100" d="100"/>
        <a:sy n="100" d="100"/>
      </p:scale>
      <p:origin x="0" y="-70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5EF8F-E755-4CDF-A49A-784CEFF48E79}" type="datetimeFigureOut">
              <a:rPr lang="en-NG" smtClean="0"/>
              <a:t>27/01/2026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87122E-1A98-45FF-9041-48FC7599DFB4}" type="slidenum">
              <a:rPr lang="en-NG" smtClean="0"/>
              <a:t>‹#›</a:t>
            </a:fld>
            <a:endParaRPr lang="en-NG"/>
          </a:p>
        </p:txBody>
      </p:sp>
    </p:spTree>
    <p:extLst>
      <p:ext uri="{BB962C8B-B14F-4D97-AF65-F5344CB8AC3E}">
        <p14:creationId xmlns:p14="http://schemas.microsoft.com/office/powerpoint/2010/main" val="2242709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effectLst/>
              </a:rPr>
              <a:t>After you’ve spent so much money acquiring a customer, it’d be a shame if they leave. The cost of acquiring a new user is approximated to be 5 to 25 times more expensive than retaining an existing one. </a:t>
            </a:r>
            <a:r>
              <a:rPr lang="en-GB" b="1" i="1" dirty="0">
                <a:effectLst/>
              </a:rPr>
              <a:t>Churn prediction is </a:t>
            </a:r>
            <a:r>
              <a:rPr lang="en-GB" b="1" dirty="0">
                <a:effectLst/>
              </a:rPr>
              <a:t>predicting when a specific customer is about to stop using your products or services so that you can take appropriate actions to win them back. Churn prediction can be used not only for customers but also for employees.</a:t>
            </a:r>
            <a:endParaRPr lang="en-GB" dirty="0">
              <a:effectLst/>
            </a:endParaRPr>
          </a:p>
          <a:p>
            <a:r>
              <a:rPr lang="en-GB" b="1" dirty="0">
                <a:effectLst/>
              </a:rPr>
              <a:t>To prevent customers from leaving, it’s important to keep them happy by addressing their concerns as soon as they arise. Automated support ticket classification can help with that. Previously, when a customer opened a support ticket or sent an email, it needed to first be processed then passed around to different departments until it arrived at the inbox of someone who could address it. An ML system can </a:t>
            </a:r>
            <a:r>
              <a:rPr lang="en-GB" b="1" dirty="0" err="1">
                <a:effectLst/>
              </a:rPr>
              <a:t>analyze</a:t>
            </a:r>
            <a:r>
              <a:rPr lang="en-GB" b="1" dirty="0">
                <a:effectLst/>
              </a:rPr>
              <a:t> the ticket content and predict where it should go, which can shorten the response time and improve customer satisfaction. It can also be used to classify internal IT tickets.</a:t>
            </a:r>
            <a:endParaRPr lang="en-GB" dirty="0">
              <a:effectLst/>
            </a:endParaRPr>
          </a:p>
          <a:p>
            <a:endParaRPr lang="en-NG" dirty="0"/>
          </a:p>
        </p:txBody>
      </p:sp>
      <p:sp>
        <p:nvSpPr>
          <p:cNvPr id="4" name="Slide Number Placeholder 3"/>
          <p:cNvSpPr>
            <a:spLocks noGrp="1"/>
          </p:cNvSpPr>
          <p:nvPr>
            <p:ph type="sldNum" sz="quarter" idx="5"/>
          </p:nvPr>
        </p:nvSpPr>
        <p:spPr/>
        <p:txBody>
          <a:bodyPr/>
          <a:lstStyle/>
          <a:p>
            <a:fld id="{8887122E-1A98-45FF-9041-48FC7599DFB4}" type="slidenum">
              <a:rPr lang="en-NG" smtClean="0"/>
              <a:t>13</a:t>
            </a:fld>
            <a:endParaRPr lang="en-NG"/>
          </a:p>
        </p:txBody>
      </p:sp>
    </p:spTree>
    <p:extLst>
      <p:ext uri="{BB962C8B-B14F-4D97-AF65-F5344CB8AC3E}">
        <p14:creationId xmlns:p14="http://schemas.microsoft.com/office/powerpoint/2010/main" val="3626056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effectLst/>
              </a:rPr>
              <a:t>After you’ve spent so much money acquiring a customer, it’d be a shame if they leave. The cost of acquiring a new user is approximated to be 5 to 25 times more expensive than retaining an existing one. </a:t>
            </a:r>
            <a:r>
              <a:rPr lang="en-GB" b="1" i="1" dirty="0">
                <a:effectLst/>
              </a:rPr>
              <a:t>Churn prediction is </a:t>
            </a:r>
            <a:r>
              <a:rPr lang="en-GB" b="1" dirty="0">
                <a:effectLst/>
              </a:rPr>
              <a:t>predicting when a specific customer is about to stop using your products or services so that you can take appropriate actions to win them back. Churn prediction can be used not only for customers but also for employees.</a:t>
            </a:r>
            <a:endParaRPr lang="en-GB" dirty="0">
              <a:effectLst/>
            </a:endParaRPr>
          </a:p>
          <a:p>
            <a:r>
              <a:rPr lang="en-GB" b="1" dirty="0">
                <a:effectLst/>
              </a:rPr>
              <a:t>To prevent customers from leaving, it’s important to keep them happy by addressing their concerns as soon as they arise. Automated support ticket classification can help with that. Previously, when a customer opened a support ticket or sent an email, it needed to first be processed then passed around to different departments until it arrived at the inbox of someone who could address it. An ML system can </a:t>
            </a:r>
            <a:r>
              <a:rPr lang="en-GB" b="1" dirty="0" err="1">
                <a:effectLst/>
              </a:rPr>
              <a:t>analyze</a:t>
            </a:r>
            <a:r>
              <a:rPr lang="en-GB" b="1" dirty="0">
                <a:effectLst/>
              </a:rPr>
              <a:t> the ticket content and predict where it should go, which can shorten the response time and improve customer satisfaction. It can also be used to classify internal IT tickets.</a:t>
            </a:r>
            <a:endParaRPr lang="en-GB" dirty="0">
              <a:effectLst/>
            </a:endParaRPr>
          </a:p>
          <a:p>
            <a:endParaRPr lang="en-NG" dirty="0"/>
          </a:p>
        </p:txBody>
      </p:sp>
      <p:sp>
        <p:nvSpPr>
          <p:cNvPr id="4" name="Slide Number Placeholder 3"/>
          <p:cNvSpPr>
            <a:spLocks noGrp="1"/>
          </p:cNvSpPr>
          <p:nvPr>
            <p:ph type="sldNum" sz="quarter" idx="5"/>
          </p:nvPr>
        </p:nvSpPr>
        <p:spPr/>
        <p:txBody>
          <a:bodyPr/>
          <a:lstStyle/>
          <a:p>
            <a:fld id="{8887122E-1A98-45FF-9041-48FC7599DFB4}" type="slidenum">
              <a:rPr lang="en-NG" smtClean="0"/>
              <a:t>14</a:t>
            </a:fld>
            <a:endParaRPr lang="en-NG"/>
          </a:p>
        </p:txBody>
      </p:sp>
    </p:spTree>
    <p:extLst>
      <p:ext uri="{BB962C8B-B14F-4D97-AF65-F5344CB8AC3E}">
        <p14:creationId xmlns:p14="http://schemas.microsoft.com/office/powerpoint/2010/main" val="1781369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61487-C4C2-D366-38E8-0482CBE19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CC82D-0A0E-9247-13D6-4A73893F59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BC59D-E21B-8F02-4CF8-6946F4FEEF22}"/>
              </a:ext>
            </a:extLst>
          </p:cNvPr>
          <p:cNvSpPr>
            <a:spLocks noGrp="1"/>
          </p:cNvSpPr>
          <p:nvPr>
            <p:ph type="body" idx="1"/>
          </p:nvPr>
        </p:nvSpPr>
        <p:spPr/>
        <p:txBody>
          <a:bodyPr/>
          <a:lstStyle/>
          <a:p>
            <a:r>
              <a:rPr lang="en-GB" b="1" dirty="0">
                <a:effectLst/>
              </a:rPr>
              <a:t>After you’ve spent so much money acquiring a customer, it’d be a shame if they leave. The cost of acquiring a new user is approximated to be 5 to 25 times more expensive than retaining an existing one. </a:t>
            </a:r>
            <a:r>
              <a:rPr lang="en-GB" b="1" i="1" dirty="0">
                <a:effectLst/>
              </a:rPr>
              <a:t>Churn prediction is </a:t>
            </a:r>
            <a:r>
              <a:rPr lang="en-GB" b="1" dirty="0">
                <a:effectLst/>
              </a:rPr>
              <a:t>predicting when a specific customer is about to stop using your products or services so that you can take appropriate actions to win them back. Churn prediction can be used not only for customers but also for employees.</a:t>
            </a:r>
            <a:endParaRPr lang="en-GB" dirty="0">
              <a:effectLst/>
            </a:endParaRPr>
          </a:p>
          <a:p>
            <a:r>
              <a:rPr lang="en-GB" b="1" dirty="0">
                <a:effectLst/>
              </a:rPr>
              <a:t>To prevent customers from leaving, it’s important to keep them happy by addressing their concerns as soon as they arise. Automated support ticket classification can help with that. Previously, when a customer opened a support ticket or sent an email, it needed to first be processed then passed around to different departments until it arrived at the inbox of someone who could address it. An ML system can </a:t>
            </a:r>
            <a:r>
              <a:rPr lang="en-GB" b="1" dirty="0" err="1">
                <a:effectLst/>
              </a:rPr>
              <a:t>analyze</a:t>
            </a:r>
            <a:r>
              <a:rPr lang="en-GB" b="1" dirty="0">
                <a:effectLst/>
              </a:rPr>
              <a:t> the ticket content and predict where it should go, which can shorten the response time and improve customer satisfaction. It can also be used to classify internal IT tickets.</a:t>
            </a:r>
            <a:endParaRPr lang="en-GB" dirty="0">
              <a:effectLst/>
            </a:endParaRPr>
          </a:p>
          <a:p>
            <a:endParaRPr lang="en-NG" dirty="0"/>
          </a:p>
        </p:txBody>
      </p:sp>
      <p:sp>
        <p:nvSpPr>
          <p:cNvPr id="4" name="Slide Number Placeholder 3">
            <a:extLst>
              <a:ext uri="{FF2B5EF4-FFF2-40B4-BE49-F238E27FC236}">
                <a16:creationId xmlns:a16="http://schemas.microsoft.com/office/drawing/2014/main" id="{B53DD467-72D2-840E-BF7C-52D1CE85F234}"/>
              </a:ext>
            </a:extLst>
          </p:cNvPr>
          <p:cNvSpPr>
            <a:spLocks noGrp="1"/>
          </p:cNvSpPr>
          <p:nvPr>
            <p:ph type="sldNum" sz="quarter" idx="5"/>
          </p:nvPr>
        </p:nvSpPr>
        <p:spPr/>
        <p:txBody>
          <a:bodyPr/>
          <a:lstStyle/>
          <a:p>
            <a:fld id="{8887122E-1A98-45FF-9041-48FC7599DFB4}" type="slidenum">
              <a:rPr lang="en-NG" smtClean="0"/>
              <a:t>15</a:t>
            </a:fld>
            <a:endParaRPr lang="en-NG"/>
          </a:p>
        </p:txBody>
      </p:sp>
    </p:spTree>
    <p:extLst>
      <p:ext uri="{BB962C8B-B14F-4D97-AF65-F5344CB8AC3E}">
        <p14:creationId xmlns:p14="http://schemas.microsoft.com/office/powerpoint/2010/main" val="11758318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pPr algn="l"/>
              <a:t>1/27/2026</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a:extLst>
              <a:ext uri="{FF2B5EF4-FFF2-40B4-BE49-F238E27FC236}">
                <a16:creationId xmlns:a16="http://schemas.microsoft.com/office/drawing/2014/main" id="{9E91172A-D17D-C180-F3B1-0141247E2D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718255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a:extLst>
              <a:ext uri="{FF2B5EF4-FFF2-40B4-BE49-F238E27FC236}">
                <a16:creationId xmlns:a16="http://schemas.microsoft.com/office/drawing/2014/main" id="{7EC6D666-5D0B-8C45-3F9D-885CF10834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a:extLst>
              <a:ext uri="{FF2B5EF4-FFF2-40B4-BE49-F238E27FC236}">
                <a16:creationId xmlns:a16="http://schemas.microsoft.com/office/drawing/2014/main" id="{BB434980-A235-A835-9CA9-3906FF866B11}"/>
              </a:ext>
            </a:extLst>
          </p:cNvPr>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64434"/>
            <a:ext cx="770890" cy="12192000"/>
          </a:xfrm>
          <a:prstGeom prst="rect">
            <a:avLst/>
          </a:prstGeom>
        </p:spPr>
      </p:pic>
    </p:spTree>
    <p:extLst>
      <p:ext uri="{BB962C8B-B14F-4D97-AF65-F5344CB8AC3E}">
        <p14:creationId xmlns:p14="http://schemas.microsoft.com/office/powerpoint/2010/main" val="212378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19497C09-89AE-6371-9DD4-75A5AF8DBC69}"/>
              </a:ext>
            </a:extLst>
          </p:cNvPr>
          <p:cNvGrpSpPr/>
          <p:nvPr userDrawn="1"/>
        </p:nvGrpSpPr>
        <p:grpSpPr>
          <a:xfrm>
            <a:off x="6201388" y="0"/>
            <a:ext cx="5990612" cy="6858001"/>
            <a:chOff x="6201388" y="0"/>
            <a:chExt cx="5990612" cy="6858001"/>
          </a:xfrm>
        </p:grpSpPr>
        <p:sp>
          <p:nvSpPr>
            <p:cNvPr id="34" name="Oval 33">
              <a:extLst>
                <a:ext uri="{FF2B5EF4-FFF2-40B4-BE49-F238E27FC236}">
                  <a16:creationId xmlns:a16="http://schemas.microsoft.com/office/drawing/2014/main" id="{B6198FF7-E543-F648-F22D-7A5A5F2906F4}"/>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a:extLst>
                <a:ext uri="{FF2B5EF4-FFF2-40B4-BE49-F238E27FC236}">
                  <a16:creationId xmlns:a16="http://schemas.microsoft.com/office/drawing/2014/main" id="{07271CCF-0DC3-3BF8-249C-3411FA74D96D}"/>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a:extLst>
                <a:ext uri="{FF2B5EF4-FFF2-40B4-BE49-F238E27FC236}">
                  <a16:creationId xmlns:a16="http://schemas.microsoft.com/office/drawing/2014/main" id="{CABBBCC2-237F-CBEA-84B0-1079062AC561}"/>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6B8E4F2-524D-24A8-86F4-1792F6E50E8B}"/>
                </a:ext>
              </a:extLst>
            </p:cNvPr>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E0BD260-421F-B483-B4A0-37FEFB3374F9}"/>
                </a:ext>
              </a:extLst>
            </p:cNvPr>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7D44ADD-B4C5-FBF7-10B0-325421A0D6C9}"/>
                </a:ext>
              </a:extLst>
            </p:cNvPr>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a:extLst>
                <a:ext uri="{FF2B5EF4-FFF2-40B4-BE49-F238E27FC236}">
                  <a16:creationId xmlns:a16="http://schemas.microsoft.com/office/drawing/2014/main" id="{5593C120-03DA-0B74-3A14-C5E66EDC4F9C}"/>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a:extLst>
                <a:ext uri="{FF2B5EF4-FFF2-40B4-BE49-F238E27FC236}">
                  <a16:creationId xmlns:a16="http://schemas.microsoft.com/office/drawing/2014/main" id="{2E836D48-4A84-EAB5-F726-7655BEFF3EB4}"/>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0A3C7E49-0C95-45AB-FF02-F449805F0F82}"/>
                </a:ext>
              </a:extLst>
            </p:cNvPr>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39F28514-8A8B-6BB2-9BC7-3D9A99443AA9}"/>
                </a:ext>
              </a:extLst>
            </p:cNvPr>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36FC6122-5293-4627-86DE-6601FA92141B}"/>
                </a:ext>
              </a:extLst>
            </p:cNvPr>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D443DE6D-7BB4-A4DD-F128-91CF73CEBFBE}"/>
                </a:ext>
              </a:extLst>
            </p:cNvPr>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DA35F092-ECC3-7737-485B-16E2C5DBBD9C}"/>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03BEB774-3617-CD14-3987-72B21781DF42}"/>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15958338-951C-A8ED-487F-7A180F97702A}"/>
                </a:ext>
              </a:extLst>
            </p:cNvPr>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6AAD3E28-B829-0A7D-41FB-9F6EC11DF07F}"/>
                </a:ext>
              </a:extLst>
            </p:cNvPr>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80446E0C-7C6F-48A3-9347-464A70687F1E}"/>
                </a:ext>
              </a:extLst>
            </p:cNvPr>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3E242CA4-6284-C376-4F9A-836D395DD50F}"/>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95B8F67F-0DC3-A4B2-71FF-A3483FA75FC1}"/>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290C650-6E01-A169-3427-A0621B17A73B}"/>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36D4EC3C-D579-E8BB-FE8E-09E88C14B686}"/>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55D23B81-F939-BBDA-DD0D-632F19F07160}"/>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80FE3946-719E-8689-941C-2DA992DE45D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10F47F19-AA93-0318-795C-11AA315F23CD}"/>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a:extLst>
              <a:ext uri="{FF2B5EF4-FFF2-40B4-BE49-F238E27FC236}">
                <a16:creationId xmlns:a16="http://schemas.microsoft.com/office/drawing/2014/main" id="{5AB071D6-F70F-FC27-1E58-03B4EB9BF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2991748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a:extLst>
              <a:ext uri="{FF2B5EF4-FFF2-40B4-BE49-F238E27FC236}">
                <a16:creationId xmlns:a16="http://schemas.microsoft.com/office/drawing/2014/main" id="{17E75DCB-E0A9-8AE4-118D-B647268408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723680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a:extLst>
              <a:ext uri="{FF2B5EF4-FFF2-40B4-BE49-F238E27FC236}">
                <a16:creationId xmlns:a16="http://schemas.microsoft.com/office/drawing/2014/main" id="{A284F8FC-5CB3-2BD1-2B02-6524583371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646806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a:extLst>
              <a:ext uri="{FF2B5EF4-FFF2-40B4-BE49-F238E27FC236}">
                <a16:creationId xmlns:a16="http://schemas.microsoft.com/office/drawing/2014/main" id="{46350139-760A-2B49-EEAB-39A916ACA3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336894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A5B0A250-5CC0-1746-B209-08E8B0DAE6AF}" type="datetimeFigureOut">
              <a:rPr lang="en-US" smtClean="0"/>
              <a:pPr/>
              <a:t>1/27/2026</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dirty="0"/>
          </a:p>
        </p:txBody>
      </p:sp>
      <p:pic>
        <p:nvPicPr>
          <p:cNvPr id="2" name="Picture 1" descr="A close up of a logo&#10;&#10;AI-generated content may be incorrect.">
            <a:extLst>
              <a:ext uri="{FF2B5EF4-FFF2-40B4-BE49-F238E27FC236}">
                <a16:creationId xmlns:a16="http://schemas.microsoft.com/office/drawing/2014/main" id="{182C52E2-8AF9-D7F6-D5D6-D023C913E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2630422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758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64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A5B0A250-5CC0-1746-B209-08E8B0DAE6AF}" type="datetimeFigureOut">
              <a:rPr lang="en-US" smtClean="0"/>
              <a:t>1/27/2026</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357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A5B0A250-5CC0-1746-B209-08E8B0DAE6AF}" type="datetimeFigureOut">
              <a:rPr lang="en-US" smtClean="0"/>
              <a:t>1/27/2026</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03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pPr/>
              <a:t>1/27/2026</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14701007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690DC8-ECFD-70AA-6E5D-7D96B4A88ECE}"/>
              </a:ext>
            </a:extLst>
          </p:cNvPr>
          <p:cNvSpPr txBox="1"/>
          <p:nvPr/>
        </p:nvSpPr>
        <p:spPr>
          <a:xfrm>
            <a:off x="1513114" y="2351315"/>
            <a:ext cx="7238999" cy="1200329"/>
          </a:xfrm>
          <a:prstGeom prst="rect">
            <a:avLst/>
          </a:prstGeom>
          <a:noFill/>
        </p:spPr>
        <p:txBody>
          <a:bodyPr wrap="square" rtlCol="0">
            <a:spAutoFit/>
          </a:bodyPr>
          <a:lstStyle/>
          <a:p>
            <a:r>
              <a:rPr lang="en-GB" sz="3600" b="1" dirty="0" err="1">
                <a:latin typeface="Arial" panose="020B0604020202020204" pitchFamily="34" charset="0"/>
                <a:cs typeface="Arial" panose="020B0604020202020204" pitchFamily="34" charset="0"/>
              </a:rPr>
              <a:t>MLOps</a:t>
            </a:r>
            <a:r>
              <a:rPr lang="en-GB" sz="3600" b="1" dirty="0">
                <a:latin typeface="Arial" panose="020B0604020202020204" pitchFamily="34" charset="0"/>
                <a:cs typeface="Arial" panose="020B0604020202020204" pitchFamily="34" charset="0"/>
              </a:rPr>
              <a:t> I: Experiment Tracking and Regression Project Work</a:t>
            </a:r>
            <a:endParaRPr lang="en-NG"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760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4902F98-46F4-5C0A-CE8A-F62EBF64DB34}"/>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By the end of this session, participants should be able to:</a:t>
            </a:r>
          </a:p>
          <a:p>
            <a:endParaRPr lang="en-GB" sz="2000" dirty="0">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2718A2DD-487C-A343-5345-AFB1FDA21FA2}"/>
              </a:ext>
            </a:extLst>
          </p:cNvPr>
          <p:cNvSpPr txBox="1">
            <a:spLocks/>
          </p:cNvSpPr>
          <p:nvPr/>
        </p:nvSpPr>
        <p:spPr>
          <a:xfrm>
            <a:off x="1096092" y="2337220"/>
            <a:ext cx="6888960" cy="150027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r>
              <a:rPr lang="en-GB" sz="2000" b="0" dirty="0">
                <a:latin typeface="Arial" panose="020B0604020202020204" pitchFamily="34" charset="0"/>
                <a:cs typeface="Arial" panose="020B0604020202020204" pitchFamily="34" charset="0"/>
              </a:rPr>
              <a:t>Implement experiment tracking with </a:t>
            </a:r>
            <a:r>
              <a:rPr lang="en-GB" sz="2000" b="0" dirty="0" err="1">
                <a:latin typeface="Arial" panose="020B0604020202020204" pitchFamily="34" charset="0"/>
                <a:cs typeface="Arial" panose="020B0604020202020204" pitchFamily="34" charset="0"/>
              </a:rPr>
              <a:t>MLflow</a:t>
            </a:r>
            <a:endParaRPr lang="en-GB" sz="2000" b="0" dirty="0">
              <a:latin typeface="Arial" panose="020B0604020202020204" pitchFamily="34" charset="0"/>
              <a:cs typeface="Arial" panose="020B0604020202020204" pitchFamily="34" charset="0"/>
            </a:endParaRPr>
          </a:p>
          <a:p>
            <a:pPr marL="514350" indent="-514350">
              <a:lnSpc>
                <a:spcPct val="150000"/>
              </a:lnSpc>
              <a:buFont typeface="+mj-lt"/>
              <a:buAutoNum type="arabicPeriod"/>
            </a:pPr>
            <a:r>
              <a:rPr lang="en-GB" sz="2000" b="0" dirty="0">
                <a:latin typeface="Arial" panose="020B0604020202020204" pitchFamily="34" charset="0"/>
                <a:cs typeface="Arial" panose="020B0604020202020204" pitchFamily="34" charset="0"/>
              </a:rPr>
              <a:t>Version datasets with DVC</a:t>
            </a:r>
          </a:p>
          <a:p>
            <a:pPr marL="514350" indent="-514350">
              <a:lnSpc>
                <a:spcPct val="150000"/>
              </a:lnSpc>
              <a:buFont typeface="+mj-lt"/>
              <a:buAutoNum type="arabicPeriod"/>
            </a:pPr>
            <a:r>
              <a:rPr lang="en-GB" sz="2000" b="0" dirty="0">
                <a:latin typeface="Arial" panose="020B0604020202020204" pitchFamily="34" charset="0"/>
                <a:cs typeface="Arial" panose="020B0604020202020204" pitchFamily="34" charset="0"/>
              </a:rPr>
              <a:t>Work intensively on regression project</a:t>
            </a:r>
          </a:p>
        </p:txBody>
      </p:sp>
      <p:sp>
        <p:nvSpPr>
          <p:cNvPr id="11" name="Title 1">
            <a:extLst>
              <a:ext uri="{FF2B5EF4-FFF2-40B4-BE49-F238E27FC236}">
                <a16:creationId xmlns:a16="http://schemas.microsoft.com/office/drawing/2014/main" id="{59E302CC-8FC2-5031-F342-432826A2F041}"/>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Learning Objectives </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45DA6EBD-A260-7656-E772-DDDC27DD9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46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DEA1-0446-5890-DE9F-336C2F11D453}"/>
              </a:ext>
            </a:extLst>
          </p:cNvPr>
          <p:cNvSpPr>
            <a:spLocks noGrp="1"/>
          </p:cNvSpPr>
          <p:nvPr>
            <p:ph type="title"/>
          </p:nvPr>
        </p:nvSpPr>
        <p:spPr>
          <a:xfrm>
            <a:off x="1393234" y="2477257"/>
            <a:ext cx="6721535" cy="1903485"/>
          </a:xfrm>
        </p:spPr>
        <p:txBody>
          <a:bodyPr>
            <a:noAutofit/>
          </a:bodyPr>
          <a:lstStyle/>
          <a:p>
            <a:pPr marL="0" indent="0"/>
            <a:r>
              <a:rPr lang="en-GB" dirty="0">
                <a:solidFill>
                  <a:srgbClr val="45C2CA"/>
                </a:solidFill>
                <a:latin typeface="Arial" panose="020B0604020202020204" pitchFamily="34" charset="0"/>
                <a:cs typeface="Arial" panose="020B0604020202020204" pitchFamily="34" charset="0"/>
              </a:rPr>
              <a:t>Part 1: </a:t>
            </a:r>
            <a:r>
              <a:rPr lang="en-GB" dirty="0">
                <a:solidFill>
                  <a:srgbClr val="03807F"/>
                </a:solidFill>
                <a:latin typeface="Arial" panose="020B0604020202020204" pitchFamily="34" charset="0"/>
                <a:cs typeface="Arial" panose="020B0604020202020204" pitchFamily="34" charset="0"/>
              </a:rPr>
              <a:t>Introduction to </a:t>
            </a:r>
            <a:r>
              <a:rPr lang="en-GB" dirty="0" err="1">
                <a:solidFill>
                  <a:srgbClr val="03807F"/>
                </a:solidFill>
                <a:latin typeface="Arial" panose="020B0604020202020204" pitchFamily="34" charset="0"/>
                <a:cs typeface="Arial" panose="020B0604020202020204" pitchFamily="34" charset="0"/>
              </a:rPr>
              <a:t>MLOps</a:t>
            </a:r>
            <a:endParaRPr lang="en-US" dirty="0">
              <a:solidFill>
                <a:srgbClr val="03807F"/>
              </a:solidFill>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F76F354B-1F75-7C8D-A171-7488885D87FE}"/>
              </a:ext>
            </a:extLst>
          </p:cNvPr>
          <p:cNvSpPr txBox="1">
            <a:spLocks/>
          </p:cNvSpPr>
          <p:nvPr/>
        </p:nvSpPr>
        <p:spPr>
          <a:xfrm>
            <a:off x="7672317" y="333823"/>
            <a:ext cx="3231657" cy="5309894"/>
          </a:xfrm>
          <a:prstGeom prst="rect">
            <a:avLst/>
          </a:prstGeom>
          <a:noFill/>
          <a:effectLst>
            <a:outerShdw blurRad="50800" dist="50800" dir="5400000" algn="ctr" rotWithShape="0">
              <a:srgbClr val="000000">
                <a:alpha val="0"/>
              </a:srgbClr>
            </a:outerShdw>
          </a:effectLst>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41300" i="1" dirty="0">
                <a:solidFill>
                  <a:srgbClr val="03807F">
                    <a:alpha val="12000"/>
                  </a:srgbClr>
                </a:solidFill>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3605154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493F-C470-9B4E-9CCC-BFE1FD35A1C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166BBE4-A7A2-C345-0721-5131731B9C4D}"/>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By the end of this session, participants should be able to:</a:t>
            </a:r>
          </a:p>
          <a:p>
            <a:endParaRPr lang="en-GB" sz="2000" dirty="0">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09446649-5B15-A114-774B-7A7F83471D21}"/>
              </a:ext>
            </a:extLst>
          </p:cNvPr>
          <p:cNvSpPr txBox="1">
            <a:spLocks/>
          </p:cNvSpPr>
          <p:nvPr/>
        </p:nvSpPr>
        <p:spPr>
          <a:xfrm>
            <a:off x="1096092" y="2409040"/>
            <a:ext cx="6888960" cy="2207847"/>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What is </a:t>
            </a:r>
            <a:r>
              <a:rPr lang="en-GB" sz="1600" b="0" dirty="0" err="1">
                <a:latin typeface="Arial" panose="020B0604020202020204" pitchFamily="34" charset="0"/>
                <a:cs typeface="Arial" panose="020B0604020202020204" pitchFamily="34" charset="0"/>
              </a:rPr>
              <a:t>MLOps</a:t>
            </a:r>
            <a:r>
              <a:rPr lang="en-GB" sz="1600" b="0" dirty="0">
                <a:latin typeface="Arial" panose="020B0604020202020204" pitchFamily="34" charset="0"/>
                <a:cs typeface="Arial" panose="020B0604020202020204" pitchFamily="34" charset="0"/>
              </a:rPr>
              <a:t> and why it matters</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What does the ML lifecycle entail from experimentation to production?</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What is the overview of </a:t>
            </a:r>
            <a:r>
              <a:rPr lang="en-GB" sz="1600" b="0" dirty="0" err="1">
                <a:latin typeface="Arial" panose="020B0604020202020204" pitchFamily="34" charset="0"/>
                <a:cs typeface="Arial" panose="020B0604020202020204" pitchFamily="34" charset="0"/>
              </a:rPr>
              <a:t>MLOps</a:t>
            </a:r>
            <a:r>
              <a:rPr lang="en-GB" sz="1600" b="0" dirty="0">
                <a:latin typeface="Arial" panose="020B0604020202020204" pitchFamily="34" charset="0"/>
                <a:cs typeface="Arial" panose="020B0604020202020204" pitchFamily="34" charset="0"/>
              </a:rPr>
              <a:t> tools and standard practices?</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What are the reproducibility challenges in ML?</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Discussion: Real-world </a:t>
            </a:r>
            <a:r>
              <a:rPr lang="en-GB" sz="1600" b="0" dirty="0" err="1">
                <a:latin typeface="Arial" panose="020B0604020202020204" pitchFamily="34" charset="0"/>
                <a:cs typeface="Arial" panose="020B0604020202020204" pitchFamily="34" charset="0"/>
              </a:rPr>
              <a:t>MLOps</a:t>
            </a:r>
            <a:r>
              <a:rPr lang="en-GB" sz="1600" b="0" dirty="0">
                <a:latin typeface="Arial" panose="020B0604020202020204" pitchFamily="34" charset="0"/>
                <a:cs typeface="Arial" panose="020B0604020202020204" pitchFamily="34" charset="0"/>
              </a:rPr>
              <a:t> scenarios</a:t>
            </a:r>
          </a:p>
        </p:txBody>
      </p:sp>
      <p:sp>
        <p:nvSpPr>
          <p:cNvPr id="11" name="Title 1">
            <a:extLst>
              <a:ext uri="{FF2B5EF4-FFF2-40B4-BE49-F238E27FC236}">
                <a16:creationId xmlns:a16="http://schemas.microsoft.com/office/drawing/2014/main" id="{9AE732B9-36DB-D39C-C447-E9B64BB52776}"/>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Key Questions</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BB40D0CD-0E5B-45E4-3964-7343A45CD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8130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6AD38-A451-04B1-55C9-9015990D931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D5EFAB3-C195-E093-5FF0-0BFD2C1D7217}"/>
              </a:ext>
            </a:extLst>
          </p:cNvPr>
          <p:cNvSpPr txBox="1">
            <a:spLocks/>
          </p:cNvSpPr>
          <p:nvPr/>
        </p:nvSpPr>
        <p:spPr>
          <a:xfrm>
            <a:off x="1096091" y="912944"/>
            <a:ext cx="6888960" cy="52032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What is </a:t>
            </a:r>
            <a:r>
              <a:rPr lang="en-GB" sz="3200" dirty="0" err="1">
                <a:solidFill>
                  <a:srgbClr val="03807F"/>
                </a:solidFill>
                <a:latin typeface="Arial" panose="020B0604020202020204" pitchFamily="34" charset="0"/>
                <a:cs typeface="Arial" panose="020B0604020202020204" pitchFamily="34" charset="0"/>
              </a:rPr>
              <a:t>MLOps</a:t>
            </a:r>
            <a:r>
              <a:rPr lang="en-GB" sz="3200" dirty="0">
                <a:solidFill>
                  <a:srgbClr val="03807F"/>
                </a:solidFill>
                <a:latin typeface="Arial" panose="020B0604020202020204" pitchFamily="34" charset="0"/>
                <a:cs typeface="Arial" panose="020B0604020202020204" pitchFamily="34" charset="0"/>
              </a:rPr>
              <a:t>?</a:t>
            </a:r>
            <a:endParaRPr lang="en-US" sz="3200" dirty="0">
              <a:solidFill>
                <a:srgbClr val="03807F"/>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24BBB5DB-5924-6965-1A16-0FD5211D2807}"/>
              </a:ext>
            </a:extLst>
          </p:cNvPr>
          <p:cNvSpPr txBox="1">
            <a:spLocks/>
          </p:cNvSpPr>
          <p:nvPr/>
        </p:nvSpPr>
        <p:spPr>
          <a:xfrm>
            <a:off x="1096091" y="1960637"/>
            <a:ext cx="5980677" cy="243356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1800" b="0" dirty="0" err="1">
                <a:latin typeface="Arial" panose="020B0604020202020204" pitchFamily="34" charset="0"/>
                <a:cs typeface="Arial" panose="020B0604020202020204" pitchFamily="34" charset="0"/>
              </a:rPr>
              <a:t>MLOps</a:t>
            </a:r>
            <a:r>
              <a:rPr lang="en-GB" sz="1800" b="0" dirty="0">
                <a:latin typeface="Arial" panose="020B0604020202020204" pitchFamily="34" charset="0"/>
                <a:cs typeface="Arial" panose="020B0604020202020204" pitchFamily="34" charset="0"/>
              </a:rPr>
              <a:t> is not just </a:t>
            </a:r>
            <a:r>
              <a:rPr lang="en-GB" sz="1800" dirty="0">
                <a:solidFill>
                  <a:schemeClr val="accent3"/>
                </a:solidFill>
                <a:latin typeface="Arial" panose="020B0604020202020204" pitchFamily="34" charset="0"/>
                <a:cs typeface="Arial" panose="020B0604020202020204" pitchFamily="34" charset="0"/>
              </a:rPr>
              <a:t>another buzzword</a:t>
            </a:r>
            <a:r>
              <a:rPr lang="en-GB" sz="1800" b="0" dirty="0">
                <a:latin typeface="Arial" panose="020B0604020202020204" pitchFamily="34" charset="0"/>
                <a:cs typeface="Arial" panose="020B0604020202020204" pitchFamily="34" charset="0"/>
              </a:rPr>
              <a:t>—it's the essential bridge that turns machine learning experiments into reliable, production-ready systems.</a:t>
            </a:r>
          </a:p>
          <a:p>
            <a:endParaRPr lang="en-GB" sz="1800" b="0" dirty="0">
              <a:latin typeface="Arial" panose="020B0604020202020204" pitchFamily="34" charset="0"/>
              <a:cs typeface="Arial" panose="020B0604020202020204" pitchFamily="34" charset="0"/>
            </a:endParaRPr>
          </a:p>
          <a:p>
            <a:r>
              <a:rPr lang="en-GB" sz="1800" b="0" dirty="0">
                <a:latin typeface="Arial" panose="020B0604020202020204" pitchFamily="34" charset="0"/>
                <a:cs typeface="Arial" panose="020B0604020202020204" pitchFamily="34" charset="0"/>
              </a:rPr>
              <a:t>It combines </a:t>
            </a:r>
            <a:r>
              <a:rPr lang="en-GB" sz="1800" dirty="0">
                <a:solidFill>
                  <a:schemeClr val="accent3"/>
                </a:solidFill>
                <a:latin typeface="Arial" panose="020B0604020202020204" pitchFamily="34" charset="0"/>
                <a:cs typeface="Arial" panose="020B0604020202020204" pitchFamily="34" charset="0"/>
              </a:rPr>
              <a:t>DevOps</a:t>
            </a:r>
            <a:r>
              <a:rPr lang="en-GB" sz="1800" b="0" dirty="0">
                <a:latin typeface="Arial" panose="020B0604020202020204" pitchFamily="34" charset="0"/>
                <a:cs typeface="Arial" panose="020B0604020202020204" pitchFamily="34" charset="0"/>
              </a:rPr>
              <a:t> practices with </a:t>
            </a:r>
            <a:r>
              <a:rPr lang="en-GB" sz="1800" dirty="0">
                <a:solidFill>
                  <a:schemeClr val="accent3"/>
                </a:solidFill>
                <a:latin typeface="Arial" panose="020B0604020202020204" pitchFamily="34" charset="0"/>
                <a:cs typeface="Arial" panose="020B0604020202020204" pitchFamily="34" charset="0"/>
              </a:rPr>
              <a:t>ML workflows </a:t>
            </a:r>
            <a:r>
              <a:rPr lang="en-GB" sz="1800" b="0" dirty="0">
                <a:latin typeface="Arial" panose="020B0604020202020204" pitchFamily="34" charset="0"/>
                <a:cs typeface="Arial" panose="020B0604020202020204" pitchFamily="34" charset="0"/>
              </a:rPr>
              <a:t>to automate, scale, and maintain models in real-world use. In practice, </a:t>
            </a:r>
            <a:r>
              <a:rPr lang="en-GB" sz="1800" b="0" dirty="0" err="1">
                <a:latin typeface="Arial" panose="020B0604020202020204" pitchFamily="34" charset="0"/>
                <a:cs typeface="Arial" panose="020B0604020202020204" pitchFamily="34" charset="0"/>
              </a:rPr>
              <a:t>MLOps</a:t>
            </a:r>
            <a:r>
              <a:rPr lang="en-GB" sz="1800" b="0" dirty="0">
                <a:latin typeface="Arial" panose="020B0604020202020204" pitchFamily="34" charset="0"/>
                <a:cs typeface="Arial" panose="020B0604020202020204" pitchFamily="34" charset="0"/>
              </a:rPr>
              <a:t> ensures teams deliver faster, more trustworthy AI without the chaos of manual handoffs.</a:t>
            </a:r>
          </a:p>
          <a:p>
            <a:endParaRPr lang="en-GB" sz="1800" b="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0D0C7BF-6347-D9E1-8AB8-E675EAE657AE}"/>
              </a:ext>
            </a:extLst>
          </p:cNvPr>
          <p:cNvSpPr/>
          <p:nvPr/>
        </p:nvSpPr>
        <p:spPr>
          <a:xfrm>
            <a:off x="7985051" y="2094271"/>
            <a:ext cx="4206949" cy="2939845"/>
          </a:xfrm>
          <a:prstGeom prst="rect">
            <a:avLst/>
          </a:prstGeom>
          <a:solidFill>
            <a:srgbClr val="45C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8C3CB"/>
              </a:solidFill>
            </a:endParaRPr>
          </a:p>
        </p:txBody>
      </p:sp>
      <p:pic>
        <p:nvPicPr>
          <p:cNvPr id="5" name="Picture 4">
            <a:extLst>
              <a:ext uri="{FF2B5EF4-FFF2-40B4-BE49-F238E27FC236}">
                <a16:creationId xmlns:a16="http://schemas.microsoft.com/office/drawing/2014/main" id="{4E791556-3DB8-513F-823B-A8EFB8845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500" y="1854200"/>
            <a:ext cx="4409768" cy="2939845"/>
          </a:xfrm>
          <a:prstGeom prst="rect">
            <a:avLst/>
          </a:prstGeom>
        </p:spPr>
      </p:pic>
    </p:spTree>
    <p:extLst>
      <p:ext uri="{BB962C8B-B14F-4D97-AF65-F5344CB8AC3E}">
        <p14:creationId xmlns:p14="http://schemas.microsoft.com/office/powerpoint/2010/main" val="2674451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49224-A6EB-EB0A-2CF6-100699E672F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A784B56-43EF-1324-D036-B6F35A367504}"/>
              </a:ext>
            </a:extLst>
          </p:cNvPr>
          <p:cNvSpPr txBox="1">
            <a:spLocks/>
          </p:cNvSpPr>
          <p:nvPr/>
        </p:nvSpPr>
        <p:spPr>
          <a:xfrm>
            <a:off x="1096090" y="788608"/>
            <a:ext cx="7755809" cy="57235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What is </a:t>
            </a:r>
            <a:r>
              <a:rPr lang="en-GB" sz="3200" dirty="0" err="1">
                <a:solidFill>
                  <a:srgbClr val="03807F"/>
                </a:solidFill>
                <a:latin typeface="Arial" panose="020B0604020202020204" pitchFamily="34" charset="0"/>
                <a:cs typeface="Arial" panose="020B0604020202020204" pitchFamily="34" charset="0"/>
              </a:rPr>
              <a:t>MLOps</a:t>
            </a:r>
            <a:r>
              <a:rPr lang="en-GB" sz="3200" dirty="0">
                <a:solidFill>
                  <a:srgbClr val="03807F"/>
                </a:solidFill>
                <a:latin typeface="Arial" panose="020B0604020202020204" pitchFamily="34" charset="0"/>
                <a:cs typeface="Arial" panose="020B0604020202020204" pitchFamily="34" charset="0"/>
              </a:rPr>
              <a:t> and Why It Matters?</a:t>
            </a:r>
            <a:endParaRPr lang="en-US" sz="3200"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8E4E7A3-9AA7-8EC3-C886-9B1277FFDAEE}"/>
              </a:ext>
            </a:extLst>
          </p:cNvPr>
          <p:cNvSpPr txBox="1"/>
          <p:nvPr/>
        </p:nvSpPr>
        <p:spPr>
          <a:xfrm>
            <a:off x="1282700" y="1765300"/>
            <a:ext cx="9702800" cy="2031325"/>
          </a:xfrm>
          <a:prstGeom prst="rect">
            <a:avLst/>
          </a:prstGeom>
          <a:noFill/>
        </p:spPr>
        <p:txBody>
          <a:bodyPr wrap="square" rtlCol="0">
            <a:spAutoFit/>
          </a:bodyPr>
          <a:lstStyle/>
          <a:p>
            <a:r>
              <a:rPr lang="en-GB" b="1" dirty="0" err="1">
                <a:solidFill>
                  <a:schemeClr val="accent3"/>
                </a:solidFill>
                <a:latin typeface="Arial" panose="020B0604020202020204" pitchFamily="34" charset="0"/>
                <a:cs typeface="Arial" panose="020B0604020202020204" pitchFamily="34" charset="0"/>
              </a:rPr>
              <a:t>MLOps</a:t>
            </a:r>
            <a:r>
              <a:rPr lang="en-GB" b="1" dirty="0">
                <a:solidFill>
                  <a:schemeClr val="accent3"/>
                </a:solidFill>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stands for </a:t>
            </a:r>
            <a:r>
              <a:rPr lang="en-GB" b="1" dirty="0">
                <a:solidFill>
                  <a:schemeClr val="accent3"/>
                </a:solidFill>
                <a:latin typeface="Arial" panose="020B0604020202020204" pitchFamily="34" charset="0"/>
                <a:cs typeface="Arial" panose="020B0604020202020204" pitchFamily="34" charset="0"/>
              </a:rPr>
              <a:t>Machine Learning Operations, </a:t>
            </a:r>
            <a:r>
              <a:rPr lang="en-GB" dirty="0">
                <a:latin typeface="Arial" panose="020B0604020202020204" pitchFamily="34" charset="0"/>
                <a:cs typeface="Arial" panose="020B0604020202020204" pitchFamily="34" charset="0"/>
              </a:rPr>
              <a:t>applying software engineering rigor to ML lifecycles, much like DevOps does for apps. It matters because:</a:t>
            </a:r>
          </a:p>
          <a:p>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80-90% of ML projects fail to reach production without it.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Silos between data scientists and engineers cause delays, errors, and drift.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Reliable </a:t>
            </a:r>
            <a:r>
              <a:rPr lang="en-GB" dirty="0" err="1">
                <a:latin typeface="Arial" panose="020B0604020202020204" pitchFamily="34" charset="0"/>
                <a:cs typeface="Arial" panose="020B0604020202020204" pitchFamily="34" charset="0"/>
              </a:rPr>
              <a:t>MLOps</a:t>
            </a:r>
            <a:r>
              <a:rPr lang="en-GB" dirty="0">
                <a:latin typeface="Arial" panose="020B0604020202020204" pitchFamily="34" charset="0"/>
                <a:cs typeface="Arial" panose="020B0604020202020204" pitchFamily="34" charset="0"/>
              </a:rPr>
              <a:t> cuts deployment time from months to days while keeping models accurate amid changing data.</a:t>
            </a:r>
            <a:endParaRPr lang="en-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011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01D30-DCC6-AF95-BD89-A9697DEFF3E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56879BB-CAFF-9F1E-503B-2AAC1509B6C7}"/>
              </a:ext>
            </a:extLst>
          </p:cNvPr>
          <p:cNvSpPr txBox="1">
            <a:spLocks/>
          </p:cNvSpPr>
          <p:nvPr/>
        </p:nvSpPr>
        <p:spPr>
          <a:xfrm>
            <a:off x="1066595" y="595645"/>
            <a:ext cx="9385506" cy="105002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Key Concepts: </a:t>
            </a:r>
            <a:r>
              <a:rPr lang="en-GB" sz="3200" dirty="0">
                <a:latin typeface="Arial" panose="020B0604020202020204" pitchFamily="34" charset="0"/>
                <a:cs typeface="Arial" panose="020B0604020202020204" pitchFamily="34" charset="0"/>
              </a:rPr>
              <a:t> </a:t>
            </a:r>
            <a:r>
              <a:rPr lang="en-GB" sz="3200" dirty="0">
                <a:solidFill>
                  <a:srgbClr val="03807F"/>
                </a:solidFill>
                <a:latin typeface="Arial" panose="020B0604020202020204" pitchFamily="34" charset="0"/>
                <a:cs typeface="Arial" panose="020B0604020202020204" pitchFamily="34" charset="0"/>
              </a:rPr>
              <a:t>Traditional </a:t>
            </a:r>
            <a:r>
              <a:rPr lang="en-GB" sz="3200" dirty="0" err="1">
                <a:solidFill>
                  <a:srgbClr val="03807F"/>
                </a:solidFill>
                <a:latin typeface="Arial" panose="020B0604020202020204" pitchFamily="34" charset="0"/>
                <a:cs typeface="Arial" panose="020B0604020202020204" pitchFamily="34" charset="0"/>
              </a:rPr>
              <a:t>MLOps</a:t>
            </a:r>
            <a:r>
              <a:rPr lang="en-GB" sz="3200" dirty="0">
                <a:solidFill>
                  <a:srgbClr val="03807F"/>
                </a:solidFill>
                <a:latin typeface="Arial" panose="020B0604020202020204" pitchFamily="34" charset="0"/>
                <a:cs typeface="Arial" panose="020B0604020202020204" pitchFamily="34" charset="0"/>
              </a:rPr>
              <a:t> vs</a:t>
            </a:r>
            <a:r>
              <a:rPr lang="en-GB" sz="3200" dirty="0">
                <a:solidFill>
                  <a:srgbClr val="45C2CA"/>
                </a:solidFill>
                <a:latin typeface="Arial" panose="020B0604020202020204" pitchFamily="34" charset="0"/>
                <a:cs typeface="Arial" panose="020B0604020202020204" pitchFamily="34" charset="0"/>
              </a:rPr>
              <a:t>. DevOps</a:t>
            </a:r>
          </a:p>
        </p:txBody>
      </p:sp>
      <p:sp>
        <p:nvSpPr>
          <p:cNvPr id="5" name="Title 1">
            <a:extLst>
              <a:ext uri="{FF2B5EF4-FFF2-40B4-BE49-F238E27FC236}">
                <a16:creationId xmlns:a16="http://schemas.microsoft.com/office/drawing/2014/main" id="{7582785B-EF48-7F5A-6F42-BFF1E93732BC}"/>
              </a:ext>
            </a:extLst>
          </p:cNvPr>
          <p:cNvSpPr txBox="1">
            <a:spLocks/>
          </p:cNvSpPr>
          <p:nvPr/>
        </p:nvSpPr>
        <p:spPr>
          <a:xfrm>
            <a:off x="-66676" y="86612"/>
            <a:ext cx="1133271" cy="2100051"/>
          </a:xfrm>
          <a:prstGeom prst="rect">
            <a:avLst/>
          </a:prstGeom>
          <a:noFill/>
          <a:effectLst>
            <a:outerShdw blurRad="50800" dist="50800" dir="5400000" algn="ctr" rotWithShape="0">
              <a:srgbClr val="000000">
                <a:alpha val="0"/>
              </a:srgbClr>
            </a:outerShdw>
          </a:effectLst>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13800" i="1" dirty="0">
                <a:solidFill>
                  <a:srgbClr val="03807F">
                    <a:alpha val="12000"/>
                  </a:srgbClr>
                </a:solidFill>
                <a:latin typeface="Arial" panose="020B0604020202020204" pitchFamily="34" charset="0"/>
                <a:cs typeface="Arial" panose="020B0604020202020204" pitchFamily="34" charset="0"/>
              </a:rPr>
              <a:t>1</a:t>
            </a:r>
          </a:p>
        </p:txBody>
      </p:sp>
      <p:pic>
        <p:nvPicPr>
          <p:cNvPr id="8" name="Picture 7">
            <a:extLst>
              <a:ext uri="{FF2B5EF4-FFF2-40B4-BE49-F238E27FC236}">
                <a16:creationId xmlns:a16="http://schemas.microsoft.com/office/drawing/2014/main" id="{33FEEB0E-EB07-EB78-9421-D77CD63C772D}"/>
              </a:ext>
            </a:extLst>
          </p:cNvPr>
          <p:cNvPicPr>
            <a:picLocks noChangeAspect="1"/>
          </p:cNvPicPr>
          <p:nvPr/>
        </p:nvPicPr>
        <p:blipFill>
          <a:blip r:embed="rId2"/>
          <a:stretch>
            <a:fillRect/>
          </a:stretch>
        </p:blipFill>
        <p:spPr>
          <a:xfrm>
            <a:off x="664910" y="1438593"/>
            <a:ext cx="10862180" cy="4298750"/>
          </a:xfrm>
          <a:prstGeom prst="rect">
            <a:avLst/>
          </a:prstGeom>
        </p:spPr>
      </p:pic>
    </p:spTree>
    <p:extLst>
      <p:ext uri="{BB962C8B-B14F-4D97-AF65-F5344CB8AC3E}">
        <p14:creationId xmlns:p14="http://schemas.microsoft.com/office/powerpoint/2010/main" val="2548566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D8D1FE-DAB9-9408-25C7-A6BC9FD993AF}"/>
              </a:ext>
            </a:extLst>
          </p:cNvPr>
          <p:cNvSpPr txBox="1">
            <a:spLocks/>
          </p:cNvSpPr>
          <p:nvPr/>
        </p:nvSpPr>
        <p:spPr>
          <a:xfrm>
            <a:off x="533195" y="455945"/>
            <a:ext cx="9245806" cy="105002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Key Concepts: </a:t>
            </a:r>
            <a:r>
              <a:rPr lang="en-GB" sz="3200" dirty="0">
                <a:latin typeface="Arial" panose="020B0604020202020204" pitchFamily="34" charset="0"/>
                <a:cs typeface="Arial" panose="020B0604020202020204" pitchFamily="34" charset="0"/>
              </a:rPr>
              <a:t> </a:t>
            </a:r>
            <a:r>
              <a:rPr lang="en-GB" sz="3200" dirty="0">
                <a:solidFill>
                  <a:srgbClr val="03807F"/>
                </a:solidFill>
                <a:latin typeface="Arial" panose="020B0604020202020204" pitchFamily="34" charset="0"/>
                <a:cs typeface="Arial" panose="020B0604020202020204" pitchFamily="34" charset="0"/>
              </a:rPr>
              <a:t>Traditional </a:t>
            </a:r>
            <a:r>
              <a:rPr lang="en-GB" sz="3200" dirty="0" err="1">
                <a:solidFill>
                  <a:srgbClr val="03807F"/>
                </a:solidFill>
                <a:latin typeface="Arial" panose="020B0604020202020204" pitchFamily="34" charset="0"/>
                <a:cs typeface="Arial" panose="020B0604020202020204" pitchFamily="34" charset="0"/>
              </a:rPr>
              <a:t>MLOps</a:t>
            </a:r>
            <a:r>
              <a:rPr lang="en-GB" sz="3200" dirty="0">
                <a:solidFill>
                  <a:srgbClr val="03807F"/>
                </a:solidFill>
                <a:latin typeface="Arial" panose="020B0604020202020204" pitchFamily="34" charset="0"/>
                <a:cs typeface="Arial" panose="020B0604020202020204" pitchFamily="34" charset="0"/>
              </a:rPr>
              <a:t> vs</a:t>
            </a:r>
            <a:r>
              <a:rPr lang="en-GB" sz="3200" dirty="0">
                <a:solidFill>
                  <a:srgbClr val="45C2CA"/>
                </a:solidFill>
                <a:latin typeface="Arial" panose="020B0604020202020204" pitchFamily="34" charset="0"/>
                <a:cs typeface="Arial" panose="020B0604020202020204" pitchFamily="34" charset="0"/>
              </a:rPr>
              <a:t>.</a:t>
            </a:r>
          </a:p>
          <a:p>
            <a:r>
              <a:rPr lang="en-GB" sz="3200" dirty="0">
                <a:solidFill>
                  <a:srgbClr val="45C2CA"/>
                </a:solidFill>
                <a:latin typeface="Arial" panose="020B0604020202020204" pitchFamily="34" charset="0"/>
                <a:cs typeface="Arial" panose="020B0604020202020204" pitchFamily="34" charset="0"/>
              </a:rPr>
              <a:t>DevOps</a:t>
            </a:r>
          </a:p>
        </p:txBody>
      </p:sp>
      <p:grpSp>
        <p:nvGrpSpPr>
          <p:cNvPr id="9" name="Group 8">
            <a:extLst>
              <a:ext uri="{FF2B5EF4-FFF2-40B4-BE49-F238E27FC236}">
                <a16:creationId xmlns:a16="http://schemas.microsoft.com/office/drawing/2014/main" id="{00D1BF96-92D2-2E2D-3FD3-199F6376AAB6}"/>
              </a:ext>
            </a:extLst>
          </p:cNvPr>
          <p:cNvGrpSpPr/>
          <p:nvPr/>
        </p:nvGrpSpPr>
        <p:grpSpPr>
          <a:xfrm>
            <a:off x="252112" y="1714412"/>
            <a:ext cx="11687775" cy="3429176"/>
            <a:chOff x="272750" y="1304816"/>
            <a:chExt cx="11687775" cy="3429176"/>
          </a:xfrm>
        </p:grpSpPr>
        <p:pic>
          <p:nvPicPr>
            <p:cNvPr id="5" name="Picture 4">
              <a:extLst>
                <a:ext uri="{FF2B5EF4-FFF2-40B4-BE49-F238E27FC236}">
                  <a16:creationId xmlns:a16="http://schemas.microsoft.com/office/drawing/2014/main" id="{14E38E24-6077-87C0-8C65-26E172D7FBA3}"/>
                </a:ext>
              </a:extLst>
            </p:cNvPr>
            <p:cNvPicPr>
              <a:picLocks noChangeAspect="1"/>
            </p:cNvPicPr>
            <p:nvPr/>
          </p:nvPicPr>
          <p:blipFill>
            <a:blip r:embed="rId2"/>
            <a:stretch>
              <a:fillRect/>
            </a:stretch>
          </p:blipFill>
          <p:spPr>
            <a:xfrm>
              <a:off x="272750" y="2124008"/>
              <a:ext cx="11646499" cy="2609984"/>
            </a:xfrm>
            <a:prstGeom prst="rect">
              <a:avLst/>
            </a:prstGeom>
          </p:spPr>
        </p:pic>
        <p:pic>
          <p:nvPicPr>
            <p:cNvPr id="8" name="Picture 7">
              <a:extLst>
                <a:ext uri="{FF2B5EF4-FFF2-40B4-BE49-F238E27FC236}">
                  <a16:creationId xmlns:a16="http://schemas.microsoft.com/office/drawing/2014/main" id="{058C37B2-10AB-9B7A-3350-D2D52C6FF912}"/>
                </a:ext>
              </a:extLst>
            </p:cNvPr>
            <p:cNvPicPr>
              <a:picLocks noChangeAspect="1"/>
            </p:cNvPicPr>
            <p:nvPr/>
          </p:nvPicPr>
          <p:blipFill>
            <a:blip r:embed="rId3"/>
            <a:stretch>
              <a:fillRect/>
            </a:stretch>
          </p:blipFill>
          <p:spPr>
            <a:xfrm>
              <a:off x="272750" y="1304816"/>
              <a:ext cx="11687775" cy="819192"/>
            </a:xfrm>
            <a:prstGeom prst="rect">
              <a:avLst/>
            </a:prstGeom>
          </p:spPr>
        </p:pic>
      </p:grpSp>
    </p:spTree>
    <p:extLst>
      <p:ext uri="{BB962C8B-B14F-4D97-AF65-F5344CB8AC3E}">
        <p14:creationId xmlns:p14="http://schemas.microsoft.com/office/powerpoint/2010/main" val="4154146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7201-E370-D78E-5759-F2E697B627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6123FD-0672-FC9C-9BA4-D714945CEBB5}"/>
              </a:ext>
            </a:extLst>
          </p:cNvPr>
          <p:cNvPicPr>
            <a:picLocks noChangeAspect="1"/>
          </p:cNvPicPr>
          <p:nvPr/>
        </p:nvPicPr>
        <p:blipFill>
          <a:blip r:embed="rId2"/>
          <a:stretch>
            <a:fillRect/>
          </a:stretch>
        </p:blipFill>
        <p:spPr>
          <a:xfrm>
            <a:off x="1371600" y="1333500"/>
            <a:ext cx="9042400" cy="4741416"/>
          </a:xfrm>
          <a:prstGeom prst="rect">
            <a:avLst/>
          </a:prstGeom>
        </p:spPr>
      </p:pic>
    </p:spTree>
    <p:extLst>
      <p:ext uri="{BB962C8B-B14F-4D97-AF65-F5344CB8AC3E}">
        <p14:creationId xmlns:p14="http://schemas.microsoft.com/office/powerpoint/2010/main" val="1100372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0F5-4C6F-94B7-84D7-56314B11C77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DEF6E24-9460-8FDF-6D60-A5E34083C3DF}"/>
              </a:ext>
            </a:extLst>
          </p:cNvPr>
          <p:cNvSpPr txBox="1">
            <a:spLocks/>
          </p:cNvSpPr>
          <p:nvPr/>
        </p:nvSpPr>
        <p:spPr>
          <a:xfrm>
            <a:off x="864950" y="706783"/>
            <a:ext cx="838065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Overview of </a:t>
            </a:r>
            <a:r>
              <a:rPr lang="en-GB" sz="3200" dirty="0" err="1">
                <a:highlight>
                  <a:srgbClr val="FBA31C"/>
                </a:highlight>
                <a:latin typeface="Arial" panose="020B0604020202020204" pitchFamily="34" charset="0"/>
                <a:cs typeface="Arial" panose="020B0604020202020204" pitchFamily="34" charset="0"/>
              </a:rPr>
              <a:t>MLOps</a:t>
            </a:r>
            <a:r>
              <a:rPr lang="en-GB" sz="3200" dirty="0">
                <a:highlight>
                  <a:srgbClr val="FBA31C"/>
                </a:highlight>
                <a:latin typeface="Arial" panose="020B0604020202020204" pitchFamily="34" charset="0"/>
                <a:cs typeface="Arial" panose="020B0604020202020204" pitchFamily="34" charset="0"/>
              </a:rPr>
              <a:t> Tools and Practices </a:t>
            </a:r>
            <a:endParaRPr lang="en-US" sz="3200" dirty="0">
              <a:highlight>
                <a:srgbClr val="FBA31C"/>
              </a:highlight>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73DED3D-9A6D-7DC7-C252-B7EE304D4E13}"/>
              </a:ext>
            </a:extLst>
          </p:cNvPr>
          <p:cNvSpPr>
            <a:spLocks noGrp="1"/>
          </p:cNvSpPr>
          <p:nvPr/>
        </p:nvSpPr>
        <p:spPr>
          <a:xfrm>
            <a:off x="1425677" y="2128402"/>
            <a:ext cx="4050891" cy="1765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000" b="1" dirty="0">
                <a:solidFill>
                  <a:schemeClr val="bg1"/>
                </a:solidFill>
                <a:latin typeface="Arial" panose="020B0604020202020204" pitchFamily="34" charset="0"/>
                <a:cs typeface="Arial" panose="020B0604020202020204" pitchFamily="34" charset="0"/>
              </a:rPr>
              <a:t>Narrow AI:</a:t>
            </a:r>
            <a:r>
              <a:rPr lang="en-GB" sz="2000" dirty="0">
                <a:solidFill>
                  <a:schemeClr val="bg1"/>
                </a:solidFill>
                <a:latin typeface="Arial" panose="020B0604020202020204" pitchFamily="34" charset="0"/>
                <a:cs typeface="Arial" panose="020B0604020202020204" pitchFamily="34" charset="0"/>
              </a:rPr>
              <a:t> Performs one defined task — e.g., detect malaria, read ECGs</a:t>
            </a:r>
            <a:endParaRPr lang="en-US" sz="2000" dirty="0">
              <a:solidFill>
                <a:schemeClr val="bg1"/>
              </a:solidFill>
              <a:latin typeface="Arial" panose="020B0604020202020204" pitchFamily="34" charset="0"/>
              <a:cs typeface="Arial" panose="020B0604020202020204" pitchFamily="34" charset="0"/>
            </a:endParaRPr>
          </a:p>
        </p:txBody>
      </p:sp>
      <p:sp>
        <p:nvSpPr>
          <p:cNvPr id="8" name="Content Placeholder 3">
            <a:extLst>
              <a:ext uri="{FF2B5EF4-FFF2-40B4-BE49-F238E27FC236}">
                <a16:creationId xmlns:a16="http://schemas.microsoft.com/office/drawing/2014/main" id="{CFA5BF8A-20C5-2A22-A87C-8DA5FD8B556F}"/>
              </a:ext>
            </a:extLst>
          </p:cNvPr>
          <p:cNvSpPr>
            <a:spLocks noGrp="1"/>
          </p:cNvSpPr>
          <p:nvPr/>
        </p:nvSpPr>
        <p:spPr>
          <a:xfrm>
            <a:off x="6037006" y="2128402"/>
            <a:ext cx="4203289" cy="28715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000" b="1" dirty="0">
                <a:solidFill>
                  <a:schemeClr val="bg1"/>
                </a:solidFill>
                <a:latin typeface="Arial" panose="020B0604020202020204" pitchFamily="34" charset="0"/>
                <a:cs typeface="Arial" panose="020B0604020202020204" pitchFamily="34" charset="0"/>
              </a:rPr>
              <a:t>General AI (AGI):</a:t>
            </a:r>
            <a:r>
              <a:rPr lang="en-GB" sz="2000" dirty="0">
                <a:solidFill>
                  <a:schemeClr val="bg1"/>
                </a:solidFill>
                <a:latin typeface="Arial" panose="020B0604020202020204" pitchFamily="34" charset="0"/>
                <a:cs typeface="Arial" panose="020B0604020202020204" pitchFamily="34" charset="0"/>
              </a:rPr>
              <a:t> Hypothetical — human-level intelligence (does not exist).</a:t>
            </a:r>
            <a:br>
              <a:rPr lang="en-GB" sz="2000" dirty="0">
                <a:solidFill>
                  <a:schemeClr val="bg1"/>
                </a:solidFill>
                <a:latin typeface="Arial" panose="020B0604020202020204" pitchFamily="34" charset="0"/>
                <a:cs typeface="Arial" panose="020B0604020202020204" pitchFamily="34" charset="0"/>
              </a:rPr>
            </a:br>
            <a:r>
              <a:rPr lang="en-GB" sz="2000" dirty="0">
                <a:solidFill>
                  <a:schemeClr val="bg1"/>
                </a:solidFill>
                <a:latin typeface="Arial" panose="020B0604020202020204" pitchFamily="34" charset="0"/>
                <a:cs typeface="Arial" panose="020B0604020202020204" pitchFamily="34" charset="0"/>
              </a:rPr>
              <a:t>Public fear comes from AGI, but public health uses only </a:t>
            </a:r>
            <a:r>
              <a:rPr lang="en-GB" sz="2000" i="1" dirty="0">
                <a:solidFill>
                  <a:schemeClr val="bg1"/>
                </a:solidFill>
                <a:latin typeface="Arial" panose="020B0604020202020204" pitchFamily="34" charset="0"/>
                <a:cs typeface="Arial" panose="020B0604020202020204" pitchFamily="34" charset="0"/>
              </a:rPr>
              <a:t>Narrow AI</a:t>
            </a:r>
            <a:r>
              <a:rPr lang="en-GB" sz="2000" dirty="0">
                <a:solidFill>
                  <a:schemeClr val="bg1"/>
                </a:solidFill>
                <a:latin typeface="Arial" panose="020B0604020202020204" pitchFamily="34" charset="0"/>
                <a:cs typeface="Arial" panose="020B0604020202020204" pitchFamily="34" charset="0"/>
              </a:rPr>
              <a:t>.</a:t>
            </a:r>
            <a:endParaRPr lang="en-US" sz="2000"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C170B90-A324-5681-937A-8D84E68685DE}"/>
              </a:ext>
            </a:extLst>
          </p:cNvPr>
          <p:cNvPicPr>
            <a:picLocks noChangeAspect="1"/>
          </p:cNvPicPr>
          <p:nvPr/>
        </p:nvPicPr>
        <p:blipFill>
          <a:blip r:embed="rId2"/>
          <a:stretch>
            <a:fillRect/>
          </a:stretch>
        </p:blipFill>
        <p:spPr>
          <a:xfrm>
            <a:off x="864950" y="1536700"/>
            <a:ext cx="10591739" cy="4127500"/>
          </a:xfrm>
          <a:prstGeom prst="rect">
            <a:avLst/>
          </a:prstGeom>
        </p:spPr>
      </p:pic>
    </p:spTree>
    <p:extLst>
      <p:ext uri="{BB962C8B-B14F-4D97-AF65-F5344CB8AC3E}">
        <p14:creationId xmlns:p14="http://schemas.microsoft.com/office/powerpoint/2010/main" val="11161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F1C56-3038-B747-DD7A-5A81E89F765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FCD6737-E71C-3519-3B49-954F83129A8F}"/>
              </a:ext>
            </a:extLst>
          </p:cNvPr>
          <p:cNvSpPr txBox="1">
            <a:spLocks/>
          </p:cNvSpPr>
          <p:nvPr/>
        </p:nvSpPr>
        <p:spPr>
          <a:xfrm>
            <a:off x="634711" y="419568"/>
            <a:ext cx="838065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Reproducibility Challenges in ML </a:t>
            </a:r>
            <a:endParaRPr lang="en-US" sz="3200" dirty="0">
              <a:highlight>
                <a:srgbClr val="FBA31C"/>
              </a:highlight>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E2FAF697-459B-70E8-7A09-A9AD8033631B}"/>
              </a:ext>
            </a:extLst>
          </p:cNvPr>
          <p:cNvSpPr>
            <a:spLocks noGrp="1"/>
          </p:cNvSpPr>
          <p:nvPr/>
        </p:nvSpPr>
        <p:spPr>
          <a:xfrm>
            <a:off x="864950" y="1874402"/>
            <a:ext cx="7731023" cy="34087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000" b="1" dirty="0">
                <a:solidFill>
                  <a:schemeClr val="bg1"/>
                </a:solidFill>
                <a:latin typeface="Arial" panose="020B0604020202020204" pitchFamily="34" charset="0"/>
                <a:cs typeface="Arial" panose="020B0604020202020204" pitchFamily="34" charset="0"/>
              </a:rPr>
              <a:t>Narrow AI:</a:t>
            </a:r>
            <a:r>
              <a:rPr lang="en-GB" sz="2000" dirty="0">
                <a:solidFill>
                  <a:schemeClr val="bg1"/>
                </a:solidFill>
                <a:latin typeface="Arial" panose="020B0604020202020204" pitchFamily="34" charset="0"/>
                <a:cs typeface="Arial" panose="020B0604020202020204" pitchFamily="34" charset="0"/>
              </a:rPr>
              <a:t> Performs one defined task — e.g., detect malaria, read ECGs</a:t>
            </a:r>
            <a:endParaRPr lang="en-US" sz="2000" dirty="0">
              <a:solidFill>
                <a:schemeClr val="bg1"/>
              </a:solidFill>
              <a:latin typeface="Arial" panose="020B0604020202020204" pitchFamily="34" charset="0"/>
              <a:cs typeface="Arial" panose="020B0604020202020204" pitchFamily="34" charset="0"/>
            </a:endParaRPr>
          </a:p>
        </p:txBody>
      </p:sp>
      <p:sp>
        <p:nvSpPr>
          <p:cNvPr id="8" name="Content Placeholder 3">
            <a:extLst>
              <a:ext uri="{FF2B5EF4-FFF2-40B4-BE49-F238E27FC236}">
                <a16:creationId xmlns:a16="http://schemas.microsoft.com/office/drawing/2014/main" id="{2102E81C-3D49-1A65-A8AF-01B88ACB1DD0}"/>
              </a:ext>
            </a:extLst>
          </p:cNvPr>
          <p:cNvSpPr>
            <a:spLocks noGrp="1"/>
          </p:cNvSpPr>
          <p:nvPr/>
        </p:nvSpPr>
        <p:spPr>
          <a:xfrm>
            <a:off x="864950" y="1701108"/>
            <a:ext cx="9650650" cy="37217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000" b="1" dirty="0">
                <a:solidFill>
                  <a:schemeClr val="bg1"/>
                </a:solidFill>
                <a:latin typeface="Arial" panose="020B0604020202020204" pitchFamily="34" charset="0"/>
                <a:cs typeface="Arial" panose="020B0604020202020204" pitchFamily="34" charset="0"/>
              </a:rPr>
              <a:t>General AI (AGI):</a:t>
            </a:r>
            <a:r>
              <a:rPr lang="en-GB" sz="2000" dirty="0">
                <a:solidFill>
                  <a:schemeClr val="bg1"/>
                </a:solidFill>
                <a:latin typeface="Arial" panose="020B0604020202020204" pitchFamily="34" charset="0"/>
                <a:cs typeface="Arial" panose="020B0604020202020204" pitchFamily="34" charset="0"/>
              </a:rPr>
              <a:t> Hypothetical — human-level intelligence (does not exist).</a:t>
            </a:r>
            <a:br>
              <a:rPr lang="en-GB" sz="2000" dirty="0">
                <a:solidFill>
                  <a:schemeClr val="bg1"/>
                </a:solidFill>
                <a:latin typeface="Arial" panose="020B0604020202020204" pitchFamily="34" charset="0"/>
                <a:cs typeface="Arial" panose="020B0604020202020204" pitchFamily="34" charset="0"/>
              </a:rPr>
            </a:br>
            <a:r>
              <a:rPr lang="en-GB" sz="2000" dirty="0">
                <a:solidFill>
                  <a:schemeClr val="bg1"/>
                </a:solidFill>
                <a:latin typeface="Arial" panose="020B0604020202020204" pitchFamily="34" charset="0"/>
                <a:cs typeface="Arial" panose="020B0604020202020204" pitchFamily="34" charset="0"/>
              </a:rPr>
              <a:t>Public fear comes from AGI, but public health uses only </a:t>
            </a:r>
            <a:r>
              <a:rPr lang="en-GB" sz="2000" i="1" dirty="0">
                <a:solidFill>
                  <a:schemeClr val="bg1"/>
                </a:solidFill>
                <a:latin typeface="Arial" panose="020B0604020202020204" pitchFamily="34" charset="0"/>
                <a:cs typeface="Arial" panose="020B0604020202020204" pitchFamily="34" charset="0"/>
              </a:rPr>
              <a:t>Narrow AI</a:t>
            </a:r>
            <a:r>
              <a:rPr lang="en-GB" sz="2000" dirty="0">
                <a:solidFill>
                  <a:schemeClr val="bg1"/>
                </a:solidFill>
                <a:latin typeface="Arial" panose="020B0604020202020204" pitchFamily="34" charset="0"/>
                <a:cs typeface="Arial" panose="020B0604020202020204" pitchFamily="34" charset="0"/>
              </a:rPr>
              <a:t>.</a:t>
            </a:r>
            <a:endParaRPr lang="en-US" sz="2000"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E53A158F-ACF4-E065-F1EC-DE39DB5317DD}"/>
              </a:ext>
            </a:extLst>
          </p:cNvPr>
          <p:cNvSpPr txBox="1"/>
          <p:nvPr/>
        </p:nvSpPr>
        <p:spPr>
          <a:xfrm>
            <a:off x="634711" y="1178144"/>
            <a:ext cx="7417089" cy="4801314"/>
          </a:xfrm>
          <a:prstGeom prst="rect">
            <a:avLst/>
          </a:prstGeom>
          <a:noFill/>
        </p:spPr>
        <p:txBody>
          <a:bodyPr wrap="square" rtlCol="0">
            <a:spAutoFit/>
          </a:bodyPr>
          <a:lstStyle/>
          <a:p>
            <a:r>
              <a:rPr lang="en-GB" b="1" dirty="0"/>
              <a:t>Data Drift</a:t>
            </a:r>
            <a:r>
              <a:rPr lang="en-GB" dirty="0"/>
              <a:t> Production data changes over time in unpredictable ways. A fraud detection model trained on 2023 patterns fails in 2024 when fraudsters change tactics. Like a diagnostic tool calibrated for one population failing in another demographic.</a:t>
            </a:r>
          </a:p>
          <a:p>
            <a:endParaRPr lang="en-GB" dirty="0"/>
          </a:p>
          <a:p>
            <a:r>
              <a:rPr lang="en-GB" b="1" dirty="0"/>
              <a:t>Model Versioning</a:t>
            </a:r>
            <a:r>
              <a:rPr lang="en-GB" dirty="0"/>
              <a:t> Multiple model versions run across services, but tracking which training data, code, and hyperparameters produced each version is lost. When debugging is needed, the exact conditions cannot be recreated. Like trying to recreate a medication batch without ingredient records.</a:t>
            </a:r>
          </a:p>
          <a:p>
            <a:endParaRPr lang="en-GB" dirty="0"/>
          </a:p>
          <a:p>
            <a:r>
              <a:rPr lang="en-GB" b="1" dirty="0"/>
              <a:t>Infrastructure Differences</a:t>
            </a:r>
            <a:r>
              <a:rPr lang="en-GB" dirty="0"/>
              <a:t> Models behave differently across environments. A model performs well on cloud GPUs but gives different predictions on edge CPUs due to quantization and hardware variations. Like medical procedures yielding different outcomes across facilities.</a:t>
            </a:r>
          </a:p>
          <a:p>
            <a:endParaRPr lang="en-NG" dirty="0"/>
          </a:p>
        </p:txBody>
      </p:sp>
      <p:sp>
        <p:nvSpPr>
          <p:cNvPr id="9" name="Rectangle 8">
            <a:extLst>
              <a:ext uri="{FF2B5EF4-FFF2-40B4-BE49-F238E27FC236}">
                <a16:creationId xmlns:a16="http://schemas.microsoft.com/office/drawing/2014/main" id="{626CFA23-C182-00B0-2C1E-10A667D58F07}"/>
              </a:ext>
            </a:extLst>
          </p:cNvPr>
          <p:cNvSpPr/>
          <p:nvPr/>
        </p:nvSpPr>
        <p:spPr>
          <a:xfrm>
            <a:off x="7985051" y="2094271"/>
            <a:ext cx="3838649" cy="2939845"/>
          </a:xfrm>
          <a:prstGeom prst="rect">
            <a:avLst/>
          </a:prstGeom>
          <a:solidFill>
            <a:srgbClr val="45C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8C3CB"/>
              </a:solidFill>
            </a:endParaRPr>
          </a:p>
        </p:txBody>
      </p:sp>
      <p:pic>
        <p:nvPicPr>
          <p:cNvPr id="5" name="Picture 4">
            <a:extLst>
              <a:ext uri="{FF2B5EF4-FFF2-40B4-BE49-F238E27FC236}">
                <a16:creationId xmlns:a16="http://schemas.microsoft.com/office/drawing/2014/main" id="{7E8126DC-E29D-186C-4C4F-EE2840DED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6409" y="1299846"/>
            <a:ext cx="3015931" cy="4524315"/>
          </a:xfrm>
          <a:prstGeom prst="rect">
            <a:avLst/>
          </a:prstGeom>
        </p:spPr>
      </p:pic>
    </p:spTree>
    <p:extLst>
      <p:ext uri="{BB962C8B-B14F-4D97-AF65-F5344CB8AC3E}">
        <p14:creationId xmlns:p14="http://schemas.microsoft.com/office/powerpoint/2010/main" val="902308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92DDE-4224-52F5-E09C-BF6BE7A8E87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5B2FBF8-81F4-8776-F794-40F1FA115B86}"/>
              </a:ext>
            </a:extLst>
          </p:cNvPr>
          <p:cNvSpPr txBox="1">
            <a:spLocks/>
          </p:cNvSpPr>
          <p:nvPr/>
        </p:nvSpPr>
        <p:spPr>
          <a:xfrm>
            <a:off x="407751" y="510242"/>
            <a:ext cx="838065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Reproducibility Challenges in ML </a:t>
            </a:r>
            <a:endParaRPr lang="en-US" sz="3200" dirty="0">
              <a:highlight>
                <a:srgbClr val="FBA31C"/>
              </a:highlight>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2D0B906C-6277-9254-1E4E-DAFE76DE6856}"/>
              </a:ext>
            </a:extLst>
          </p:cNvPr>
          <p:cNvSpPr>
            <a:spLocks noGrp="1"/>
          </p:cNvSpPr>
          <p:nvPr/>
        </p:nvSpPr>
        <p:spPr>
          <a:xfrm>
            <a:off x="864950" y="1874402"/>
            <a:ext cx="7731023" cy="34087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000" b="1" dirty="0">
                <a:solidFill>
                  <a:schemeClr val="bg1"/>
                </a:solidFill>
                <a:latin typeface="Arial" panose="020B0604020202020204" pitchFamily="34" charset="0"/>
                <a:cs typeface="Arial" panose="020B0604020202020204" pitchFamily="34" charset="0"/>
              </a:rPr>
              <a:t>Narrow AI:</a:t>
            </a:r>
            <a:r>
              <a:rPr lang="en-GB" sz="2000" dirty="0">
                <a:solidFill>
                  <a:schemeClr val="bg1"/>
                </a:solidFill>
                <a:latin typeface="Arial" panose="020B0604020202020204" pitchFamily="34" charset="0"/>
                <a:cs typeface="Arial" panose="020B0604020202020204" pitchFamily="34" charset="0"/>
              </a:rPr>
              <a:t> Performs one defined task — e.g., detect malaria, read ECGs</a:t>
            </a:r>
            <a:endParaRPr lang="en-US" sz="2000" dirty="0">
              <a:solidFill>
                <a:schemeClr val="bg1"/>
              </a:solidFill>
              <a:latin typeface="Arial" panose="020B0604020202020204" pitchFamily="34" charset="0"/>
              <a:cs typeface="Arial" panose="020B0604020202020204" pitchFamily="34" charset="0"/>
            </a:endParaRPr>
          </a:p>
        </p:txBody>
      </p:sp>
      <p:sp>
        <p:nvSpPr>
          <p:cNvPr id="8" name="Content Placeholder 3">
            <a:extLst>
              <a:ext uri="{FF2B5EF4-FFF2-40B4-BE49-F238E27FC236}">
                <a16:creationId xmlns:a16="http://schemas.microsoft.com/office/drawing/2014/main" id="{67BD84C7-C5B0-5765-5F6A-6B0BEB08A126}"/>
              </a:ext>
            </a:extLst>
          </p:cNvPr>
          <p:cNvSpPr>
            <a:spLocks noGrp="1"/>
          </p:cNvSpPr>
          <p:nvPr/>
        </p:nvSpPr>
        <p:spPr>
          <a:xfrm>
            <a:off x="864950" y="1701108"/>
            <a:ext cx="9650650" cy="37217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000" b="1" dirty="0">
                <a:solidFill>
                  <a:schemeClr val="bg1"/>
                </a:solidFill>
                <a:latin typeface="Arial" panose="020B0604020202020204" pitchFamily="34" charset="0"/>
                <a:cs typeface="Arial" panose="020B0604020202020204" pitchFamily="34" charset="0"/>
              </a:rPr>
              <a:t>General AI (AGI):</a:t>
            </a:r>
            <a:r>
              <a:rPr lang="en-GB" sz="2000" dirty="0">
                <a:solidFill>
                  <a:schemeClr val="bg1"/>
                </a:solidFill>
                <a:latin typeface="Arial" panose="020B0604020202020204" pitchFamily="34" charset="0"/>
                <a:cs typeface="Arial" panose="020B0604020202020204" pitchFamily="34" charset="0"/>
              </a:rPr>
              <a:t> Hypothetical — human-level intelligence (does not exist).</a:t>
            </a:r>
            <a:br>
              <a:rPr lang="en-GB" sz="2000" dirty="0">
                <a:solidFill>
                  <a:schemeClr val="bg1"/>
                </a:solidFill>
                <a:latin typeface="Arial" panose="020B0604020202020204" pitchFamily="34" charset="0"/>
                <a:cs typeface="Arial" panose="020B0604020202020204" pitchFamily="34" charset="0"/>
              </a:rPr>
            </a:br>
            <a:r>
              <a:rPr lang="en-GB" sz="2000" dirty="0">
                <a:solidFill>
                  <a:schemeClr val="bg1"/>
                </a:solidFill>
                <a:latin typeface="Arial" panose="020B0604020202020204" pitchFamily="34" charset="0"/>
                <a:cs typeface="Arial" panose="020B0604020202020204" pitchFamily="34" charset="0"/>
              </a:rPr>
              <a:t>Public fear comes from AGI, but public health uses only </a:t>
            </a:r>
            <a:r>
              <a:rPr lang="en-GB" sz="2000" i="1" dirty="0">
                <a:solidFill>
                  <a:schemeClr val="bg1"/>
                </a:solidFill>
                <a:latin typeface="Arial" panose="020B0604020202020204" pitchFamily="34" charset="0"/>
                <a:cs typeface="Arial" panose="020B0604020202020204" pitchFamily="34" charset="0"/>
              </a:rPr>
              <a:t>Narrow AI</a:t>
            </a:r>
            <a:r>
              <a:rPr lang="en-GB" sz="2000" dirty="0">
                <a:solidFill>
                  <a:schemeClr val="bg1"/>
                </a:solidFill>
                <a:latin typeface="Arial" panose="020B0604020202020204" pitchFamily="34" charset="0"/>
                <a:cs typeface="Arial" panose="020B0604020202020204" pitchFamily="34" charset="0"/>
              </a:rPr>
              <a:t>.</a:t>
            </a:r>
            <a:endParaRPr lang="en-US" sz="2000"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42007F20-7D88-E3F4-87E5-40E878E4E0BF}"/>
              </a:ext>
            </a:extLst>
          </p:cNvPr>
          <p:cNvSpPr txBox="1"/>
          <p:nvPr/>
        </p:nvSpPr>
        <p:spPr>
          <a:xfrm>
            <a:off x="407751" y="1320800"/>
            <a:ext cx="7803824" cy="5078313"/>
          </a:xfrm>
          <a:prstGeom prst="rect">
            <a:avLst/>
          </a:prstGeom>
          <a:noFill/>
        </p:spPr>
        <p:txBody>
          <a:bodyPr wrap="square" rtlCol="0">
            <a:spAutoFit/>
          </a:bodyPr>
          <a:lstStyle/>
          <a:p>
            <a:r>
              <a:rPr lang="en-GB" b="1" dirty="0"/>
              <a:t>Dependency Conflicts</a:t>
            </a:r>
            <a:r>
              <a:rPr lang="en-GB" dirty="0"/>
              <a:t> Production systems freeze old library versions for stability, making retraining impossible. A 2022 model needs Python 3.8 and TensorFlow 2.8, but these conflict with current requirements. Like manufacturing drugs with discontinued equipment.</a:t>
            </a:r>
          </a:p>
          <a:p>
            <a:endParaRPr lang="en-GB" dirty="0"/>
          </a:p>
          <a:p>
            <a:r>
              <a:rPr lang="en-GB" b="1" dirty="0"/>
              <a:t>Feature Pipeline Brittleness</a:t>
            </a:r>
            <a:r>
              <a:rPr lang="en-GB" dirty="0"/>
              <a:t> Production features come from multiple microservices, each updating independently. Debugging a prediction fails because intermediate services have changed their logic since that prediction was made. Like diagnostic tests where each processing lab has updated its protocols.</a:t>
            </a:r>
          </a:p>
          <a:p>
            <a:endParaRPr lang="en-GB" dirty="0"/>
          </a:p>
          <a:p>
            <a:r>
              <a:rPr lang="en-GB" b="1" dirty="0"/>
              <a:t>Training-Serving Skew</a:t>
            </a:r>
            <a:r>
              <a:rPr lang="en-GB" dirty="0"/>
              <a:t> Features computed during training differ from serving. Models train on daily batch aggregates but serve real-time streaming data with different windows. Same input, different features, different predictions. Like guidelines from controlled studies failing in emergency conditions.</a:t>
            </a:r>
          </a:p>
          <a:p>
            <a:endParaRPr lang="en-GB" dirty="0"/>
          </a:p>
          <a:p>
            <a:endParaRPr lang="en-NG" dirty="0"/>
          </a:p>
        </p:txBody>
      </p:sp>
      <p:sp>
        <p:nvSpPr>
          <p:cNvPr id="3" name="Rectangle 2">
            <a:extLst>
              <a:ext uri="{FF2B5EF4-FFF2-40B4-BE49-F238E27FC236}">
                <a16:creationId xmlns:a16="http://schemas.microsoft.com/office/drawing/2014/main" id="{F56330A2-4580-65A2-AAD1-6C73B8EEADB0}"/>
              </a:ext>
            </a:extLst>
          </p:cNvPr>
          <p:cNvSpPr/>
          <p:nvPr/>
        </p:nvSpPr>
        <p:spPr>
          <a:xfrm>
            <a:off x="8305800" y="1976284"/>
            <a:ext cx="3886200" cy="2939845"/>
          </a:xfrm>
          <a:prstGeom prst="rect">
            <a:avLst/>
          </a:prstGeom>
          <a:solidFill>
            <a:srgbClr val="FBA3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8799EF-258D-5189-0D24-2B1678538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4762" y="1365012"/>
            <a:ext cx="3188276" cy="4393984"/>
          </a:xfrm>
          <a:prstGeom prst="rect">
            <a:avLst/>
          </a:prstGeom>
        </p:spPr>
      </p:pic>
    </p:spTree>
    <p:extLst>
      <p:ext uri="{BB962C8B-B14F-4D97-AF65-F5344CB8AC3E}">
        <p14:creationId xmlns:p14="http://schemas.microsoft.com/office/powerpoint/2010/main" val="746067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A4AEE53-BC9C-DBA0-62DB-D02671C0ABDE}"/>
              </a:ext>
            </a:extLst>
          </p:cNvPr>
          <p:cNvSpPr txBox="1">
            <a:spLocks/>
          </p:cNvSpPr>
          <p:nvPr/>
        </p:nvSpPr>
        <p:spPr>
          <a:xfrm>
            <a:off x="661750" y="576792"/>
            <a:ext cx="838065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Reproducibility Challenges in ML </a:t>
            </a:r>
            <a:endParaRPr lang="en-US" sz="3200" dirty="0">
              <a:highlight>
                <a:srgbClr val="FBA31C"/>
              </a:highligh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D8F40E1-4C8B-440A-966F-6B7436F6DDAF}"/>
              </a:ext>
            </a:extLst>
          </p:cNvPr>
          <p:cNvSpPr txBox="1"/>
          <p:nvPr/>
        </p:nvSpPr>
        <p:spPr>
          <a:xfrm>
            <a:off x="661750" y="1718439"/>
            <a:ext cx="7504350" cy="3139321"/>
          </a:xfrm>
          <a:prstGeom prst="rect">
            <a:avLst/>
          </a:prstGeom>
          <a:noFill/>
        </p:spPr>
        <p:txBody>
          <a:bodyPr wrap="square" rtlCol="0">
            <a:spAutoFit/>
          </a:bodyPr>
          <a:lstStyle/>
          <a:p>
            <a:r>
              <a:rPr lang="en-GB" b="1" dirty="0"/>
              <a:t>Non-Deterministic Operations</a:t>
            </a:r>
            <a:r>
              <a:rPr lang="en-GB" dirty="0"/>
              <a:t> Distributed training, async data loading, and thread scheduling create randomness beyond random seeds. Identical code and data produce different models across runs. Like manufacturing where temperature affects outputs despite identical steps.</a:t>
            </a:r>
          </a:p>
          <a:p>
            <a:endParaRPr lang="en-GB" dirty="0"/>
          </a:p>
          <a:p>
            <a:r>
              <a:rPr lang="en-GB" b="1" dirty="0"/>
              <a:t>Audit Requirements</a:t>
            </a:r>
            <a:r>
              <a:rPr lang="en-GB" dirty="0"/>
              <a:t> Regulations require reproducing past predictions, but models retrain, pipelines update, and logs rotate. A six-month-old loan rejection cannot be explained. Like justifying medical decisions after equipment recalibration and record archival.</a:t>
            </a:r>
          </a:p>
          <a:p>
            <a:endParaRPr lang="en-NG" dirty="0"/>
          </a:p>
        </p:txBody>
      </p:sp>
    </p:spTree>
    <p:extLst>
      <p:ext uri="{BB962C8B-B14F-4D97-AF65-F5344CB8AC3E}">
        <p14:creationId xmlns:p14="http://schemas.microsoft.com/office/powerpoint/2010/main" val="2612510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886D6-9F12-6ED6-32D6-3ED62EC5B83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406AB76-6E59-1B56-0F2E-EB445BB7FBAB}"/>
              </a:ext>
            </a:extLst>
          </p:cNvPr>
          <p:cNvSpPr txBox="1">
            <a:spLocks/>
          </p:cNvSpPr>
          <p:nvPr/>
        </p:nvSpPr>
        <p:spPr>
          <a:xfrm>
            <a:off x="446755" y="238625"/>
            <a:ext cx="9408445" cy="107561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highlight>
                  <a:srgbClr val="45C2CA"/>
                </a:highlight>
              </a:rPr>
              <a:t>Real-world </a:t>
            </a:r>
            <a:r>
              <a:rPr lang="en-US" sz="3200" dirty="0" err="1">
                <a:highlight>
                  <a:srgbClr val="45C2CA"/>
                </a:highlight>
              </a:rPr>
              <a:t>MLOps</a:t>
            </a:r>
            <a:r>
              <a:rPr lang="en-US" sz="3200" dirty="0">
                <a:highlight>
                  <a:srgbClr val="45C2CA"/>
                </a:highlight>
              </a:rPr>
              <a:t> scenarios</a:t>
            </a:r>
            <a:endParaRPr lang="en-GB" sz="3200" dirty="0">
              <a:solidFill>
                <a:schemeClr val="bg1"/>
              </a:solidFill>
              <a:highlight>
                <a:srgbClr val="45C2CA"/>
              </a:highlight>
              <a:latin typeface="Arial" panose="020B0604020202020204" pitchFamily="34" charset="0"/>
              <a:cs typeface="Arial" panose="020B0604020202020204" pitchFamily="34" charset="0"/>
            </a:endParaRPr>
          </a:p>
          <a:p>
            <a:r>
              <a:rPr lang="en-GB" sz="3200" dirty="0">
                <a:solidFill>
                  <a:schemeClr val="bg1"/>
                </a:solidFill>
                <a:highlight>
                  <a:srgbClr val="03807F"/>
                </a:highlight>
                <a:latin typeface="Arial" panose="020B0604020202020204" pitchFamily="34" charset="0"/>
                <a:cs typeface="Arial" panose="020B0604020202020204" pitchFamily="34" charset="0"/>
              </a:rPr>
              <a:t>What We Actually Use</a:t>
            </a:r>
            <a:endParaRPr lang="en-US" sz="3200" dirty="0">
              <a:solidFill>
                <a:schemeClr val="bg1"/>
              </a:solidFill>
              <a:highlight>
                <a:srgbClr val="03807F"/>
              </a:highligh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08CBB51-79F5-B6CA-E532-CCD2F25387E3}"/>
              </a:ext>
            </a:extLst>
          </p:cNvPr>
          <p:cNvSpPr txBox="1"/>
          <p:nvPr/>
        </p:nvSpPr>
        <p:spPr>
          <a:xfrm>
            <a:off x="446755" y="1638300"/>
            <a:ext cx="10909300" cy="4247317"/>
          </a:xfrm>
          <a:prstGeom prst="rect">
            <a:avLst/>
          </a:prstGeom>
          <a:noFill/>
        </p:spPr>
        <p:txBody>
          <a:bodyPr wrap="square" rtlCol="0">
            <a:spAutoFit/>
          </a:bodyPr>
          <a:lstStyle/>
          <a:p>
            <a:r>
              <a:rPr lang="en-GB" b="1" dirty="0"/>
              <a:t>• Search and Recommendations: </a:t>
            </a:r>
            <a:r>
              <a:rPr lang="en-GB" dirty="0"/>
              <a:t>Systems like Amazon and Netflix use ML to recommend items predicted to match user tastes. Netflix specifically measures its recommender system using a "take-rate" metric and links it to business goals like total streaming hours and subscription cancellation rates.</a:t>
            </a:r>
          </a:p>
          <a:p>
            <a:endParaRPr lang="en-GB" dirty="0"/>
          </a:p>
          <a:p>
            <a:r>
              <a:rPr lang="en-GB" b="1" dirty="0"/>
              <a:t>Fraud Detection:</a:t>
            </a:r>
            <a:r>
              <a:rPr lang="en-GB" dirty="0"/>
              <a:t> This is one of the oldest enterprise ML applications, where systems learn from historical data to predict if a future transaction is fraudulent.</a:t>
            </a:r>
          </a:p>
          <a:p>
            <a:endParaRPr lang="en-GB" dirty="0"/>
          </a:p>
          <a:p>
            <a:r>
              <a:rPr lang="en-GB" b="1" dirty="0"/>
              <a:t>Customer Support:</a:t>
            </a:r>
            <a:r>
              <a:rPr lang="en-GB" dirty="0"/>
              <a:t> ML is used to </a:t>
            </a:r>
            <a:r>
              <a:rPr lang="en-GB" b="1" dirty="0"/>
              <a:t>automatically classify support tickets</a:t>
            </a:r>
            <a:r>
              <a:rPr lang="en-GB" dirty="0"/>
              <a:t>, analysing content to route them to the correct department, which shortens response times and improves satisfaction. </a:t>
            </a:r>
          </a:p>
          <a:p>
            <a:endParaRPr lang="en-GB" dirty="0"/>
          </a:p>
          <a:p>
            <a:r>
              <a:rPr lang="en-GB" b="1" dirty="0"/>
              <a:t>System Reliability:</a:t>
            </a:r>
            <a:r>
              <a:rPr lang="en-GB" dirty="0"/>
              <a:t> </a:t>
            </a:r>
            <a:r>
              <a:rPr lang="en-GB" b="1" dirty="0"/>
              <a:t>Amazon</a:t>
            </a:r>
            <a:r>
              <a:rPr lang="en-GB" dirty="0"/>
              <a:t> experienced a significant outage on </a:t>
            </a:r>
            <a:r>
              <a:rPr lang="en-GB" b="1" dirty="0"/>
              <a:t>Prime Day</a:t>
            </a:r>
            <a:r>
              <a:rPr lang="en-GB" dirty="0"/>
              <a:t> when its </a:t>
            </a:r>
            <a:r>
              <a:rPr lang="en-GB" b="1" dirty="0"/>
              <a:t>autoscaling</a:t>
            </a:r>
            <a:r>
              <a:rPr lang="en-GB" dirty="0"/>
              <a:t> feature failed, illustrating the critical importance of robust resource management in production system.</a:t>
            </a:r>
          </a:p>
          <a:p>
            <a:endParaRPr lang="en-GB" dirty="0"/>
          </a:p>
        </p:txBody>
      </p:sp>
    </p:spTree>
    <p:extLst>
      <p:ext uri="{BB962C8B-B14F-4D97-AF65-F5344CB8AC3E}">
        <p14:creationId xmlns:p14="http://schemas.microsoft.com/office/powerpoint/2010/main" val="1627806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F7ED4-B479-262A-5AF2-3F6E8825B2B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2701197-3F8A-87BE-D991-D2C1FB59C920}"/>
              </a:ext>
            </a:extLst>
          </p:cNvPr>
          <p:cNvSpPr txBox="1">
            <a:spLocks/>
          </p:cNvSpPr>
          <p:nvPr/>
        </p:nvSpPr>
        <p:spPr>
          <a:xfrm>
            <a:off x="446755" y="238625"/>
            <a:ext cx="9408445" cy="107561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highlight>
                  <a:srgbClr val="45C2CA"/>
                </a:highlight>
              </a:rPr>
              <a:t>Real-world </a:t>
            </a:r>
            <a:r>
              <a:rPr lang="en-US" sz="3200" dirty="0" err="1">
                <a:highlight>
                  <a:srgbClr val="45C2CA"/>
                </a:highlight>
              </a:rPr>
              <a:t>MLOps</a:t>
            </a:r>
            <a:r>
              <a:rPr lang="en-US" sz="3200" dirty="0">
                <a:highlight>
                  <a:srgbClr val="45C2CA"/>
                </a:highlight>
              </a:rPr>
              <a:t> scenarios</a:t>
            </a:r>
            <a:endParaRPr lang="en-GB" sz="3200" dirty="0">
              <a:solidFill>
                <a:schemeClr val="bg1"/>
              </a:solidFill>
              <a:highlight>
                <a:srgbClr val="45C2CA"/>
              </a:highlight>
              <a:latin typeface="Arial" panose="020B0604020202020204" pitchFamily="34" charset="0"/>
              <a:cs typeface="Arial" panose="020B0604020202020204" pitchFamily="34" charset="0"/>
            </a:endParaRPr>
          </a:p>
          <a:p>
            <a:r>
              <a:rPr lang="en-GB" sz="3200" dirty="0">
                <a:solidFill>
                  <a:schemeClr val="bg1"/>
                </a:solidFill>
                <a:highlight>
                  <a:srgbClr val="03807F"/>
                </a:highlight>
                <a:latin typeface="Arial" panose="020B0604020202020204" pitchFamily="34" charset="0"/>
                <a:cs typeface="Arial" panose="020B0604020202020204" pitchFamily="34" charset="0"/>
              </a:rPr>
              <a:t>What We Actually Use</a:t>
            </a:r>
            <a:endParaRPr lang="en-US" sz="3200" dirty="0">
              <a:solidFill>
                <a:schemeClr val="bg1"/>
              </a:solidFill>
              <a:highlight>
                <a:srgbClr val="03807F"/>
              </a:highligh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17F102F-B428-1926-9E3F-7568E781EB0F}"/>
              </a:ext>
            </a:extLst>
          </p:cNvPr>
          <p:cNvSpPr txBox="1"/>
          <p:nvPr/>
        </p:nvSpPr>
        <p:spPr>
          <a:xfrm>
            <a:off x="446755" y="1638300"/>
            <a:ext cx="10909300" cy="4247317"/>
          </a:xfrm>
          <a:prstGeom prst="rect">
            <a:avLst/>
          </a:prstGeom>
          <a:noFill/>
        </p:spPr>
        <p:txBody>
          <a:bodyPr wrap="square" rtlCol="0">
            <a:spAutoFit/>
          </a:bodyPr>
          <a:lstStyle/>
          <a:p>
            <a:r>
              <a:rPr lang="en-GB" b="1" dirty="0"/>
              <a:t>• Search and Recommendations: </a:t>
            </a:r>
            <a:r>
              <a:rPr lang="en-GB" dirty="0"/>
              <a:t>Systems like Amazon and Netflix use ML to recommend items predicted to match user tastes. Netflix specifically measures its recommender system using a "take-rate" metric and links it to business goals like total streaming hours and subscription cancellation rates.</a:t>
            </a:r>
          </a:p>
          <a:p>
            <a:endParaRPr lang="en-GB" dirty="0"/>
          </a:p>
          <a:p>
            <a:r>
              <a:rPr lang="en-GB" b="1" dirty="0"/>
              <a:t>Fraud Detection:</a:t>
            </a:r>
            <a:r>
              <a:rPr lang="en-GB" dirty="0"/>
              <a:t> This is one of the oldest enterprise ML applications, where systems learn from historical data to predict if a future transaction is fraudulent.</a:t>
            </a:r>
          </a:p>
          <a:p>
            <a:endParaRPr lang="en-GB" dirty="0"/>
          </a:p>
          <a:p>
            <a:r>
              <a:rPr lang="en-GB" b="1" dirty="0"/>
              <a:t>Customer Support:</a:t>
            </a:r>
            <a:r>
              <a:rPr lang="en-GB" dirty="0"/>
              <a:t> ML is used to </a:t>
            </a:r>
            <a:r>
              <a:rPr lang="en-GB" b="1" dirty="0"/>
              <a:t>automatically classify support tickets</a:t>
            </a:r>
            <a:r>
              <a:rPr lang="en-GB" dirty="0"/>
              <a:t>, analysing content to route them to the correct department, which shortens response times and improves satisfaction. </a:t>
            </a:r>
          </a:p>
          <a:p>
            <a:endParaRPr lang="en-GB" dirty="0"/>
          </a:p>
          <a:p>
            <a:r>
              <a:rPr lang="en-GB" b="1" dirty="0"/>
              <a:t>System Reliability:</a:t>
            </a:r>
            <a:r>
              <a:rPr lang="en-GB" dirty="0"/>
              <a:t> </a:t>
            </a:r>
            <a:r>
              <a:rPr lang="en-GB" b="1" dirty="0"/>
              <a:t>Amazon</a:t>
            </a:r>
            <a:r>
              <a:rPr lang="en-GB" dirty="0"/>
              <a:t> experienced a significant outage on </a:t>
            </a:r>
            <a:r>
              <a:rPr lang="en-GB" b="1" dirty="0"/>
              <a:t>Prime Day</a:t>
            </a:r>
            <a:r>
              <a:rPr lang="en-GB" dirty="0"/>
              <a:t> when its </a:t>
            </a:r>
            <a:r>
              <a:rPr lang="en-GB" b="1" dirty="0"/>
              <a:t>autoscaling</a:t>
            </a:r>
            <a:r>
              <a:rPr lang="en-GB" dirty="0"/>
              <a:t> feature failed, illustrating the critical importance of robust resource management in production system.</a:t>
            </a:r>
          </a:p>
          <a:p>
            <a:endParaRPr lang="en-GB" dirty="0"/>
          </a:p>
        </p:txBody>
      </p:sp>
    </p:spTree>
    <p:extLst>
      <p:ext uri="{BB962C8B-B14F-4D97-AF65-F5344CB8AC3E}">
        <p14:creationId xmlns:p14="http://schemas.microsoft.com/office/powerpoint/2010/main" val="3800201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347007E-EB1C-315D-CB6D-71D49437EEDB}"/>
              </a:ext>
            </a:extLst>
          </p:cNvPr>
          <p:cNvSpPr txBox="1">
            <a:spLocks/>
          </p:cNvSpPr>
          <p:nvPr/>
        </p:nvSpPr>
        <p:spPr>
          <a:xfrm>
            <a:off x="635000" y="238625"/>
            <a:ext cx="9408445" cy="107561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solidFill>
                  <a:schemeClr val="bg1"/>
                </a:solidFill>
                <a:highlight>
                  <a:srgbClr val="45C2CA"/>
                </a:highlight>
                <a:latin typeface="Arial" panose="020B0604020202020204" pitchFamily="34" charset="0"/>
                <a:cs typeface="Arial" panose="020B0604020202020204" pitchFamily="34" charset="0"/>
              </a:rPr>
              <a:t>Experiment Tracking and Data Versioning</a:t>
            </a:r>
            <a:endParaRPr lang="en-GB" sz="3200" dirty="0">
              <a:solidFill>
                <a:schemeClr val="bg1"/>
              </a:solidFill>
              <a:highlight>
                <a:srgbClr val="45C2CA"/>
              </a:highlight>
              <a:latin typeface="Arial" panose="020B0604020202020204" pitchFamily="34" charset="0"/>
              <a:cs typeface="Arial" panose="020B0604020202020204" pitchFamily="34" charset="0"/>
            </a:endParaRPr>
          </a:p>
          <a:p>
            <a:r>
              <a:rPr lang="en-GB" sz="3200" dirty="0">
                <a:solidFill>
                  <a:schemeClr val="bg1"/>
                </a:solidFill>
                <a:highlight>
                  <a:srgbClr val="03807F"/>
                </a:highlight>
                <a:latin typeface="Arial" panose="020B0604020202020204" pitchFamily="34" charset="0"/>
                <a:cs typeface="Arial" panose="020B0604020202020204" pitchFamily="34" charset="0"/>
              </a:rPr>
              <a:t>Why We Keep Track of Experiments</a:t>
            </a:r>
            <a:endParaRPr lang="en-US" sz="3200" dirty="0">
              <a:solidFill>
                <a:schemeClr val="bg1"/>
              </a:solidFill>
              <a:highlight>
                <a:srgbClr val="03807F"/>
              </a:highlight>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FEA00F6F-7E43-83D4-29C0-FBEBA8AF55DC}"/>
              </a:ext>
            </a:extLst>
          </p:cNvPr>
          <p:cNvSpPr txBox="1">
            <a:spLocks/>
          </p:cNvSpPr>
          <p:nvPr/>
        </p:nvSpPr>
        <p:spPr>
          <a:xfrm>
            <a:off x="635000" y="1516592"/>
            <a:ext cx="838065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highlight>
                <a:srgbClr val="FBA31C"/>
              </a:highlight>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4225DDC6-0F84-F801-142D-6C3AA4A1330D}"/>
              </a:ext>
            </a:extLst>
          </p:cNvPr>
          <p:cNvSpPr txBox="1">
            <a:spLocks/>
          </p:cNvSpPr>
          <p:nvPr/>
        </p:nvSpPr>
        <p:spPr>
          <a:xfrm>
            <a:off x="635000" y="1516592"/>
            <a:ext cx="485140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lvl="0"/>
            <a:r>
              <a:rPr lang="en-US" sz="3200" dirty="0">
                <a:highlight>
                  <a:srgbClr val="FBA31C"/>
                </a:highlight>
              </a:rPr>
              <a:t>Introduction to </a:t>
            </a:r>
            <a:r>
              <a:rPr lang="en-US" sz="3200" dirty="0" err="1">
                <a:highlight>
                  <a:srgbClr val="FBA31C"/>
                </a:highlight>
              </a:rPr>
              <a:t>MLflow</a:t>
            </a:r>
            <a:endParaRPr lang="en-NG" sz="3200" dirty="0">
              <a:highlight>
                <a:srgbClr val="FBA31C"/>
              </a:highlight>
            </a:endParaRPr>
          </a:p>
        </p:txBody>
      </p:sp>
      <p:sp>
        <p:nvSpPr>
          <p:cNvPr id="12" name="TextBox 11">
            <a:extLst>
              <a:ext uri="{FF2B5EF4-FFF2-40B4-BE49-F238E27FC236}">
                <a16:creationId xmlns:a16="http://schemas.microsoft.com/office/drawing/2014/main" id="{DD067FC3-4EDA-8F2C-77FE-447838541C2D}"/>
              </a:ext>
            </a:extLst>
          </p:cNvPr>
          <p:cNvSpPr txBox="1"/>
          <p:nvPr/>
        </p:nvSpPr>
        <p:spPr>
          <a:xfrm>
            <a:off x="635000" y="2296983"/>
            <a:ext cx="10848875" cy="923330"/>
          </a:xfrm>
          <a:prstGeom prst="rect">
            <a:avLst/>
          </a:prstGeom>
          <a:noFill/>
        </p:spPr>
        <p:txBody>
          <a:bodyPr wrap="square" rtlCol="0">
            <a:spAutoFit/>
          </a:bodyPr>
          <a:lstStyle/>
          <a:p>
            <a:r>
              <a:rPr lang="en-NG" altLang="en-NG" b="1" dirty="0" err="1">
                <a:solidFill>
                  <a:srgbClr val="303030"/>
                </a:solidFill>
                <a:latin typeface="+mj-lt"/>
              </a:rPr>
              <a:t>MLflow</a:t>
            </a:r>
            <a:r>
              <a:rPr lang="en-NG" altLang="en-NG" dirty="0">
                <a:solidFill>
                  <a:srgbClr val="303030"/>
                </a:solidFill>
                <a:latin typeface="+mj-lt"/>
              </a:rPr>
              <a:t> is </a:t>
            </a:r>
            <a:r>
              <a:rPr lang="en-GB" altLang="en-NG" dirty="0">
                <a:solidFill>
                  <a:srgbClr val="303030"/>
                </a:solidFill>
                <a:latin typeface="+mj-lt"/>
              </a:rPr>
              <a:t> an </a:t>
            </a:r>
            <a:r>
              <a:rPr lang="en-NG" altLang="en-NG" dirty="0">
                <a:solidFill>
                  <a:srgbClr val="303030"/>
                </a:solidFill>
                <a:latin typeface="+mj-lt"/>
              </a:rPr>
              <a:t>open-source </a:t>
            </a:r>
            <a:r>
              <a:rPr lang="en-NG" altLang="en-NG" b="1" dirty="0">
                <a:solidFill>
                  <a:srgbClr val="303030"/>
                </a:solidFill>
                <a:latin typeface="+mj-lt"/>
              </a:rPr>
              <a:t>model store</a:t>
            </a:r>
            <a:r>
              <a:rPr lang="en-NG" altLang="en-NG" dirty="0">
                <a:solidFill>
                  <a:srgbClr val="303030"/>
                </a:solidFill>
                <a:latin typeface="+mj-lt"/>
              </a:rPr>
              <a:t> and </a:t>
            </a:r>
            <a:r>
              <a:rPr lang="en-NG" altLang="en-NG" b="1" dirty="0">
                <a:solidFill>
                  <a:srgbClr val="303030"/>
                </a:solidFill>
                <a:latin typeface="+mj-lt"/>
              </a:rPr>
              <a:t>experiment tracking tool</a:t>
            </a:r>
            <a:r>
              <a:rPr lang="en-NG" altLang="en-NG" dirty="0">
                <a:solidFill>
                  <a:srgbClr val="303030"/>
                </a:solidFill>
                <a:latin typeface="+mj-lt"/>
              </a:rPr>
              <a:t>. It allows teams to track model artifacts during deployment and provides a shared infrastructure for managing model versions.</a:t>
            </a:r>
            <a:r>
              <a:rPr lang="en-NG" altLang="en-NG" dirty="0">
                <a:latin typeface="+mj-lt"/>
              </a:rPr>
              <a:t> </a:t>
            </a:r>
          </a:p>
        </p:txBody>
      </p:sp>
      <p:sp>
        <p:nvSpPr>
          <p:cNvPr id="13" name="TextBox 12">
            <a:extLst>
              <a:ext uri="{FF2B5EF4-FFF2-40B4-BE49-F238E27FC236}">
                <a16:creationId xmlns:a16="http://schemas.microsoft.com/office/drawing/2014/main" id="{75A8B90D-74B8-8689-14D1-70C223621C46}"/>
              </a:ext>
            </a:extLst>
          </p:cNvPr>
          <p:cNvSpPr txBox="1"/>
          <p:nvPr/>
        </p:nvSpPr>
        <p:spPr>
          <a:xfrm>
            <a:off x="635000" y="3246451"/>
            <a:ext cx="3492366" cy="1477328"/>
          </a:xfrm>
          <a:prstGeom prst="rect">
            <a:avLst/>
          </a:prstGeom>
          <a:noFill/>
        </p:spPr>
        <p:txBody>
          <a:bodyPr wrap="square" rtlCol="0">
            <a:spAutoFit/>
          </a:bodyPr>
          <a:lstStyle/>
          <a:p>
            <a:r>
              <a:rPr lang="en-GB" b="1" dirty="0"/>
              <a:t>Experiment Tracking</a:t>
            </a:r>
          </a:p>
          <a:p>
            <a:r>
              <a:rPr lang="en-GB" dirty="0"/>
              <a:t>Log and compare parameters, metrics, and results across experiments</a:t>
            </a:r>
          </a:p>
          <a:p>
            <a:endParaRPr lang="en-NG" dirty="0"/>
          </a:p>
        </p:txBody>
      </p:sp>
      <p:sp>
        <p:nvSpPr>
          <p:cNvPr id="14" name="TextBox 13">
            <a:extLst>
              <a:ext uri="{FF2B5EF4-FFF2-40B4-BE49-F238E27FC236}">
                <a16:creationId xmlns:a16="http://schemas.microsoft.com/office/drawing/2014/main" id="{DF7C60A7-581D-C62D-A0A7-F857869CC82A}"/>
              </a:ext>
            </a:extLst>
          </p:cNvPr>
          <p:cNvSpPr txBox="1"/>
          <p:nvPr/>
        </p:nvSpPr>
        <p:spPr>
          <a:xfrm>
            <a:off x="4127366" y="3358812"/>
            <a:ext cx="3821230" cy="923330"/>
          </a:xfrm>
          <a:prstGeom prst="rect">
            <a:avLst/>
          </a:prstGeom>
          <a:noFill/>
        </p:spPr>
        <p:txBody>
          <a:bodyPr wrap="square" rtlCol="0">
            <a:spAutoFit/>
          </a:bodyPr>
          <a:lstStyle/>
          <a:p>
            <a:r>
              <a:rPr lang="en-GB" b="1" dirty="0"/>
              <a:t>Model Registry</a:t>
            </a:r>
          </a:p>
          <a:p>
            <a:r>
              <a:rPr lang="en-GB" dirty="0"/>
              <a:t>Centralized store for managing model versions and transitions</a:t>
            </a:r>
          </a:p>
        </p:txBody>
      </p:sp>
      <p:sp>
        <p:nvSpPr>
          <p:cNvPr id="15" name="TextBox 14">
            <a:extLst>
              <a:ext uri="{FF2B5EF4-FFF2-40B4-BE49-F238E27FC236}">
                <a16:creationId xmlns:a16="http://schemas.microsoft.com/office/drawing/2014/main" id="{6C1A59E6-CE7F-B43D-9978-964D81B25943}"/>
              </a:ext>
            </a:extLst>
          </p:cNvPr>
          <p:cNvSpPr txBox="1"/>
          <p:nvPr/>
        </p:nvSpPr>
        <p:spPr>
          <a:xfrm>
            <a:off x="7823734" y="3220313"/>
            <a:ext cx="3821230" cy="1200329"/>
          </a:xfrm>
          <a:prstGeom prst="rect">
            <a:avLst/>
          </a:prstGeom>
          <a:noFill/>
        </p:spPr>
        <p:txBody>
          <a:bodyPr wrap="square" rtlCol="0">
            <a:spAutoFit/>
          </a:bodyPr>
          <a:lstStyle/>
          <a:p>
            <a:r>
              <a:rPr lang="en-GB" b="1" dirty="0"/>
              <a:t>Model Deployment</a:t>
            </a:r>
          </a:p>
          <a:p>
            <a:r>
              <a:rPr lang="en-GB" dirty="0"/>
              <a:t>Deploy models to various serving platforms with consistent interface</a:t>
            </a:r>
          </a:p>
        </p:txBody>
      </p:sp>
    </p:spTree>
    <p:extLst>
      <p:ext uri="{BB962C8B-B14F-4D97-AF65-F5344CB8AC3E}">
        <p14:creationId xmlns:p14="http://schemas.microsoft.com/office/powerpoint/2010/main" val="703052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9059E-7D44-E423-E072-2A6FAFD0B6C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DFD7ADB-3067-FDBD-06AA-E4F40CCF5F8D}"/>
              </a:ext>
            </a:extLst>
          </p:cNvPr>
          <p:cNvSpPr txBox="1">
            <a:spLocks/>
          </p:cNvSpPr>
          <p:nvPr/>
        </p:nvSpPr>
        <p:spPr>
          <a:xfrm>
            <a:off x="635000" y="238625"/>
            <a:ext cx="9408445" cy="107561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solidFill>
                  <a:schemeClr val="bg1"/>
                </a:solidFill>
                <a:highlight>
                  <a:srgbClr val="45C2CA"/>
                </a:highlight>
                <a:latin typeface="Arial" panose="020B0604020202020204" pitchFamily="34" charset="0"/>
                <a:cs typeface="Arial" panose="020B0604020202020204" pitchFamily="34" charset="0"/>
              </a:rPr>
              <a:t>Experiment Tracking and Data Versioning</a:t>
            </a:r>
            <a:endParaRPr lang="en-GB" sz="3200" dirty="0">
              <a:solidFill>
                <a:schemeClr val="bg1"/>
              </a:solidFill>
              <a:highlight>
                <a:srgbClr val="45C2CA"/>
              </a:highlight>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18C8C434-71A3-D437-E9F9-030E02881F5C}"/>
              </a:ext>
            </a:extLst>
          </p:cNvPr>
          <p:cNvSpPr txBox="1">
            <a:spLocks/>
          </p:cNvSpPr>
          <p:nvPr/>
        </p:nvSpPr>
        <p:spPr>
          <a:xfrm>
            <a:off x="635000" y="1516592"/>
            <a:ext cx="838065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highlight>
                <a:srgbClr val="FBA31C"/>
              </a:highlight>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2CD133C8-37CC-AC56-C857-7C567A4453BF}"/>
              </a:ext>
            </a:extLst>
          </p:cNvPr>
          <p:cNvSpPr txBox="1">
            <a:spLocks/>
          </p:cNvSpPr>
          <p:nvPr/>
        </p:nvSpPr>
        <p:spPr>
          <a:xfrm>
            <a:off x="635000" y="895193"/>
            <a:ext cx="4851400" cy="60757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lvl="0"/>
            <a:r>
              <a:rPr lang="en-US" sz="3200" dirty="0">
                <a:highlight>
                  <a:srgbClr val="FBA31C"/>
                </a:highlight>
              </a:rPr>
              <a:t>Introduction to </a:t>
            </a:r>
            <a:r>
              <a:rPr lang="en-US" sz="3200" dirty="0" err="1">
                <a:highlight>
                  <a:srgbClr val="FBA31C"/>
                </a:highlight>
              </a:rPr>
              <a:t>MLflow</a:t>
            </a:r>
            <a:endParaRPr lang="en-NG" sz="3200" dirty="0">
              <a:highlight>
                <a:srgbClr val="FBA31C"/>
              </a:highlight>
            </a:endParaRPr>
          </a:p>
        </p:txBody>
      </p:sp>
      <p:sp>
        <p:nvSpPr>
          <p:cNvPr id="12" name="TextBox 11">
            <a:extLst>
              <a:ext uri="{FF2B5EF4-FFF2-40B4-BE49-F238E27FC236}">
                <a16:creationId xmlns:a16="http://schemas.microsoft.com/office/drawing/2014/main" id="{0E4BC3B7-FBC5-90F6-1C2C-5D9A60CCF37B}"/>
              </a:ext>
            </a:extLst>
          </p:cNvPr>
          <p:cNvSpPr txBox="1"/>
          <p:nvPr/>
        </p:nvSpPr>
        <p:spPr>
          <a:xfrm>
            <a:off x="635000" y="1549111"/>
            <a:ext cx="11338827" cy="646331"/>
          </a:xfrm>
          <a:prstGeom prst="rect">
            <a:avLst/>
          </a:prstGeom>
          <a:noFill/>
        </p:spPr>
        <p:txBody>
          <a:bodyPr wrap="square" rtlCol="0">
            <a:spAutoFit/>
          </a:bodyPr>
          <a:lstStyle/>
          <a:p>
            <a:r>
              <a:rPr lang="en-NG" altLang="en-NG" b="1" dirty="0" err="1">
                <a:latin typeface="+mj-lt"/>
              </a:rPr>
              <a:t>MLflow</a:t>
            </a:r>
            <a:r>
              <a:rPr lang="en-NG" altLang="en-NG" dirty="0">
                <a:solidFill>
                  <a:srgbClr val="303030"/>
                </a:solidFill>
                <a:latin typeface="+mj-lt"/>
              </a:rPr>
              <a:t> is </a:t>
            </a:r>
            <a:r>
              <a:rPr lang="en-GB" altLang="en-NG" dirty="0">
                <a:solidFill>
                  <a:srgbClr val="303030"/>
                </a:solidFill>
                <a:latin typeface="+mj-lt"/>
              </a:rPr>
              <a:t> an </a:t>
            </a:r>
            <a:r>
              <a:rPr lang="en-NG" altLang="en-NG" dirty="0">
                <a:solidFill>
                  <a:srgbClr val="303030"/>
                </a:solidFill>
                <a:latin typeface="+mj-lt"/>
              </a:rPr>
              <a:t>open-source</a:t>
            </a:r>
            <a:r>
              <a:rPr lang="en-NG" altLang="en-NG" dirty="0">
                <a:latin typeface="+mj-lt"/>
              </a:rPr>
              <a:t> </a:t>
            </a:r>
            <a:r>
              <a:rPr lang="en-NG" altLang="en-NG" b="1" dirty="0">
                <a:latin typeface="+mj-lt"/>
              </a:rPr>
              <a:t>model store</a:t>
            </a:r>
            <a:r>
              <a:rPr lang="en-NG" altLang="en-NG" dirty="0">
                <a:latin typeface="+mj-lt"/>
              </a:rPr>
              <a:t> </a:t>
            </a:r>
            <a:r>
              <a:rPr lang="en-NG" altLang="en-NG" dirty="0">
                <a:solidFill>
                  <a:srgbClr val="303030"/>
                </a:solidFill>
                <a:latin typeface="+mj-lt"/>
              </a:rPr>
              <a:t>and </a:t>
            </a:r>
            <a:r>
              <a:rPr lang="en-NG" altLang="en-NG" b="1" dirty="0">
                <a:latin typeface="+mj-lt"/>
              </a:rPr>
              <a:t>experiment tracking tool</a:t>
            </a:r>
            <a:r>
              <a:rPr lang="en-NG" altLang="en-NG" dirty="0">
                <a:latin typeface="+mj-lt"/>
              </a:rPr>
              <a:t>. </a:t>
            </a:r>
            <a:r>
              <a:rPr lang="en-NG" altLang="en-NG" dirty="0">
                <a:solidFill>
                  <a:srgbClr val="303030"/>
                </a:solidFill>
                <a:latin typeface="+mj-lt"/>
              </a:rPr>
              <a:t>It allows teams to track model artifacts during deployment and provides a shared infrastructure for managing model versions.</a:t>
            </a:r>
            <a:r>
              <a:rPr lang="en-NG" altLang="en-NG" dirty="0">
                <a:latin typeface="+mj-lt"/>
              </a:rPr>
              <a:t> </a:t>
            </a:r>
          </a:p>
        </p:txBody>
      </p:sp>
      <p:sp>
        <p:nvSpPr>
          <p:cNvPr id="13" name="TextBox 12">
            <a:extLst>
              <a:ext uri="{FF2B5EF4-FFF2-40B4-BE49-F238E27FC236}">
                <a16:creationId xmlns:a16="http://schemas.microsoft.com/office/drawing/2014/main" id="{C43D24C5-C6D1-23D7-C2C1-43C4A60470EF}"/>
              </a:ext>
            </a:extLst>
          </p:cNvPr>
          <p:cNvSpPr txBox="1"/>
          <p:nvPr/>
        </p:nvSpPr>
        <p:spPr>
          <a:xfrm>
            <a:off x="529122" y="2359033"/>
            <a:ext cx="3105217" cy="1477328"/>
          </a:xfrm>
          <a:prstGeom prst="rect">
            <a:avLst/>
          </a:prstGeom>
          <a:noFill/>
        </p:spPr>
        <p:txBody>
          <a:bodyPr wrap="square" rtlCol="0">
            <a:spAutoFit/>
          </a:bodyPr>
          <a:lstStyle/>
          <a:p>
            <a:pPr algn="ctr"/>
            <a:r>
              <a:rPr lang="en-GB" b="1" dirty="0"/>
              <a:t>Experiment Tracking</a:t>
            </a:r>
          </a:p>
          <a:p>
            <a:pPr algn="ctr"/>
            <a:r>
              <a:rPr lang="en-GB" dirty="0"/>
              <a:t>Log and compare parameters, metrics, and results across experiments</a:t>
            </a:r>
          </a:p>
          <a:p>
            <a:endParaRPr lang="en-NG" dirty="0"/>
          </a:p>
        </p:txBody>
      </p:sp>
      <p:sp>
        <p:nvSpPr>
          <p:cNvPr id="14" name="TextBox 13">
            <a:extLst>
              <a:ext uri="{FF2B5EF4-FFF2-40B4-BE49-F238E27FC236}">
                <a16:creationId xmlns:a16="http://schemas.microsoft.com/office/drawing/2014/main" id="{5DA0D245-3053-80A9-5BC5-ABEDEEE2C92B}"/>
              </a:ext>
            </a:extLst>
          </p:cNvPr>
          <p:cNvSpPr txBox="1"/>
          <p:nvPr/>
        </p:nvSpPr>
        <p:spPr>
          <a:xfrm>
            <a:off x="3942615" y="2382106"/>
            <a:ext cx="3274461" cy="1200329"/>
          </a:xfrm>
          <a:prstGeom prst="rect">
            <a:avLst/>
          </a:prstGeom>
          <a:noFill/>
        </p:spPr>
        <p:txBody>
          <a:bodyPr wrap="square" rtlCol="0">
            <a:spAutoFit/>
          </a:bodyPr>
          <a:lstStyle/>
          <a:p>
            <a:pPr algn="ctr"/>
            <a:r>
              <a:rPr lang="en-GB" b="1" dirty="0"/>
              <a:t>Model Registry</a:t>
            </a:r>
          </a:p>
          <a:p>
            <a:pPr algn="ctr"/>
            <a:r>
              <a:rPr lang="en-GB" dirty="0"/>
              <a:t>Centralized store for managing model versions and transitions</a:t>
            </a:r>
          </a:p>
        </p:txBody>
      </p:sp>
      <p:sp>
        <p:nvSpPr>
          <p:cNvPr id="15" name="TextBox 14">
            <a:extLst>
              <a:ext uri="{FF2B5EF4-FFF2-40B4-BE49-F238E27FC236}">
                <a16:creationId xmlns:a16="http://schemas.microsoft.com/office/drawing/2014/main" id="{661AAF28-E32B-AC63-A922-607E65CD6A8D}"/>
              </a:ext>
            </a:extLst>
          </p:cNvPr>
          <p:cNvSpPr txBox="1"/>
          <p:nvPr/>
        </p:nvSpPr>
        <p:spPr>
          <a:xfrm>
            <a:off x="7823733" y="2409235"/>
            <a:ext cx="3418573" cy="1200329"/>
          </a:xfrm>
          <a:prstGeom prst="rect">
            <a:avLst/>
          </a:prstGeom>
          <a:noFill/>
        </p:spPr>
        <p:txBody>
          <a:bodyPr wrap="square" rtlCol="0">
            <a:spAutoFit/>
          </a:bodyPr>
          <a:lstStyle/>
          <a:p>
            <a:pPr algn="ctr"/>
            <a:r>
              <a:rPr lang="en-GB" b="1" dirty="0"/>
              <a:t>Model Deployment</a:t>
            </a:r>
          </a:p>
          <a:p>
            <a:pPr algn="ctr"/>
            <a:r>
              <a:rPr lang="en-GB" dirty="0"/>
              <a:t>Deploy models to various serving platforms with consistent interface</a:t>
            </a:r>
          </a:p>
        </p:txBody>
      </p:sp>
      <p:sp>
        <p:nvSpPr>
          <p:cNvPr id="3" name="TextBox 2">
            <a:extLst>
              <a:ext uri="{FF2B5EF4-FFF2-40B4-BE49-F238E27FC236}">
                <a16:creationId xmlns:a16="http://schemas.microsoft.com/office/drawing/2014/main" id="{22119BEE-3E10-D4BF-EC6C-03721C145170}"/>
              </a:ext>
            </a:extLst>
          </p:cNvPr>
          <p:cNvSpPr txBox="1"/>
          <p:nvPr/>
        </p:nvSpPr>
        <p:spPr>
          <a:xfrm>
            <a:off x="3498782" y="3842404"/>
            <a:ext cx="3975235" cy="1038746"/>
          </a:xfrm>
          <a:prstGeom prst="rect">
            <a:avLst/>
          </a:prstGeom>
          <a:noFill/>
        </p:spPr>
        <p:txBody>
          <a:bodyPr wrap="square">
            <a:spAutoFit/>
          </a:bodyPr>
          <a:lstStyle/>
          <a:p>
            <a:pPr algn="ctr">
              <a:spcAft>
                <a:spcPts val="900"/>
              </a:spcAft>
              <a:buNone/>
            </a:pPr>
            <a:r>
              <a:rPr lang="en-GB" b="1" i="0" dirty="0">
                <a:effectLst/>
                <a:latin typeface="Segoe UI" panose="020B0502040204020203" pitchFamily="34" charset="0"/>
              </a:rPr>
              <a:t>Shared Infrastructure</a:t>
            </a:r>
          </a:p>
          <a:p>
            <a:pPr algn="ctr">
              <a:buNone/>
            </a:pPr>
            <a:r>
              <a:rPr lang="en-GB" b="0" i="0" dirty="0">
                <a:effectLst/>
                <a:latin typeface="Segoe UI" panose="020B0502040204020203" pitchFamily="34" charset="0"/>
              </a:rPr>
              <a:t>Team collaboration through standardized tracking and versioning</a:t>
            </a:r>
          </a:p>
        </p:txBody>
      </p:sp>
    </p:spTree>
    <p:extLst>
      <p:ext uri="{BB962C8B-B14F-4D97-AF65-F5344CB8AC3E}">
        <p14:creationId xmlns:p14="http://schemas.microsoft.com/office/powerpoint/2010/main" val="2590245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64E30C0-B228-9E31-CA94-BB7B7D0D496D}"/>
              </a:ext>
            </a:extLst>
          </p:cNvPr>
          <p:cNvSpPr txBox="1">
            <a:spLocks/>
          </p:cNvSpPr>
          <p:nvPr/>
        </p:nvSpPr>
        <p:spPr>
          <a:xfrm>
            <a:off x="635000" y="238625"/>
            <a:ext cx="9408445" cy="67577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solidFill>
                  <a:schemeClr val="bg1"/>
                </a:solidFill>
                <a:highlight>
                  <a:srgbClr val="45C2CA"/>
                </a:highlight>
                <a:latin typeface="Arial" panose="020B0604020202020204" pitchFamily="34" charset="0"/>
                <a:cs typeface="Arial" panose="020B0604020202020204" pitchFamily="34" charset="0"/>
              </a:rPr>
              <a:t>What to Log in </a:t>
            </a:r>
            <a:r>
              <a:rPr lang="en-US" sz="3200" dirty="0" err="1">
                <a:solidFill>
                  <a:schemeClr val="bg1"/>
                </a:solidFill>
                <a:highlight>
                  <a:srgbClr val="45C2CA"/>
                </a:highlight>
                <a:latin typeface="Arial" panose="020B0604020202020204" pitchFamily="34" charset="0"/>
                <a:cs typeface="Arial" panose="020B0604020202020204" pitchFamily="34" charset="0"/>
              </a:rPr>
              <a:t>MLflow</a:t>
            </a:r>
            <a:endParaRPr lang="en-GB" sz="3200" dirty="0">
              <a:solidFill>
                <a:schemeClr val="bg1"/>
              </a:solidFill>
              <a:highlight>
                <a:srgbClr val="45C2CA"/>
              </a:highligh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2173A0F-4666-9266-D568-8AEE4451D390}"/>
              </a:ext>
            </a:extLst>
          </p:cNvPr>
          <p:cNvSpPr txBox="1"/>
          <p:nvPr/>
        </p:nvSpPr>
        <p:spPr>
          <a:xfrm>
            <a:off x="767347" y="1386219"/>
            <a:ext cx="3927375" cy="2862322"/>
          </a:xfrm>
          <a:prstGeom prst="rect">
            <a:avLst/>
          </a:prstGeom>
          <a:noFill/>
        </p:spPr>
        <p:txBody>
          <a:bodyPr wrap="square" rtlCol="0">
            <a:spAutoFit/>
          </a:bodyPr>
          <a:lstStyle/>
          <a:p>
            <a:endParaRPr lang="en-GB" b="1" dirty="0"/>
          </a:p>
          <a:p>
            <a:endParaRPr lang="en-GB" b="1" dirty="0"/>
          </a:p>
          <a:p>
            <a:pPr marL="285750" indent="-285750">
              <a:buFont typeface="Arial" panose="020B0604020202020204" pitchFamily="34" charset="0"/>
              <a:buChar char="•"/>
            </a:pPr>
            <a:r>
              <a:rPr lang="en-GB" dirty="0"/>
              <a:t>Learning rate schedules</a:t>
            </a:r>
          </a:p>
          <a:p>
            <a:pPr marL="285750" indent="-285750">
              <a:buFont typeface="Arial" panose="020B0604020202020204" pitchFamily="34" charset="0"/>
              <a:buChar char="•"/>
            </a:pPr>
            <a:r>
              <a:rPr lang="en-GB" dirty="0"/>
              <a:t>Batch sizes</a:t>
            </a:r>
          </a:p>
          <a:p>
            <a:pPr marL="285750" indent="-285750">
              <a:buFont typeface="Arial" panose="020B0604020202020204" pitchFamily="34" charset="0"/>
              <a:buChar char="•"/>
            </a:pPr>
            <a:r>
              <a:rPr lang="en-GB" dirty="0"/>
              <a:t>Number of epochs</a:t>
            </a:r>
          </a:p>
          <a:p>
            <a:pPr marL="285750" indent="-285750">
              <a:buFont typeface="Arial" panose="020B0604020202020204" pitchFamily="34" charset="0"/>
              <a:buChar char="•"/>
            </a:pPr>
            <a:r>
              <a:rPr lang="en-GB" dirty="0"/>
              <a:t>Gradient norms</a:t>
            </a:r>
          </a:p>
          <a:p>
            <a:pPr marL="285750" indent="-285750">
              <a:buFont typeface="Arial" panose="020B0604020202020204" pitchFamily="34" charset="0"/>
              <a:buChar char="•"/>
            </a:pPr>
            <a:r>
              <a:rPr lang="en-GB" dirty="0"/>
              <a:t>Weight decay values</a:t>
            </a:r>
          </a:p>
          <a:p>
            <a:pPr marL="285750" indent="-285750">
              <a:buFont typeface="Arial" panose="020B0604020202020204" pitchFamily="34" charset="0"/>
              <a:buChar char="•"/>
            </a:pPr>
            <a:r>
              <a:rPr lang="en-GB" dirty="0"/>
              <a:t>Model architecture configs</a:t>
            </a:r>
          </a:p>
          <a:p>
            <a:endParaRPr lang="en-GB" b="1" dirty="0"/>
          </a:p>
          <a:p>
            <a:endParaRPr lang="en-NG" dirty="0"/>
          </a:p>
        </p:txBody>
      </p:sp>
      <p:sp>
        <p:nvSpPr>
          <p:cNvPr id="8" name="TextBox 7">
            <a:extLst>
              <a:ext uri="{FF2B5EF4-FFF2-40B4-BE49-F238E27FC236}">
                <a16:creationId xmlns:a16="http://schemas.microsoft.com/office/drawing/2014/main" id="{B6D7FC54-EAF0-8850-21BE-1B00980E93BB}"/>
              </a:ext>
            </a:extLst>
          </p:cNvPr>
          <p:cNvSpPr txBox="1"/>
          <p:nvPr/>
        </p:nvSpPr>
        <p:spPr>
          <a:xfrm>
            <a:off x="4848726" y="1318660"/>
            <a:ext cx="1956335" cy="369332"/>
          </a:xfrm>
          <a:prstGeom prst="rect">
            <a:avLst/>
          </a:prstGeom>
          <a:noFill/>
        </p:spPr>
        <p:txBody>
          <a:bodyPr wrap="square">
            <a:spAutoFit/>
          </a:bodyPr>
          <a:lstStyle/>
          <a:p>
            <a:pPr algn="l">
              <a:spcAft>
                <a:spcPts val="1500"/>
              </a:spcAft>
              <a:buNone/>
            </a:pPr>
            <a:r>
              <a:rPr lang="en-GB" b="1" i="0" dirty="0">
                <a:effectLst/>
                <a:latin typeface="Segoe UI" panose="020B0502040204020203" pitchFamily="34" charset="0"/>
              </a:rPr>
              <a:t>Metrics</a:t>
            </a:r>
          </a:p>
        </p:txBody>
      </p:sp>
      <p:sp>
        <p:nvSpPr>
          <p:cNvPr id="9" name="TextBox 8">
            <a:extLst>
              <a:ext uri="{FF2B5EF4-FFF2-40B4-BE49-F238E27FC236}">
                <a16:creationId xmlns:a16="http://schemas.microsoft.com/office/drawing/2014/main" id="{B02B8845-EF4E-84A6-37A5-56A30B5F407A}"/>
              </a:ext>
            </a:extLst>
          </p:cNvPr>
          <p:cNvSpPr txBox="1"/>
          <p:nvPr/>
        </p:nvSpPr>
        <p:spPr>
          <a:xfrm>
            <a:off x="8671702" y="1280160"/>
            <a:ext cx="3297169" cy="2585323"/>
          </a:xfrm>
          <a:prstGeom prst="rect">
            <a:avLst/>
          </a:prstGeom>
          <a:noFill/>
        </p:spPr>
        <p:txBody>
          <a:bodyPr wrap="square" rtlCol="0">
            <a:spAutoFit/>
          </a:bodyPr>
          <a:lstStyle/>
          <a:p>
            <a:r>
              <a:rPr lang="en-GB" b="1" dirty="0"/>
              <a:t>Visualizations</a:t>
            </a:r>
          </a:p>
          <a:p>
            <a:r>
              <a:rPr lang="en-GB" dirty="0"/>
              <a:t>Loss curves, confusion matrices, feature importance plots</a:t>
            </a:r>
          </a:p>
          <a:p>
            <a:endParaRPr lang="en-GB" dirty="0"/>
          </a:p>
          <a:p>
            <a:r>
              <a:rPr lang="en-GB" b="1" dirty="0"/>
              <a:t>Model Files</a:t>
            </a:r>
          </a:p>
          <a:p>
            <a:r>
              <a:rPr lang="en-GB" dirty="0"/>
              <a:t>Serialized models, weights, configurations</a:t>
            </a:r>
          </a:p>
          <a:p>
            <a:endParaRPr lang="en-NG" dirty="0"/>
          </a:p>
        </p:txBody>
      </p:sp>
      <p:sp>
        <p:nvSpPr>
          <p:cNvPr id="11" name="TextBox 10">
            <a:extLst>
              <a:ext uri="{FF2B5EF4-FFF2-40B4-BE49-F238E27FC236}">
                <a16:creationId xmlns:a16="http://schemas.microsoft.com/office/drawing/2014/main" id="{54FCA79C-551E-8E33-7A37-B03F3B2C84D6}"/>
              </a:ext>
            </a:extLst>
          </p:cNvPr>
          <p:cNvSpPr txBox="1"/>
          <p:nvPr/>
        </p:nvSpPr>
        <p:spPr>
          <a:xfrm>
            <a:off x="4716379" y="2053752"/>
            <a:ext cx="3388092" cy="1754326"/>
          </a:xfrm>
          <a:prstGeom prst="rect">
            <a:avLst/>
          </a:prstGeom>
          <a:noFill/>
        </p:spPr>
        <p:txBody>
          <a:bodyPr wrap="square" rtlCol="0">
            <a:spAutoFit/>
          </a:bodyPr>
          <a:lstStyle/>
          <a:p>
            <a:pPr marL="285750" indent="-285750">
              <a:buFont typeface="Arial" panose="020B0604020202020204" pitchFamily="34" charset="0"/>
              <a:buChar char="•"/>
            </a:pPr>
            <a:r>
              <a:rPr lang="en-GB" dirty="0"/>
              <a:t>Training &amp; validation loss</a:t>
            </a:r>
          </a:p>
          <a:p>
            <a:pPr marL="285750" indent="-285750">
              <a:buFont typeface="Arial" panose="020B0604020202020204" pitchFamily="34" charset="0"/>
              <a:buChar char="•"/>
            </a:pPr>
            <a:r>
              <a:rPr lang="en-GB" dirty="0"/>
              <a:t>Accuracy scores</a:t>
            </a:r>
          </a:p>
          <a:p>
            <a:pPr marL="285750" indent="-285750">
              <a:buFont typeface="Arial" panose="020B0604020202020204" pitchFamily="34" charset="0"/>
              <a:buChar char="•"/>
            </a:pPr>
            <a:r>
              <a:rPr lang="en-GB" dirty="0"/>
              <a:t>F1, Precision, Recall</a:t>
            </a:r>
          </a:p>
          <a:p>
            <a:pPr marL="285750" indent="-285750">
              <a:buFont typeface="Arial" panose="020B0604020202020204" pitchFamily="34" charset="0"/>
              <a:buChar char="•"/>
            </a:pPr>
            <a:r>
              <a:rPr lang="en-GB" dirty="0"/>
              <a:t>ROC-AUC curves</a:t>
            </a:r>
          </a:p>
          <a:p>
            <a:pPr marL="285750" indent="-285750">
              <a:buFont typeface="Arial" panose="020B0604020202020204" pitchFamily="34" charset="0"/>
              <a:buChar char="•"/>
            </a:pPr>
            <a:r>
              <a:rPr lang="en-GB" dirty="0"/>
              <a:t>Custom business metrics</a:t>
            </a:r>
          </a:p>
          <a:p>
            <a:endParaRPr lang="en-NG" dirty="0"/>
          </a:p>
        </p:txBody>
      </p:sp>
      <p:sp>
        <p:nvSpPr>
          <p:cNvPr id="13" name="TextBox 12">
            <a:extLst>
              <a:ext uri="{FF2B5EF4-FFF2-40B4-BE49-F238E27FC236}">
                <a16:creationId xmlns:a16="http://schemas.microsoft.com/office/drawing/2014/main" id="{9E95B5C9-F55B-195B-37B8-EE01DCE2DE36}"/>
              </a:ext>
            </a:extLst>
          </p:cNvPr>
          <p:cNvSpPr txBox="1"/>
          <p:nvPr/>
        </p:nvSpPr>
        <p:spPr>
          <a:xfrm>
            <a:off x="1222810" y="1280160"/>
            <a:ext cx="1869707" cy="369332"/>
          </a:xfrm>
          <a:prstGeom prst="rect">
            <a:avLst/>
          </a:prstGeom>
          <a:noFill/>
        </p:spPr>
        <p:txBody>
          <a:bodyPr wrap="square">
            <a:spAutoFit/>
          </a:bodyPr>
          <a:lstStyle/>
          <a:p>
            <a:r>
              <a:rPr lang="en-GB" b="1" dirty="0"/>
              <a:t>Parameters</a:t>
            </a:r>
          </a:p>
        </p:txBody>
      </p:sp>
    </p:spTree>
    <p:extLst>
      <p:ext uri="{BB962C8B-B14F-4D97-AF65-F5344CB8AC3E}">
        <p14:creationId xmlns:p14="http://schemas.microsoft.com/office/powerpoint/2010/main" val="528799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7F0B7-269B-490E-BFEC-DBC3B9161A0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EF0C991-699F-949C-3495-8AFF19AF7DE1}"/>
              </a:ext>
            </a:extLst>
          </p:cNvPr>
          <p:cNvSpPr txBox="1">
            <a:spLocks/>
          </p:cNvSpPr>
          <p:nvPr/>
        </p:nvSpPr>
        <p:spPr>
          <a:xfrm>
            <a:off x="635000" y="238625"/>
            <a:ext cx="9408445" cy="67577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solidFill>
                  <a:schemeClr val="bg1"/>
                </a:solidFill>
                <a:highlight>
                  <a:srgbClr val="45C2CA"/>
                </a:highlight>
                <a:latin typeface="Arial" panose="020B0604020202020204" pitchFamily="34" charset="0"/>
                <a:cs typeface="Arial" panose="020B0604020202020204" pitchFamily="34" charset="0"/>
              </a:rPr>
              <a:t>What to Log in </a:t>
            </a:r>
            <a:r>
              <a:rPr lang="en-US" sz="3200" dirty="0" err="1">
                <a:solidFill>
                  <a:schemeClr val="bg1"/>
                </a:solidFill>
                <a:highlight>
                  <a:srgbClr val="45C2CA"/>
                </a:highlight>
                <a:latin typeface="Arial" panose="020B0604020202020204" pitchFamily="34" charset="0"/>
                <a:cs typeface="Arial" panose="020B0604020202020204" pitchFamily="34" charset="0"/>
              </a:rPr>
              <a:t>MLflow</a:t>
            </a:r>
            <a:endParaRPr lang="en-GB" sz="3200" dirty="0">
              <a:solidFill>
                <a:schemeClr val="bg1"/>
              </a:solidFill>
              <a:highlight>
                <a:srgbClr val="45C2CA"/>
              </a:highligh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4F0A36F-F9F3-B2F7-C35A-A4195A57C189}"/>
              </a:ext>
            </a:extLst>
          </p:cNvPr>
          <p:cNvSpPr txBox="1"/>
          <p:nvPr/>
        </p:nvSpPr>
        <p:spPr>
          <a:xfrm>
            <a:off x="326599" y="2107462"/>
            <a:ext cx="3167372" cy="1754326"/>
          </a:xfrm>
          <a:prstGeom prst="rect">
            <a:avLst/>
          </a:prstGeom>
          <a:noFill/>
        </p:spPr>
        <p:txBody>
          <a:bodyPr wrap="square" rtlCol="0">
            <a:spAutoFit/>
          </a:bodyPr>
          <a:lstStyle/>
          <a:p>
            <a:pPr algn="ctr"/>
            <a:r>
              <a:rPr lang="en-GB" b="1" dirty="0"/>
              <a:t>Visualizations</a:t>
            </a:r>
          </a:p>
          <a:p>
            <a:pPr algn="ctr"/>
            <a:r>
              <a:rPr lang="en-GB" dirty="0"/>
              <a:t>Loss curves, confusion matrices, feature importance plots</a:t>
            </a:r>
          </a:p>
          <a:p>
            <a:pPr algn="ctr"/>
            <a:endParaRPr lang="en-GB" dirty="0"/>
          </a:p>
          <a:p>
            <a:pPr algn="ctr"/>
            <a:endParaRPr lang="en-NG" dirty="0"/>
          </a:p>
        </p:txBody>
      </p:sp>
      <p:sp>
        <p:nvSpPr>
          <p:cNvPr id="2" name="TextBox 1">
            <a:extLst>
              <a:ext uri="{FF2B5EF4-FFF2-40B4-BE49-F238E27FC236}">
                <a16:creationId xmlns:a16="http://schemas.microsoft.com/office/drawing/2014/main" id="{0AB80A2F-7558-945E-EF5F-6FC58857F039}"/>
              </a:ext>
            </a:extLst>
          </p:cNvPr>
          <p:cNvSpPr txBox="1"/>
          <p:nvPr/>
        </p:nvSpPr>
        <p:spPr>
          <a:xfrm>
            <a:off x="3895967" y="1999980"/>
            <a:ext cx="3167372" cy="1754326"/>
          </a:xfrm>
          <a:prstGeom prst="rect">
            <a:avLst/>
          </a:prstGeom>
          <a:noFill/>
        </p:spPr>
        <p:txBody>
          <a:bodyPr wrap="square" rtlCol="0">
            <a:spAutoFit/>
          </a:bodyPr>
          <a:lstStyle/>
          <a:p>
            <a:pPr algn="ctr"/>
            <a:r>
              <a:rPr lang="en-GB" b="1" dirty="0"/>
              <a:t>Visualizations</a:t>
            </a:r>
          </a:p>
          <a:p>
            <a:pPr algn="ctr"/>
            <a:r>
              <a:rPr lang="en-GB" dirty="0"/>
              <a:t>Loss curves, confusion matrices, feature importance plots</a:t>
            </a:r>
          </a:p>
          <a:p>
            <a:pPr algn="ctr"/>
            <a:endParaRPr lang="en-GB" dirty="0"/>
          </a:p>
          <a:p>
            <a:pPr algn="ctr"/>
            <a:endParaRPr lang="en-NG" dirty="0"/>
          </a:p>
        </p:txBody>
      </p:sp>
      <p:sp>
        <p:nvSpPr>
          <p:cNvPr id="3" name="TextBox 2">
            <a:extLst>
              <a:ext uri="{FF2B5EF4-FFF2-40B4-BE49-F238E27FC236}">
                <a16:creationId xmlns:a16="http://schemas.microsoft.com/office/drawing/2014/main" id="{5A83FF7D-765E-8566-A2B6-8E63503D035E}"/>
              </a:ext>
            </a:extLst>
          </p:cNvPr>
          <p:cNvSpPr txBox="1"/>
          <p:nvPr/>
        </p:nvSpPr>
        <p:spPr>
          <a:xfrm>
            <a:off x="7465336" y="1999980"/>
            <a:ext cx="3167372" cy="1477328"/>
          </a:xfrm>
          <a:prstGeom prst="rect">
            <a:avLst/>
          </a:prstGeom>
          <a:noFill/>
        </p:spPr>
        <p:txBody>
          <a:bodyPr wrap="square" rtlCol="0">
            <a:spAutoFit/>
          </a:bodyPr>
          <a:lstStyle/>
          <a:p>
            <a:pPr algn="ctr"/>
            <a:r>
              <a:rPr lang="en-GB" b="1" dirty="0"/>
              <a:t>Logs &amp; Reports</a:t>
            </a:r>
          </a:p>
          <a:p>
            <a:pPr algn="ctr"/>
            <a:r>
              <a:rPr lang="en-GB" dirty="0"/>
              <a:t>Evaluation logs, training summaries, intermediate results.</a:t>
            </a:r>
          </a:p>
          <a:p>
            <a:pPr algn="ctr"/>
            <a:endParaRPr lang="en-NG" dirty="0"/>
          </a:p>
        </p:txBody>
      </p:sp>
    </p:spTree>
    <p:extLst>
      <p:ext uri="{BB962C8B-B14F-4D97-AF65-F5344CB8AC3E}">
        <p14:creationId xmlns:p14="http://schemas.microsoft.com/office/powerpoint/2010/main" val="2251582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44D49-B5E7-3D4B-742A-29CD850BEF5D}"/>
              </a:ext>
            </a:extLst>
          </p:cNvPr>
          <p:cNvPicPr>
            <a:picLocks noChangeAspect="1"/>
          </p:cNvPicPr>
          <p:nvPr/>
        </p:nvPicPr>
        <p:blipFill>
          <a:blip r:embed="rId2"/>
          <a:stretch>
            <a:fillRect/>
          </a:stretch>
        </p:blipFill>
        <p:spPr>
          <a:xfrm>
            <a:off x="1080454" y="1087654"/>
            <a:ext cx="9814695" cy="3529020"/>
          </a:xfrm>
          <a:prstGeom prst="rect">
            <a:avLst/>
          </a:prstGeom>
        </p:spPr>
      </p:pic>
      <p:sp>
        <p:nvSpPr>
          <p:cNvPr id="7" name="TextBox 6">
            <a:extLst>
              <a:ext uri="{FF2B5EF4-FFF2-40B4-BE49-F238E27FC236}">
                <a16:creationId xmlns:a16="http://schemas.microsoft.com/office/drawing/2014/main" id="{2D103FE4-96C6-0C07-E670-8DE0D9A70381}"/>
              </a:ext>
            </a:extLst>
          </p:cNvPr>
          <p:cNvSpPr txBox="1"/>
          <p:nvPr/>
        </p:nvSpPr>
        <p:spPr>
          <a:xfrm>
            <a:off x="3031958" y="367546"/>
            <a:ext cx="5101390" cy="584775"/>
          </a:xfrm>
          <a:prstGeom prst="rect">
            <a:avLst/>
          </a:prstGeom>
          <a:noFill/>
        </p:spPr>
        <p:txBody>
          <a:bodyPr wrap="square" rtlCol="0">
            <a:spAutoFit/>
          </a:bodyPr>
          <a:lstStyle/>
          <a:p>
            <a:pPr algn="ctr"/>
            <a:r>
              <a:rPr lang="en-GB" sz="3200" b="1" dirty="0"/>
              <a:t>ML Flow UI Capabilities</a:t>
            </a:r>
            <a:endParaRPr lang="en-NG" sz="3200" b="1" dirty="0"/>
          </a:p>
        </p:txBody>
      </p:sp>
    </p:spTree>
    <p:extLst>
      <p:ext uri="{BB962C8B-B14F-4D97-AF65-F5344CB8AC3E}">
        <p14:creationId xmlns:p14="http://schemas.microsoft.com/office/powerpoint/2010/main" val="1673346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6582E1-C6B8-D04E-BCBC-AFA2819C10B1}"/>
              </a:ext>
            </a:extLst>
          </p:cNvPr>
          <p:cNvSpPr txBox="1">
            <a:spLocks/>
          </p:cNvSpPr>
          <p:nvPr/>
        </p:nvSpPr>
        <p:spPr>
          <a:xfrm>
            <a:off x="634999" y="580630"/>
            <a:ext cx="6535821" cy="50882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lvl="0"/>
            <a:r>
              <a:rPr lang="en-US" sz="3200" dirty="0">
                <a:highlight>
                  <a:srgbClr val="FBA31C"/>
                </a:highlight>
              </a:rPr>
              <a:t>Git for Data &amp; ML Pipelines</a:t>
            </a:r>
            <a:endParaRPr lang="en-NG" sz="3200" dirty="0">
              <a:highlight>
                <a:srgbClr val="FBA31C"/>
              </a:highlight>
            </a:endParaRPr>
          </a:p>
        </p:txBody>
      </p:sp>
      <p:sp>
        <p:nvSpPr>
          <p:cNvPr id="8" name="Title 1">
            <a:extLst>
              <a:ext uri="{FF2B5EF4-FFF2-40B4-BE49-F238E27FC236}">
                <a16:creationId xmlns:a16="http://schemas.microsoft.com/office/drawing/2014/main" id="{4C837348-4FAB-00A8-0747-30A33AB2784E}"/>
              </a:ext>
            </a:extLst>
          </p:cNvPr>
          <p:cNvSpPr txBox="1">
            <a:spLocks/>
          </p:cNvSpPr>
          <p:nvPr/>
        </p:nvSpPr>
        <p:spPr>
          <a:xfrm>
            <a:off x="634999" y="4432"/>
            <a:ext cx="4610768" cy="5936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solidFill>
                  <a:schemeClr val="bg1"/>
                </a:solidFill>
                <a:highlight>
                  <a:srgbClr val="45C2CA"/>
                </a:highlight>
                <a:latin typeface="Arial" panose="020B0604020202020204" pitchFamily="34" charset="0"/>
                <a:cs typeface="Arial" panose="020B0604020202020204" pitchFamily="34" charset="0"/>
              </a:rPr>
              <a:t>Data Version Control</a:t>
            </a:r>
            <a:endParaRPr lang="en-GB" sz="3200" dirty="0">
              <a:solidFill>
                <a:schemeClr val="bg1"/>
              </a:solidFill>
              <a:highlight>
                <a:srgbClr val="45C2CA"/>
              </a:highlight>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24A94206-7916-FEDB-8FC5-148458B1D11C}"/>
              </a:ext>
            </a:extLst>
          </p:cNvPr>
          <p:cNvPicPr>
            <a:picLocks noChangeAspect="1"/>
          </p:cNvPicPr>
          <p:nvPr/>
        </p:nvPicPr>
        <p:blipFill>
          <a:blip r:embed="rId2"/>
          <a:stretch>
            <a:fillRect/>
          </a:stretch>
        </p:blipFill>
        <p:spPr>
          <a:xfrm>
            <a:off x="724657" y="1174282"/>
            <a:ext cx="9713054" cy="1966031"/>
          </a:xfrm>
          <a:prstGeom prst="rect">
            <a:avLst/>
          </a:prstGeom>
        </p:spPr>
      </p:pic>
      <p:pic>
        <p:nvPicPr>
          <p:cNvPr id="12" name="Picture 11">
            <a:extLst>
              <a:ext uri="{FF2B5EF4-FFF2-40B4-BE49-F238E27FC236}">
                <a16:creationId xmlns:a16="http://schemas.microsoft.com/office/drawing/2014/main" id="{C658A994-DA01-1FE4-6A3F-873964CA70C4}"/>
              </a:ext>
            </a:extLst>
          </p:cNvPr>
          <p:cNvPicPr>
            <a:picLocks noChangeAspect="1"/>
          </p:cNvPicPr>
          <p:nvPr/>
        </p:nvPicPr>
        <p:blipFill>
          <a:blip r:embed="rId3"/>
          <a:stretch>
            <a:fillRect/>
          </a:stretch>
        </p:blipFill>
        <p:spPr>
          <a:xfrm>
            <a:off x="4078176" y="3225141"/>
            <a:ext cx="3179271" cy="1832539"/>
          </a:xfrm>
          <a:prstGeom prst="rect">
            <a:avLst/>
          </a:prstGeom>
        </p:spPr>
      </p:pic>
    </p:spTree>
    <p:extLst>
      <p:ext uri="{BB962C8B-B14F-4D97-AF65-F5344CB8AC3E}">
        <p14:creationId xmlns:p14="http://schemas.microsoft.com/office/powerpoint/2010/main" val="2948189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4528618-7FF9-0266-FC66-00D28884E189}"/>
              </a:ext>
            </a:extLst>
          </p:cNvPr>
          <p:cNvSpPr txBox="1">
            <a:spLocks/>
          </p:cNvSpPr>
          <p:nvPr/>
        </p:nvSpPr>
        <p:spPr>
          <a:xfrm>
            <a:off x="634998" y="4432"/>
            <a:ext cx="6863081" cy="5936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solidFill>
                  <a:schemeClr val="bg1"/>
                </a:solidFill>
                <a:highlight>
                  <a:srgbClr val="45C2CA"/>
                </a:highlight>
                <a:latin typeface="Arial" panose="020B0604020202020204" pitchFamily="34" charset="0"/>
                <a:cs typeface="Arial" panose="020B0604020202020204" pitchFamily="34" charset="0"/>
              </a:rPr>
              <a:t>How DVC Tracks Data Versions</a:t>
            </a:r>
            <a:endParaRPr lang="en-GB" sz="3200" dirty="0">
              <a:solidFill>
                <a:schemeClr val="bg1"/>
              </a:solidFill>
              <a:highlight>
                <a:srgbClr val="45C2CA"/>
              </a:highlight>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4C05D8F2-342D-488A-6672-F56F5070FB40}"/>
              </a:ext>
            </a:extLst>
          </p:cNvPr>
          <p:cNvPicPr>
            <a:picLocks noChangeAspect="1"/>
          </p:cNvPicPr>
          <p:nvPr/>
        </p:nvPicPr>
        <p:blipFill>
          <a:blip r:embed="rId2"/>
          <a:stretch>
            <a:fillRect/>
          </a:stretch>
        </p:blipFill>
        <p:spPr>
          <a:xfrm>
            <a:off x="708359" y="598083"/>
            <a:ext cx="9186412" cy="4522427"/>
          </a:xfrm>
          <a:prstGeom prst="rect">
            <a:avLst/>
          </a:prstGeom>
        </p:spPr>
      </p:pic>
    </p:spTree>
    <p:extLst>
      <p:ext uri="{BB962C8B-B14F-4D97-AF65-F5344CB8AC3E}">
        <p14:creationId xmlns:p14="http://schemas.microsoft.com/office/powerpoint/2010/main" val="2972123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423F62-9D8D-436D-FF54-54A08F954FB5}"/>
              </a:ext>
            </a:extLst>
          </p:cNvPr>
          <p:cNvPicPr>
            <a:picLocks noChangeAspect="1"/>
          </p:cNvPicPr>
          <p:nvPr/>
        </p:nvPicPr>
        <p:blipFill>
          <a:blip r:embed="rId2"/>
          <a:stretch>
            <a:fillRect/>
          </a:stretch>
        </p:blipFill>
        <p:spPr>
          <a:xfrm>
            <a:off x="843510" y="1007593"/>
            <a:ext cx="9522898" cy="3908596"/>
          </a:xfrm>
          <a:prstGeom prst="rect">
            <a:avLst/>
          </a:prstGeom>
        </p:spPr>
      </p:pic>
      <p:sp>
        <p:nvSpPr>
          <p:cNvPr id="6" name="TextBox 5">
            <a:extLst>
              <a:ext uri="{FF2B5EF4-FFF2-40B4-BE49-F238E27FC236}">
                <a16:creationId xmlns:a16="http://schemas.microsoft.com/office/drawing/2014/main" id="{9ADFEFF9-1576-5271-D807-B0E213B9C91B}"/>
              </a:ext>
            </a:extLst>
          </p:cNvPr>
          <p:cNvSpPr txBox="1"/>
          <p:nvPr/>
        </p:nvSpPr>
        <p:spPr>
          <a:xfrm>
            <a:off x="1809548" y="231006"/>
            <a:ext cx="7854215" cy="584775"/>
          </a:xfrm>
          <a:prstGeom prst="rect">
            <a:avLst/>
          </a:prstGeom>
          <a:noFill/>
        </p:spPr>
        <p:txBody>
          <a:bodyPr wrap="square" rtlCol="0">
            <a:spAutoFit/>
          </a:bodyPr>
          <a:lstStyle/>
          <a:p>
            <a:r>
              <a:rPr lang="en-GB" sz="3200" b="1" dirty="0" err="1">
                <a:solidFill>
                  <a:schemeClr val="accent3"/>
                </a:solidFill>
              </a:rPr>
              <a:t>MLflow</a:t>
            </a:r>
            <a:r>
              <a:rPr lang="en-GB" sz="3200" b="1" dirty="0">
                <a:solidFill>
                  <a:schemeClr val="accent3"/>
                </a:solidFill>
              </a:rPr>
              <a:t> vs DVC: When to Use What?</a:t>
            </a:r>
          </a:p>
        </p:txBody>
      </p:sp>
    </p:spTree>
    <p:extLst>
      <p:ext uri="{BB962C8B-B14F-4D97-AF65-F5344CB8AC3E}">
        <p14:creationId xmlns:p14="http://schemas.microsoft.com/office/powerpoint/2010/main" val="35620007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F390A17-C3A2-7EF0-9C06-730F30A043F0}"/>
              </a:ext>
            </a:extLst>
          </p:cNvPr>
          <p:cNvSpPr txBox="1">
            <a:spLocks/>
          </p:cNvSpPr>
          <p:nvPr/>
        </p:nvSpPr>
        <p:spPr>
          <a:xfrm>
            <a:off x="634998" y="4432"/>
            <a:ext cx="6863081" cy="5936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US" sz="3200" dirty="0">
                <a:solidFill>
                  <a:schemeClr val="bg1"/>
                </a:solidFill>
                <a:highlight>
                  <a:srgbClr val="45C2CA"/>
                </a:highlight>
                <a:latin typeface="Arial" panose="020B0604020202020204" pitchFamily="34" charset="0"/>
                <a:cs typeface="Arial" panose="020B0604020202020204" pitchFamily="34" charset="0"/>
              </a:rPr>
              <a:t>How DVC Tracks Data Versions</a:t>
            </a:r>
            <a:endParaRPr lang="en-GB" sz="3200" dirty="0">
              <a:solidFill>
                <a:schemeClr val="bg1"/>
              </a:solidFill>
              <a:highlight>
                <a:srgbClr val="45C2CA"/>
              </a:highligh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B2D0AF0-EDED-495B-3E54-B5D0AD4AD57F}"/>
              </a:ext>
            </a:extLst>
          </p:cNvPr>
          <p:cNvSpPr txBox="1"/>
          <p:nvPr/>
        </p:nvSpPr>
        <p:spPr>
          <a:xfrm>
            <a:off x="779646" y="640739"/>
            <a:ext cx="8771365" cy="584775"/>
          </a:xfrm>
          <a:prstGeom prst="rect">
            <a:avLst/>
          </a:prstGeom>
          <a:noFill/>
        </p:spPr>
        <p:txBody>
          <a:bodyPr wrap="square" rtlCol="0">
            <a:spAutoFit/>
          </a:bodyPr>
          <a:lstStyle/>
          <a:p>
            <a:r>
              <a:rPr lang="en-NG" sz="3200" b="1" i="1" dirty="0"/>
              <a:t>Regression Project Development Sprint </a:t>
            </a:r>
            <a:endParaRPr lang="en-NG" sz="3200" dirty="0"/>
          </a:p>
        </p:txBody>
      </p:sp>
      <p:sp>
        <p:nvSpPr>
          <p:cNvPr id="7" name="TextBox 6">
            <a:extLst>
              <a:ext uri="{FF2B5EF4-FFF2-40B4-BE49-F238E27FC236}">
                <a16:creationId xmlns:a16="http://schemas.microsoft.com/office/drawing/2014/main" id="{BF452736-3974-082D-EE3B-AAFAC22C616A}"/>
              </a:ext>
            </a:extLst>
          </p:cNvPr>
          <p:cNvSpPr txBox="1"/>
          <p:nvPr/>
        </p:nvSpPr>
        <p:spPr>
          <a:xfrm>
            <a:off x="664142" y="2075013"/>
            <a:ext cx="6949440" cy="1477328"/>
          </a:xfrm>
          <a:prstGeom prst="rect">
            <a:avLst/>
          </a:prstGeom>
          <a:noFill/>
        </p:spPr>
        <p:txBody>
          <a:bodyPr wrap="square" rtlCol="0">
            <a:spAutoFit/>
          </a:bodyPr>
          <a:lstStyle/>
          <a:p>
            <a:pPr marL="742950" lvl="1" indent="-285750">
              <a:buFont typeface="Arial" panose="020B0604020202020204" pitchFamily="34" charset="0"/>
              <a:buChar char="•"/>
            </a:pPr>
            <a:r>
              <a:rPr lang="en-NG" dirty="0"/>
              <a:t>Feature engineering experiments</a:t>
            </a:r>
          </a:p>
          <a:p>
            <a:pPr marL="742950" lvl="1" indent="-285750">
              <a:buFont typeface="Arial" panose="020B0604020202020204" pitchFamily="34" charset="0"/>
              <a:buChar char="•"/>
            </a:pPr>
            <a:r>
              <a:rPr lang="en-NG" dirty="0"/>
              <a:t>Model hyperparameter optimization</a:t>
            </a:r>
          </a:p>
          <a:p>
            <a:pPr marL="742950" lvl="1" indent="-285750">
              <a:buFont typeface="Arial" panose="020B0604020202020204" pitchFamily="34" charset="0"/>
              <a:buChar char="•"/>
            </a:pPr>
            <a:r>
              <a:rPr lang="en-NG" dirty="0"/>
              <a:t>Experiment tracking implementation</a:t>
            </a:r>
          </a:p>
          <a:p>
            <a:pPr marL="742950" lvl="1" indent="-285750">
              <a:buFont typeface="Arial" panose="020B0604020202020204" pitchFamily="34" charset="0"/>
              <a:buChar char="•"/>
            </a:pPr>
            <a:r>
              <a:rPr lang="en-NG" dirty="0"/>
              <a:t>Performance improvement strategies</a:t>
            </a:r>
          </a:p>
          <a:p>
            <a:endParaRPr lang="en-NG" dirty="0"/>
          </a:p>
        </p:txBody>
      </p:sp>
      <p:cxnSp>
        <p:nvCxnSpPr>
          <p:cNvPr id="9" name="Straight Connector 8">
            <a:extLst>
              <a:ext uri="{FF2B5EF4-FFF2-40B4-BE49-F238E27FC236}">
                <a16:creationId xmlns:a16="http://schemas.microsoft.com/office/drawing/2014/main" id="{16DAB299-7746-A5E2-1A4C-C66DF2B63F39}"/>
              </a:ext>
            </a:extLst>
          </p:cNvPr>
          <p:cNvCxnSpPr/>
          <p:nvPr/>
        </p:nvCxnSpPr>
        <p:spPr>
          <a:xfrm>
            <a:off x="779646" y="1268169"/>
            <a:ext cx="671843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0561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16E3-8A2A-23EB-00E6-07CC8C638F79}"/>
              </a:ext>
            </a:extLst>
          </p:cNvPr>
          <p:cNvSpPr>
            <a:spLocks noGrp="1"/>
          </p:cNvSpPr>
          <p:nvPr>
            <p:ph type="title"/>
          </p:nvPr>
        </p:nvSpPr>
        <p:spPr>
          <a:xfrm>
            <a:off x="565150" y="327620"/>
            <a:ext cx="3246454" cy="769152"/>
          </a:xfrm>
        </p:spPr>
        <p:txBody>
          <a:bodyPr/>
          <a:lstStyle/>
          <a:p>
            <a:r>
              <a:rPr lang="en-GB" dirty="0"/>
              <a:t>Assignment</a:t>
            </a:r>
            <a:endParaRPr lang="en-NG" dirty="0"/>
          </a:p>
        </p:txBody>
      </p:sp>
      <p:sp>
        <p:nvSpPr>
          <p:cNvPr id="4" name="TextBox 3">
            <a:extLst>
              <a:ext uri="{FF2B5EF4-FFF2-40B4-BE49-F238E27FC236}">
                <a16:creationId xmlns:a16="http://schemas.microsoft.com/office/drawing/2014/main" id="{A8581655-DB75-24D9-1039-A600CF0E8647}"/>
              </a:ext>
            </a:extLst>
          </p:cNvPr>
          <p:cNvSpPr txBox="1"/>
          <p:nvPr/>
        </p:nvSpPr>
        <p:spPr>
          <a:xfrm>
            <a:off x="565150" y="1299411"/>
            <a:ext cx="7632834" cy="277928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Continue refining regression model</a:t>
            </a:r>
          </a:p>
          <a:p>
            <a:pPr marL="285750" indent="-285750">
              <a:lnSpc>
                <a:spcPct val="200000"/>
              </a:lnSpc>
              <a:buFont typeface="Arial" panose="020B0604020202020204" pitchFamily="34" charset="0"/>
              <a:buChar char="•"/>
            </a:pPr>
            <a:r>
              <a:rPr lang="en-US" dirty="0"/>
              <a:t>Log all experiments in </a:t>
            </a:r>
            <a:r>
              <a:rPr lang="en-US" dirty="0" err="1"/>
              <a:t>Mlflow</a:t>
            </a:r>
            <a:endParaRPr lang="en-US" dirty="0"/>
          </a:p>
          <a:p>
            <a:pPr marL="285750" indent="-285750">
              <a:lnSpc>
                <a:spcPct val="200000"/>
              </a:lnSpc>
              <a:buFont typeface="Arial" panose="020B0604020202020204" pitchFamily="34" charset="0"/>
              <a:buChar char="•"/>
            </a:pPr>
            <a:r>
              <a:rPr lang="en-US" dirty="0"/>
              <a:t>Aim for best possible performance</a:t>
            </a:r>
          </a:p>
          <a:p>
            <a:pPr marL="285750" indent="-285750">
              <a:lnSpc>
                <a:spcPct val="200000"/>
              </a:lnSpc>
              <a:buFont typeface="Arial" panose="020B0604020202020204" pitchFamily="34" charset="0"/>
              <a:buChar char="•"/>
            </a:pPr>
            <a:r>
              <a:rPr lang="en-US" dirty="0"/>
              <a:t>Prepare project summary (problem, approach, results, challenges)</a:t>
            </a:r>
            <a:endParaRPr lang="en-NG" dirty="0"/>
          </a:p>
          <a:p>
            <a:pPr>
              <a:lnSpc>
                <a:spcPct val="200000"/>
              </a:lnSpc>
            </a:pPr>
            <a:endParaRPr lang="en-NG" dirty="0"/>
          </a:p>
        </p:txBody>
      </p:sp>
    </p:spTree>
    <p:extLst>
      <p:ext uri="{BB962C8B-B14F-4D97-AF65-F5344CB8AC3E}">
        <p14:creationId xmlns:p14="http://schemas.microsoft.com/office/powerpoint/2010/main" val="2806991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5C94F5AC-714F-913F-EB49-551377187CCE}"/>
              </a:ext>
            </a:extLst>
          </p:cNvPr>
          <p:cNvSpPr/>
          <p:nvPr/>
        </p:nvSpPr>
        <p:spPr>
          <a:xfrm>
            <a:off x="2207623" y="2625635"/>
            <a:ext cx="8229600" cy="1097280"/>
          </a:xfrm>
          <a:prstGeom prst="rect">
            <a:avLst/>
          </a:prstGeom>
          <a:noFill/>
          <a:ln/>
        </p:spPr>
        <p:txBody>
          <a:bodyPr wrap="square" rtlCol="0" anchor="ctr"/>
          <a:lstStyle/>
          <a:p>
            <a:pPr marL="0" indent="0" algn="ctr">
              <a:buNone/>
            </a:pPr>
            <a:r>
              <a:rPr lang="en-US" sz="5600" b="1" dirty="0"/>
              <a:t>Thank You!</a:t>
            </a:r>
            <a:endParaRPr lang="en-US" sz="5600" dirty="0"/>
          </a:p>
        </p:txBody>
      </p:sp>
    </p:spTree>
    <p:extLst>
      <p:ext uri="{BB962C8B-B14F-4D97-AF65-F5344CB8AC3E}">
        <p14:creationId xmlns:p14="http://schemas.microsoft.com/office/powerpoint/2010/main" val="105471598"/>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17888</TotalTime>
  <Words>1935</Words>
  <Application>Microsoft Office PowerPoint</Application>
  <PresentationFormat>Widescreen</PresentationFormat>
  <Paragraphs>145</Paragraphs>
  <Slides>26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Neue Haas Grotesk Text Pro</vt:lpstr>
      <vt:lpstr>Segoe UI</vt:lpstr>
      <vt:lpstr>PunchcardVTI</vt:lpstr>
      <vt:lpstr>PowerPoint Presentation</vt:lpstr>
      <vt:lpstr>PowerPoint Presentation</vt:lpstr>
      <vt:lpstr>Part 1: Introduction to MLOps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Assignment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Liberty</dc:creator>
  <cp:lastModifiedBy>Uthman Abdulrahman</cp:lastModifiedBy>
  <cp:revision>4</cp:revision>
  <dcterms:created xsi:type="dcterms:W3CDTF">2025-11-05T12:47:24Z</dcterms:created>
  <dcterms:modified xsi:type="dcterms:W3CDTF">2026-02-04T10:04:06Z</dcterms:modified>
</cp:coreProperties>
</file>