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7" r:id="rId2"/>
    <p:sldId id="259" r:id="rId3"/>
    <p:sldId id="279" r:id="rId4"/>
    <p:sldId id="280" r:id="rId5"/>
    <p:sldId id="260" r:id="rId6"/>
    <p:sldId id="281" r:id="rId7"/>
    <p:sldId id="261" r:id="rId8"/>
    <p:sldId id="262" r:id="rId9"/>
    <p:sldId id="282" r:id="rId10"/>
    <p:sldId id="263" r:id="rId11"/>
    <p:sldId id="264" r:id="rId12"/>
    <p:sldId id="265" r:id="rId13"/>
    <p:sldId id="266" r:id="rId14"/>
    <p:sldId id="267" r:id="rId15"/>
    <p:sldId id="268" r:id="rId16"/>
    <p:sldId id="273" r:id="rId17"/>
    <p:sldId id="271" r:id="rId18"/>
    <p:sldId id="269"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1000A2-9556-BCD1-F8AA-31D9A4A84CE9}" v="7" dt="2026-02-02T00:30:14.438"/>
    <p1510:client id="{5AF634B1-8AA5-5917-112B-B7B226C02628}" v="1409" dt="2026-02-01T23:39:07.7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wale Abiodun Ogundeji (Dr.)" userId="S::wale@ahfid.org::bf7f3b58-5492-4b16-a9d7-34d40e1eb056" providerId="AD" clId="Web-{6A001E5D-2E17-0749-652C-1A18892185FF}"/>
    <pc:docChg chg="addSld modSld sldOrd">
      <pc:chgData name="Olawale Abiodun Ogundeji (Dr.)" userId="S::wale@ahfid.org::bf7f3b58-5492-4b16-a9d7-34d40e1eb056" providerId="AD" clId="Web-{6A001E5D-2E17-0749-652C-1A18892185FF}" dt="2026-01-29T21:27:36.234" v="1128" actId="14100"/>
      <pc:docMkLst>
        <pc:docMk/>
      </pc:docMkLst>
      <pc:sldChg chg="modSp">
        <pc:chgData name="Olawale Abiodun Ogundeji (Dr.)" userId="S::wale@ahfid.org::bf7f3b58-5492-4b16-a9d7-34d40e1eb056" providerId="AD" clId="Web-{6A001E5D-2E17-0749-652C-1A18892185FF}" dt="2026-01-28T13:04:02.086" v="0" actId="20577"/>
        <pc:sldMkLst>
          <pc:docMk/>
          <pc:sldMk cId="0" sldId="257"/>
        </pc:sldMkLst>
        <pc:spChg chg="mod">
          <ac:chgData name="Olawale Abiodun Ogundeji (Dr.)" userId="S::wale@ahfid.org::bf7f3b58-5492-4b16-a9d7-34d40e1eb056" providerId="AD" clId="Web-{6A001E5D-2E17-0749-652C-1A18892185FF}" dt="2026-01-28T13:04:02.086" v="0" actId="20577"/>
          <ac:spMkLst>
            <pc:docMk/>
            <pc:sldMk cId="0" sldId="257"/>
            <ac:spMk id="3" creationId="{9FC1A636-E70D-E210-F2FB-993CA5152805}"/>
          </ac:spMkLst>
        </pc:spChg>
      </pc:sldChg>
      <pc:sldChg chg="delSp modSp">
        <pc:chgData name="Olawale Abiodun Ogundeji (Dr.)" userId="S::wale@ahfid.org::bf7f3b58-5492-4b16-a9d7-34d40e1eb056" providerId="AD" clId="Web-{6A001E5D-2E17-0749-652C-1A18892185FF}" dt="2026-01-28T14:52:46.791" v="344" actId="20577"/>
        <pc:sldMkLst>
          <pc:docMk/>
          <pc:sldMk cId="0" sldId="260"/>
        </pc:sldMkLst>
        <pc:spChg chg="mod">
          <ac:chgData name="Olawale Abiodun Ogundeji (Dr.)" userId="S::wale@ahfid.org::bf7f3b58-5492-4b16-a9d7-34d40e1eb056" providerId="AD" clId="Web-{6A001E5D-2E17-0749-652C-1A18892185FF}" dt="2026-01-28T14:52:46.791" v="344" actId="20577"/>
          <ac:spMkLst>
            <pc:docMk/>
            <pc:sldMk cId="0" sldId="260"/>
            <ac:spMk id="3" creationId="{E027D56F-6A20-5C99-E8DE-9713F5C3E7A4}"/>
          </ac:spMkLst>
        </pc:spChg>
        <pc:graphicFrameChg chg="mod modGraphic">
          <ac:chgData name="Olawale Abiodun Ogundeji (Dr.)" userId="S::wale@ahfid.org::bf7f3b58-5492-4b16-a9d7-34d40e1eb056" providerId="AD" clId="Web-{6A001E5D-2E17-0749-652C-1A18892185FF}" dt="2026-01-28T14:48:36.710" v="324"/>
          <ac:graphicFrameMkLst>
            <pc:docMk/>
            <pc:sldMk cId="0" sldId="260"/>
            <ac:graphicFrameMk id="13" creationId="{798E8C13-E851-176B-0534-7502CF53C121}"/>
          </ac:graphicFrameMkLst>
        </pc:graphicFrameChg>
      </pc:sldChg>
      <pc:sldChg chg="modSp">
        <pc:chgData name="Olawale Abiodun Ogundeji (Dr.)" userId="S::wale@ahfid.org::bf7f3b58-5492-4b16-a9d7-34d40e1eb056" providerId="AD" clId="Web-{6A001E5D-2E17-0749-652C-1A18892185FF}" dt="2026-01-29T14:19:02.129" v="752"/>
        <pc:sldMkLst>
          <pc:docMk/>
          <pc:sldMk cId="0" sldId="261"/>
        </pc:sldMkLst>
        <pc:spChg chg="mod">
          <ac:chgData name="Olawale Abiodun Ogundeji (Dr.)" userId="S::wale@ahfid.org::bf7f3b58-5492-4b16-a9d7-34d40e1eb056" providerId="AD" clId="Web-{6A001E5D-2E17-0749-652C-1A18892185FF}" dt="2026-01-29T13:15:23.678" v="375" actId="20577"/>
          <ac:spMkLst>
            <pc:docMk/>
            <pc:sldMk cId="0" sldId="261"/>
            <ac:spMk id="3" creationId="{A3B888E1-21A9-92DA-0EF7-71449DF77B72}"/>
          </ac:spMkLst>
        </pc:spChg>
        <pc:graphicFrameChg chg="mod modGraphic">
          <ac:chgData name="Olawale Abiodun Ogundeji (Dr.)" userId="S::wale@ahfid.org::bf7f3b58-5492-4b16-a9d7-34d40e1eb056" providerId="AD" clId="Web-{6A001E5D-2E17-0749-652C-1A18892185FF}" dt="2026-01-29T14:19:02.129" v="752"/>
          <ac:graphicFrameMkLst>
            <pc:docMk/>
            <pc:sldMk cId="0" sldId="261"/>
            <ac:graphicFrameMk id="4" creationId="{FC7A0E3E-94BF-4A62-A6B5-FE9C4572AE76}"/>
          </ac:graphicFrameMkLst>
        </pc:graphicFrameChg>
      </pc:sldChg>
      <pc:sldChg chg="addSp modSp">
        <pc:chgData name="Olawale Abiodun Ogundeji (Dr.)" userId="S::wale@ahfid.org::bf7f3b58-5492-4b16-a9d7-34d40e1eb056" providerId="AD" clId="Web-{6A001E5D-2E17-0749-652C-1A18892185FF}" dt="2026-01-29T15:20:27.055" v="767" actId="14100"/>
        <pc:sldMkLst>
          <pc:docMk/>
          <pc:sldMk cId="0" sldId="262"/>
        </pc:sldMkLst>
        <pc:spChg chg="add mod">
          <ac:chgData name="Olawale Abiodun Ogundeji (Dr.)" userId="S::wale@ahfid.org::bf7f3b58-5492-4b16-a9d7-34d40e1eb056" providerId="AD" clId="Web-{6A001E5D-2E17-0749-652C-1A18892185FF}" dt="2026-01-29T15:18:33.835" v="755" actId="20577"/>
          <ac:spMkLst>
            <pc:docMk/>
            <pc:sldMk cId="0" sldId="262"/>
            <ac:spMk id="6" creationId="{6B089900-F8A2-1144-7F84-08DC01145F5F}"/>
          </ac:spMkLst>
        </pc:spChg>
        <pc:picChg chg="add mod">
          <ac:chgData name="Olawale Abiodun Ogundeji (Dr.)" userId="S::wale@ahfid.org::bf7f3b58-5492-4b16-a9d7-34d40e1eb056" providerId="AD" clId="Web-{6A001E5D-2E17-0749-652C-1A18892185FF}" dt="2026-01-29T15:19:51.867" v="759" actId="1076"/>
          <ac:picMkLst>
            <pc:docMk/>
            <pc:sldMk cId="0" sldId="262"/>
            <ac:picMk id="2" creationId="{52CC5093-6D47-1734-2CB5-3D13DE5CDBAF}"/>
          </ac:picMkLst>
        </pc:picChg>
        <pc:picChg chg="add mod">
          <ac:chgData name="Olawale Abiodun Ogundeji (Dr.)" userId="S::wale@ahfid.org::bf7f3b58-5492-4b16-a9d7-34d40e1eb056" providerId="AD" clId="Web-{6A001E5D-2E17-0749-652C-1A18892185FF}" dt="2026-01-29T15:19:56.273" v="760" actId="1076"/>
          <ac:picMkLst>
            <pc:docMk/>
            <pc:sldMk cId="0" sldId="262"/>
            <ac:picMk id="3" creationId="{56497E69-5D34-24B9-FB34-B37EE5199B84}"/>
          </ac:picMkLst>
        </pc:picChg>
        <pc:picChg chg="add mod">
          <ac:chgData name="Olawale Abiodun Ogundeji (Dr.)" userId="S::wale@ahfid.org::bf7f3b58-5492-4b16-a9d7-34d40e1eb056" providerId="AD" clId="Web-{6A001E5D-2E17-0749-652C-1A18892185FF}" dt="2026-01-29T15:20:05.477" v="763" actId="14100"/>
          <ac:picMkLst>
            <pc:docMk/>
            <pc:sldMk cId="0" sldId="262"/>
            <ac:picMk id="4" creationId="{0D4AA465-97FF-6786-E371-D0BAAA263B13}"/>
          </ac:picMkLst>
        </pc:picChg>
        <pc:picChg chg="add mod">
          <ac:chgData name="Olawale Abiodun Ogundeji (Dr.)" userId="S::wale@ahfid.org::bf7f3b58-5492-4b16-a9d7-34d40e1eb056" providerId="AD" clId="Web-{6A001E5D-2E17-0749-652C-1A18892185FF}" dt="2026-01-29T15:20:27.055" v="767" actId="14100"/>
          <ac:picMkLst>
            <pc:docMk/>
            <pc:sldMk cId="0" sldId="262"/>
            <ac:picMk id="5" creationId="{BCB77E2A-6C24-21FA-AC6A-C74C84522DB5}"/>
          </ac:picMkLst>
        </pc:picChg>
      </pc:sldChg>
      <pc:sldChg chg="addSp delSp modSp">
        <pc:chgData name="Olawale Abiodun Ogundeji (Dr.)" userId="S::wale@ahfid.org::bf7f3b58-5492-4b16-a9d7-34d40e1eb056" providerId="AD" clId="Web-{6A001E5D-2E17-0749-652C-1A18892185FF}" dt="2026-01-29T16:14:42.295" v="856" actId="20577"/>
        <pc:sldMkLst>
          <pc:docMk/>
          <pc:sldMk cId="0" sldId="263"/>
        </pc:sldMkLst>
        <pc:spChg chg="add mod">
          <ac:chgData name="Olawale Abiodun Ogundeji (Dr.)" userId="S::wale@ahfid.org::bf7f3b58-5492-4b16-a9d7-34d40e1eb056" providerId="AD" clId="Web-{6A001E5D-2E17-0749-652C-1A18892185FF}" dt="2026-01-29T16:14:42.295" v="856" actId="20577"/>
          <ac:spMkLst>
            <pc:docMk/>
            <pc:sldMk cId="0" sldId="263"/>
            <ac:spMk id="2" creationId="{D10ADB24-826E-42CE-9105-C9F42CE344BD}"/>
          </ac:spMkLst>
        </pc:spChg>
        <pc:spChg chg="add mod">
          <ac:chgData name="Olawale Abiodun Ogundeji (Dr.)" userId="S::wale@ahfid.org::bf7f3b58-5492-4b16-a9d7-34d40e1eb056" providerId="AD" clId="Web-{6A001E5D-2E17-0749-652C-1A18892185FF}" dt="2026-01-29T15:43:57.837" v="787" actId="20577"/>
          <ac:spMkLst>
            <pc:docMk/>
            <pc:sldMk cId="0" sldId="263"/>
            <ac:spMk id="3" creationId="{E145F5EC-3200-946B-B258-03902E555B01}"/>
          </ac:spMkLst>
        </pc:spChg>
      </pc:sldChg>
      <pc:sldChg chg="addSp delSp modSp">
        <pc:chgData name="Olawale Abiodun Ogundeji (Dr.)" userId="S::wale@ahfid.org::bf7f3b58-5492-4b16-a9d7-34d40e1eb056" providerId="AD" clId="Web-{6A001E5D-2E17-0749-652C-1A18892185FF}" dt="2026-01-29T21:21:57.095" v="1117" actId="14100"/>
        <pc:sldMkLst>
          <pc:docMk/>
          <pc:sldMk cId="0" sldId="264"/>
        </pc:sldMkLst>
        <pc:spChg chg="add mod">
          <ac:chgData name="Olawale Abiodun Ogundeji (Dr.)" userId="S::wale@ahfid.org::bf7f3b58-5492-4b16-a9d7-34d40e1eb056" providerId="AD" clId="Web-{6A001E5D-2E17-0749-652C-1A18892185FF}" dt="2026-01-29T21:21:57.095" v="1117" actId="14100"/>
          <ac:spMkLst>
            <pc:docMk/>
            <pc:sldMk cId="0" sldId="264"/>
            <ac:spMk id="3" creationId="{A69D530E-CDF4-0AB8-DD55-FE9A8025841A}"/>
          </ac:spMkLst>
        </pc:spChg>
        <pc:spChg chg="add mod">
          <ac:chgData name="Olawale Abiodun Ogundeji (Dr.)" userId="S::wale@ahfid.org::bf7f3b58-5492-4b16-a9d7-34d40e1eb056" providerId="AD" clId="Web-{6A001E5D-2E17-0749-652C-1A18892185FF}" dt="2026-01-29T16:10:21.259" v="842" actId="14100"/>
          <ac:spMkLst>
            <pc:docMk/>
            <pc:sldMk cId="0" sldId="264"/>
            <ac:spMk id="4" creationId="{B440D686-DC9D-8EFF-31B9-E3E4DCD80F99}"/>
          </ac:spMkLst>
        </pc:spChg>
      </pc:sldChg>
      <pc:sldChg chg="addSp modSp">
        <pc:chgData name="Olawale Abiodun Ogundeji (Dr.)" userId="S::wale@ahfid.org::bf7f3b58-5492-4b16-a9d7-34d40e1eb056" providerId="AD" clId="Web-{6A001E5D-2E17-0749-652C-1A18892185FF}" dt="2026-01-29T21:21:27.734" v="1113" actId="20577"/>
        <pc:sldMkLst>
          <pc:docMk/>
          <pc:sldMk cId="0" sldId="265"/>
        </pc:sldMkLst>
        <pc:spChg chg="add mod">
          <ac:chgData name="Olawale Abiodun Ogundeji (Dr.)" userId="S::wale@ahfid.org::bf7f3b58-5492-4b16-a9d7-34d40e1eb056" providerId="AD" clId="Web-{6A001E5D-2E17-0749-652C-1A18892185FF}" dt="2026-01-29T21:21:27.734" v="1113" actId="20577"/>
          <ac:spMkLst>
            <pc:docMk/>
            <pc:sldMk cId="0" sldId="265"/>
            <ac:spMk id="2" creationId="{4196DDB5-C489-F798-1C1A-3C5EC45AFAE2}"/>
          </ac:spMkLst>
        </pc:spChg>
        <pc:spChg chg="add mod">
          <ac:chgData name="Olawale Abiodun Ogundeji (Dr.)" userId="S::wale@ahfid.org::bf7f3b58-5492-4b16-a9d7-34d40e1eb056" providerId="AD" clId="Web-{6A001E5D-2E17-0749-652C-1A18892185FF}" dt="2026-01-29T17:16:34.401" v="927" actId="20577"/>
          <ac:spMkLst>
            <pc:docMk/>
            <pc:sldMk cId="0" sldId="265"/>
            <ac:spMk id="3" creationId="{E4BB49E9-D967-C87A-2795-4DCE20C007DB}"/>
          </ac:spMkLst>
        </pc:spChg>
      </pc:sldChg>
      <pc:sldChg chg="addSp delSp modSp">
        <pc:chgData name="Olawale Abiodun Ogundeji (Dr.)" userId="S::wale@ahfid.org::bf7f3b58-5492-4b16-a9d7-34d40e1eb056" providerId="AD" clId="Web-{6A001E5D-2E17-0749-652C-1A18892185FF}" dt="2026-01-29T21:08:22.444" v="1090" actId="20577"/>
        <pc:sldMkLst>
          <pc:docMk/>
          <pc:sldMk cId="0" sldId="266"/>
        </pc:sldMkLst>
        <pc:spChg chg="add mod">
          <ac:chgData name="Olawale Abiodun Ogundeji (Dr.)" userId="S::wale@ahfid.org::bf7f3b58-5492-4b16-a9d7-34d40e1eb056" providerId="AD" clId="Web-{6A001E5D-2E17-0749-652C-1A18892185FF}" dt="2026-01-29T17:21:46.106" v="950" actId="20577"/>
          <ac:spMkLst>
            <pc:docMk/>
            <pc:sldMk cId="0" sldId="266"/>
            <ac:spMk id="2" creationId="{9022E84C-211D-C4C9-45BD-9E75ADDC2A7C}"/>
          </ac:spMkLst>
        </pc:spChg>
        <pc:spChg chg="add mod">
          <ac:chgData name="Olawale Abiodun Ogundeji (Dr.)" userId="S::wale@ahfid.org::bf7f3b58-5492-4b16-a9d7-34d40e1eb056" providerId="AD" clId="Web-{6A001E5D-2E17-0749-652C-1A18892185FF}" dt="2026-01-29T21:08:22.444" v="1090" actId="20577"/>
          <ac:spMkLst>
            <pc:docMk/>
            <pc:sldMk cId="0" sldId="266"/>
            <ac:spMk id="4" creationId="{ABD25EA4-213A-EAA4-6BA0-CFD9BBFEC66C}"/>
          </ac:spMkLst>
        </pc:spChg>
      </pc:sldChg>
      <pc:sldChg chg="addSp modSp">
        <pc:chgData name="Olawale Abiodun Ogundeji (Dr.)" userId="S::wale@ahfid.org::bf7f3b58-5492-4b16-a9d7-34d40e1eb056" providerId="AD" clId="Web-{6A001E5D-2E17-0749-652C-1A18892185FF}" dt="2026-01-29T21:09:13.461" v="1092" actId="20577"/>
        <pc:sldMkLst>
          <pc:docMk/>
          <pc:sldMk cId="0" sldId="267"/>
        </pc:sldMkLst>
        <pc:spChg chg="add mod">
          <ac:chgData name="Olawale Abiodun Ogundeji (Dr.)" userId="S::wale@ahfid.org::bf7f3b58-5492-4b16-a9d7-34d40e1eb056" providerId="AD" clId="Web-{6A001E5D-2E17-0749-652C-1A18892185FF}" dt="2026-01-29T21:09:13.461" v="1092" actId="20577"/>
          <ac:spMkLst>
            <pc:docMk/>
            <pc:sldMk cId="0" sldId="267"/>
            <ac:spMk id="2" creationId="{D8C0A927-4B11-C42E-E9C6-F71E9319B13E}"/>
          </ac:spMkLst>
        </pc:spChg>
        <pc:spChg chg="add mod">
          <ac:chgData name="Olawale Abiodun Ogundeji (Dr.)" userId="S::wale@ahfid.org::bf7f3b58-5492-4b16-a9d7-34d40e1eb056" providerId="AD" clId="Web-{6A001E5D-2E17-0749-652C-1A18892185FF}" dt="2026-01-29T21:04:40.625" v="1069" actId="20577"/>
          <ac:spMkLst>
            <pc:docMk/>
            <pc:sldMk cId="0" sldId="267"/>
            <ac:spMk id="3" creationId="{77E758CC-50C1-7606-D73A-89E06913E9DE}"/>
          </ac:spMkLst>
        </pc:spChg>
      </pc:sldChg>
      <pc:sldChg chg="addSp modSp">
        <pc:chgData name="Olawale Abiodun Ogundeji (Dr.)" userId="S::wale@ahfid.org::bf7f3b58-5492-4b16-a9d7-34d40e1eb056" providerId="AD" clId="Web-{6A001E5D-2E17-0749-652C-1A18892185FF}" dt="2026-01-29T21:27:36.234" v="1128" actId="14100"/>
        <pc:sldMkLst>
          <pc:docMk/>
          <pc:sldMk cId="0" sldId="268"/>
        </pc:sldMkLst>
        <pc:spChg chg="add mod">
          <ac:chgData name="Olawale Abiodun Ogundeji (Dr.)" userId="S::wale@ahfid.org::bf7f3b58-5492-4b16-a9d7-34d40e1eb056" providerId="AD" clId="Web-{6A001E5D-2E17-0749-652C-1A18892185FF}" dt="2026-01-29T21:06:30.910" v="1081" actId="20577"/>
          <ac:spMkLst>
            <pc:docMk/>
            <pc:sldMk cId="0" sldId="268"/>
            <ac:spMk id="2" creationId="{E1092C9A-A220-B82A-FDE1-CF65C018FFCA}"/>
          </ac:spMkLst>
        </pc:spChg>
        <pc:spChg chg="add mod">
          <ac:chgData name="Olawale Abiodun Ogundeji (Dr.)" userId="S::wale@ahfid.org::bf7f3b58-5492-4b16-a9d7-34d40e1eb056" providerId="AD" clId="Web-{6A001E5D-2E17-0749-652C-1A18892185FF}" dt="2026-01-29T21:21:11.530" v="1112" actId="20577"/>
          <ac:spMkLst>
            <pc:docMk/>
            <pc:sldMk cId="0" sldId="268"/>
            <ac:spMk id="3" creationId="{514E3F2F-4F36-23F1-6E5E-CB05E551C115}"/>
          </ac:spMkLst>
        </pc:spChg>
        <pc:picChg chg="add mod">
          <ac:chgData name="Olawale Abiodun Ogundeji (Dr.)" userId="S::wale@ahfid.org::bf7f3b58-5492-4b16-a9d7-34d40e1eb056" providerId="AD" clId="Web-{6A001E5D-2E17-0749-652C-1A18892185FF}" dt="2026-01-29T21:27:36.234" v="1128" actId="14100"/>
          <ac:picMkLst>
            <pc:docMk/>
            <pc:sldMk cId="0" sldId="268"/>
            <ac:picMk id="4" creationId="{0BBCE198-A8A5-19F8-CFCD-666EEB172381}"/>
          </ac:picMkLst>
        </pc:picChg>
      </pc:sldChg>
      <pc:sldChg chg="addSp modSp">
        <pc:chgData name="Olawale Abiodun Ogundeji (Dr.)" userId="S::wale@ahfid.org::bf7f3b58-5492-4b16-a9d7-34d40e1eb056" providerId="AD" clId="Web-{6A001E5D-2E17-0749-652C-1A18892185FF}" dt="2026-01-28T13:07:52.972" v="50" actId="20577"/>
        <pc:sldMkLst>
          <pc:docMk/>
          <pc:sldMk cId="2768235767" sldId="280"/>
        </pc:sldMkLst>
        <pc:spChg chg="add mod">
          <ac:chgData name="Olawale Abiodun Ogundeji (Dr.)" userId="S::wale@ahfid.org::bf7f3b58-5492-4b16-a9d7-34d40e1eb056" providerId="AD" clId="Web-{6A001E5D-2E17-0749-652C-1A18892185FF}" dt="2026-01-28T13:07:52.972" v="50" actId="20577"/>
          <ac:spMkLst>
            <pc:docMk/>
            <pc:sldMk cId="2768235767" sldId="280"/>
            <ac:spMk id="4" creationId="{63C9C1FC-64E3-F489-ADF7-CD0AB08644BD}"/>
          </ac:spMkLst>
        </pc:spChg>
      </pc:sldChg>
      <pc:sldChg chg="addSp delSp modSp add replId">
        <pc:chgData name="Olawale Abiodun Ogundeji (Dr.)" userId="S::wale@ahfid.org::bf7f3b58-5492-4b16-a9d7-34d40e1eb056" providerId="AD" clId="Web-{6A001E5D-2E17-0749-652C-1A18892185FF}" dt="2026-01-29T14:06:46.695" v="726" actId="1076"/>
        <pc:sldMkLst>
          <pc:docMk/>
          <pc:sldMk cId="1066914800" sldId="281"/>
        </pc:sldMkLst>
        <pc:spChg chg="mod">
          <ac:chgData name="Olawale Abiodun Ogundeji (Dr.)" userId="S::wale@ahfid.org::bf7f3b58-5492-4b16-a9d7-34d40e1eb056" providerId="AD" clId="Web-{6A001E5D-2E17-0749-652C-1A18892185FF}" dt="2026-01-28T14:53:05.558" v="347" actId="20577"/>
          <ac:spMkLst>
            <pc:docMk/>
            <pc:sldMk cId="1066914800" sldId="281"/>
            <ac:spMk id="3" creationId="{88527B40-5BC3-62B0-3743-ECEA138D473F}"/>
          </ac:spMkLst>
        </pc:spChg>
        <pc:picChg chg="add mod">
          <ac:chgData name="Olawale Abiodun Ogundeji (Dr.)" userId="S::wale@ahfid.org::bf7f3b58-5492-4b16-a9d7-34d40e1eb056" providerId="AD" clId="Web-{6A001E5D-2E17-0749-652C-1A18892185FF}" dt="2026-01-29T14:06:42.758" v="725" actId="1076"/>
          <ac:picMkLst>
            <pc:docMk/>
            <pc:sldMk cId="1066914800" sldId="281"/>
            <ac:picMk id="4" creationId="{31E24524-E364-68E7-935C-D0BAD30CB5FA}"/>
          </ac:picMkLst>
        </pc:picChg>
        <pc:picChg chg="add mod">
          <ac:chgData name="Olawale Abiodun Ogundeji (Dr.)" userId="S::wale@ahfid.org::bf7f3b58-5492-4b16-a9d7-34d40e1eb056" providerId="AD" clId="Web-{6A001E5D-2E17-0749-652C-1A18892185FF}" dt="2026-01-29T14:06:46.695" v="726" actId="1076"/>
          <ac:picMkLst>
            <pc:docMk/>
            <pc:sldMk cId="1066914800" sldId="281"/>
            <ac:picMk id="5" creationId="{C516509C-94FC-8102-0B32-EFC9B2B91BB0}"/>
          </ac:picMkLst>
        </pc:picChg>
      </pc:sldChg>
      <pc:sldChg chg="addSp delSp modSp add ord replId">
        <pc:chgData name="Olawale Abiodun Ogundeji (Dr.)" userId="S::wale@ahfid.org::bf7f3b58-5492-4b16-a9d7-34d40e1eb056" providerId="AD" clId="Web-{6A001E5D-2E17-0749-652C-1A18892185FF}" dt="2026-01-29T17:34:21.896" v="990" actId="1076"/>
        <pc:sldMkLst>
          <pc:docMk/>
          <pc:sldMk cId="783745987" sldId="282"/>
        </pc:sldMkLst>
        <pc:picChg chg="add mod">
          <ac:chgData name="Olawale Abiodun Ogundeji (Dr.)" userId="S::wale@ahfid.org::bf7f3b58-5492-4b16-a9d7-34d40e1eb056" providerId="AD" clId="Web-{6A001E5D-2E17-0749-652C-1A18892185FF}" dt="2026-01-29T17:34:21.896" v="990" actId="1076"/>
          <ac:picMkLst>
            <pc:docMk/>
            <pc:sldMk cId="783745987" sldId="282"/>
            <ac:picMk id="2" creationId="{6E0A36DA-789D-0BF1-0384-1704153E5A81}"/>
          </ac:picMkLst>
        </pc:picChg>
        <pc:picChg chg="add mod">
          <ac:chgData name="Olawale Abiodun Ogundeji (Dr.)" userId="S::wale@ahfid.org::bf7f3b58-5492-4b16-a9d7-34d40e1eb056" providerId="AD" clId="Web-{6A001E5D-2E17-0749-652C-1A18892185FF}" dt="2026-01-29T17:33:21.005" v="989" actId="14100"/>
          <ac:picMkLst>
            <pc:docMk/>
            <pc:sldMk cId="783745987" sldId="282"/>
            <ac:picMk id="5" creationId="{3E20DCD9-53C0-1408-FC6E-14B074624168}"/>
          </ac:picMkLst>
        </pc:picChg>
      </pc:sldChg>
    </pc:docChg>
  </pc:docChgLst>
  <pc:docChgLst>
    <pc:chgData name="Olawale Abiodun Ogundeji (Dr.)" userId="S::wale@ahfid.org::bf7f3b58-5492-4b16-a9d7-34d40e1eb056" providerId="AD" clId="Web-{1914E8DD-0A47-7831-CE6F-235AEF630E52}"/>
    <pc:docChg chg="addSld modSld">
      <pc:chgData name="Olawale Abiodun Ogundeji (Dr.)" userId="S::wale@ahfid.org::bf7f3b58-5492-4b16-a9d7-34d40e1eb056" providerId="AD" clId="Web-{1914E8DD-0A47-7831-CE6F-235AEF630E52}" dt="2026-01-28T10:24:33.510" v="529" actId="14100"/>
      <pc:docMkLst>
        <pc:docMk/>
      </pc:docMkLst>
      <pc:sldChg chg="modSp">
        <pc:chgData name="Olawale Abiodun Ogundeji (Dr.)" userId="S::wale@ahfid.org::bf7f3b58-5492-4b16-a9d7-34d40e1eb056" providerId="AD" clId="Web-{1914E8DD-0A47-7831-CE6F-235AEF630E52}" dt="2026-01-27T16:19:59.943" v="83" actId="20577"/>
        <pc:sldMkLst>
          <pc:docMk/>
          <pc:sldMk cId="0" sldId="257"/>
        </pc:sldMkLst>
        <pc:spChg chg="mod">
          <ac:chgData name="Olawale Abiodun Ogundeji (Dr.)" userId="S::wale@ahfid.org::bf7f3b58-5492-4b16-a9d7-34d40e1eb056" providerId="AD" clId="Web-{1914E8DD-0A47-7831-CE6F-235AEF630E52}" dt="2026-01-27T16:19:59.943" v="83" actId="20577"/>
          <ac:spMkLst>
            <pc:docMk/>
            <pc:sldMk cId="0" sldId="257"/>
            <ac:spMk id="3" creationId="{9FC1A636-E70D-E210-F2FB-993CA5152805}"/>
          </ac:spMkLst>
        </pc:spChg>
      </pc:sldChg>
      <pc:sldChg chg="addSp delSp modSp modNotes">
        <pc:chgData name="Olawale Abiodun Ogundeji (Dr.)" userId="S::wale@ahfid.org::bf7f3b58-5492-4b16-a9d7-34d40e1eb056" providerId="AD" clId="Web-{1914E8DD-0A47-7831-CE6F-235AEF630E52}" dt="2026-01-28T09:54:14.021" v="496" actId="20577"/>
        <pc:sldMkLst>
          <pc:docMk/>
          <pc:sldMk cId="0" sldId="259"/>
        </pc:sldMkLst>
        <pc:spChg chg="mod">
          <ac:chgData name="Olawale Abiodun Ogundeji (Dr.)" userId="S::wale@ahfid.org::bf7f3b58-5492-4b16-a9d7-34d40e1eb056" providerId="AD" clId="Web-{1914E8DD-0A47-7831-CE6F-235AEF630E52}" dt="2026-01-28T09:54:14.021" v="496" actId="20577"/>
          <ac:spMkLst>
            <pc:docMk/>
            <pc:sldMk cId="0" sldId="259"/>
            <ac:spMk id="3" creationId="{3EDAD1F7-BB38-C95D-7ECE-AAB912129DEF}"/>
          </ac:spMkLst>
        </pc:spChg>
        <pc:spChg chg="add mod">
          <ac:chgData name="Olawale Abiodun Ogundeji (Dr.)" userId="S::wale@ahfid.org::bf7f3b58-5492-4b16-a9d7-34d40e1eb056" providerId="AD" clId="Web-{1914E8DD-0A47-7831-CE6F-235AEF630E52}" dt="2026-01-28T09:54:02.113" v="494" actId="14100"/>
          <ac:spMkLst>
            <pc:docMk/>
            <pc:sldMk cId="0" sldId="259"/>
            <ac:spMk id="4" creationId="{AB6FD9B8-82F3-3021-C31F-6B268285D27A}"/>
          </ac:spMkLst>
        </pc:spChg>
      </pc:sldChg>
      <pc:sldChg chg="addSp delSp modSp mod modClrScheme chgLayout">
        <pc:chgData name="Olawale Abiodun Ogundeji (Dr.)" userId="S::wale@ahfid.org::bf7f3b58-5492-4b16-a9d7-34d40e1eb056" providerId="AD" clId="Web-{1914E8DD-0A47-7831-CE6F-235AEF630E52}" dt="2026-01-27T17:43:10.890" v="416"/>
        <pc:sldMkLst>
          <pc:docMk/>
          <pc:sldMk cId="0" sldId="260"/>
        </pc:sldMkLst>
        <pc:spChg chg="add del mod">
          <ac:chgData name="Olawale Abiodun Ogundeji (Dr.)" userId="S::wale@ahfid.org::bf7f3b58-5492-4b16-a9d7-34d40e1eb056" providerId="AD" clId="Web-{1914E8DD-0A47-7831-CE6F-235AEF630E52}" dt="2026-01-27T17:16:43.650" v="97" actId="20577"/>
          <ac:spMkLst>
            <pc:docMk/>
            <pc:sldMk cId="0" sldId="260"/>
            <ac:spMk id="3" creationId="{E027D56F-6A20-5C99-E8DE-9713F5C3E7A4}"/>
          </ac:spMkLst>
        </pc:spChg>
        <pc:graphicFrameChg chg="add mod modGraphic">
          <ac:chgData name="Olawale Abiodun Ogundeji (Dr.)" userId="S::wale@ahfid.org::bf7f3b58-5492-4b16-a9d7-34d40e1eb056" providerId="AD" clId="Web-{1914E8DD-0A47-7831-CE6F-235AEF630E52}" dt="2026-01-27T17:43:10.890" v="416"/>
          <ac:graphicFrameMkLst>
            <pc:docMk/>
            <pc:sldMk cId="0" sldId="260"/>
            <ac:graphicFrameMk id="13" creationId="{798E8C13-E851-176B-0534-7502CF53C121}"/>
          </ac:graphicFrameMkLst>
        </pc:graphicFrameChg>
      </pc:sldChg>
      <pc:sldChg chg="addSp delSp modSp">
        <pc:chgData name="Olawale Abiodun Ogundeji (Dr.)" userId="S::wale@ahfid.org::bf7f3b58-5492-4b16-a9d7-34d40e1eb056" providerId="AD" clId="Web-{1914E8DD-0A47-7831-CE6F-235AEF630E52}" dt="2026-01-27T17:42:58.609" v="410"/>
        <pc:sldMkLst>
          <pc:docMk/>
          <pc:sldMk cId="0" sldId="261"/>
        </pc:sldMkLst>
        <pc:spChg chg="add mod">
          <ac:chgData name="Olawale Abiodun Ogundeji (Dr.)" userId="S::wale@ahfid.org::bf7f3b58-5492-4b16-a9d7-34d40e1eb056" providerId="AD" clId="Web-{1914E8DD-0A47-7831-CE6F-235AEF630E52}" dt="2026-01-27T17:38:14.197" v="327" actId="20577"/>
          <ac:spMkLst>
            <pc:docMk/>
            <pc:sldMk cId="0" sldId="261"/>
            <ac:spMk id="3" creationId="{A3B888E1-21A9-92DA-0EF7-71449DF77B72}"/>
          </ac:spMkLst>
        </pc:spChg>
        <pc:graphicFrameChg chg="add mod modGraphic">
          <ac:chgData name="Olawale Abiodun Ogundeji (Dr.)" userId="S::wale@ahfid.org::bf7f3b58-5492-4b16-a9d7-34d40e1eb056" providerId="AD" clId="Web-{1914E8DD-0A47-7831-CE6F-235AEF630E52}" dt="2026-01-27T17:42:58.609" v="410"/>
          <ac:graphicFrameMkLst>
            <pc:docMk/>
            <pc:sldMk cId="0" sldId="261"/>
            <ac:graphicFrameMk id="4" creationId="{FC7A0E3E-94BF-4A62-A6B5-FE9C4572AE76}"/>
          </ac:graphicFrameMkLst>
        </pc:graphicFrameChg>
      </pc:sldChg>
      <pc:sldChg chg="addSp delSp modSp add replId">
        <pc:chgData name="Olawale Abiodun Ogundeji (Dr.)" userId="S::wale@ahfid.org::bf7f3b58-5492-4b16-a9d7-34d40e1eb056" providerId="AD" clId="Web-{1914E8DD-0A47-7831-CE6F-235AEF630E52}" dt="2026-01-28T10:22:21.595" v="506" actId="1076"/>
        <pc:sldMkLst>
          <pc:docMk/>
          <pc:sldMk cId="316734042" sldId="279"/>
        </pc:sldMkLst>
        <pc:picChg chg="add mod">
          <ac:chgData name="Olawale Abiodun Ogundeji (Dr.)" userId="S::wale@ahfid.org::bf7f3b58-5492-4b16-a9d7-34d40e1eb056" providerId="AD" clId="Web-{1914E8DD-0A47-7831-CE6F-235AEF630E52}" dt="2026-01-28T10:22:21.595" v="506" actId="1076"/>
          <ac:picMkLst>
            <pc:docMk/>
            <pc:sldMk cId="316734042" sldId="279"/>
            <ac:picMk id="5" creationId="{103D899B-8717-B741-AF02-2D39E4E4AFCB}"/>
          </ac:picMkLst>
        </pc:picChg>
      </pc:sldChg>
      <pc:sldChg chg="delSp modSp add replId">
        <pc:chgData name="Olawale Abiodun Ogundeji (Dr.)" userId="S::wale@ahfid.org::bf7f3b58-5492-4b16-a9d7-34d40e1eb056" providerId="AD" clId="Web-{1914E8DD-0A47-7831-CE6F-235AEF630E52}" dt="2026-01-28T10:24:33.510" v="529" actId="14100"/>
        <pc:sldMkLst>
          <pc:docMk/>
          <pc:sldMk cId="2768235767" sldId="280"/>
        </pc:sldMkLst>
        <pc:spChg chg="mod">
          <ac:chgData name="Olawale Abiodun Ogundeji (Dr.)" userId="S::wale@ahfid.org::bf7f3b58-5492-4b16-a9d7-34d40e1eb056" providerId="AD" clId="Web-{1914E8DD-0A47-7831-CE6F-235AEF630E52}" dt="2026-01-28T10:24:33.510" v="529" actId="14100"/>
          <ac:spMkLst>
            <pc:docMk/>
            <pc:sldMk cId="2768235767" sldId="280"/>
            <ac:spMk id="3" creationId="{330B4ED2-C158-4234-8FAA-211AA047B098}"/>
          </ac:spMkLst>
        </pc:spChg>
      </pc:sldChg>
    </pc:docChg>
  </pc:docChgLst>
  <pc:docChgLst>
    <pc:chgData name="Olawale Abiodun Ogundeji (Dr.)" userId="S::wale@ahfid.org::bf7f3b58-5492-4b16-a9d7-34d40e1eb056" providerId="AD" clId="Web-{301000A2-9556-BCD1-F8AA-31D9A4A84CE9}"/>
    <pc:docChg chg="modSld">
      <pc:chgData name="Olawale Abiodun Ogundeji (Dr.)" userId="S::wale@ahfid.org::bf7f3b58-5492-4b16-a9d7-34d40e1eb056" providerId="AD" clId="Web-{301000A2-9556-BCD1-F8AA-31D9A4A84CE9}" dt="2026-02-02T00:30:14.422" v="0" actId="20577"/>
      <pc:docMkLst>
        <pc:docMk/>
      </pc:docMkLst>
      <pc:sldChg chg="modSp">
        <pc:chgData name="Olawale Abiodun Ogundeji (Dr.)" userId="S::wale@ahfid.org::bf7f3b58-5492-4b16-a9d7-34d40e1eb056" providerId="AD" clId="Web-{301000A2-9556-BCD1-F8AA-31D9A4A84CE9}" dt="2026-02-02T00:30:14.422" v="0" actId="20577"/>
        <pc:sldMkLst>
          <pc:docMk/>
          <pc:sldMk cId="0" sldId="257"/>
        </pc:sldMkLst>
        <pc:spChg chg="mod">
          <ac:chgData name="Olawale Abiodun Ogundeji (Dr.)" userId="S::wale@ahfid.org::bf7f3b58-5492-4b16-a9d7-34d40e1eb056" providerId="AD" clId="Web-{301000A2-9556-BCD1-F8AA-31D9A4A84CE9}" dt="2026-02-02T00:30:14.422" v="0" actId="20577"/>
          <ac:spMkLst>
            <pc:docMk/>
            <pc:sldMk cId="0" sldId="257"/>
            <ac:spMk id="3" creationId="{9FC1A636-E70D-E210-F2FB-993CA5152805}"/>
          </ac:spMkLst>
        </pc:spChg>
      </pc:sldChg>
    </pc:docChg>
  </pc:docChgLst>
  <pc:docChgLst>
    <pc:chgData name="Olawale Abiodun Ogundeji (Dr.)" userId="S::wale@ahfid.org::bf7f3b58-5492-4b16-a9d7-34d40e1eb056" providerId="AD" clId="Web-{5AF634B1-8AA5-5917-112B-B7B226C02628}"/>
    <pc:docChg chg="delSld modSld">
      <pc:chgData name="Olawale Abiodun Ogundeji (Dr.)" userId="S::wale@ahfid.org::bf7f3b58-5492-4b16-a9d7-34d40e1eb056" providerId="AD" clId="Web-{5AF634B1-8AA5-5917-112B-B7B226C02628}" dt="2026-02-01T23:39:07.716" v="869" actId="20577"/>
      <pc:docMkLst>
        <pc:docMk/>
      </pc:docMkLst>
      <pc:sldChg chg="modSp">
        <pc:chgData name="Olawale Abiodun Ogundeji (Dr.)" userId="S::wale@ahfid.org::bf7f3b58-5492-4b16-a9d7-34d40e1eb056" providerId="AD" clId="Web-{5AF634B1-8AA5-5917-112B-B7B226C02628}" dt="2026-02-01T23:39:07.716" v="869" actId="20577"/>
        <pc:sldMkLst>
          <pc:docMk/>
          <pc:sldMk cId="0" sldId="257"/>
        </pc:sldMkLst>
        <pc:spChg chg="mod">
          <ac:chgData name="Olawale Abiodun Ogundeji (Dr.)" userId="S::wale@ahfid.org::bf7f3b58-5492-4b16-a9d7-34d40e1eb056" providerId="AD" clId="Web-{5AF634B1-8AA5-5917-112B-B7B226C02628}" dt="2026-02-01T23:39:07.716" v="869" actId="20577"/>
          <ac:spMkLst>
            <pc:docMk/>
            <pc:sldMk cId="0" sldId="257"/>
            <ac:spMk id="3" creationId="{9FC1A636-E70D-E210-F2FB-993CA5152805}"/>
          </ac:spMkLst>
        </pc:spChg>
      </pc:sldChg>
      <pc:sldChg chg="addSp delSp modSp">
        <pc:chgData name="Olawale Abiodun Ogundeji (Dr.)" userId="S::wale@ahfid.org::bf7f3b58-5492-4b16-a9d7-34d40e1eb056" providerId="AD" clId="Web-{5AF634B1-8AA5-5917-112B-B7B226C02628}" dt="2026-02-01T22:36:47.823" v="451" actId="20577"/>
        <pc:sldMkLst>
          <pc:docMk/>
          <pc:sldMk cId="0" sldId="269"/>
        </pc:sldMkLst>
        <pc:spChg chg="add mod">
          <ac:chgData name="Olawale Abiodun Ogundeji (Dr.)" userId="S::wale@ahfid.org::bf7f3b58-5492-4b16-a9d7-34d40e1eb056" providerId="AD" clId="Web-{5AF634B1-8AA5-5917-112B-B7B226C02628}" dt="2026-02-01T19:49:38.009" v="325" actId="20577"/>
          <ac:spMkLst>
            <pc:docMk/>
            <pc:sldMk cId="0" sldId="269"/>
            <ac:spMk id="2" creationId="{13A54CCD-F0A0-790C-42FC-7B62A310F793}"/>
          </ac:spMkLst>
        </pc:spChg>
        <pc:spChg chg="add del">
          <ac:chgData name="Olawale Abiodun Ogundeji (Dr.)" userId="S::wale@ahfid.org::bf7f3b58-5492-4b16-a9d7-34d40e1eb056" providerId="AD" clId="Web-{5AF634B1-8AA5-5917-112B-B7B226C02628}" dt="2026-02-01T19:51:31.817" v="327"/>
          <ac:spMkLst>
            <pc:docMk/>
            <pc:sldMk cId="0" sldId="269"/>
            <ac:spMk id="3" creationId="{22EF3D1C-B0ED-9818-2A67-10FD7E67C3A2}"/>
          </ac:spMkLst>
        </pc:spChg>
        <pc:spChg chg="add mod">
          <ac:chgData name="Olawale Abiodun Ogundeji (Dr.)" userId="S::wale@ahfid.org::bf7f3b58-5492-4b16-a9d7-34d40e1eb056" providerId="AD" clId="Web-{5AF634B1-8AA5-5917-112B-B7B226C02628}" dt="2026-02-01T22:36:47.823" v="451" actId="20577"/>
          <ac:spMkLst>
            <pc:docMk/>
            <pc:sldMk cId="0" sldId="269"/>
            <ac:spMk id="4" creationId="{A656CF82-F995-34A8-A1A8-B7F6EFD42A32}"/>
          </ac:spMkLst>
        </pc:spChg>
      </pc:sldChg>
      <pc:sldChg chg="addSp modSp">
        <pc:chgData name="Olawale Abiodun Ogundeji (Dr.)" userId="S::wale@ahfid.org::bf7f3b58-5492-4b16-a9d7-34d40e1eb056" providerId="AD" clId="Web-{5AF634B1-8AA5-5917-112B-B7B226C02628}" dt="2026-02-01T19:49:18.775" v="319" actId="20577"/>
        <pc:sldMkLst>
          <pc:docMk/>
          <pc:sldMk cId="0" sldId="271"/>
        </pc:sldMkLst>
        <pc:spChg chg="add mod">
          <ac:chgData name="Olawale Abiodun Ogundeji (Dr.)" userId="S::wale@ahfid.org::bf7f3b58-5492-4b16-a9d7-34d40e1eb056" providerId="AD" clId="Web-{5AF634B1-8AA5-5917-112B-B7B226C02628}" dt="2026-02-01T19:49:18.775" v="319" actId="20577"/>
          <ac:spMkLst>
            <pc:docMk/>
            <pc:sldMk cId="0" sldId="271"/>
            <ac:spMk id="2" creationId="{C60542F3-4A74-CC09-C87C-29675AE3021E}"/>
          </ac:spMkLst>
        </pc:spChg>
        <pc:spChg chg="add mod">
          <ac:chgData name="Olawale Abiodun Ogundeji (Dr.)" userId="S::wale@ahfid.org::bf7f3b58-5492-4b16-a9d7-34d40e1eb056" providerId="AD" clId="Web-{5AF634B1-8AA5-5917-112B-B7B226C02628}" dt="2026-02-01T19:48:49.227" v="314" actId="14100"/>
          <ac:spMkLst>
            <pc:docMk/>
            <pc:sldMk cId="0" sldId="271"/>
            <ac:spMk id="3" creationId="{D65A7992-18DD-CFE8-49CC-60A71BADA685}"/>
          </ac:spMkLst>
        </pc:spChg>
      </pc:sldChg>
      <pc:sldChg chg="addSp delSp modSp">
        <pc:chgData name="Olawale Abiodun Ogundeji (Dr.)" userId="S::wale@ahfid.org::bf7f3b58-5492-4b16-a9d7-34d40e1eb056" providerId="AD" clId="Web-{5AF634B1-8AA5-5917-112B-B7B226C02628}" dt="2026-01-31T22:35:33.482" v="64" actId="14100"/>
        <pc:sldMkLst>
          <pc:docMk/>
          <pc:sldMk cId="0" sldId="273"/>
        </pc:sldMkLst>
        <pc:spChg chg="add mod">
          <ac:chgData name="Olawale Abiodun Ogundeji (Dr.)" userId="S::wale@ahfid.org::bf7f3b58-5492-4b16-a9d7-34d40e1eb056" providerId="AD" clId="Web-{5AF634B1-8AA5-5917-112B-B7B226C02628}" dt="2026-01-31T22:24:08.059" v="48" actId="20577"/>
          <ac:spMkLst>
            <pc:docMk/>
            <pc:sldMk cId="0" sldId="273"/>
            <ac:spMk id="3" creationId="{54DBF0B9-43AB-5A55-2210-7BAD225031FB}"/>
          </ac:spMkLst>
        </pc:spChg>
        <pc:spChg chg="add mod">
          <ac:chgData name="Olawale Abiodun Ogundeji (Dr.)" userId="S::wale@ahfid.org::bf7f3b58-5492-4b16-a9d7-34d40e1eb056" providerId="AD" clId="Web-{5AF634B1-8AA5-5917-112B-B7B226C02628}" dt="2026-01-31T22:21:39.851" v="17" actId="20577"/>
          <ac:spMkLst>
            <pc:docMk/>
            <pc:sldMk cId="0" sldId="273"/>
            <ac:spMk id="4" creationId="{46016FF8-6166-BFA6-6760-CF4FD72822EC}"/>
          </ac:spMkLst>
        </pc:spChg>
        <pc:picChg chg="add mod">
          <ac:chgData name="Olawale Abiodun Ogundeji (Dr.)" userId="S::wale@ahfid.org::bf7f3b58-5492-4b16-a9d7-34d40e1eb056" providerId="AD" clId="Web-{5AF634B1-8AA5-5917-112B-B7B226C02628}" dt="2026-01-31T22:35:33.482" v="64" actId="14100"/>
          <ac:picMkLst>
            <pc:docMk/>
            <pc:sldMk cId="0" sldId="273"/>
            <ac:picMk id="6" creationId="{8EC11E71-8E82-E390-60AA-118F0E74BDE5}"/>
          </ac:picMkLst>
        </pc:picChg>
      </pc:sldChg>
      <pc:sldChg chg="addSp delSp modSp">
        <pc:chgData name="Olawale Abiodun Ogundeji (Dr.)" userId="S::wale@ahfid.org::bf7f3b58-5492-4b16-a9d7-34d40e1eb056" providerId="AD" clId="Web-{5AF634B1-8AA5-5917-112B-B7B226C02628}" dt="2026-02-01T23:04:05.876" v="705" actId="20577"/>
        <pc:sldMkLst>
          <pc:docMk/>
          <pc:sldMk cId="0" sldId="274"/>
        </pc:sldMkLst>
        <pc:spChg chg="add mod">
          <ac:chgData name="Olawale Abiodun Ogundeji (Dr.)" userId="S::wale@ahfid.org::bf7f3b58-5492-4b16-a9d7-34d40e1eb056" providerId="AD" clId="Web-{5AF634B1-8AA5-5917-112B-B7B226C02628}" dt="2026-02-01T22:41:49.341" v="488" actId="20577"/>
          <ac:spMkLst>
            <pc:docMk/>
            <pc:sldMk cId="0" sldId="274"/>
            <ac:spMk id="2" creationId="{1C08E040-5A72-53CB-8C7B-3B6650F19872}"/>
          </ac:spMkLst>
        </pc:spChg>
        <pc:spChg chg="add del mod">
          <ac:chgData name="Olawale Abiodun Ogundeji (Dr.)" userId="S::wale@ahfid.org::bf7f3b58-5492-4b16-a9d7-34d40e1eb056" providerId="AD" clId="Web-{5AF634B1-8AA5-5917-112B-B7B226C02628}" dt="2026-02-01T22:56:13.186" v="669"/>
          <ac:spMkLst>
            <pc:docMk/>
            <pc:sldMk cId="0" sldId="274"/>
            <ac:spMk id="3" creationId="{B6750F8D-0E5C-17C2-566B-7447B4B32C5C}"/>
          </ac:spMkLst>
        </pc:spChg>
        <pc:spChg chg="add del">
          <ac:chgData name="Olawale Abiodun Ogundeji (Dr.)" userId="S::wale@ahfid.org::bf7f3b58-5492-4b16-a9d7-34d40e1eb056" providerId="AD" clId="Web-{5AF634B1-8AA5-5917-112B-B7B226C02628}" dt="2026-02-01T22:56:27.874" v="671"/>
          <ac:spMkLst>
            <pc:docMk/>
            <pc:sldMk cId="0" sldId="274"/>
            <ac:spMk id="5" creationId="{468E6CC5-D799-B613-9EEF-314D667BBC2B}"/>
          </ac:spMkLst>
        </pc:spChg>
        <pc:spChg chg="add mod">
          <ac:chgData name="Olawale Abiodun Ogundeji (Dr.)" userId="S::wale@ahfid.org::bf7f3b58-5492-4b16-a9d7-34d40e1eb056" providerId="AD" clId="Web-{5AF634B1-8AA5-5917-112B-B7B226C02628}" dt="2026-02-01T23:04:05.876" v="705" actId="20577"/>
          <ac:spMkLst>
            <pc:docMk/>
            <pc:sldMk cId="0" sldId="274"/>
            <ac:spMk id="6" creationId="{4820321F-F774-49E0-2A50-944C194C5483}"/>
          </ac:spMkLst>
        </pc:spChg>
        <pc:graphicFrameChg chg="add mod modGraphic">
          <ac:chgData name="Olawale Abiodun Ogundeji (Dr.)" userId="S::wale@ahfid.org::bf7f3b58-5492-4b16-a9d7-34d40e1eb056" providerId="AD" clId="Web-{5AF634B1-8AA5-5917-112B-B7B226C02628}" dt="2026-02-01T22:55:58.997" v="667"/>
          <ac:graphicFrameMkLst>
            <pc:docMk/>
            <pc:sldMk cId="0" sldId="274"/>
            <ac:graphicFrameMk id="4" creationId="{8DF91EFC-3215-E1F5-0472-ECF6638A3DFE}"/>
          </ac:graphicFrameMkLst>
        </pc:graphicFrameChg>
      </pc:sldChg>
      <pc:sldChg chg="addSp modSp">
        <pc:chgData name="Olawale Abiodun Ogundeji (Dr.)" userId="S::wale@ahfid.org::bf7f3b58-5492-4b16-a9d7-34d40e1eb056" providerId="AD" clId="Web-{5AF634B1-8AA5-5917-112B-B7B226C02628}" dt="2026-02-01T23:35:41.067" v="857" actId="20577"/>
        <pc:sldMkLst>
          <pc:docMk/>
          <pc:sldMk cId="0" sldId="275"/>
        </pc:sldMkLst>
        <pc:spChg chg="add mod">
          <ac:chgData name="Olawale Abiodun Ogundeji (Dr.)" userId="S::wale@ahfid.org::bf7f3b58-5492-4b16-a9d7-34d40e1eb056" providerId="AD" clId="Web-{5AF634B1-8AA5-5917-112B-B7B226C02628}" dt="2026-02-01T23:35:41.067" v="857" actId="20577"/>
          <ac:spMkLst>
            <pc:docMk/>
            <pc:sldMk cId="0" sldId="275"/>
            <ac:spMk id="2" creationId="{002077AD-7BCA-77B5-929B-7257E0F1289E}"/>
          </ac:spMkLst>
        </pc:spChg>
        <pc:spChg chg="add mod">
          <ac:chgData name="Olawale Abiodun Ogundeji (Dr.)" userId="S::wale@ahfid.org::bf7f3b58-5492-4b16-a9d7-34d40e1eb056" providerId="AD" clId="Web-{5AF634B1-8AA5-5917-112B-B7B226C02628}" dt="2026-02-01T22:40:10.899" v="479" actId="20577"/>
          <ac:spMkLst>
            <pc:docMk/>
            <pc:sldMk cId="0" sldId="275"/>
            <ac:spMk id="3" creationId="{523BE8CF-24E0-E712-0DC3-887C6103DEC1}"/>
          </ac:spMkLst>
        </pc:spChg>
      </pc:sldChg>
      <pc:sldChg chg="del">
        <pc:chgData name="Olawale Abiodun Ogundeji (Dr.)" userId="S::wale@ahfid.org::bf7f3b58-5492-4b16-a9d7-34d40e1eb056" providerId="AD" clId="Web-{5AF634B1-8AA5-5917-112B-B7B226C02628}" dt="2026-02-01T23:35:47.129" v="858"/>
        <pc:sldMkLst>
          <pc:docMk/>
          <pc:sldMk cId="0" sldId="277"/>
        </pc:sldMkLst>
      </pc:sldChg>
      <pc:sldChg chg="del">
        <pc:chgData name="Olawale Abiodun Ogundeji (Dr.)" userId="S::wale@ahfid.org::bf7f3b58-5492-4b16-a9d7-34d40e1eb056" providerId="AD" clId="Web-{5AF634B1-8AA5-5917-112B-B7B226C02628}" dt="2026-02-01T23:35:54.395" v="859"/>
        <pc:sldMkLst>
          <pc:docMk/>
          <pc:sldMk cId="0" sldId="278"/>
        </pc:sldMkLst>
      </pc:sldChg>
    </pc:docChg>
  </pc:docChgLst>
  <pc:docChgLst>
    <pc:chgData name="Olawale Abiodun Ogundeji (Dr.)" userId="S::wale@ahfid.org::bf7f3b58-5492-4b16-a9d7-34d40e1eb056" providerId="AD" clId="Web-{0EFA9307-D9A1-8FEF-E0AD-A8240F15A8CD}"/>
    <pc:docChg chg="modSld">
      <pc:chgData name="Olawale Abiodun Ogundeji (Dr.)" userId="S::wale@ahfid.org::bf7f3b58-5492-4b16-a9d7-34d40e1eb056" providerId="AD" clId="Web-{0EFA9307-D9A1-8FEF-E0AD-A8240F15A8CD}" dt="2026-01-21T22:16:26.865" v="7" actId="20577"/>
      <pc:docMkLst>
        <pc:docMk/>
      </pc:docMkLst>
      <pc:sldChg chg="modSp">
        <pc:chgData name="Olawale Abiodun Ogundeji (Dr.)" userId="S::wale@ahfid.org::bf7f3b58-5492-4b16-a9d7-34d40e1eb056" providerId="AD" clId="Web-{0EFA9307-D9A1-8FEF-E0AD-A8240F15A8CD}" dt="2026-01-21T22:16:26.865" v="7" actId="20577"/>
        <pc:sldMkLst>
          <pc:docMk/>
          <pc:sldMk cId="0" sldId="257"/>
        </pc:sldMkLst>
        <pc:spChg chg="mod">
          <ac:chgData name="Olawale Abiodun Ogundeji (Dr.)" userId="S::wale@ahfid.org::bf7f3b58-5492-4b16-a9d7-34d40e1eb056" providerId="AD" clId="Web-{0EFA9307-D9A1-8FEF-E0AD-A8240F15A8CD}" dt="2026-01-21T22:16:26.865" v="7" actId="20577"/>
          <ac:spMkLst>
            <pc:docMk/>
            <pc:sldMk cId="0" sldId="257"/>
            <ac:spMk id="3" creationId="{9FC1A636-E70D-E210-F2FB-993CA5152805}"/>
          </ac:spMkLst>
        </pc:spChg>
      </pc:sldChg>
      <pc:sldChg chg="modSp">
        <pc:chgData name="Olawale Abiodun Ogundeji (Dr.)" userId="S::wale@ahfid.org::bf7f3b58-5492-4b16-a9d7-34d40e1eb056" providerId="AD" clId="Web-{0EFA9307-D9A1-8FEF-E0AD-A8240F15A8CD}" dt="2026-01-21T22:15:25.209" v="3" actId="20577"/>
        <pc:sldMkLst>
          <pc:docMk/>
          <pc:sldMk cId="0" sldId="259"/>
        </pc:sldMkLst>
      </pc:sldChg>
    </pc:docChg>
  </pc:docChgLst>
  <pc:docChgLst>
    <pc:chgData clId="Web-{301000A2-9556-BCD1-F8AA-31D9A4A84CE9}"/>
    <pc:docChg chg="modSld">
      <pc:chgData name="" userId="" providerId="" clId="Web-{301000A2-9556-BCD1-F8AA-31D9A4A84CE9}" dt="2026-02-02T00:30:09.656" v="3" actId="20577"/>
      <pc:docMkLst>
        <pc:docMk/>
      </pc:docMkLst>
      <pc:sldChg chg="modSp">
        <pc:chgData name="" userId="" providerId="" clId="Web-{301000A2-9556-BCD1-F8AA-31D9A4A84CE9}" dt="2026-02-02T00:30:09.656" v="3" actId="20577"/>
        <pc:sldMkLst>
          <pc:docMk/>
          <pc:sldMk cId="0" sldId="257"/>
        </pc:sldMkLst>
        <pc:spChg chg="mod">
          <ac:chgData name="" userId="" providerId="" clId="Web-{301000A2-9556-BCD1-F8AA-31D9A4A84CE9}" dt="2026-02-02T00:30:09.656" v="3" actId="20577"/>
          <ac:spMkLst>
            <pc:docMk/>
            <pc:sldMk cId="0" sldId="257"/>
            <ac:spMk id="3" creationId="{9FC1A636-E70D-E210-F2FB-993CA5152805}"/>
          </ac:spMkLst>
        </pc:spChg>
      </pc:sldChg>
    </pc:docChg>
  </pc:docChgLst>
  <pc:docChgLst>
    <pc:chgData name="Olawale Abiodun Ogundeji (Dr.)" userId="S::wale@ahfid.org::bf7f3b58-5492-4b16-a9d7-34d40e1eb056" providerId="AD" clId="Web-{DE92FAB8-5C49-5EFD-E114-E06D170F8F9C}"/>
    <pc:docChg chg="modSld">
      <pc:chgData name="Olawale Abiodun Ogundeji (Dr.)" userId="S::wale@ahfid.org::bf7f3b58-5492-4b16-a9d7-34d40e1eb056" providerId="AD" clId="Web-{DE92FAB8-5C49-5EFD-E114-E06D170F8F9C}" dt="2026-01-21T18:56:38.863" v="168" actId="14100"/>
      <pc:docMkLst>
        <pc:docMk/>
      </pc:docMkLst>
      <pc:sldChg chg="addSp delSp modSp">
        <pc:chgData name="Olawale Abiodun Ogundeji (Dr.)" userId="S::wale@ahfid.org::bf7f3b58-5492-4b16-a9d7-34d40e1eb056" providerId="AD" clId="Web-{DE92FAB8-5C49-5EFD-E114-E06D170F8F9C}" dt="2026-01-21T18:49:11.628" v="72" actId="20577"/>
        <pc:sldMkLst>
          <pc:docMk/>
          <pc:sldMk cId="0" sldId="257"/>
        </pc:sldMkLst>
        <pc:spChg chg="add mod">
          <ac:chgData name="Olawale Abiodun Ogundeji (Dr.)" userId="S::wale@ahfid.org::bf7f3b58-5492-4b16-a9d7-34d40e1eb056" providerId="AD" clId="Web-{DE92FAB8-5C49-5EFD-E114-E06D170F8F9C}" dt="2026-01-21T18:49:11.628" v="72" actId="20577"/>
          <ac:spMkLst>
            <pc:docMk/>
            <pc:sldMk cId="0" sldId="257"/>
            <ac:spMk id="3" creationId="{9FC1A636-E70D-E210-F2FB-993CA5152805}"/>
          </ac:spMkLst>
        </pc:spChg>
      </pc:sldChg>
      <pc:sldChg chg="addSp delSp modSp">
        <pc:chgData name="Olawale Abiodun Ogundeji (Dr.)" userId="S::wale@ahfid.org::bf7f3b58-5492-4b16-a9d7-34d40e1eb056" providerId="AD" clId="Web-{DE92FAB8-5C49-5EFD-E114-E06D170F8F9C}" dt="2026-01-21T18:56:38.863" v="168" actId="14100"/>
        <pc:sldMkLst>
          <pc:docMk/>
          <pc:sldMk cId="0" sldId="259"/>
        </pc:sldMkLst>
        <pc:spChg chg="mod">
          <ac:chgData name="Olawale Abiodun Ogundeji (Dr.)" userId="S::wale@ahfid.org::bf7f3b58-5492-4b16-a9d7-34d40e1eb056" providerId="AD" clId="Web-{DE92FAB8-5C49-5EFD-E114-E06D170F8F9C}" dt="2026-01-21T18:52:30.278" v="108" actId="20577"/>
          <ac:spMkLst>
            <pc:docMk/>
            <pc:sldMk cId="0" sldId="259"/>
            <ac:spMk id="2" creationId="{00000000-0000-0000-0000-000000000000}"/>
          </ac:spMkLst>
        </pc:spChg>
        <pc:spChg chg="add mod">
          <ac:chgData name="Olawale Abiodun Ogundeji (Dr.)" userId="S::wale@ahfid.org::bf7f3b58-5492-4b16-a9d7-34d40e1eb056" providerId="AD" clId="Web-{DE92FAB8-5C49-5EFD-E114-E06D170F8F9C}" dt="2026-01-21T18:56:30.222" v="166" actId="20577"/>
          <ac:spMkLst>
            <pc:docMk/>
            <pc:sldMk cId="0" sldId="259"/>
            <ac:spMk id="3" creationId="{3EDAD1F7-BB38-C95D-7ECE-AAB912129DE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A7199-659A-4064-9D87-9E89ED46822F}" type="datetimeFigureOut">
              <a:t>2/1/2026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CD79B-70D4-4C0F-8998-82B634FB71F5}" type="slidenum">
              <a:t>‹#›</a:t>
            </a:fld>
            <a:endParaRPr lang="en-GB"/>
          </a:p>
        </p:txBody>
      </p:sp>
    </p:spTree>
    <p:extLst>
      <p:ext uri="{BB962C8B-B14F-4D97-AF65-F5344CB8AC3E}">
        <p14:creationId xmlns:p14="http://schemas.microsoft.com/office/powerpoint/2010/main" val="1019473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dirty="0">
                <a:solidFill>
                  <a:srgbClr val="03807F"/>
                </a:solidFill>
              </a:rPr>
              <a:t>Two models with the same accuracy behave very differently in deployment. Why? Distribution shift and variance: Because </a:t>
            </a:r>
            <a:r>
              <a:rPr lang="en-US" b="1" dirty="0">
                <a:solidFill>
                  <a:srgbClr val="03807F"/>
                </a:solidFill>
              </a:rPr>
              <a:t>accuracy is an average</a:t>
            </a:r>
            <a:r>
              <a:rPr lang="en-US" dirty="0">
                <a:solidFill>
                  <a:srgbClr val="03807F"/>
                </a:solidFill>
              </a:rPr>
              <a:t>, while </a:t>
            </a:r>
            <a:r>
              <a:rPr lang="en-US" b="1" dirty="0">
                <a:solidFill>
                  <a:srgbClr val="03807F"/>
                </a:solidFill>
              </a:rPr>
              <a:t>deployment exposes models to changing data distributions and different levels of variance</a:t>
            </a:r>
            <a:r>
              <a:rPr lang="en-US" dirty="0">
                <a:solidFill>
                  <a:srgbClr val="03807F"/>
                </a:solidFill>
              </a:rPr>
              <a:t>.</a:t>
            </a:r>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9FECD79B-70D4-4C0F-8998-82B634FB71F5}" type="slidenum">
              <a:t>2</a:t>
            </a:fld>
            <a:endParaRPr lang="en-GB"/>
          </a:p>
        </p:txBody>
      </p:sp>
    </p:spTree>
    <p:extLst>
      <p:ext uri="{BB962C8B-B14F-4D97-AF65-F5344CB8AC3E}">
        <p14:creationId xmlns:p14="http://schemas.microsoft.com/office/powerpoint/2010/main" val="1894571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14202-0690-B0DA-2B7F-A04BC722DA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0A7C4-45E2-B3FB-1470-ECA8D1DDA2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B89A7-D23B-11F4-FC2A-01C142661ABE}"/>
              </a:ext>
            </a:extLst>
          </p:cNvPr>
          <p:cNvSpPr>
            <a:spLocks noGrp="1"/>
          </p:cNvSpPr>
          <p:nvPr>
            <p:ph type="body" idx="1"/>
          </p:nvPr>
        </p:nvSpPr>
        <p:spPr/>
        <p:txBody>
          <a:bodyPr/>
          <a:lstStyle/>
          <a:p>
            <a:pPr marL="171450" indent="-171450">
              <a:buFont typeface="Arial"/>
              <a:buChar char="•"/>
            </a:pPr>
            <a:r>
              <a:rPr lang="en-US" dirty="0">
                <a:solidFill>
                  <a:srgbClr val="03807F"/>
                </a:solidFill>
              </a:rPr>
              <a:t>Two models with the same accuracy behave very differently in deployment. Why? Distribution shift and variance: Because </a:t>
            </a:r>
            <a:r>
              <a:rPr lang="en-US" b="1" dirty="0">
                <a:solidFill>
                  <a:srgbClr val="03807F"/>
                </a:solidFill>
              </a:rPr>
              <a:t>accuracy is an average</a:t>
            </a:r>
            <a:r>
              <a:rPr lang="en-US" dirty="0">
                <a:solidFill>
                  <a:srgbClr val="03807F"/>
                </a:solidFill>
              </a:rPr>
              <a:t>, while </a:t>
            </a:r>
            <a:r>
              <a:rPr lang="en-US" b="1" dirty="0">
                <a:solidFill>
                  <a:srgbClr val="03807F"/>
                </a:solidFill>
              </a:rPr>
              <a:t>deployment exposes models to changing data distributions and different levels of variance</a:t>
            </a:r>
            <a:r>
              <a:rPr lang="en-US" dirty="0">
                <a:solidFill>
                  <a:srgbClr val="03807F"/>
                </a:solidFill>
              </a:rPr>
              <a:t>.</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18E602DE-EFC9-D6CC-BD77-BFDF48AE2DB5}"/>
              </a:ext>
            </a:extLst>
          </p:cNvPr>
          <p:cNvSpPr>
            <a:spLocks noGrp="1"/>
          </p:cNvSpPr>
          <p:nvPr>
            <p:ph type="sldNum" sz="quarter" idx="5"/>
          </p:nvPr>
        </p:nvSpPr>
        <p:spPr/>
        <p:txBody>
          <a:bodyPr/>
          <a:lstStyle/>
          <a:p>
            <a:fld id="{9FECD79B-70D4-4C0F-8998-82B634FB71F5}" type="slidenum">
              <a:t>3</a:t>
            </a:fld>
            <a:endParaRPr lang="en-GB"/>
          </a:p>
        </p:txBody>
      </p:sp>
    </p:spTree>
    <p:extLst>
      <p:ext uri="{BB962C8B-B14F-4D97-AF65-F5344CB8AC3E}">
        <p14:creationId xmlns:p14="http://schemas.microsoft.com/office/powerpoint/2010/main" val="3663536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B2565-873E-A1B4-D807-A7923D593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F753C-CB98-F3D8-3EB6-D5D12A011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2AF49-BE10-EFCB-802C-E538C850A502}"/>
              </a:ext>
            </a:extLst>
          </p:cNvPr>
          <p:cNvSpPr>
            <a:spLocks noGrp="1"/>
          </p:cNvSpPr>
          <p:nvPr>
            <p:ph type="body" idx="1"/>
          </p:nvPr>
        </p:nvSpPr>
        <p:spPr/>
        <p:txBody>
          <a:bodyPr/>
          <a:lstStyle/>
          <a:p>
            <a:pPr marL="171450" indent="-171450">
              <a:buFont typeface="Arial"/>
              <a:buChar char="•"/>
            </a:pPr>
            <a:r>
              <a:rPr lang="en-US" dirty="0">
                <a:solidFill>
                  <a:srgbClr val="03807F"/>
                </a:solidFill>
              </a:rPr>
              <a:t>Two models with the same accuracy behave very differently in deployment. Why? Distribution shift and variance: Because </a:t>
            </a:r>
            <a:r>
              <a:rPr lang="en-US" b="1" dirty="0">
                <a:solidFill>
                  <a:srgbClr val="03807F"/>
                </a:solidFill>
              </a:rPr>
              <a:t>accuracy is an average</a:t>
            </a:r>
            <a:r>
              <a:rPr lang="en-US" dirty="0">
                <a:solidFill>
                  <a:srgbClr val="03807F"/>
                </a:solidFill>
              </a:rPr>
              <a:t>, while </a:t>
            </a:r>
            <a:r>
              <a:rPr lang="en-US" b="1" dirty="0">
                <a:solidFill>
                  <a:srgbClr val="03807F"/>
                </a:solidFill>
              </a:rPr>
              <a:t>deployment exposes models to changing data distributions and different levels of variance</a:t>
            </a:r>
            <a:r>
              <a:rPr lang="en-US" dirty="0">
                <a:solidFill>
                  <a:srgbClr val="03807F"/>
                </a:solidFill>
              </a:rPr>
              <a:t>.</a:t>
            </a:r>
            <a:endParaRPr lang="en-US" dirty="0">
              <a:ea typeface="Calibri" panose="020F0502020204030204"/>
              <a:cs typeface="Calibri" panose="020F0502020204030204"/>
            </a:endParaRPr>
          </a:p>
        </p:txBody>
      </p:sp>
      <p:sp>
        <p:nvSpPr>
          <p:cNvPr id="4" name="Slide Number Placeholder 3">
            <a:extLst>
              <a:ext uri="{FF2B5EF4-FFF2-40B4-BE49-F238E27FC236}">
                <a16:creationId xmlns:a16="http://schemas.microsoft.com/office/drawing/2014/main" id="{916AA0D9-4993-8AA3-C261-C73D1259813D}"/>
              </a:ext>
            </a:extLst>
          </p:cNvPr>
          <p:cNvSpPr>
            <a:spLocks noGrp="1"/>
          </p:cNvSpPr>
          <p:nvPr>
            <p:ph type="sldNum" sz="quarter" idx="5"/>
          </p:nvPr>
        </p:nvSpPr>
        <p:spPr/>
        <p:txBody>
          <a:bodyPr/>
          <a:lstStyle/>
          <a:p>
            <a:fld id="{9FECD79B-70D4-4C0F-8998-82B634FB71F5}" type="slidenum">
              <a:t>4</a:t>
            </a:fld>
            <a:endParaRPr lang="en-GB"/>
          </a:p>
        </p:txBody>
      </p:sp>
    </p:spTree>
    <p:extLst>
      <p:ext uri="{BB962C8B-B14F-4D97-AF65-F5344CB8AC3E}">
        <p14:creationId xmlns:p14="http://schemas.microsoft.com/office/powerpoint/2010/main" val="19883278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userDrawn="1"/>
        </p:nvGrpSpPr>
        <p:grpSpPr>
          <a:xfrm>
            <a:off x="6201388" y="0"/>
            <a:ext cx="5990612" cy="6858001"/>
            <a:chOff x="6201388" y="0"/>
            <a:chExt cx="5990612" cy="6858001"/>
          </a:xfrm>
        </p:grpSpPr>
        <p:sp>
          <p:nvSpPr>
            <p:cNvPr id="34" name="Oval 33"/>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5B0A250-5CC0-1746-B209-08E8B0DAE6AF}" type="datetimeFigureOut">
              <a:rPr lang="en-US" smtClean="0"/>
              <a:t>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5B0A250-5CC0-1746-B209-08E8B0DAE6AF}" type="datetimeFigureOut">
              <a:rPr lang="en-US" smtClean="0"/>
              <a:t>2/1/2026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t>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pic>
        <p:nvPicPr>
          <p:cNvPr id="2" name="Picture 1" descr="A close up of a logo&#10;&#10;AI-generated content may be incorrect."/>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2/1/2026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2/1/2026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t>2/1/2026</a:t>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C1A636-E70D-E210-F2FB-993CA5152805}"/>
              </a:ext>
            </a:extLst>
          </p:cNvPr>
          <p:cNvSpPr txBox="1"/>
          <p:nvPr/>
        </p:nvSpPr>
        <p:spPr>
          <a:xfrm>
            <a:off x="715818" y="1373908"/>
            <a:ext cx="10783454"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dirty="0">
                <a:solidFill>
                  <a:schemeClr val="accent3">
                    <a:lumMod val="76000"/>
                  </a:schemeClr>
                </a:solidFill>
                <a:ea typeface="+mn-lt"/>
                <a:cs typeface="+mn-lt"/>
              </a:rPr>
              <a:t>Foundations of Statistics for in ML &amp;AI</a:t>
            </a:r>
            <a:endParaRPr lang="en-GB" sz="4400" b="1" dirty="0">
              <a:solidFill>
                <a:schemeClr val="accent3">
                  <a:lumMod val="76000"/>
                </a:schemeClr>
              </a:solidFill>
            </a:endParaRPr>
          </a:p>
          <a:p>
            <a:pPr algn="ctr"/>
            <a:endParaRPr lang="en-GB" b="1" dirty="0">
              <a:solidFill>
                <a:schemeClr val="accent3">
                  <a:lumMod val="76000"/>
                </a:schemeClr>
              </a:solidFill>
            </a:endParaRPr>
          </a:p>
          <a:p>
            <a:endParaRPr lang="en-GB" b="1" dirty="0">
              <a:solidFill>
                <a:schemeClr val="accent3">
                  <a:lumMod val="76000"/>
                </a:schemeClr>
              </a:solidFill>
            </a:endParaRPr>
          </a:p>
          <a:p>
            <a:endParaRPr lang="en-GB" b="1" dirty="0">
              <a:solidFill>
                <a:schemeClr val="accent3">
                  <a:lumMod val="76000"/>
                </a:schemeClr>
              </a:solidFill>
            </a:endParaRPr>
          </a:p>
          <a:p>
            <a:pPr algn="ctr"/>
            <a:r>
              <a:rPr lang="en-GB" sz="3200" b="1" dirty="0">
                <a:solidFill>
                  <a:schemeClr val="accent3">
                    <a:lumMod val="76000"/>
                  </a:schemeClr>
                </a:solidFill>
                <a:ea typeface="+mn-lt"/>
                <a:cs typeface="+mn-lt"/>
              </a:rPr>
              <a:t>Target outcome: </a:t>
            </a:r>
            <a:endParaRPr lang="en-GB" sz="3200" dirty="0">
              <a:solidFill>
                <a:schemeClr val="accent3">
                  <a:lumMod val="76000"/>
                </a:schemeClr>
              </a:solidFill>
              <a:ea typeface="+mn-lt"/>
              <a:cs typeface="+mn-lt"/>
            </a:endParaRPr>
          </a:p>
          <a:p>
            <a:pPr algn="ctr"/>
            <a:r>
              <a:rPr lang="en-GB" sz="3200" dirty="0">
                <a:solidFill>
                  <a:schemeClr val="accent3">
                    <a:lumMod val="76000"/>
                  </a:schemeClr>
                </a:solidFill>
                <a:ea typeface="+mn-lt"/>
                <a:cs typeface="+mn-lt"/>
              </a:rPr>
              <a:t>Participants stop treating statistics as magic and start seeing it as structured common sense.</a:t>
            </a:r>
            <a:endParaRPr lang="en-GB" sz="3200">
              <a:solidFill>
                <a:schemeClr val="accent3">
                  <a:lumMod val="76000"/>
                </a:schemeClr>
              </a:solidFill>
            </a:endParaRPr>
          </a:p>
          <a:p>
            <a:endParaRPr lang="en-GB" b="1" dirty="0">
              <a:solidFill>
                <a:schemeClr val="accent3">
                  <a:lumMod val="76000"/>
                </a:schemeClr>
              </a:solidFill>
            </a:endParaRPr>
          </a:p>
          <a:p>
            <a:endParaRPr lang="en-GB" b="1" dirty="0">
              <a:solidFill>
                <a:schemeClr val="accent3">
                  <a:lumMod val="76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dirty="0">
              <a:solidFill>
                <a:srgbClr val="03807F"/>
              </a:solidFill>
            </a:endParaRPr>
          </a:p>
          <a:p>
            <a:pPr marL="571500" indent="-571500">
              <a:buFont typeface="Arial"/>
              <a:buChar char="•"/>
            </a:pPr>
            <a:endParaRPr lang="en-US" dirty="0">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EDAD1F7-BB38-C95D-7ECE-AAB912129DEF}"/>
              </a:ext>
            </a:extLst>
          </p:cNvPr>
          <p:cNvSpPr txBox="1"/>
          <p:nvPr/>
        </p:nvSpPr>
        <p:spPr>
          <a:xfrm>
            <a:off x="631658" y="600363"/>
            <a:ext cx="928406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dirty="0">
                <a:solidFill>
                  <a:srgbClr val="03807F"/>
                </a:solidFill>
                <a:latin typeface="Times New Roman"/>
                <a:ea typeface="+mn-lt"/>
                <a:cs typeface="+mn-lt"/>
              </a:rPr>
              <a:t>Why statistics matters in AI and ML</a:t>
            </a:r>
            <a:endParaRPr lang="en-US" sz="4000" b="1">
              <a:latin typeface="Times New Roman"/>
              <a:ea typeface="+mn-lt"/>
              <a:cs typeface="+mn-lt"/>
            </a:endParaRPr>
          </a:p>
        </p:txBody>
      </p:sp>
      <p:sp>
        <p:nvSpPr>
          <p:cNvPr id="4" name="TextBox 3">
            <a:extLst>
              <a:ext uri="{FF2B5EF4-FFF2-40B4-BE49-F238E27FC236}">
                <a16:creationId xmlns:a16="http://schemas.microsoft.com/office/drawing/2014/main" id="{AB6FD9B8-82F3-3021-C31F-6B268285D27A}"/>
              </a:ext>
            </a:extLst>
          </p:cNvPr>
          <p:cNvSpPr txBox="1"/>
          <p:nvPr/>
        </p:nvSpPr>
        <p:spPr>
          <a:xfrm>
            <a:off x="783771" y="1724240"/>
            <a:ext cx="11029806" cy="38010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dirty="0">
                <a:highlight>
                  <a:srgbClr val="FFFFFF"/>
                </a:highlight>
                <a:latin typeface="Times New Roman"/>
                <a:cs typeface="Times New Roman"/>
              </a:rPr>
              <a:t>Statistics is the science of extracting insight from data. It </a:t>
            </a:r>
            <a:r>
              <a:rPr lang="en-US" sz="2200" err="1">
                <a:highlight>
                  <a:srgbClr val="FFFFFF"/>
                </a:highlight>
                <a:latin typeface="Times New Roman"/>
                <a:cs typeface="Times New Roman"/>
              </a:rPr>
              <a:t>organises</a:t>
            </a:r>
            <a:r>
              <a:rPr lang="en-US" sz="2200" dirty="0">
                <a:highlight>
                  <a:srgbClr val="FFFFFF"/>
                </a:highlight>
                <a:latin typeface="Times New Roman"/>
                <a:cs typeface="Times New Roman"/>
              </a:rPr>
              <a:t>, analyses and interprets information to uncover patterns and make decisions under uncertainty.</a:t>
            </a:r>
            <a:endParaRPr lang="en-US" sz="2200" dirty="0">
              <a:latin typeface="Times New Roman"/>
              <a:cs typeface="Times New Roman"/>
            </a:endParaRPr>
          </a:p>
          <a:p>
            <a:endParaRPr lang="en-US" sz="2200" b="1" dirty="0">
              <a:latin typeface="Times New Roman"/>
              <a:cs typeface="Times New Roman"/>
            </a:endParaRPr>
          </a:p>
          <a:p>
            <a:r>
              <a:rPr lang="en-US" sz="2200" b="1" dirty="0">
                <a:latin typeface="Times New Roman"/>
                <a:cs typeface="Times New Roman"/>
              </a:rPr>
              <a:t>Key messages</a:t>
            </a:r>
            <a:br>
              <a:rPr lang="en-US" sz="2200" b="1" dirty="0">
                <a:latin typeface="Times New Roman"/>
              </a:rPr>
            </a:br>
            <a:r>
              <a:rPr lang="en-US" sz="2200" dirty="0">
                <a:latin typeface="Times New Roman"/>
                <a:cs typeface="Times New Roman"/>
              </a:rPr>
              <a:t> • ML models are opinions expressed in math: modern </a:t>
            </a:r>
            <a:r>
              <a:rPr lang="en-US" sz="2200" dirty="0">
                <a:highlight>
                  <a:srgbClr val="FFFFFF"/>
                </a:highlight>
                <a:latin typeface="Times New Roman"/>
                <a:cs typeface="Times New Roman"/>
              </a:rPr>
              <a:t>ML is built on top of statistical methods</a:t>
            </a:r>
            <a:br>
              <a:rPr lang="en-US" sz="2200" dirty="0">
                <a:latin typeface="Times New Roman"/>
              </a:rPr>
            </a:br>
            <a:r>
              <a:rPr lang="en-US" sz="2200" dirty="0">
                <a:latin typeface="Times New Roman"/>
                <a:cs typeface="Times New Roman"/>
              </a:rPr>
              <a:t> • Statistics is how we measure uncertainty and risk</a:t>
            </a:r>
            <a:br>
              <a:rPr lang="en-US" sz="2200" dirty="0">
                <a:latin typeface="Times New Roman"/>
              </a:rPr>
            </a:br>
            <a:r>
              <a:rPr lang="en-US" sz="2200" dirty="0">
                <a:latin typeface="Times New Roman"/>
                <a:cs typeface="Times New Roman"/>
              </a:rPr>
              <a:t> • Most AI failures are statistical misunderstandings, not model failures</a:t>
            </a:r>
          </a:p>
          <a:p>
            <a:pPr marL="285750" indent="-285750">
              <a:buFont typeface="Arial"/>
              <a:buChar char="•"/>
            </a:pPr>
            <a:r>
              <a:rPr lang="en-US" sz="2200" dirty="0">
                <a:highlight>
                  <a:srgbClr val="FFFFFF"/>
                </a:highlight>
                <a:latin typeface="Times New Roman"/>
                <a:cs typeface="Times New Roman"/>
              </a:rPr>
              <a:t>It helps in understanding data distribution, variability and selecting the most useful features.</a:t>
            </a:r>
            <a:endParaRPr lang="en-US" sz="2200" dirty="0">
              <a:latin typeface="Times New Roman"/>
              <a:cs typeface="Times New Roman"/>
            </a:endParaRPr>
          </a:p>
          <a:p>
            <a:pPr marL="285750" indent="-285750">
              <a:buFont typeface="Arial"/>
              <a:buChar char="•"/>
            </a:pPr>
            <a:r>
              <a:rPr lang="en-US" sz="2200" dirty="0">
                <a:highlight>
                  <a:srgbClr val="FFFFFF"/>
                </a:highlight>
                <a:latin typeface="Times New Roman"/>
                <a:cs typeface="Times New Roman"/>
              </a:rPr>
              <a:t>It is used to validate model results and make decisions under uncertainty using hypothesis tests, confidence intervals and Bayesian methods.</a:t>
            </a:r>
            <a:endParaRPr lang="en-US" sz="2200" dirty="0">
              <a:latin typeface="Times New Roman"/>
              <a:cs typeface="Times New Roman"/>
            </a:endParaRPr>
          </a:p>
          <a:p>
            <a:endParaRPr lang="en-US" sz="2100" dirty="0">
              <a:solidFill>
                <a:srgbClr val="03807F"/>
              </a:solidFill>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F8E92-15A3-F6F9-4E37-DA8B3E518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64A74-B27B-1DB5-D4EE-E2B6D39F5653}"/>
              </a:ext>
            </a:extLst>
          </p:cNvPr>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dirty="0">
              <a:solidFill>
                <a:srgbClr val="03807F"/>
              </a:solidFill>
            </a:endParaRPr>
          </a:p>
          <a:p>
            <a:pPr marL="571500" indent="-571500">
              <a:buFont typeface="Arial"/>
              <a:buChar char="•"/>
            </a:pPr>
            <a:endParaRPr lang="en-US" dirty="0">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E12020B-B16B-503A-3FCF-44BFBD11530F}"/>
              </a:ext>
            </a:extLst>
          </p:cNvPr>
          <p:cNvSpPr txBox="1"/>
          <p:nvPr/>
        </p:nvSpPr>
        <p:spPr>
          <a:xfrm>
            <a:off x="631658" y="600363"/>
            <a:ext cx="928406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dirty="0">
                <a:solidFill>
                  <a:srgbClr val="03807F"/>
                </a:solidFill>
                <a:latin typeface="Times New Roman"/>
                <a:ea typeface="+mn-lt"/>
                <a:cs typeface="+mn-lt"/>
              </a:rPr>
              <a:t>Why statistics matters in AI and ML</a:t>
            </a:r>
            <a:endParaRPr lang="en-US" sz="4000" b="1">
              <a:latin typeface="Times New Roman"/>
              <a:ea typeface="+mn-lt"/>
              <a:cs typeface="+mn-lt"/>
            </a:endParaRPr>
          </a:p>
        </p:txBody>
      </p:sp>
      <p:pic>
        <p:nvPicPr>
          <p:cNvPr id="5" name="Picture 4" descr="A diagram of a machine learning&#10;&#10;AI-generated content may be incorrect.">
            <a:extLst>
              <a:ext uri="{FF2B5EF4-FFF2-40B4-BE49-F238E27FC236}">
                <a16:creationId xmlns:a16="http://schemas.microsoft.com/office/drawing/2014/main" id="{103D899B-8717-B741-AF02-2D39E4E4AFCB}"/>
              </a:ext>
            </a:extLst>
          </p:cNvPr>
          <p:cNvPicPr>
            <a:picLocks noChangeAspect="1"/>
          </p:cNvPicPr>
          <p:nvPr/>
        </p:nvPicPr>
        <p:blipFill>
          <a:blip r:embed="rId3"/>
          <a:stretch>
            <a:fillRect/>
          </a:stretch>
        </p:blipFill>
        <p:spPr>
          <a:xfrm>
            <a:off x="957944" y="1317171"/>
            <a:ext cx="10091056" cy="4702628"/>
          </a:xfrm>
          <a:prstGeom prst="rect">
            <a:avLst/>
          </a:prstGeom>
        </p:spPr>
      </p:pic>
    </p:spTree>
    <p:extLst>
      <p:ext uri="{BB962C8B-B14F-4D97-AF65-F5344CB8AC3E}">
        <p14:creationId xmlns:p14="http://schemas.microsoft.com/office/powerpoint/2010/main" val="316734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23177-6E79-9DDD-7DAC-FF3CEBD66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67FBB-5B51-1FEB-2824-DD5E41F4AD3A}"/>
              </a:ext>
            </a:extLst>
          </p:cNvPr>
          <p:cNvSpPr>
            <a:spLocks noGrp="1"/>
          </p:cNvSpPr>
          <p:nvPr>
            <p:ph type="title"/>
          </p:nvPr>
        </p:nvSpPr>
        <p:spPr>
          <a:xfrm>
            <a:off x="1393234" y="1715257"/>
            <a:ext cx="8880534" cy="3903734"/>
          </a:xfrm>
        </p:spPr>
        <p:txBody>
          <a:bodyPr>
            <a:noAutofit/>
          </a:bodyPr>
          <a:lstStyle/>
          <a:p>
            <a:pPr marL="457200" indent="-457200">
              <a:buFont typeface="Arial"/>
              <a:buChar char="•"/>
            </a:pPr>
            <a:endParaRPr lang="en-US" sz="3200" b="0" dirty="0">
              <a:solidFill>
                <a:srgbClr val="03807F"/>
              </a:solidFill>
            </a:endParaRPr>
          </a:p>
          <a:p>
            <a:pPr marL="571500" indent="-571500">
              <a:buFont typeface="Arial"/>
              <a:buChar char="•"/>
            </a:pPr>
            <a:endParaRPr lang="en-US" dirty="0">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30B4ED2-C158-4234-8FAA-211AA047B098}"/>
              </a:ext>
            </a:extLst>
          </p:cNvPr>
          <p:cNvSpPr txBox="1"/>
          <p:nvPr/>
        </p:nvSpPr>
        <p:spPr>
          <a:xfrm>
            <a:off x="1" y="299573"/>
            <a:ext cx="1027666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000" b="1" dirty="0">
                <a:solidFill>
                  <a:schemeClr val="accent3">
                    <a:lumMod val="76000"/>
                  </a:schemeClr>
                </a:solidFill>
                <a:highlight>
                  <a:srgbClr val="FFFFFF"/>
                </a:highlight>
                <a:latin typeface="Times New Roman"/>
                <a:ea typeface="+mn-lt"/>
                <a:cs typeface="+mn-lt"/>
              </a:rPr>
              <a:t>Descriptive statistics: Understanding the basics</a:t>
            </a:r>
            <a:endParaRPr lang="en-US" sz="4000" b="1">
              <a:solidFill>
                <a:schemeClr val="accent3">
                  <a:lumMod val="76000"/>
                </a:schemeClr>
              </a:solidFill>
              <a:latin typeface="Times New Roman"/>
              <a:cs typeface="Times New Roman"/>
            </a:endParaRPr>
          </a:p>
        </p:txBody>
      </p:sp>
      <p:sp>
        <p:nvSpPr>
          <p:cNvPr id="4" name="TextBox 3">
            <a:extLst>
              <a:ext uri="{FF2B5EF4-FFF2-40B4-BE49-F238E27FC236}">
                <a16:creationId xmlns:a16="http://schemas.microsoft.com/office/drawing/2014/main" id="{63C9C1FC-64E3-F489-ADF7-CD0AB08644BD}"/>
              </a:ext>
            </a:extLst>
          </p:cNvPr>
          <p:cNvSpPr txBox="1"/>
          <p:nvPr/>
        </p:nvSpPr>
        <p:spPr>
          <a:xfrm>
            <a:off x="681181" y="2055090"/>
            <a:ext cx="10367818"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dirty="0">
                <a:solidFill>
                  <a:srgbClr val="000000"/>
                </a:solidFill>
                <a:latin typeface="Times New Roman"/>
                <a:cs typeface="Times New Roman"/>
              </a:rPr>
              <a:t>Before training models, we perform exploratory data analysis (EDA), a process that relies on descriptive statistics to summarise key characteristics of the data.</a:t>
            </a:r>
          </a:p>
          <a:p>
            <a:endParaRPr lang="en-GB" sz="2000" dirty="0">
              <a:latin typeface="Times New Roman"/>
              <a:cs typeface="Times New Roman"/>
            </a:endParaRPr>
          </a:p>
          <a:p>
            <a:r>
              <a:rPr lang="en-GB" sz="2000" dirty="0">
                <a:solidFill>
                  <a:srgbClr val="161616"/>
                </a:solidFill>
                <a:highlight>
                  <a:srgbClr val="FFFFFF"/>
                </a:highlight>
                <a:latin typeface="Times New Roman"/>
                <a:cs typeface="Times New Roman"/>
              </a:rPr>
              <a:t>These summaries inform us about;</a:t>
            </a:r>
            <a:endParaRPr lang="en-GB" sz="2000" dirty="0">
              <a:solidFill>
                <a:srgbClr val="000000"/>
              </a:solidFill>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the central tendency and variability of each feature, </a:t>
            </a:r>
            <a:endParaRPr lang="en-GB" sz="2000" dirty="0">
              <a:solidFill>
                <a:srgbClr val="000000"/>
              </a:solidFill>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helping identify outliers, </a:t>
            </a:r>
            <a:endParaRPr lang="en-GB" sz="2000" dirty="0">
              <a:solidFill>
                <a:srgbClr val="000000"/>
              </a:solidFill>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data quality issues, and </a:t>
            </a:r>
            <a:endParaRPr lang="en-GB" sz="2000" dirty="0">
              <a:solidFill>
                <a:srgbClr val="000000"/>
              </a:solidFill>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preprocessing needs.</a:t>
            </a:r>
            <a:endParaRPr lang="en-GB" sz="2000" dirty="0">
              <a:solidFill>
                <a:srgbClr val="000000"/>
              </a:solidFill>
              <a:latin typeface="Times New Roman"/>
              <a:cs typeface="Times New Roman"/>
            </a:endParaRPr>
          </a:p>
          <a:p>
            <a:endParaRPr lang="en-GB" sz="2000" dirty="0">
              <a:solidFill>
                <a:srgbClr val="161616"/>
              </a:solidFill>
              <a:highlight>
                <a:srgbClr val="FFFFFF"/>
              </a:highlight>
              <a:latin typeface="Times New Roman"/>
              <a:cs typeface="Times New Roman"/>
            </a:endParaRPr>
          </a:p>
          <a:p>
            <a:r>
              <a:rPr lang="en-GB" sz="2000" dirty="0">
                <a:solidFill>
                  <a:srgbClr val="161616"/>
                </a:solidFill>
                <a:highlight>
                  <a:srgbClr val="FFFFFF"/>
                </a:highlight>
                <a:latin typeface="Times New Roman"/>
                <a:cs typeface="Times New Roman"/>
              </a:rPr>
              <a:t>Understanding these properties is a prerequisite for building effective models and choosing appropriate machine learning algorithms.</a:t>
            </a:r>
            <a:endParaRPr lang="en-GB" sz="2000" dirty="0">
              <a:latin typeface="Times New Roman"/>
              <a:cs typeface="Times New Roman"/>
            </a:endParaRPr>
          </a:p>
        </p:txBody>
      </p:sp>
    </p:spTree>
    <p:extLst>
      <p:ext uri="{BB962C8B-B14F-4D97-AF65-F5344CB8AC3E}">
        <p14:creationId xmlns:p14="http://schemas.microsoft.com/office/powerpoint/2010/main" val="2768235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2000" dirty="0">
              <a:latin typeface="Arial" panose="020B0604020202020204" pitchFamily="34" charset="0"/>
              <a:cs typeface="Arial" panose="020B0604020202020204" pitchFamily="34" charset="0"/>
            </a:endParaRPr>
          </a:p>
        </p:txBody>
      </p:sp>
      <p:sp>
        <p:nvSpPr>
          <p:cNvPr id="8" name="Title 1"/>
          <p:cNvSpPr txBox="1"/>
          <p:nvPr/>
        </p:nvSpPr>
        <p:spPr>
          <a:xfrm>
            <a:off x="1096092" y="1928724"/>
            <a:ext cx="6888960" cy="3345597"/>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pPr marL="514350" indent="-514350">
              <a:lnSpc>
                <a:spcPct val="150000"/>
              </a:lnSpc>
              <a:buFont typeface="+mj-lt"/>
              <a:buAutoNum type="arabicPeriod"/>
            </a:pPr>
            <a:endParaRPr lang="en-GB" sz="16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027D56F-6A20-5C99-E8DE-9713F5C3E7A4}"/>
              </a:ext>
            </a:extLst>
          </p:cNvPr>
          <p:cNvSpPr txBox="1"/>
          <p:nvPr/>
        </p:nvSpPr>
        <p:spPr>
          <a:xfrm>
            <a:off x="168290" y="151852"/>
            <a:ext cx="102261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000" b="1" dirty="0">
                <a:solidFill>
                  <a:schemeClr val="accent3">
                    <a:lumMod val="76000"/>
                  </a:schemeClr>
                </a:solidFill>
                <a:latin typeface="Times New Roman"/>
                <a:cs typeface="Times New Roman"/>
              </a:rPr>
              <a:t>Descriptive Statistics</a:t>
            </a:r>
            <a:endParaRPr lang="en-US" sz="4000" b="1" dirty="0">
              <a:solidFill>
                <a:schemeClr val="accent3">
                  <a:lumMod val="76000"/>
                </a:schemeClr>
              </a:solidFill>
              <a:latin typeface="Times New Roman"/>
              <a:cs typeface="Times New Roman"/>
            </a:endParaRPr>
          </a:p>
        </p:txBody>
      </p:sp>
      <p:graphicFrame>
        <p:nvGraphicFramePr>
          <p:cNvPr id="13" name="Table 12">
            <a:extLst>
              <a:ext uri="{FF2B5EF4-FFF2-40B4-BE49-F238E27FC236}">
                <a16:creationId xmlns:a16="http://schemas.microsoft.com/office/drawing/2014/main" id="{798E8C13-E851-176B-0534-7502CF53C121}"/>
              </a:ext>
            </a:extLst>
          </p:cNvPr>
          <p:cNvGraphicFramePr>
            <a:graphicFrameLocks noGrp="1"/>
          </p:cNvGraphicFramePr>
          <p:nvPr>
            <p:extLst>
              <p:ext uri="{D42A27DB-BD31-4B8C-83A1-F6EECF244321}">
                <p14:modId xmlns:p14="http://schemas.microsoft.com/office/powerpoint/2010/main" val="2112557038"/>
              </p:ext>
            </p:extLst>
          </p:nvPr>
        </p:nvGraphicFramePr>
        <p:xfrm>
          <a:off x="173181" y="1039090"/>
          <a:ext cx="11341170" cy="5045950"/>
        </p:xfrm>
        <a:graphic>
          <a:graphicData uri="http://schemas.openxmlformats.org/drawingml/2006/table">
            <a:tbl>
              <a:tblPr firstRow="1" bandRow="1">
                <a:tableStyleId>{5C22544A-7EE6-4342-B048-85BDC9FD1C3A}</a:tableStyleId>
              </a:tblPr>
              <a:tblGrid>
                <a:gridCol w="4171742">
                  <a:extLst>
                    <a:ext uri="{9D8B030D-6E8A-4147-A177-3AD203B41FA5}">
                      <a16:colId xmlns:a16="http://schemas.microsoft.com/office/drawing/2014/main" val="3559261902"/>
                    </a:ext>
                  </a:extLst>
                </a:gridCol>
                <a:gridCol w="3780389">
                  <a:extLst>
                    <a:ext uri="{9D8B030D-6E8A-4147-A177-3AD203B41FA5}">
                      <a16:colId xmlns:a16="http://schemas.microsoft.com/office/drawing/2014/main" val="3824225380"/>
                    </a:ext>
                  </a:extLst>
                </a:gridCol>
                <a:gridCol w="3389039">
                  <a:extLst>
                    <a:ext uri="{9D8B030D-6E8A-4147-A177-3AD203B41FA5}">
                      <a16:colId xmlns:a16="http://schemas.microsoft.com/office/drawing/2014/main" val="449770909"/>
                    </a:ext>
                  </a:extLst>
                </a:gridCol>
              </a:tblGrid>
              <a:tr h="872906">
                <a:tc>
                  <a:txBody>
                    <a:bodyPr/>
                    <a:lstStyle/>
                    <a:p>
                      <a:pPr lvl="0" algn="ctr">
                        <a:lnSpc>
                          <a:spcPct val="100000"/>
                        </a:lnSpc>
                        <a:spcBef>
                          <a:spcPts val="0"/>
                        </a:spcBef>
                        <a:spcAft>
                          <a:spcPts val="0"/>
                        </a:spcAft>
                        <a:buNone/>
                      </a:pPr>
                      <a:endParaRPr lang="en-GB" sz="1400" b="1" i="0" u="none" strike="noStrike" noProof="0" dirty="0">
                        <a:latin typeface="Times New Roman"/>
                      </a:endParaRPr>
                    </a:p>
                    <a:p>
                      <a:pPr lvl="0" algn="ctr">
                        <a:lnSpc>
                          <a:spcPct val="100000"/>
                        </a:lnSpc>
                        <a:spcBef>
                          <a:spcPts val="0"/>
                        </a:spcBef>
                        <a:spcAft>
                          <a:spcPts val="0"/>
                        </a:spcAft>
                        <a:buNone/>
                      </a:pPr>
                      <a:r>
                        <a:rPr lang="en-GB" sz="1400" b="1" i="0" u="none" strike="noStrike" noProof="0" dirty="0">
                          <a:latin typeface="Times New Roman"/>
                        </a:rPr>
                        <a:t>Mean (The Sensitive Average) </a:t>
                      </a:r>
                      <a:endParaRPr lang="en-US" sz="1400" b="1">
                        <a:latin typeface="Times New Roman"/>
                      </a:endParaRPr>
                    </a:p>
                    <a:p>
                      <a:pPr lvl="0" algn="ctr">
                        <a:lnSpc>
                          <a:spcPct val="100000"/>
                        </a:lnSpc>
                        <a:spcBef>
                          <a:spcPts val="0"/>
                        </a:spcBef>
                        <a:spcAft>
                          <a:spcPts val="0"/>
                        </a:spcAft>
                        <a:buNone/>
                      </a:pPr>
                      <a:endParaRPr lang="en-GB" sz="1400" b="1" dirty="0">
                        <a:latin typeface="Times New Roman"/>
                      </a:endParaRPr>
                    </a:p>
                    <a:p>
                      <a:pPr lvl="0" algn="ctr">
                        <a:lnSpc>
                          <a:spcPct val="100000"/>
                        </a:lnSpc>
                        <a:spcBef>
                          <a:spcPts val="0"/>
                        </a:spcBef>
                        <a:spcAft>
                          <a:spcPts val="0"/>
                        </a:spcAft>
                        <a:buNone/>
                      </a:pPr>
                      <a:endParaRPr lang="en-GB" sz="1400" b="1" i="0" u="none" strike="noStrike" noProof="0" dirty="0">
                        <a:latin typeface="Times New Roman"/>
                      </a:endParaRPr>
                    </a:p>
                  </a:txBody>
                  <a:tcPr/>
                </a:tc>
                <a:tc>
                  <a:txBody>
                    <a:bodyPr/>
                    <a:lstStyle/>
                    <a:p>
                      <a:pPr lvl="0" algn="ctr">
                        <a:lnSpc>
                          <a:spcPct val="100000"/>
                        </a:lnSpc>
                        <a:spcBef>
                          <a:spcPts val="0"/>
                        </a:spcBef>
                        <a:spcAft>
                          <a:spcPts val="0"/>
                        </a:spcAft>
                        <a:buNone/>
                      </a:pPr>
                      <a:endParaRPr lang="en-GB" sz="1400" b="1" i="0" u="none" strike="noStrike" noProof="0" dirty="0">
                        <a:latin typeface="Times New Roman"/>
                      </a:endParaRPr>
                    </a:p>
                    <a:p>
                      <a:pPr lvl="0" algn="ctr">
                        <a:lnSpc>
                          <a:spcPct val="100000"/>
                        </a:lnSpc>
                        <a:spcBef>
                          <a:spcPts val="0"/>
                        </a:spcBef>
                        <a:spcAft>
                          <a:spcPts val="0"/>
                        </a:spcAft>
                        <a:buNone/>
                      </a:pPr>
                      <a:r>
                        <a:rPr lang="en-GB" sz="1400" b="1" i="0" u="none" strike="noStrike" noProof="0" dirty="0">
                          <a:latin typeface="Times New Roman"/>
                        </a:rPr>
                        <a:t>Median (The Stubborn Middle) </a:t>
                      </a:r>
                      <a:endParaRPr lang="en-GB" sz="1400" b="1" dirty="0">
                        <a:latin typeface="Times New Roman"/>
                      </a:endParaRPr>
                    </a:p>
                    <a:p>
                      <a:pPr lvl="0" algn="ctr">
                        <a:lnSpc>
                          <a:spcPct val="100000"/>
                        </a:lnSpc>
                        <a:spcBef>
                          <a:spcPts val="0"/>
                        </a:spcBef>
                        <a:spcAft>
                          <a:spcPts val="0"/>
                        </a:spcAft>
                        <a:buNone/>
                      </a:pPr>
                      <a:endParaRPr lang="en-GB" sz="1400" b="1" dirty="0">
                        <a:latin typeface="Times New Roman"/>
                      </a:endParaRPr>
                    </a:p>
                    <a:p>
                      <a:pPr lvl="0" algn="ctr">
                        <a:buNone/>
                      </a:pPr>
                      <a:endParaRPr lang="en-GB" sz="1400" b="1" i="0" u="none" strike="noStrike" noProof="0" dirty="0">
                        <a:latin typeface="Times New Roman"/>
                      </a:endParaRPr>
                    </a:p>
                  </a:txBody>
                  <a:tcPr/>
                </a:tc>
                <a:tc>
                  <a:txBody>
                    <a:bodyPr/>
                    <a:lstStyle/>
                    <a:p>
                      <a:pPr lvl="0" algn="ctr">
                        <a:lnSpc>
                          <a:spcPct val="100000"/>
                        </a:lnSpc>
                        <a:spcBef>
                          <a:spcPts val="0"/>
                        </a:spcBef>
                        <a:spcAft>
                          <a:spcPts val="0"/>
                        </a:spcAft>
                        <a:buNone/>
                      </a:pPr>
                      <a:endParaRPr lang="en-GB" sz="1400" b="1" i="0" u="none" strike="noStrike" noProof="0" dirty="0">
                        <a:latin typeface="Times New Roman"/>
                      </a:endParaRPr>
                    </a:p>
                    <a:p>
                      <a:pPr lvl="0" algn="ctr">
                        <a:lnSpc>
                          <a:spcPct val="100000"/>
                        </a:lnSpc>
                        <a:spcBef>
                          <a:spcPts val="0"/>
                        </a:spcBef>
                        <a:spcAft>
                          <a:spcPts val="0"/>
                        </a:spcAft>
                        <a:buNone/>
                      </a:pPr>
                      <a:r>
                        <a:rPr lang="en-GB" sz="1400" b="1" i="0" u="none" strike="noStrike" noProof="0" dirty="0">
                          <a:latin typeface="Times New Roman"/>
                        </a:rPr>
                        <a:t>Mode (The Crowd Favourite) </a:t>
                      </a:r>
                      <a:endParaRPr lang="en-GB" sz="1400" b="1" dirty="0">
                        <a:latin typeface="Times New Roman"/>
                      </a:endParaRPr>
                    </a:p>
                  </a:txBody>
                  <a:tcPr/>
                </a:tc>
                <a:extLst>
                  <a:ext uri="{0D108BD9-81ED-4DB2-BD59-A6C34878D82A}">
                    <a16:rowId xmlns:a16="http://schemas.microsoft.com/office/drawing/2014/main" val="109996996"/>
                  </a:ext>
                </a:extLst>
              </a:tr>
              <a:tr h="1069311">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Simple Summary:</a:t>
                      </a:r>
                      <a:r>
                        <a:rPr lang="en-GB" sz="1400" b="0" i="0" u="none" strike="noStrike" noProof="0" dirty="0">
                          <a:latin typeface="Times New Roman"/>
                        </a:rPr>
                        <a:t> The balance point of the data where every value has a say. It is the  arithmetic average of values. Common in measuring centrality and in loss functions like mean squared error (MSE).</a:t>
                      </a:r>
                      <a:endParaRPr lang="en-US" sz="1400" dirty="0">
                        <a:latin typeface="Times New Roman"/>
                      </a:endParaRP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Simple Summary:</a:t>
                      </a:r>
                      <a:r>
                        <a:rPr lang="en-GB" sz="1400" b="0" i="0" u="none" strike="noStrike" noProof="0" dirty="0">
                          <a:latin typeface="Times New Roman"/>
                        </a:rPr>
                        <a:t> The literal middle value </a:t>
                      </a:r>
                      <a:r>
                        <a:rPr lang="en-GB" sz="1400" b="0" i="0" u="none" strike="noStrike" noProof="0" dirty="0">
                          <a:solidFill>
                            <a:srgbClr val="000000"/>
                          </a:solidFill>
                          <a:latin typeface="Times New Roman"/>
                        </a:rPr>
                        <a:t>when data is sorted</a:t>
                      </a:r>
                      <a:r>
                        <a:rPr lang="en-GB" sz="1400" b="0" i="0" u="none" strike="noStrike" noProof="0" dirty="0">
                          <a:latin typeface="Times New Roman"/>
                        </a:rPr>
                        <a:t>. It doesn't care about the size of the numbers at the ends; it only cares about their position. More robust to outliers than the mean.</a:t>
                      </a:r>
                      <a:endParaRPr lang="en-US" sz="1400" dirty="0">
                        <a:latin typeface="Times New Roman"/>
                      </a:endParaRP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Simple Summary:</a:t>
                      </a:r>
                      <a:r>
                        <a:rPr lang="en-GB" sz="1400" b="0" i="0" u="none" strike="noStrike" noProof="0" dirty="0">
                          <a:latin typeface="Times New Roman"/>
                        </a:rPr>
                        <a:t> The most frequent value or category i.e. the most frequently occurring value or majority voting (as in some ensemble methods).</a:t>
                      </a:r>
                      <a:endParaRPr lang="en-US" sz="1400" dirty="0">
                        <a:latin typeface="Times New Roman"/>
                      </a:endParaRPr>
                    </a:p>
                    <a:p>
                      <a:pPr lvl="0">
                        <a:buNone/>
                      </a:pPr>
                      <a:endParaRPr lang="en-GB" sz="1400" dirty="0">
                        <a:latin typeface="Times New Roman"/>
                      </a:endParaRPr>
                    </a:p>
                  </a:txBody>
                  <a:tcPr/>
                </a:tc>
                <a:extLst>
                  <a:ext uri="{0D108BD9-81ED-4DB2-BD59-A6C34878D82A}">
                    <a16:rowId xmlns:a16="http://schemas.microsoft.com/office/drawing/2014/main" val="4223657025"/>
                  </a:ext>
                </a:extLst>
              </a:tr>
              <a:tr h="621945">
                <a:tc>
                  <a:txBody>
                    <a:bodyPr/>
                    <a:lstStyle/>
                    <a:p>
                      <a:pPr marL="285750" lvl="0" indent="-285750">
                        <a:buFont typeface="Arial"/>
                        <a:buChar char="•"/>
                      </a:pPr>
                      <a:r>
                        <a:rPr lang="en-GB" sz="1400" b="1" i="0" u="none" strike="noStrike" noProof="0" dirty="0">
                          <a:solidFill>
                            <a:srgbClr val="000000"/>
                          </a:solidFill>
                          <a:latin typeface="Times New Roman"/>
                        </a:rPr>
                        <a:t>How/Where Used:</a:t>
                      </a:r>
                      <a:r>
                        <a:rPr lang="en-GB" sz="1400" b="0" i="0" u="none" strike="noStrike" noProof="0" dirty="0">
                          <a:solidFill>
                            <a:srgbClr val="000000"/>
                          </a:solidFill>
                          <a:latin typeface="Times New Roman"/>
                        </a:rPr>
                        <a:t> Used when data is symmetric and "normal" (no crazy spikes).</a:t>
                      </a: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How/Where Used:</a:t>
                      </a:r>
                      <a:r>
                        <a:rPr lang="en-GB" sz="1400" b="0" i="0" u="none" strike="noStrike" noProof="0" dirty="0">
                          <a:latin typeface="Times New Roman"/>
                        </a:rPr>
                        <a:t> Used when data is "skewed" or has extreme outliers.</a:t>
                      </a:r>
                      <a:endParaRPr lang="en-GB" sz="1400" dirty="0">
                        <a:latin typeface="Times New Roman"/>
                      </a:endParaRPr>
                    </a:p>
                  </a:txBody>
                  <a:tcPr/>
                </a:tc>
                <a:tc>
                  <a:txBody>
                    <a:bodyPr/>
                    <a:lstStyle/>
                    <a:p>
                      <a:pPr marL="285750" lvl="0" indent="-285750" algn="l">
                        <a:lnSpc>
                          <a:spcPct val="100000"/>
                        </a:lnSpc>
                        <a:spcBef>
                          <a:spcPts val="0"/>
                        </a:spcBef>
                        <a:spcAft>
                          <a:spcPts val="0"/>
                        </a:spcAft>
                        <a:buClr>
                          <a:srgbClr val="000000"/>
                        </a:buClr>
                        <a:buFont typeface="Arial,Sans-Serif"/>
                        <a:buChar char="•"/>
                      </a:pPr>
                      <a:r>
                        <a:rPr lang="en-GB" sz="1400" b="1" i="0" u="none" strike="noStrike" noProof="0" dirty="0">
                          <a:solidFill>
                            <a:srgbClr val="000000"/>
                          </a:solidFill>
                          <a:latin typeface="Times New Roman"/>
                        </a:rPr>
                        <a:t>How/Where Used:</a:t>
                      </a:r>
                      <a:r>
                        <a:rPr lang="en-GB" sz="1400" b="0" i="0" u="none" strike="noStrike" noProof="0" dirty="0">
                          <a:solidFill>
                            <a:srgbClr val="000000"/>
                          </a:solidFill>
                          <a:latin typeface="Times New Roman"/>
                        </a:rPr>
                        <a:t> Used for categorical data where math doesn't apply.</a:t>
                      </a:r>
                      <a:endParaRPr lang="en-GB" sz="1400">
                        <a:latin typeface="Times New Roman"/>
                      </a:endParaRPr>
                    </a:p>
                  </a:txBody>
                  <a:tcPr/>
                </a:tc>
                <a:extLst>
                  <a:ext uri="{0D108BD9-81ED-4DB2-BD59-A6C34878D82A}">
                    <a16:rowId xmlns:a16="http://schemas.microsoft.com/office/drawing/2014/main" val="2878259409"/>
                  </a:ext>
                </a:extLst>
              </a:tr>
              <a:tr h="1265716">
                <a:tc>
                  <a:txBody>
                    <a:bodyPr/>
                    <a:lstStyle/>
                    <a:p>
                      <a:pPr marL="285750" lvl="0" indent="-285750">
                        <a:buFont typeface="Arial"/>
                        <a:buChar char="•"/>
                      </a:pPr>
                      <a:r>
                        <a:rPr lang="en-GB" sz="1400" b="1" i="0" u="none" strike="noStrike" noProof="0" dirty="0">
                          <a:solidFill>
                            <a:srgbClr val="000000"/>
                          </a:solidFill>
                          <a:latin typeface="Times New Roman"/>
                        </a:rPr>
                        <a:t>Example:</a:t>
                      </a:r>
                      <a:r>
                        <a:rPr lang="en-GB" sz="1400" b="0" i="0" u="none" strike="noStrike" noProof="0" dirty="0">
                          <a:solidFill>
                            <a:srgbClr val="000000"/>
                          </a:solidFill>
                          <a:latin typeface="Times New Roman"/>
                        </a:rPr>
                        <a:t> Calculating the average height of students in a classroom. If customer purchase values are increasing, the mean detects shifts in behaviour.</a:t>
                      </a: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Example:</a:t>
                      </a:r>
                      <a:r>
                        <a:rPr lang="en-GB" sz="1400" b="0" i="0" u="none" strike="noStrike" noProof="0" dirty="0">
                          <a:latin typeface="Times New Roman"/>
                        </a:rPr>
                        <a:t> Reporting "Median Household Income" (because one billionaire would ruin the mean). In income data, the median better reflects a “typical” case in the presence of skewed wealth.</a:t>
                      </a:r>
                      <a:endParaRPr lang="en-GB" sz="1400" dirty="0">
                        <a:latin typeface="Times New Roman"/>
                      </a:endParaRPr>
                    </a:p>
                    <a:p>
                      <a:pPr lvl="0">
                        <a:buNone/>
                      </a:pPr>
                      <a:endParaRPr lang="en-GB" sz="1400" dirty="0">
                        <a:latin typeface="Times New Roman"/>
                      </a:endParaRPr>
                    </a:p>
                  </a:txBody>
                  <a:tcPr/>
                </a:tc>
                <a:tc>
                  <a:txBody>
                    <a:bodyPr/>
                    <a:lstStyle/>
                    <a:p>
                      <a:pPr marL="285750" lvl="0" indent="-285750" algn="l">
                        <a:lnSpc>
                          <a:spcPct val="100000"/>
                        </a:lnSpc>
                        <a:spcBef>
                          <a:spcPts val="0"/>
                        </a:spcBef>
                        <a:spcAft>
                          <a:spcPts val="0"/>
                        </a:spcAft>
                        <a:buClr>
                          <a:srgbClr val="000000"/>
                        </a:buClr>
                        <a:buFont typeface="Arial,Sans-Serif"/>
                        <a:buChar char="•"/>
                      </a:pPr>
                      <a:r>
                        <a:rPr lang="en-GB" sz="1400" b="1" i="0" u="none" strike="noStrike" noProof="0" dirty="0">
                          <a:solidFill>
                            <a:srgbClr val="000000"/>
                          </a:solidFill>
                          <a:latin typeface="Times New Roman"/>
                        </a:rPr>
                        <a:t>Example:</a:t>
                      </a:r>
                      <a:r>
                        <a:rPr lang="en-GB" sz="1400" b="0" i="0" u="none" strike="noStrike" noProof="0" dirty="0">
                          <a:solidFill>
                            <a:srgbClr val="000000"/>
                          </a:solidFill>
                          <a:latin typeface="Times New Roman"/>
                        </a:rPr>
                        <a:t> Determining the most popular t-shirt size (Small, Medium, or Large) in an inventory.  Finding the most common browser used by site visitors.</a:t>
                      </a:r>
                      <a:endParaRPr lang="en-GB" sz="1400" dirty="0">
                        <a:latin typeface="Times New Roman"/>
                      </a:endParaRPr>
                    </a:p>
                  </a:txBody>
                  <a:tcPr/>
                </a:tc>
                <a:extLst>
                  <a:ext uri="{0D108BD9-81ED-4DB2-BD59-A6C34878D82A}">
                    <a16:rowId xmlns:a16="http://schemas.microsoft.com/office/drawing/2014/main" val="327498346"/>
                  </a:ext>
                </a:extLst>
              </a:tr>
              <a:tr h="949285">
                <a:tc>
                  <a:txBody>
                    <a:bodyPr/>
                    <a:lstStyle/>
                    <a:p>
                      <a:pPr marL="285750" lvl="0" indent="-285750" algn="l">
                        <a:lnSpc>
                          <a:spcPct val="100000"/>
                        </a:lnSpc>
                        <a:spcBef>
                          <a:spcPts val="0"/>
                        </a:spcBef>
                        <a:spcAft>
                          <a:spcPts val="0"/>
                        </a:spcAft>
                        <a:buClr>
                          <a:srgbClr val="000000"/>
                        </a:buClr>
                        <a:buFont typeface="Arial,Sans-Serif"/>
                        <a:buChar char="•"/>
                      </a:pPr>
                      <a:r>
                        <a:rPr lang="en-GB" sz="1400" b="1" i="0" u="none" strike="noStrike" noProof="0" dirty="0">
                          <a:solidFill>
                            <a:srgbClr val="000000"/>
                          </a:solidFill>
                          <a:latin typeface="Times New Roman"/>
                        </a:rPr>
                        <a:t>Practitioner Insight:</a:t>
                      </a:r>
                      <a:r>
                        <a:rPr lang="en-GB" sz="1400" b="0" i="0" u="none" strike="noStrike" noProof="0" dirty="0">
                          <a:solidFill>
                            <a:srgbClr val="000000"/>
                          </a:solidFill>
                          <a:latin typeface="Times New Roman"/>
                        </a:rPr>
                        <a:t> In ML, we use Mean to normalise features so they all sit on a similar scale.</a:t>
                      </a:r>
                    </a:p>
                  </a:txBody>
                  <a:tcPr/>
                </a:tc>
                <a:tc>
                  <a:txBody>
                    <a:bodyPr/>
                    <a:lstStyle/>
                    <a:p>
                      <a:pPr marL="285750" lvl="0" indent="-285750" algn="l">
                        <a:lnSpc>
                          <a:spcPct val="100000"/>
                        </a:lnSpc>
                        <a:spcBef>
                          <a:spcPts val="0"/>
                        </a:spcBef>
                        <a:spcAft>
                          <a:spcPts val="0"/>
                        </a:spcAft>
                        <a:buFont typeface="Arial"/>
                        <a:buChar char="•"/>
                      </a:pPr>
                      <a:r>
                        <a:rPr lang="en-GB" sz="1400" b="1" i="0" u="none" strike="noStrike" noProof="0" dirty="0">
                          <a:latin typeface="Times New Roman"/>
                        </a:rPr>
                        <a:t>Practitioner Insight:</a:t>
                      </a:r>
                      <a:r>
                        <a:rPr lang="en-GB" sz="1400" b="0" i="0" u="none" strike="noStrike" noProof="0" dirty="0">
                          <a:latin typeface="Times New Roman"/>
                        </a:rPr>
                        <a:t> Use the median to fill in missing data (</a:t>
                      </a:r>
                      <a:r>
                        <a:rPr lang="en-GB" sz="1400" b="1" i="0" u="none" strike="noStrike" noProof="0" dirty="0">
                          <a:latin typeface="Times New Roman"/>
                        </a:rPr>
                        <a:t>imputation</a:t>
                      </a:r>
                      <a:r>
                        <a:rPr lang="en-GB" sz="1400" b="0" i="0" u="none" strike="noStrike" noProof="0" dirty="0">
                          <a:latin typeface="Times New Roman"/>
                        </a:rPr>
                        <a:t>) when your dataset has outliers you don't want to delete.</a:t>
                      </a:r>
                      <a:endParaRPr lang="en-GB" sz="1400" dirty="0">
                        <a:latin typeface="Times New Roman"/>
                      </a:endParaRPr>
                    </a:p>
                    <a:p>
                      <a:pPr lvl="0">
                        <a:buNone/>
                      </a:pPr>
                      <a:endParaRPr lang="en-GB" sz="1400" dirty="0">
                        <a:latin typeface="Times New Roman"/>
                      </a:endParaRPr>
                    </a:p>
                  </a:txBody>
                  <a:tcPr/>
                </a:tc>
                <a:tc>
                  <a:txBody>
                    <a:bodyPr/>
                    <a:lstStyle/>
                    <a:p>
                      <a:endParaRPr lang="en-GB" sz="1400" dirty="0">
                        <a:latin typeface="Times New Roman"/>
                      </a:endParaRPr>
                    </a:p>
                  </a:txBody>
                  <a:tcPr/>
                </a:tc>
                <a:extLst>
                  <a:ext uri="{0D108BD9-81ED-4DB2-BD59-A6C34878D82A}">
                    <a16:rowId xmlns:a16="http://schemas.microsoft.com/office/drawing/2014/main" val="201093907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8DA9-4A85-74EA-7780-58C5C112A93F}"/>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CCA03B4A-ED8C-EEEE-C9BE-1EA050DB89BA}"/>
              </a:ext>
            </a:extLst>
          </p:cNvPr>
          <p:cNvSpPr txBox="1"/>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88527B40-5BC3-62B0-3743-ECEA138D473F}"/>
              </a:ext>
            </a:extLst>
          </p:cNvPr>
          <p:cNvSpPr txBox="1"/>
          <p:nvPr/>
        </p:nvSpPr>
        <p:spPr>
          <a:xfrm>
            <a:off x="168290" y="151852"/>
            <a:ext cx="102261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000" b="1" dirty="0">
                <a:solidFill>
                  <a:schemeClr val="accent3">
                    <a:lumMod val="76000"/>
                  </a:schemeClr>
                </a:solidFill>
                <a:latin typeface="Times New Roman"/>
                <a:cs typeface="Times New Roman"/>
              </a:rPr>
              <a:t>Descriptive Statistics</a:t>
            </a:r>
            <a:endParaRPr lang="en-US" sz="4000" b="1" dirty="0">
              <a:solidFill>
                <a:schemeClr val="accent3">
                  <a:lumMod val="76000"/>
                </a:schemeClr>
              </a:solidFill>
              <a:latin typeface="Times New Roman"/>
              <a:cs typeface="Times New Roman"/>
            </a:endParaRPr>
          </a:p>
        </p:txBody>
      </p:sp>
      <p:pic>
        <p:nvPicPr>
          <p:cNvPr id="5" name="Picture 4" descr="A screenshot of a computer&#10;&#10;AI-generated content may be incorrect.">
            <a:extLst>
              <a:ext uri="{FF2B5EF4-FFF2-40B4-BE49-F238E27FC236}">
                <a16:creationId xmlns:a16="http://schemas.microsoft.com/office/drawing/2014/main" id="{C516509C-94FC-8102-0B32-EFC9B2B91BB0}"/>
              </a:ext>
            </a:extLst>
          </p:cNvPr>
          <p:cNvPicPr>
            <a:picLocks noChangeAspect="1"/>
          </p:cNvPicPr>
          <p:nvPr/>
        </p:nvPicPr>
        <p:blipFill>
          <a:blip r:embed="rId2"/>
          <a:stretch>
            <a:fillRect/>
          </a:stretch>
        </p:blipFill>
        <p:spPr>
          <a:xfrm>
            <a:off x="6549159" y="2461347"/>
            <a:ext cx="4381500" cy="2143125"/>
          </a:xfrm>
          <a:prstGeom prst="rect">
            <a:avLst/>
          </a:prstGeom>
        </p:spPr>
      </p:pic>
      <p:pic>
        <p:nvPicPr>
          <p:cNvPr id="4" name="Picture 3" descr="A screenshot of a computer code&#10;&#10;AI-generated content may be incorrect.">
            <a:extLst>
              <a:ext uri="{FF2B5EF4-FFF2-40B4-BE49-F238E27FC236}">
                <a16:creationId xmlns:a16="http://schemas.microsoft.com/office/drawing/2014/main" id="{31E24524-E364-68E7-935C-D0BAD30CB5FA}"/>
              </a:ext>
            </a:extLst>
          </p:cNvPr>
          <p:cNvPicPr>
            <a:picLocks noChangeAspect="1"/>
          </p:cNvPicPr>
          <p:nvPr/>
        </p:nvPicPr>
        <p:blipFill>
          <a:blip r:embed="rId3"/>
          <a:stretch>
            <a:fillRect/>
          </a:stretch>
        </p:blipFill>
        <p:spPr>
          <a:xfrm>
            <a:off x="471343" y="1213572"/>
            <a:ext cx="6076950" cy="4638675"/>
          </a:xfrm>
          <a:prstGeom prst="rect">
            <a:avLst/>
          </a:prstGeom>
        </p:spPr>
      </p:pic>
    </p:spTree>
    <p:extLst>
      <p:ext uri="{BB962C8B-B14F-4D97-AF65-F5344CB8AC3E}">
        <p14:creationId xmlns:p14="http://schemas.microsoft.com/office/powerpoint/2010/main" val="1066914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1" y="912944"/>
            <a:ext cx="6888960" cy="52032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US" sz="3200" dirty="0">
              <a:solidFill>
                <a:srgbClr val="03807F"/>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3B888E1-21A9-92DA-0EF7-71449DF77B72}"/>
              </a:ext>
            </a:extLst>
          </p:cNvPr>
          <p:cNvSpPr txBox="1"/>
          <p:nvPr/>
        </p:nvSpPr>
        <p:spPr>
          <a:xfrm>
            <a:off x="348711" y="245389"/>
            <a:ext cx="995766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Descriptive Statistics</a:t>
            </a:r>
            <a:endParaRPr lang="en-GB" sz="2400" dirty="0">
              <a:solidFill>
                <a:schemeClr val="accent3">
                  <a:lumMod val="76000"/>
                </a:schemeClr>
              </a:solidFill>
              <a:latin typeface="Times New Roman"/>
              <a:cs typeface="Times New Roman"/>
            </a:endParaRPr>
          </a:p>
        </p:txBody>
      </p:sp>
      <p:graphicFrame>
        <p:nvGraphicFramePr>
          <p:cNvPr id="4" name="Table 3">
            <a:extLst>
              <a:ext uri="{FF2B5EF4-FFF2-40B4-BE49-F238E27FC236}">
                <a16:creationId xmlns:a16="http://schemas.microsoft.com/office/drawing/2014/main" id="{FC7A0E3E-94BF-4A62-A6B5-FE9C4572AE76}"/>
              </a:ext>
            </a:extLst>
          </p:cNvPr>
          <p:cNvGraphicFramePr>
            <a:graphicFrameLocks noGrp="1"/>
          </p:cNvGraphicFramePr>
          <p:nvPr>
            <p:extLst>
              <p:ext uri="{D42A27DB-BD31-4B8C-83A1-F6EECF244321}">
                <p14:modId xmlns:p14="http://schemas.microsoft.com/office/powerpoint/2010/main" val="3737576981"/>
              </p:ext>
            </p:extLst>
          </p:nvPr>
        </p:nvGraphicFramePr>
        <p:xfrm>
          <a:off x="697423" y="1110711"/>
          <a:ext cx="10962290" cy="4751734"/>
        </p:xfrm>
        <a:graphic>
          <a:graphicData uri="http://schemas.openxmlformats.org/drawingml/2006/table">
            <a:tbl>
              <a:tblPr firstRow="1" bandRow="1">
                <a:tableStyleId>{5C22544A-7EE6-4342-B048-85BDC9FD1C3A}</a:tableStyleId>
              </a:tblPr>
              <a:tblGrid>
                <a:gridCol w="5481145">
                  <a:extLst>
                    <a:ext uri="{9D8B030D-6E8A-4147-A177-3AD203B41FA5}">
                      <a16:colId xmlns:a16="http://schemas.microsoft.com/office/drawing/2014/main" val="836491152"/>
                    </a:ext>
                  </a:extLst>
                </a:gridCol>
                <a:gridCol w="5481145">
                  <a:extLst>
                    <a:ext uri="{9D8B030D-6E8A-4147-A177-3AD203B41FA5}">
                      <a16:colId xmlns:a16="http://schemas.microsoft.com/office/drawing/2014/main" val="2961206614"/>
                    </a:ext>
                  </a:extLst>
                </a:gridCol>
              </a:tblGrid>
              <a:tr h="877454">
                <a:tc gridSpan="2">
                  <a:txBody>
                    <a:bodyPr/>
                    <a:lstStyle/>
                    <a:p>
                      <a:pPr lvl="0" algn="ctr">
                        <a:buNone/>
                      </a:pPr>
                      <a:r>
                        <a:rPr lang="en-GB" sz="1400" b="1" i="0" u="none" strike="noStrike" noProof="0" dirty="0">
                          <a:latin typeface="Times New Roman"/>
                        </a:rPr>
                        <a:t>Variance &amp; Standard Deviation (</a:t>
                      </a:r>
                      <a:r>
                        <a:rPr lang="en-GB" sz="1400" b="1" i="0" u="none" strike="noStrike" noProof="0" dirty="0"/>
                        <a:t>The "Nervous Energy"</a:t>
                      </a:r>
                      <a:r>
                        <a:rPr lang="en-GB" sz="1400" b="1" i="0" u="none" strike="noStrike" noProof="0" dirty="0">
                          <a:latin typeface="Times New Roman"/>
                        </a:rPr>
                        <a:t>)</a:t>
                      </a:r>
                    </a:p>
                    <a:p>
                      <a:pPr lvl="0" algn="ctr">
                        <a:buNone/>
                      </a:pPr>
                      <a:endParaRPr lang="en-GB" sz="1400" b="1" i="0" u="none" strike="noStrike" noProof="0" dirty="0">
                        <a:latin typeface="Times New Roman"/>
                      </a:endParaRPr>
                    </a:p>
                    <a:p>
                      <a:pPr lvl="0">
                        <a:buNone/>
                      </a:pPr>
                      <a:r>
                        <a:rPr lang="en-GB" sz="1400" b="0" i="0" u="none" strike="noStrike" noProof="0" dirty="0">
                          <a:latin typeface="Times New Roman"/>
                        </a:rPr>
                        <a:t>If the </a:t>
                      </a:r>
                      <a:r>
                        <a:rPr lang="en-GB" sz="1400" b="1" i="0" u="none" strike="noStrike" noProof="0" dirty="0">
                          <a:latin typeface="Times New Roman"/>
                        </a:rPr>
                        <a:t>Mean</a:t>
                      </a:r>
                      <a:r>
                        <a:rPr lang="en-GB" sz="1400" b="0" i="0" u="none" strike="noStrike" noProof="0" dirty="0">
                          <a:latin typeface="Times New Roman"/>
                        </a:rPr>
                        <a:t> is the </a:t>
                      </a:r>
                      <a:r>
                        <a:rPr lang="en-GB" sz="1400" b="1" i="1" u="none" strike="noStrike" noProof="0" dirty="0">
                          <a:latin typeface="Times New Roman"/>
                        </a:rPr>
                        <a:t>anchor</a:t>
                      </a:r>
                      <a:r>
                        <a:rPr lang="en-GB" sz="1400" b="0" i="0" u="none" strike="noStrike" noProof="0" dirty="0">
                          <a:latin typeface="Times New Roman"/>
                        </a:rPr>
                        <a:t> then </a:t>
                      </a:r>
                      <a:r>
                        <a:rPr lang="en-GB" sz="1400" b="1" i="0" u="none" strike="noStrike" noProof="0" dirty="0">
                          <a:latin typeface="Times New Roman"/>
                        </a:rPr>
                        <a:t>Variance and Standard Deviation</a:t>
                      </a:r>
                      <a:r>
                        <a:rPr lang="en-GB" sz="1400" b="0" i="0" u="none" strike="noStrike" noProof="0" dirty="0">
                          <a:latin typeface="Times New Roman"/>
                        </a:rPr>
                        <a:t> describe how much the data is trying to pull away from that anchor.</a:t>
                      </a:r>
                      <a:endParaRPr lang="en-GB" sz="1400" dirty="0">
                        <a:latin typeface="Times New Roman"/>
                      </a:endParaRPr>
                    </a:p>
                  </a:txBody>
                  <a:tcPr/>
                </a:tc>
                <a:tc hMerge="1">
                  <a:txBody>
                    <a:bodyPr/>
                    <a:lstStyle/>
                    <a:p>
                      <a:endParaRPr lang="en-US"/>
                    </a:p>
                  </a:txBody>
                  <a:tcPr/>
                </a:tc>
                <a:extLst>
                  <a:ext uri="{0D108BD9-81ED-4DB2-BD59-A6C34878D82A}">
                    <a16:rowId xmlns:a16="http://schemas.microsoft.com/office/drawing/2014/main" val="3205104994"/>
                  </a:ext>
                </a:extLst>
              </a:tr>
              <a:tr h="968570">
                <a:tc>
                  <a:txBody>
                    <a:bodyPr/>
                    <a:lstStyle/>
                    <a:p>
                      <a:pPr lvl="0" algn="ctr">
                        <a:buNone/>
                      </a:pPr>
                      <a:endParaRPr lang="en-GB" sz="1400" b="0" i="0" u="none" strike="noStrike" noProof="0" dirty="0">
                        <a:latin typeface="Times New Roman"/>
                      </a:endParaRPr>
                    </a:p>
                    <a:p>
                      <a:pPr lvl="0" algn="ctr">
                        <a:buNone/>
                      </a:pPr>
                      <a:r>
                        <a:rPr lang="en-GB" sz="1400" b="1" i="0" u="none" strike="noStrike" noProof="0" dirty="0">
                          <a:latin typeface="Times New Roman"/>
                        </a:rPr>
                        <a:t>Variance: The "Raw Math Engine"</a:t>
                      </a:r>
                      <a:endParaRPr lang="en-US" sz="1400" b="1">
                        <a:latin typeface="Times New Roman"/>
                      </a:endParaRPr>
                    </a:p>
                  </a:txBody>
                  <a:tcPr/>
                </a:tc>
                <a:tc>
                  <a:txBody>
                    <a:bodyPr/>
                    <a:lstStyle/>
                    <a:p>
                      <a:pPr lvl="0">
                        <a:buNone/>
                      </a:pPr>
                      <a:endParaRPr lang="en-GB" sz="1400" b="0" i="0" u="none" strike="noStrike" noProof="0" dirty="0">
                        <a:latin typeface="Times New Roman"/>
                      </a:endParaRPr>
                    </a:p>
                    <a:p>
                      <a:pPr lvl="0" algn="ctr">
                        <a:buNone/>
                      </a:pPr>
                      <a:r>
                        <a:rPr lang="en-GB" sz="1400" b="1" i="0" u="none" strike="noStrike" noProof="0" dirty="0">
                          <a:latin typeface="Times New Roman"/>
                        </a:rPr>
                        <a:t>Standard Deviation: The "Back to Reality" Ruler</a:t>
                      </a:r>
                      <a:endParaRPr lang="en-US" sz="1400" b="1">
                        <a:latin typeface="Times New Roman"/>
                      </a:endParaRPr>
                    </a:p>
                  </a:txBody>
                  <a:tcPr/>
                </a:tc>
                <a:extLst>
                  <a:ext uri="{0D108BD9-81ED-4DB2-BD59-A6C34878D82A}">
                    <a16:rowId xmlns:a16="http://schemas.microsoft.com/office/drawing/2014/main" val="552871297"/>
                  </a:ext>
                </a:extLst>
              </a:tr>
              <a:tr h="968570">
                <a:tc>
                  <a:txBody>
                    <a:bodyPr/>
                    <a:lstStyle/>
                    <a:p>
                      <a:pPr lvl="0">
                        <a:buNone/>
                      </a:pPr>
                      <a:r>
                        <a:rPr lang="en-GB" sz="1400" b="0" i="0" u="none" strike="noStrike" noProof="0" dirty="0">
                          <a:latin typeface="Times New Roman"/>
                        </a:rPr>
                        <a:t>It's the </a:t>
                      </a:r>
                      <a:r>
                        <a:rPr lang="en-GB" sz="1400" b="1" i="0" u="none" strike="noStrike" noProof="0" dirty="0">
                          <a:solidFill>
                            <a:srgbClr val="000000"/>
                          </a:solidFill>
                          <a:latin typeface="Times New Roman"/>
                        </a:rPr>
                        <a:t>squared </a:t>
                      </a:r>
                      <a:r>
                        <a:rPr lang="en-GB" sz="1400" b="0" i="0" u="none" strike="noStrike" noProof="0" dirty="0">
                          <a:solidFill>
                            <a:srgbClr val="000000"/>
                          </a:solidFill>
                          <a:latin typeface="Times New Roman"/>
                        </a:rPr>
                        <a:t>of the </a:t>
                      </a:r>
                      <a:r>
                        <a:rPr lang="en-GB" sz="1400" b="0" i="0" u="none" strike="noStrike" noProof="0" dirty="0">
                          <a:latin typeface="Times New Roman"/>
                        </a:rPr>
                        <a:t>average of how far every point is from the </a:t>
                      </a:r>
                      <a:r>
                        <a:rPr lang="en-GB" sz="1400" b="0" i="0" u="none" strike="noStrike" noProof="0" dirty="0" err="1">
                          <a:latin typeface="Times New Roman"/>
                        </a:rPr>
                        <a:t>center</a:t>
                      </a:r>
                      <a:r>
                        <a:rPr lang="en-GB" sz="1400" b="0" i="0" u="none" strike="noStrike" noProof="0" dirty="0">
                          <a:latin typeface="Times New Roman"/>
                        </a:rPr>
                        <a:t>, i.e., the mean of squared deviation from the mean</a:t>
                      </a:r>
                    </a:p>
                  </a:txBody>
                  <a:tcPr/>
                </a:tc>
                <a:tc>
                  <a:txBody>
                    <a:bodyPr/>
                    <a:lstStyle/>
                    <a:p>
                      <a:pPr lvl="0">
                        <a:buNone/>
                      </a:pPr>
                      <a:r>
                        <a:rPr lang="en-GB" sz="1400" b="0" i="0" u="none" strike="noStrike" baseline="0" noProof="0" dirty="0">
                          <a:solidFill>
                            <a:srgbClr val="000000"/>
                          </a:solidFill>
                          <a:latin typeface="Times New Roman"/>
                        </a:rPr>
                        <a:t>Measures how spread out the values are from the mean.  The square root of Variance. It brings back into the original units we understand (dollars, </a:t>
                      </a:r>
                      <a:r>
                        <a:rPr lang="en-GB" sz="1400" b="0" i="0" u="none" strike="noStrike" baseline="0" noProof="0" err="1">
                          <a:solidFill>
                            <a:srgbClr val="000000"/>
                          </a:solidFill>
                          <a:latin typeface="Times New Roman"/>
                        </a:rPr>
                        <a:t>centimeters</a:t>
                      </a:r>
                      <a:r>
                        <a:rPr lang="en-GB" sz="1400" b="0" i="0" u="none" strike="noStrike" baseline="0" noProof="0" dirty="0">
                          <a:solidFill>
                            <a:srgbClr val="000000"/>
                          </a:solidFill>
                          <a:latin typeface="Times New Roman"/>
                        </a:rPr>
                        <a:t>, etc.)</a:t>
                      </a:r>
                      <a:endParaRPr lang="en-GB" sz="1400" dirty="0">
                        <a:latin typeface="Times New Roman"/>
                      </a:endParaRPr>
                    </a:p>
                    <a:p>
                      <a:pPr lvl="0">
                        <a:buNone/>
                      </a:pPr>
                      <a:endParaRPr lang="en-GB" sz="1400" b="0" i="0" u="none" strike="noStrike" baseline="0" noProof="0" dirty="0">
                        <a:solidFill>
                          <a:srgbClr val="000000"/>
                        </a:solidFill>
                        <a:latin typeface="Times New Roman"/>
                      </a:endParaRPr>
                    </a:p>
                  </a:txBody>
                  <a:tcPr/>
                </a:tc>
                <a:extLst>
                  <a:ext uri="{0D108BD9-81ED-4DB2-BD59-A6C34878D82A}">
                    <a16:rowId xmlns:a16="http://schemas.microsoft.com/office/drawing/2014/main" val="3019758138"/>
                  </a:ext>
                </a:extLst>
              </a:tr>
              <a:tr h="968570">
                <a:tc>
                  <a:txBody>
                    <a:bodyPr/>
                    <a:lstStyle/>
                    <a:p>
                      <a:pPr lvl="0">
                        <a:buNone/>
                      </a:pPr>
                      <a:r>
                        <a:rPr lang="en-GB" sz="1400" b="1" i="0" u="none" strike="noStrike" baseline="0" noProof="0" dirty="0">
                          <a:solidFill>
                            <a:srgbClr val="000000"/>
                          </a:solidFill>
                          <a:latin typeface="Times New Roman"/>
                        </a:rPr>
                        <a:t>Why we square it:</a:t>
                      </a:r>
                      <a:r>
                        <a:rPr lang="en-GB" sz="1400" b="0" i="0" u="none" strike="noStrike" baseline="0" noProof="0" dirty="0">
                          <a:solidFill>
                            <a:srgbClr val="000000"/>
                          </a:solidFill>
                          <a:latin typeface="Times New Roman"/>
                        </a:rPr>
                        <a:t> If we didn't square the distances, the negative numbers (points below average) and positive numbers (points above average) would cancel each other out to zero. Squaring makes everything positive and "punishes" outliers—making big gaps look even bigger.</a:t>
                      </a:r>
                      <a:endParaRPr lang="en-US" sz="1400">
                        <a:latin typeface="Times New Roman"/>
                      </a:endParaRPr>
                    </a:p>
                  </a:txBody>
                  <a:tcPr/>
                </a:tc>
                <a:tc>
                  <a:txBody>
                    <a:bodyPr/>
                    <a:lstStyle/>
                    <a:p>
                      <a:pPr lvl="0">
                        <a:buNone/>
                      </a:pPr>
                      <a:r>
                        <a:rPr lang="en-GB" sz="1400" b="0" i="0" u="none" strike="noStrike" noProof="0" dirty="0">
                          <a:solidFill>
                            <a:srgbClr val="000000"/>
                          </a:solidFill>
                          <a:latin typeface="Times New Roman"/>
                        </a:rPr>
                        <a:t>A </a:t>
                      </a:r>
                      <a:r>
                        <a:rPr lang="en-GB" sz="1400" b="1" i="0" u="none" strike="noStrike" noProof="0" dirty="0">
                          <a:solidFill>
                            <a:srgbClr val="000000"/>
                          </a:solidFill>
                          <a:latin typeface="Times New Roman"/>
                        </a:rPr>
                        <a:t>low SD</a:t>
                      </a:r>
                      <a:r>
                        <a:rPr lang="en-GB" sz="1400" b="0" i="0" u="none" strike="noStrike" noProof="0" dirty="0">
                          <a:solidFill>
                            <a:srgbClr val="000000"/>
                          </a:solidFill>
                          <a:latin typeface="Times New Roman"/>
                        </a:rPr>
                        <a:t> implies that the data is "calm", data points are clustered near (hugging) the mean, while a </a:t>
                      </a:r>
                      <a:r>
                        <a:rPr lang="en-GB" sz="1400" b="1" i="0" u="none" strike="noStrike" noProof="0" dirty="0">
                          <a:solidFill>
                            <a:srgbClr val="000000"/>
                          </a:solidFill>
                          <a:latin typeface="Times New Roman"/>
                        </a:rPr>
                        <a:t>high SD</a:t>
                      </a:r>
                      <a:r>
                        <a:rPr lang="en-GB" sz="1400" b="0" i="0" u="none" strike="noStrike" noProof="0" dirty="0">
                          <a:solidFill>
                            <a:srgbClr val="000000"/>
                          </a:solidFill>
                          <a:latin typeface="Times New Roman"/>
                        </a:rPr>
                        <a:t> indicates the data is "frantic", greater variability. The data points are scattered everywhere (High risk/unpredictability).</a:t>
                      </a:r>
                      <a:endParaRPr lang="en-GB" sz="1400">
                        <a:latin typeface="Times New Roman"/>
                      </a:endParaRPr>
                    </a:p>
                  </a:txBody>
                  <a:tcPr/>
                </a:tc>
                <a:extLst>
                  <a:ext uri="{0D108BD9-81ED-4DB2-BD59-A6C34878D82A}">
                    <a16:rowId xmlns:a16="http://schemas.microsoft.com/office/drawing/2014/main" val="2869650458"/>
                  </a:ext>
                </a:extLst>
              </a:tr>
              <a:tr h="968570">
                <a:tc>
                  <a:txBody>
                    <a:bodyPr/>
                    <a:lstStyle/>
                    <a:p>
                      <a:pPr lvl="0">
                        <a:buNone/>
                      </a:pPr>
                      <a:r>
                        <a:rPr lang="en-GB" sz="1400" b="1" i="0" u="none" strike="noStrike" noProof="0" dirty="0">
                          <a:latin typeface="Times New Roman"/>
                        </a:rPr>
                        <a:t>The Catch:</a:t>
                      </a:r>
                      <a:r>
                        <a:rPr lang="en-GB" sz="1400" b="0" i="0" u="none" strike="noStrike" noProof="0" dirty="0">
                          <a:latin typeface="Times New Roman"/>
                        </a:rPr>
                        <a:t> Because we squared everything, the units are weird (e.g., "squared dollars" or "squared </a:t>
                      </a:r>
                      <a:r>
                        <a:rPr lang="en-GB" sz="1400" b="0" i="0" u="none" strike="noStrike" noProof="0" err="1">
                          <a:latin typeface="Times New Roman"/>
                        </a:rPr>
                        <a:t>centimeters</a:t>
                      </a:r>
                      <a:r>
                        <a:rPr lang="en-GB" sz="1400" b="0" i="0" u="none" strike="noStrike" noProof="0" dirty="0">
                          <a:latin typeface="Times New Roman"/>
                        </a:rPr>
                        <a:t>"). It’s hard to visualize.</a:t>
                      </a:r>
                      <a:endParaRPr lang="en-US" sz="1400">
                        <a:latin typeface="Times New Roman"/>
                      </a:endParaRPr>
                    </a:p>
                  </a:txBody>
                  <a:tcPr/>
                </a:tc>
                <a:tc>
                  <a:txBody>
                    <a:bodyPr/>
                    <a:lstStyle/>
                    <a:p>
                      <a:endParaRPr lang="en-GB" sz="1400" dirty="0">
                        <a:latin typeface="Times New Roman"/>
                      </a:endParaRPr>
                    </a:p>
                  </a:txBody>
                  <a:tcPr/>
                </a:tc>
                <a:extLst>
                  <a:ext uri="{0D108BD9-81ED-4DB2-BD59-A6C34878D82A}">
                    <a16:rowId xmlns:a16="http://schemas.microsoft.com/office/drawing/2014/main" val="379957714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96091" y="788608"/>
            <a:ext cx="6888960" cy="57235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US" sz="3200" dirty="0">
              <a:solidFill>
                <a:srgbClr val="03807F"/>
              </a:solidFill>
              <a:latin typeface="Arial" panose="020B0604020202020204" pitchFamily="34" charset="0"/>
              <a:cs typeface="Arial" panose="020B0604020202020204" pitchFamily="34" charset="0"/>
            </a:endParaRPr>
          </a:p>
        </p:txBody>
      </p:sp>
      <p:pic>
        <p:nvPicPr>
          <p:cNvPr id="2" name="Picture 1" descr="A screen shot of a computer code&#10;&#10;AI-generated content may be incorrect.">
            <a:extLst>
              <a:ext uri="{FF2B5EF4-FFF2-40B4-BE49-F238E27FC236}">
                <a16:creationId xmlns:a16="http://schemas.microsoft.com/office/drawing/2014/main" id="{52CC5093-6D47-1734-2CB5-3D13DE5CDBAF}"/>
              </a:ext>
            </a:extLst>
          </p:cNvPr>
          <p:cNvPicPr>
            <a:picLocks noChangeAspect="1"/>
          </p:cNvPicPr>
          <p:nvPr/>
        </p:nvPicPr>
        <p:blipFill>
          <a:blip r:embed="rId2"/>
          <a:stretch>
            <a:fillRect/>
          </a:stretch>
        </p:blipFill>
        <p:spPr>
          <a:xfrm>
            <a:off x="94383" y="1271877"/>
            <a:ext cx="6115050" cy="4752975"/>
          </a:xfrm>
          <a:prstGeom prst="rect">
            <a:avLst/>
          </a:prstGeom>
        </p:spPr>
      </p:pic>
      <p:pic>
        <p:nvPicPr>
          <p:cNvPr id="3" name="Picture 2" descr="A screenshot of a computer program&#10;&#10;AI-generated content may be incorrect.">
            <a:extLst>
              <a:ext uri="{FF2B5EF4-FFF2-40B4-BE49-F238E27FC236}">
                <a16:creationId xmlns:a16="http://schemas.microsoft.com/office/drawing/2014/main" id="{56497E69-5D34-24B9-FB34-B37EE5199B84}"/>
              </a:ext>
            </a:extLst>
          </p:cNvPr>
          <p:cNvPicPr>
            <a:picLocks noChangeAspect="1"/>
          </p:cNvPicPr>
          <p:nvPr/>
        </p:nvPicPr>
        <p:blipFill>
          <a:blip r:embed="rId3"/>
          <a:stretch>
            <a:fillRect/>
          </a:stretch>
        </p:blipFill>
        <p:spPr>
          <a:xfrm>
            <a:off x="6092825" y="896072"/>
            <a:ext cx="3562350" cy="1971675"/>
          </a:xfrm>
          <a:prstGeom prst="rect">
            <a:avLst/>
          </a:prstGeom>
        </p:spPr>
      </p:pic>
      <p:pic>
        <p:nvPicPr>
          <p:cNvPr id="4" name="Picture 3" descr="A white text on a black background&#10;&#10;AI-generated content may be incorrect.">
            <a:extLst>
              <a:ext uri="{FF2B5EF4-FFF2-40B4-BE49-F238E27FC236}">
                <a16:creationId xmlns:a16="http://schemas.microsoft.com/office/drawing/2014/main" id="{0D4AA465-97FF-6786-E371-D0BAAA263B13}"/>
              </a:ext>
            </a:extLst>
          </p:cNvPr>
          <p:cNvPicPr>
            <a:picLocks noChangeAspect="1"/>
          </p:cNvPicPr>
          <p:nvPr/>
        </p:nvPicPr>
        <p:blipFill>
          <a:blip r:embed="rId4"/>
          <a:stretch>
            <a:fillRect/>
          </a:stretch>
        </p:blipFill>
        <p:spPr>
          <a:xfrm>
            <a:off x="6214341" y="2857645"/>
            <a:ext cx="2488045" cy="3001530"/>
          </a:xfrm>
          <a:prstGeom prst="rect">
            <a:avLst/>
          </a:prstGeom>
        </p:spPr>
      </p:pic>
      <p:pic>
        <p:nvPicPr>
          <p:cNvPr id="5" name="Picture 4" descr="A white background with black text&#10;&#10;AI-generated content may be incorrect.">
            <a:extLst>
              <a:ext uri="{FF2B5EF4-FFF2-40B4-BE49-F238E27FC236}">
                <a16:creationId xmlns:a16="http://schemas.microsoft.com/office/drawing/2014/main" id="{BCB77E2A-6C24-21FA-AC6A-C74C84522DB5}"/>
              </a:ext>
            </a:extLst>
          </p:cNvPr>
          <p:cNvPicPr>
            <a:picLocks noChangeAspect="1"/>
          </p:cNvPicPr>
          <p:nvPr/>
        </p:nvPicPr>
        <p:blipFill>
          <a:blip r:embed="rId5"/>
          <a:stretch>
            <a:fillRect/>
          </a:stretch>
        </p:blipFill>
        <p:spPr>
          <a:xfrm>
            <a:off x="8712778" y="2856056"/>
            <a:ext cx="3390900" cy="3166341"/>
          </a:xfrm>
          <a:prstGeom prst="rect">
            <a:avLst/>
          </a:prstGeom>
        </p:spPr>
      </p:pic>
      <p:sp>
        <p:nvSpPr>
          <p:cNvPr id="6" name="TextBox 5">
            <a:extLst>
              <a:ext uri="{FF2B5EF4-FFF2-40B4-BE49-F238E27FC236}">
                <a16:creationId xmlns:a16="http://schemas.microsoft.com/office/drawing/2014/main" id="{6B089900-F8A2-1144-7F84-08DC01145F5F}"/>
              </a:ext>
            </a:extLst>
          </p:cNvPr>
          <p:cNvSpPr txBox="1"/>
          <p:nvPr/>
        </p:nvSpPr>
        <p:spPr>
          <a:xfrm>
            <a:off x="1004454" y="415636"/>
            <a:ext cx="852054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Descriptive Statistics</a:t>
            </a:r>
            <a:endParaRPr lang="en-GB" sz="2400" dirty="0">
              <a:latin typeface="Times New Roman"/>
              <a:cs typeface="Times New Roman"/>
            </a:endParaRPr>
          </a:p>
          <a:p>
            <a:pPr algn="l"/>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45CC7-5345-EDAB-9E79-0D516DB88253}"/>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069DC2A6-BE95-97DE-82F2-DF1503BB784F}"/>
              </a:ext>
            </a:extLst>
          </p:cNvPr>
          <p:cNvSpPr txBox="1"/>
          <p:nvPr/>
        </p:nvSpPr>
        <p:spPr>
          <a:xfrm>
            <a:off x="1096092" y="1474086"/>
            <a:ext cx="8420049" cy="391606"/>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D43A78-BCDA-6114-35E0-08C68F17DF33}"/>
              </a:ext>
            </a:extLst>
          </p:cNvPr>
          <p:cNvSpPr txBox="1"/>
          <p:nvPr/>
        </p:nvSpPr>
        <p:spPr>
          <a:xfrm>
            <a:off x="168290" y="151852"/>
            <a:ext cx="102261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000" b="1" dirty="0">
                <a:solidFill>
                  <a:schemeClr val="accent3">
                    <a:lumMod val="76000"/>
                  </a:schemeClr>
                </a:solidFill>
                <a:latin typeface="Times New Roman"/>
                <a:cs typeface="Times New Roman"/>
              </a:rPr>
              <a:t>Descriptive Statistics</a:t>
            </a:r>
            <a:endParaRPr lang="en-US" sz="4000" b="1" dirty="0">
              <a:solidFill>
                <a:schemeClr val="accent3">
                  <a:lumMod val="76000"/>
                </a:schemeClr>
              </a:solidFill>
              <a:latin typeface="Times New Roman"/>
              <a:cs typeface="Times New Roman"/>
            </a:endParaRPr>
          </a:p>
        </p:txBody>
      </p:sp>
      <p:pic>
        <p:nvPicPr>
          <p:cNvPr id="2" name="Picture 1" descr="A diagram of a normal distribution&#10;&#10;AI-generated content may be incorrect.">
            <a:extLst>
              <a:ext uri="{FF2B5EF4-FFF2-40B4-BE49-F238E27FC236}">
                <a16:creationId xmlns:a16="http://schemas.microsoft.com/office/drawing/2014/main" id="{6E0A36DA-789D-0BF1-0384-1704153E5A81}"/>
              </a:ext>
            </a:extLst>
          </p:cNvPr>
          <p:cNvPicPr>
            <a:picLocks noChangeAspect="1"/>
          </p:cNvPicPr>
          <p:nvPr/>
        </p:nvPicPr>
        <p:blipFill>
          <a:blip r:embed="rId2"/>
          <a:stretch>
            <a:fillRect/>
          </a:stretch>
        </p:blipFill>
        <p:spPr>
          <a:xfrm>
            <a:off x="6289964" y="1966913"/>
            <a:ext cx="4876800" cy="2924175"/>
          </a:xfrm>
          <a:prstGeom prst="rect">
            <a:avLst/>
          </a:prstGeom>
        </p:spPr>
      </p:pic>
      <p:pic>
        <p:nvPicPr>
          <p:cNvPr id="5" name="Picture 4" descr="When Central Tendency Meets Skewed Distribution | by Niveatha  Manickavasagam | Medium">
            <a:extLst>
              <a:ext uri="{FF2B5EF4-FFF2-40B4-BE49-F238E27FC236}">
                <a16:creationId xmlns:a16="http://schemas.microsoft.com/office/drawing/2014/main" id="{3E20DCD9-53C0-1408-FC6E-14B074624168}"/>
              </a:ext>
            </a:extLst>
          </p:cNvPr>
          <p:cNvPicPr>
            <a:picLocks noChangeAspect="1"/>
          </p:cNvPicPr>
          <p:nvPr/>
        </p:nvPicPr>
        <p:blipFill>
          <a:blip r:embed="rId3"/>
          <a:stretch>
            <a:fillRect/>
          </a:stretch>
        </p:blipFill>
        <p:spPr>
          <a:xfrm>
            <a:off x="284596" y="2128694"/>
            <a:ext cx="5815444" cy="3685886"/>
          </a:xfrm>
          <a:prstGeom prst="rect">
            <a:avLst/>
          </a:prstGeom>
        </p:spPr>
      </p:pic>
    </p:spTree>
    <p:extLst>
      <p:ext uri="{BB962C8B-B14F-4D97-AF65-F5344CB8AC3E}">
        <p14:creationId xmlns:p14="http://schemas.microsoft.com/office/powerpoint/2010/main" val="783745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a:xfrm>
            <a:off x="1066595" y="611626"/>
            <a:ext cx="7713612" cy="105002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a:lstStyle>
          <a:p>
            <a:endParaRPr lang="en-GB" sz="3200" dirty="0">
              <a:solidFill>
                <a:srgbClr val="45C2C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145F5EC-3200-946B-B258-03902E555B01}"/>
              </a:ext>
            </a:extLst>
          </p:cNvPr>
          <p:cNvSpPr txBox="1"/>
          <p:nvPr/>
        </p:nvSpPr>
        <p:spPr>
          <a:xfrm>
            <a:off x="126999" y="300181"/>
            <a:ext cx="1003299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Probabilities: The language of uncertainty</a:t>
            </a:r>
            <a:endParaRPr lang="en-US" sz="2400" b="1" dirty="0">
              <a:solidFill>
                <a:schemeClr val="accent3">
                  <a:lumMod val="76000"/>
                </a:schemeClr>
              </a:solidFill>
              <a:latin typeface="Times New Roman"/>
              <a:cs typeface="Times New Roman"/>
            </a:endParaRPr>
          </a:p>
          <a:p>
            <a:pPr algn="ctr"/>
            <a:endParaRPr lang="en-GB" sz="2400" b="1" dirty="0">
              <a:solidFill>
                <a:schemeClr val="accent3">
                  <a:lumMod val="76000"/>
                </a:schemeClr>
              </a:solidFill>
              <a:latin typeface="Times New Roman"/>
              <a:cs typeface="Times New Roman"/>
            </a:endParaRPr>
          </a:p>
        </p:txBody>
      </p:sp>
      <p:sp>
        <p:nvSpPr>
          <p:cNvPr id="2" name="TextBox 1">
            <a:extLst>
              <a:ext uri="{FF2B5EF4-FFF2-40B4-BE49-F238E27FC236}">
                <a16:creationId xmlns:a16="http://schemas.microsoft.com/office/drawing/2014/main" id="{D10ADB24-826E-42CE-9105-C9F42CE344BD}"/>
              </a:ext>
            </a:extLst>
          </p:cNvPr>
          <p:cNvSpPr txBox="1"/>
          <p:nvPr/>
        </p:nvSpPr>
        <p:spPr>
          <a:xfrm>
            <a:off x="889000" y="1385454"/>
            <a:ext cx="980209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buFont typeface="Arial"/>
              <a:buChar char="•"/>
            </a:pPr>
            <a:r>
              <a:rPr lang="en-GB" sz="2000" dirty="0">
                <a:solidFill>
                  <a:srgbClr val="161616"/>
                </a:solidFill>
                <a:highlight>
                  <a:srgbClr val="FFFFFF"/>
                </a:highlight>
                <a:latin typeface="Times New Roman"/>
                <a:cs typeface="Times New Roman"/>
              </a:rPr>
              <a:t>Modelling by using</a:t>
            </a:r>
            <a:r>
              <a:rPr lang="en-GB" sz="2000" b="1" dirty="0">
                <a:solidFill>
                  <a:srgbClr val="161616"/>
                </a:solidFill>
                <a:highlight>
                  <a:srgbClr val="FFFFFF"/>
                </a:highlight>
                <a:latin typeface="Times New Roman"/>
                <a:cs typeface="Times New Roman"/>
              </a:rPr>
              <a:t> machine learning</a:t>
            </a:r>
            <a:r>
              <a:rPr lang="en-GB" sz="2000" dirty="0">
                <a:solidFill>
                  <a:srgbClr val="161616"/>
                </a:solidFill>
                <a:highlight>
                  <a:srgbClr val="FFFFFF"/>
                </a:highlight>
                <a:latin typeface="Times New Roman"/>
                <a:cs typeface="Times New Roman"/>
              </a:rPr>
              <a:t> exists </a:t>
            </a:r>
            <a:r>
              <a:rPr lang="en-GB" sz="2000" b="1" dirty="0">
                <a:solidFill>
                  <a:srgbClr val="161616"/>
                </a:solidFill>
                <a:highlight>
                  <a:srgbClr val="FFFFFF"/>
                </a:highlight>
                <a:latin typeface="Times New Roman"/>
                <a:cs typeface="Times New Roman"/>
              </a:rPr>
              <a:t>because of uncertainty</a:t>
            </a:r>
            <a:r>
              <a:rPr lang="en-GB" sz="2000" dirty="0">
                <a:solidFill>
                  <a:srgbClr val="161616"/>
                </a:solidFill>
                <a:highlight>
                  <a:srgbClr val="FFFFFF"/>
                </a:highlight>
                <a:latin typeface="Times New Roman"/>
                <a:cs typeface="Times New Roman"/>
              </a:rPr>
              <a:t>. </a:t>
            </a:r>
            <a:endParaRPr lang="en-US" sz="2000">
              <a:solidFill>
                <a:srgbClr val="000000"/>
              </a:solidFill>
              <a:latin typeface="Times New Roman"/>
              <a:cs typeface="Times New Roman"/>
            </a:endParaRPr>
          </a:p>
          <a:p>
            <a:pPr marL="628650" lvl="1" indent="-171450">
              <a:buFont typeface="Courier New"/>
              <a:buChar char="o"/>
            </a:pPr>
            <a:r>
              <a:rPr lang="en-GB" sz="2000" dirty="0">
                <a:solidFill>
                  <a:srgbClr val="161616"/>
                </a:solidFill>
                <a:highlight>
                  <a:srgbClr val="FFFFFF"/>
                </a:highlight>
                <a:latin typeface="Times New Roman"/>
                <a:cs typeface="Times New Roman"/>
              </a:rPr>
              <a:t> If we could perfectly map inputs to outputs, there would be no need for models. But real-world data is messy, incomplete and noisy—so we model </a:t>
            </a:r>
            <a:r>
              <a:rPr lang="en-GB" sz="2000" b="1" dirty="0">
                <a:solidFill>
                  <a:srgbClr val="161616"/>
                </a:solidFill>
                <a:highlight>
                  <a:srgbClr val="FFFFFF"/>
                </a:highlight>
                <a:latin typeface="Times New Roman"/>
                <a:cs typeface="Times New Roman"/>
              </a:rPr>
              <a:t>likelihoods</a:t>
            </a:r>
            <a:r>
              <a:rPr lang="en-GB" sz="2000" dirty="0">
                <a:solidFill>
                  <a:srgbClr val="161616"/>
                </a:solidFill>
                <a:highlight>
                  <a:srgbClr val="FFFFFF"/>
                </a:highlight>
                <a:latin typeface="Times New Roman"/>
                <a:cs typeface="Times New Roman"/>
              </a:rPr>
              <a:t> instead of certainties. </a:t>
            </a:r>
            <a:endParaRPr lang="en-US" sz="2000">
              <a:solidFill>
                <a:srgbClr val="000000"/>
              </a:solidFill>
              <a:latin typeface="Times New Roman"/>
              <a:cs typeface="Times New Roman"/>
            </a:endParaRPr>
          </a:p>
          <a:p>
            <a:pPr lvl="1"/>
            <a:endParaRPr lang="en-GB" sz="2000" dirty="0">
              <a:solidFill>
                <a:srgbClr val="161616"/>
              </a:solidFill>
              <a:highlight>
                <a:srgbClr val="FFFFFF"/>
              </a:highlight>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Learning about probabilities lays the fundamentals of everything machine learning and artificial intelligence (AI). Theories in probabilities allow us to understand the data we used to model in a beautiful and elegant way.</a:t>
            </a:r>
          </a:p>
          <a:p>
            <a:endParaRPr lang="en-GB" sz="2000" dirty="0">
              <a:solidFill>
                <a:srgbClr val="161616"/>
              </a:solidFill>
              <a:highlight>
                <a:srgbClr val="FFFFFF"/>
              </a:highlight>
              <a:latin typeface="Times New Roman"/>
              <a:cs typeface="Times New Roman"/>
            </a:endParaRPr>
          </a:p>
          <a:p>
            <a:pPr marL="171450" indent="-171450">
              <a:buFont typeface="Arial"/>
              <a:buChar char="•"/>
            </a:pPr>
            <a:r>
              <a:rPr lang="en-GB" sz="2000" dirty="0">
                <a:solidFill>
                  <a:srgbClr val="161616"/>
                </a:solidFill>
                <a:highlight>
                  <a:srgbClr val="FFFFFF"/>
                </a:highlight>
                <a:latin typeface="Times New Roman"/>
                <a:cs typeface="Times New Roman"/>
              </a:rPr>
              <a:t> It plays a critical role in modelling uncertainties in ML models predictions, and helps us quantify likelihood, probability and certainties for a statistical model so we can confidently measure the outcome models we create.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9D530E-CDF4-0AB8-DD55-FE9A8025841A}"/>
              </a:ext>
            </a:extLst>
          </p:cNvPr>
          <p:cNvSpPr txBox="1"/>
          <p:nvPr/>
        </p:nvSpPr>
        <p:spPr>
          <a:xfrm>
            <a:off x="542636" y="1166091"/>
            <a:ext cx="1106054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GB" dirty="0"/>
          </a:p>
          <a:p>
            <a:pPr marL="285750" indent="-285750" algn="just">
              <a:buFont typeface="Arial"/>
              <a:buChar char="•"/>
            </a:pPr>
            <a:r>
              <a:rPr lang="en-GB" b="1" dirty="0">
                <a:ea typeface="+mn-lt"/>
                <a:cs typeface="+mn-lt"/>
              </a:rPr>
              <a:t>Random variable:</a:t>
            </a:r>
            <a:r>
              <a:rPr lang="en-GB" dirty="0">
                <a:ea typeface="+mn-lt"/>
                <a:cs typeface="+mn-lt"/>
              </a:rPr>
              <a:t> A numerical representation of an outcome of a random phenomenon. It's a variable whose possible values are numerical outcomes of a random process.</a:t>
            </a:r>
            <a:endParaRPr lang="en-GB" dirty="0"/>
          </a:p>
          <a:p>
            <a:pPr marL="285750" indent="-285750" algn="just">
              <a:buFont typeface="Arial"/>
              <a:buChar char="•"/>
            </a:pPr>
            <a:endParaRPr lang="en-GB"/>
          </a:p>
          <a:p>
            <a:pPr marL="742950" lvl="1" indent="-285750" algn="just">
              <a:buFont typeface="Courier New"/>
              <a:buChar char="o"/>
            </a:pPr>
            <a:r>
              <a:rPr lang="en-GB" b="1" dirty="0">
                <a:ea typeface="+mn-lt"/>
                <a:cs typeface="+mn-lt"/>
              </a:rPr>
              <a:t>Discrete random variable: </a:t>
            </a:r>
            <a:r>
              <a:rPr lang="en-GB" dirty="0">
                <a:ea typeface="+mn-lt"/>
                <a:cs typeface="+mn-lt"/>
              </a:rPr>
              <a:t>A random variable that can take on a finite or countably infinite number of distinct values. For example, the outcome of a coin flip (Heads = 1, Tails = 0), or the number of spam emails received in an hour.</a:t>
            </a:r>
            <a:endParaRPr lang="en-GB" dirty="0"/>
          </a:p>
          <a:p>
            <a:pPr marL="742950" lvl="1" indent="-285750" algn="just">
              <a:buFont typeface="Courier New"/>
              <a:buChar char="o"/>
            </a:pPr>
            <a:endParaRPr lang="en-GB"/>
          </a:p>
          <a:p>
            <a:pPr marL="742950" lvl="1" indent="-285750" algn="just">
              <a:buFont typeface="Courier New"/>
              <a:buChar char="o"/>
            </a:pPr>
            <a:r>
              <a:rPr lang="en-GB" b="1" dirty="0">
                <a:ea typeface="+mn-lt"/>
                <a:cs typeface="+mn-lt"/>
              </a:rPr>
              <a:t>Continuous random variable:</a:t>
            </a:r>
            <a:r>
              <a:rPr lang="en-GB" dirty="0">
                <a:ea typeface="+mn-lt"/>
                <a:cs typeface="+mn-lt"/>
              </a:rPr>
              <a:t> A random variable that can take on any value within a given range. For example, the height of a person, the temperature in a room or the amount of rainfall.</a:t>
            </a:r>
            <a:endParaRPr lang="en-GB" dirty="0"/>
          </a:p>
          <a:p>
            <a:pPr marL="285750" indent="-285750" algn="just">
              <a:buFont typeface="Arial"/>
              <a:buChar char="•"/>
            </a:pPr>
            <a:endParaRPr lang="en-GB"/>
          </a:p>
          <a:p>
            <a:pPr marL="285750" indent="-285750" algn="just">
              <a:buFont typeface="Arial"/>
              <a:buChar char="•"/>
            </a:pPr>
            <a:r>
              <a:rPr lang="en-GB" b="1" dirty="0">
                <a:ea typeface="+mn-lt"/>
                <a:cs typeface="+mn-lt"/>
              </a:rPr>
              <a:t>Event:</a:t>
            </a:r>
            <a:r>
              <a:rPr lang="en-GB" dirty="0">
                <a:ea typeface="+mn-lt"/>
                <a:cs typeface="+mn-lt"/>
              </a:rPr>
              <a:t> A set of one or more outcomes from a random process. For example, rolling an even number on a die (outcomes: 2, 4, 6) or a customer churning.</a:t>
            </a:r>
            <a:endParaRPr lang="en-GB" dirty="0"/>
          </a:p>
          <a:p>
            <a:pPr marL="285750" indent="-285750" algn="just">
              <a:buFont typeface="Arial"/>
              <a:buChar char="•"/>
            </a:pPr>
            <a:endParaRPr lang="en-GB"/>
          </a:p>
          <a:p>
            <a:pPr marL="285750" indent="-285750" algn="just">
              <a:buFont typeface="Arial"/>
              <a:buChar char="•"/>
            </a:pPr>
            <a:r>
              <a:rPr lang="en-GB" b="1" dirty="0">
                <a:ea typeface="+mn-lt"/>
                <a:cs typeface="+mn-lt"/>
              </a:rPr>
              <a:t>Outcome:</a:t>
            </a:r>
            <a:r>
              <a:rPr lang="en-GB" dirty="0">
                <a:ea typeface="+mn-lt"/>
                <a:cs typeface="+mn-lt"/>
              </a:rPr>
              <a:t> A single possible result of a random experiment. For example, flipping a coin yields either "Heads" or "Tails."</a:t>
            </a:r>
            <a:endParaRPr lang="en-GB" dirty="0"/>
          </a:p>
        </p:txBody>
      </p:sp>
      <p:sp>
        <p:nvSpPr>
          <p:cNvPr id="4" name="TextBox 3">
            <a:extLst>
              <a:ext uri="{FF2B5EF4-FFF2-40B4-BE49-F238E27FC236}">
                <a16:creationId xmlns:a16="http://schemas.microsoft.com/office/drawing/2014/main" id="{B440D686-DC9D-8EFF-31B9-E3E4DCD80F99}"/>
              </a:ext>
            </a:extLst>
          </p:cNvPr>
          <p:cNvSpPr txBox="1"/>
          <p:nvPr/>
        </p:nvSpPr>
        <p:spPr>
          <a:xfrm>
            <a:off x="277090" y="415637"/>
            <a:ext cx="999836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Basics Terminologies</a:t>
            </a:r>
            <a:endParaRPr lang="en-US" sz="2400" b="1">
              <a:solidFill>
                <a:schemeClr val="accent3">
                  <a:lumMod val="76000"/>
                </a:schemeClr>
              </a:solidFill>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96DDB5-C489-F798-1C1A-3C5EC45AFAE2}"/>
              </a:ext>
            </a:extLst>
          </p:cNvPr>
          <p:cNvSpPr txBox="1"/>
          <p:nvPr/>
        </p:nvSpPr>
        <p:spPr>
          <a:xfrm>
            <a:off x="519545" y="1073728"/>
            <a:ext cx="10437091"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GB" sz="2000" b="1" dirty="0">
                <a:latin typeface="Times New Roman"/>
                <a:ea typeface="+mn-lt"/>
                <a:cs typeface="+mn-lt"/>
              </a:rPr>
              <a:t>Probability P(A):</a:t>
            </a:r>
            <a:r>
              <a:rPr lang="en-GB" sz="2000" dirty="0">
                <a:latin typeface="Times New Roman"/>
                <a:ea typeface="+mn-lt"/>
                <a:cs typeface="+mn-lt"/>
              </a:rPr>
              <a:t> A numerical measure of the likelihood that an event A will occur, ranging from 0 (impossible) to 1 (certain).</a:t>
            </a:r>
            <a:endParaRPr lang="en-US" sz="2000">
              <a:latin typeface="Times New Roman"/>
              <a:cs typeface="Times New Roman"/>
            </a:endParaRPr>
          </a:p>
          <a:p>
            <a:pPr marL="285750" indent="-285750" algn="just">
              <a:buFont typeface="Arial"/>
              <a:buChar char="•"/>
            </a:pPr>
            <a:endParaRPr lang="en-GB" sz="2000" dirty="0">
              <a:latin typeface="Times New Roman"/>
              <a:cs typeface="Times New Roman"/>
            </a:endParaRPr>
          </a:p>
          <a:p>
            <a:pPr marL="285750" indent="-285750" algn="just">
              <a:buFont typeface="Arial"/>
              <a:buChar char="•"/>
            </a:pPr>
            <a:r>
              <a:rPr lang="en-GB" sz="2000" b="1" dirty="0">
                <a:latin typeface="Times New Roman"/>
                <a:ea typeface="+mn-lt"/>
                <a:cs typeface="+mn-lt"/>
              </a:rPr>
              <a:t>Conditional probability P(A|B): </a:t>
            </a:r>
            <a:r>
              <a:rPr lang="en-GB" sz="2000" dirty="0">
                <a:latin typeface="Times New Roman"/>
                <a:ea typeface="+mn-lt"/>
                <a:cs typeface="+mn-lt"/>
              </a:rPr>
              <a:t>The probability of event A occurring, given that event A has already occurred. This step is crucial in ML, as we often want to predict an outcome given specific features.</a:t>
            </a:r>
            <a:endParaRPr lang="en-GB" sz="2000" dirty="0">
              <a:latin typeface="Times New Roman"/>
              <a:cs typeface="Times New Roman"/>
            </a:endParaRPr>
          </a:p>
          <a:p>
            <a:pPr marL="285750" indent="-285750" algn="just">
              <a:buFont typeface="Arial"/>
              <a:buChar char="•"/>
            </a:pPr>
            <a:endParaRPr lang="en-GB" sz="2000" dirty="0">
              <a:latin typeface="Times New Roman"/>
              <a:cs typeface="Times New Roman"/>
            </a:endParaRPr>
          </a:p>
          <a:p>
            <a:pPr marL="285750" indent="-285750" algn="just">
              <a:buFont typeface="Arial"/>
              <a:buChar char="•"/>
            </a:pPr>
            <a:r>
              <a:rPr lang="en-GB" sz="2000" dirty="0">
                <a:latin typeface="Times New Roman"/>
                <a:ea typeface="+mn-lt"/>
                <a:cs typeface="+mn-lt"/>
              </a:rPr>
              <a:t>Probability is a measure of how likely an event is to happen, from 0 (impossible) to 1 (certain). So, in machine learning, it often takes the form of conditional probability</a:t>
            </a:r>
            <a:endParaRPr lang="en-GB" sz="2000" dirty="0">
              <a:latin typeface="Times New Roman"/>
              <a:cs typeface="Times New Roman"/>
            </a:endParaRPr>
          </a:p>
          <a:p>
            <a:pPr marL="285750" indent="-285750" algn="just">
              <a:buFont typeface="Arial"/>
              <a:buChar char="•"/>
            </a:pPr>
            <a:endParaRPr lang="en-GB" sz="2000" dirty="0">
              <a:latin typeface="Times New Roman"/>
              <a:cs typeface="Times New Roman"/>
            </a:endParaRPr>
          </a:p>
          <a:p>
            <a:pPr marL="285750" indent="-285750" algn="just">
              <a:buFont typeface="Arial"/>
              <a:buChar char="•"/>
            </a:pPr>
            <a:r>
              <a:rPr lang="en-GB" sz="2000" b="1" dirty="0">
                <a:latin typeface="Times New Roman"/>
                <a:ea typeface="+mn-lt"/>
                <a:cs typeface="+mn-lt"/>
              </a:rPr>
              <a:t>Example:</a:t>
            </a:r>
            <a:r>
              <a:rPr lang="en-GB" sz="2000" dirty="0">
                <a:latin typeface="Times New Roman"/>
                <a:ea typeface="+mn-lt"/>
                <a:cs typeface="+mn-lt"/>
              </a:rPr>
              <a:t> A logistic regression model might say</a:t>
            </a:r>
            <a:endParaRPr lang="en-GB" sz="2000" dirty="0">
              <a:latin typeface="Times New Roman"/>
              <a:cs typeface="Times New Roman"/>
            </a:endParaRPr>
          </a:p>
          <a:p>
            <a:pPr marL="742950" lvl="1" indent="-285750" algn="just">
              <a:buFont typeface="Courier New"/>
              <a:buChar char="o"/>
            </a:pPr>
            <a:r>
              <a:rPr lang="en-GB" sz="2000" dirty="0">
                <a:latin typeface="Times New Roman"/>
                <a:ea typeface="+mn-lt"/>
                <a:cs typeface="+mn-lt"/>
              </a:rPr>
              <a:t>Given age = 45, income = N80,000, and prior history of churn,</a:t>
            </a:r>
            <a:endParaRPr lang="en-GB" sz="2000" dirty="0">
              <a:latin typeface="Times New Roman"/>
              <a:cs typeface="Times New Roman"/>
            </a:endParaRPr>
          </a:p>
          <a:p>
            <a:pPr marL="742950" lvl="1" indent="-285750" algn="just">
              <a:buFont typeface="Courier New"/>
              <a:buChar char="o"/>
            </a:pPr>
            <a:r>
              <a:rPr lang="en-GB" sz="2000" dirty="0">
                <a:latin typeface="Times New Roman"/>
                <a:ea typeface="+mn-lt"/>
                <a:cs typeface="+mn-lt"/>
              </a:rPr>
              <a:t>the probability of churn is 0.82.”</a:t>
            </a:r>
            <a:endParaRPr lang="en-GB" sz="2000" dirty="0">
              <a:latin typeface="Times New Roman"/>
              <a:cs typeface="Times New Roman"/>
            </a:endParaRPr>
          </a:p>
          <a:p>
            <a:pPr marL="285750" indent="-285750" algn="just">
              <a:buFont typeface="Arial"/>
              <a:buChar char="•"/>
            </a:pPr>
            <a:endParaRPr lang="en-GB" sz="2000" dirty="0">
              <a:latin typeface="Times New Roman"/>
              <a:cs typeface="Times New Roman"/>
            </a:endParaRPr>
          </a:p>
          <a:p>
            <a:pPr marL="285750" indent="-285750" algn="just">
              <a:buFont typeface="Arial"/>
              <a:buChar char="•"/>
            </a:pPr>
            <a:r>
              <a:rPr lang="en-GB" sz="2000" dirty="0">
                <a:latin typeface="Times New Roman"/>
                <a:ea typeface="+mn-lt"/>
                <a:cs typeface="+mn-lt"/>
              </a:rPr>
              <a:t>This example doesn’t mean that the customer will churn—it’s a belief based on the statistical patterns in the training data.</a:t>
            </a:r>
            <a:endParaRPr lang="en-GB" sz="2000" dirty="0">
              <a:latin typeface="Times New Roman"/>
              <a:cs typeface="Times New Roman"/>
            </a:endParaRPr>
          </a:p>
        </p:txBody>
      </p:sp>
      <p:sp>
        <p:nvSpPr>
          <p:cNvPr id="3" name="TextBox 2">
            <a:extLst>
              <a:ext uri="{FF2B5EF4-FFF2-40B4-BE49-F238E27FC236}">
                <a16:creationId xmlns:a16="http://schemas.microsoft.com/office/drawing/2014/main" id="{E4BB49E9-D967-C87A-2795-4DCE20C007DB}"/>
              </a:ext>
            </a:extLst>
          </p:cNvPr>
          <p:cNvSpPr txBox="1"/>
          <p:nvPr/>
        </p:nvSpPr>
        <p:spPr>
          <a:xfrm>
            <a:off x="531091" y="196272"/>
            <a:ext cx="964045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Probabilities: Basic Terminologies</a:t>
            </a:r>
            <a:endParaRPr lang="en-US" dirty="0">
              <a:solidFill>
                <a:schemeClr val="accent3">
                  <a:lumMod val="76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22E84C-211D-C4C9-45BD-9E75ADDC2A7C}"/>
              </a:ext>
            </a:extLst>
          </p:cNvPr>
          <p:cNvSpPr txBox="1"/>
          <p:nvPr/>
        </p:nvSpPr>
        <p:spPr>
          <a:xfrm>
            <a:off x="415636" y="288636"/>
            <a:ext cx="968663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Distributions: Modelling how data behave</a:t>
            </a:r>
          </a:p>
          <a:p>
            <a:pPr algn="ctr"/>
            <a:endParaRPr lang="en-GB" sz="2400" b="1" dirty="0">
              <a:solidFill>
                <a:schemeClr val="accent3">
                  <a:lumMod val="76000"/>
                </a:schemeClr>
              </a:solidFill>
              <a:latin typeface="Times New Roman"/>
              <a:cs typeface="Times New Roman"/>
            </a:endParaRPr>
          </a:p>
        </p:txBody>
      </p:sp>
      <p:sp>
        <p:nvSpPr>
          <p:cNvPr id="4" name="TextBox 3">
            <a:extLst>
              <a:ext uri="{FF2B5EF4-FFF2-40B4-BE49-F238E27FC236}">
                <a16:creationId xmlns:a16="http://schemas.microsoft.com/office/drawing/2014/main" id="{ABD25EA4-213A-EAA4-6BA0-CFD9BBFEC66C}"/>
              </a:ext>
            </a:extLst>
          </p:cNvPr>
          <p:cNvSpPr txBox="1"/>
          <p:nvPr/>
        </p:nvSpPr>
        <p:spPr>
          <a:xfrm>
            <a:off x="415636" y="1119910"/>
            <a:ext cx="11349181" cy="47320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GB" sz="2000" dirty="0">
                <a:solidFill>
                  <a:srgbClr val="161616"/>
                </a:solidFill>
                <a:highlight>
                  <a:srgbClr val="FFFFFF"/>
                </a:highlight>
                <a:latin typeface="Times New Roman"/>
                <a:cs typeface="Times New Roman"/>
              </a:rPr>
              <a:t>A </a:t>
            </a:r>
            <a:r>
              <a:rPr lang="en-GB" sz="2000" b="1" dirty="0">
                <a:solidFill>
                  <a:srgbClr val="161616"/>
                </a:solidFill>
                <a:highlight>
                  <a:srgbClr val="FFFFFF"/>
                </a:highlight>
                <a:latin typeface="Times New Roman"/>
                <a:cs typeface="Times New Roman"/>
              </a:rPr>
              <a:t>probability distribution</a:t>
            </a:r>
            <a:r>
              <a:rPr lang="en-GB" sz="2000" dirty="0">
                <a:solidFill>
                  <a:srgbClr val="161616"/>
                </a:solidFill>
                <a:highlight>
                  <a:srgbClr val="FFFFFF"/>
                </a:highlight>
                <a:latin typeface="Times New Roman"/>
                <a:cs typeface="Times New Roman"/>
              </a:rPr>
              <a:t> is a mathematical function that describes the possible values and likelihoods that a random variable can take within a particular range.</a:t>
            </a:r>
            <a:endParaRPr lang="en-US" sz="2000">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Understanding distributions is crucial in ML because data rarely exists as single, isolated points; it has a structure and a shape.</a:t>
            </a:r>
          </a:p>
          <a:p>
            <a:pPr marL="800100" lvl="1" indent="-342900" algn="just">
              <a:buFont typeface="Courier New"/>
              <a:buChar char="o"/>
            </a:pPr>
            <a:r>
              <a:rPr lang="en-GB" sz="2000" b="1" dirty="0">
                <a:solidFill>
                  <a:srgbClr val="161616"/>
                </a:solidFill>
                <a:highlight>
                  <a:srgbClr val="FFFFFF"/>
                </a:highlight>
                <a:latin typeface="Times New Roman"/>
                <a:cs typeface="Times New Roman"/>
              </a:rPr>
              <a:t>Discrete distribution:</a:t>
            </a:r>
            <a:r>
              <a:rPr lang="en-GB" sz="2000" dirty="0">
                <a:solidFill>
                  <a:srgbClr val="161616"/>
                </a:solidFill>
                <a:highlight>
                  <a:srgbClr val="FFFFFF"/>
                </a:highlight>
                <a:latin typeface="Times New Roman"/>
                <a:cs typeface="Times New Roman"/>
              </a:rPr>
              <a:t> Applies to variables that take on distinct, countable values (for example, coin flips, word counts). </a:t>
            </a:r>
            <a:endParaRPr lang="en-GB" sz="2000" dirty="0">
              <a:solidFill>
                <a:srgbClr val="000000"/>
              </a:solidFill>
              <a:latin typeface="Times New Roman"/>
              <a:cs typeface="Times New Roman"/>
            </a:endParaRPr>
          </a:p>
          <a:p>
            <a:pPr marL="800100" lvl="1" indent="-342900" algn="just">
              <a:buFont typeface="Courier New"/>
              <a:buChar char="o"/>
            </a:pPr>
            <a:r>
              <a:rPr lang="en-GB" sz="2000" b="1" dirty="0">
                <a:solidFill>
                  <a:srgbClr val="161616"/>
                </a:solidFill>
                <a:highlight>
                  <a:srgbClr val="FFFFFF"/>
                </a:highlight>
                <a:latin typeface="Times New Roman"/>
                <a:cs typeface="Times New Roman"/>
              </a:rPr>
              <a:t>Continuous distribution:</a:t>
            </a:r>
            <a:r>
              <a:rPr lang="en-GB" sz="2000" dirty="0">
                <a:solidFill>
                  <a:srgbClr val="161616"/>
                </a:solidFill>
                <a:highlight>
                  <a:srgbClr val="FFFFFF"/>
                </a:highlight>
                <a:latin typeface="Times New Roman"/>
                <a:cs typeface="Times New Roman"/>
              </a:rPr>
              <a:t> Applies to variables that can take any value within a range (for example, height, weight, time).</a:t>
            </a:r>
          </a:p>
          <a:p>
            <a:pPr lvl="1" algn="just"/>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Making the right assumptions about your data's distribution is critical—many machine learning algorithms rely on these assumptions for both model selection and interpretation. </a:t>
            </a: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Incorrect assumptions can lead to biased estimates, misaligned loss functions and ultimately, poor generalization or invalid conclusions in real-world applications.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C0A927-4B11-C42E-E9C6-F71E9319B13E}"/>
              </a:ext>
            </a:extLst>
          </p:cNvPr>
          <p:cNvSpPr txBox="1"/>
          <p:nvPr/>
        </p:nvSpPr>
        <p:spPr>
          <a:xfrm>
            <a:off x="507999" y="1362363"/>
            <a:ext cx="10714181" cy="3268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GB" sz="2000" dirty="0">
                <a:solidFill>
                  <a:srgbClr val="161616"/>
                </a:solidFill>
                <a:highlight>
                  <a:srgbClr val="FFFFFF"/>
                </a:highlight>
                <a:latin typeface="Times New Roman"/>
                <a:cs typeface="Times New Roman"/>
              </a:rPr>
              <a:t>Probability distributions underpin:</a:t>
            </a:r>
            <a:endParaRPr lang="en-US" sz="2000" dirty="0">
              <a:latin typeface="Times New Roman"/>
              <a:cs typeface="Times New Roman"/>
            </a:endParaRPr>
          </a:p>
          <a:p>
            <a:pPr marL="342900" indent="-342900">
              <a:lnSpc>
                <a:spcPct val="150000"/>
              </a:lnSpc>
              <a:buFont typeface="Arial"/>
              <a:buChar char="•"/>
            </a:pPr>
            <a:r>
              <a:rPr lang="en-GB" sz="2000" b="1" dirty="0">
                <a:solidFill>
                  <a:srgbClr val="161616"/>
                </a:solidFill>
                <a:highlight>
                  <a:srgbClr val="FFFFFF"/>
                </a:highlight>
                <a:latin typeface="Times New Roman"/>
                <a:cs typeface="Times New Roman"/>
              </a:rPr>
              <a:t>Error modelling:</a:t>
            </a:r>
            <a:r>
              <a:rPr lang="en-GB" sz="2000" dirty="0">
                <a:solidFill>
                  <a:srgbClr val="161616"/>
                </a:solidFill>
                <a:highlight>
                  <a:srgbClr val="FFFFFF"/>
                </a:highlight>
                <a:latin typeface="Times New Roman"/>
                <a:cs typeface="Times New Roman"/>
              </a:rPr>
              <a:t> Assumptions about residuals in regression (often Gaussian).</a:t>
            </a:r>
            <a:endParaRPr lang="en-GB" sz="2000" dirty="0">
              <a:latin typeface="Times New Roman"/>
              <a:cs typeface="Times New Roman"/>
            </a:endParaRPr>
          </a:p>
          <a:p>
            <a:pPr marL="342900" indent="-342900">
              <a:lnSpc>
                <a:spcPct val="150000"/>
              </a:lnSpc>
              <a:buFont typeface="Arial"/>
              <a:buChar char="•"/>
            </a:pPr>
            <a:r>
              <a:rPr lang="en-GB" sz="2000" b="1" dirty="0">
                <a:solidFill>
                  <a:srgbClr val="161616"/>
                </a:solidFill>
                <a:highlight>
                  <a:srgbClr val="FFFFFF"/>
                </a:highlight>
                <a:latin typeface="Times New Roman"/>
                <a:cs typeface="Times New Roman"/>
              </a:rPr>
              <a:t>Loss functions:</a:t>
            </a:r>
            <a:r>
              <a:rPr lang="en-GB" sz="2000" dirty="0">
                <a:solidFill>
                  <a:srgbClr val="161616"/>
                </a:solidFill>
                <a:highlight>
                  <a:srgbClr val="FFFFFF"/>
                </a:highlight>
                <a:latin typeface="Times New Roman"/>
                <a:cs typeface="Times New Roman"/>
              </a:rPr>
              <a:t> MSE corresponds to Gaussian assumptions; cross-entropy to Bernoulli or logistic.</a:t>
            </a:r>
            <a:endParaRPr lang="en-GB" sz="2000" dirty="0">
              <a:latin typeface="Times New Roman"/>
              <a:cs typeface="Times New Roman"/>
            </a:endParaRPr>
          </a:p>
          <a:p>
            <a:pPr marL="342900" indent="-342900">
              <a:lnSpc>
                <a:spcPct val="150000"/>
              </a:lnSpc>
              <a:buFont typeface="Arial"/>
              <a:buChar char="•"/>
            </a:pPr>
            <a:r>
              <a:rPr lang="en-GB" sz="2000" b="1" dirty="0">
                <a:solidFill>
                  <a:srgbClr val="161616"/>
                </a:solidFill>
                <a:highlight>
                  <a:srgbClr val="FFFFFF"/>
                </a:highlight>
                <a:latin typeface="Times New Roman"/>
                <a:cs typeface="Times New Roman"/>
              </a:rPr>
              <a:t>Model design:</a:t>
            </a:r>
            <a:r>
              <a:rPr lang="en-GB" sz="2000" dirty="0">
                <a:solidFill>
                  <a:srgbClr val="161616"/>
                </a:solidFill>
                <a:highlight>
                  <a:srgbClr val="FFFFFF"/>
                </a:highlight>
                <a:latin typeface="Times New Roman"/>
                <a:cs typeface="Times New Roman"/>
              </a:rPr>
              <a:t> Classification targets are often modelled through Bernoulli; latent variables in deep generative models use Gaussian priors.</a:t>
            </a:r>
            <a:endParaRPr lang="en-GB" sz="2000" dirty="0">
              <a:latin typeface="Times New Roman"/>
              <a:cs typeface="Times New Roman"/>
            </a:endParaRPr>
          </a:p>
          <a:p>
            <a:pPr marL="342900" indent="-342900">
              <a:lnSpc>
                <a:spcPct val="150000"/>
              </a:lnSpc>
              <a:buFont typeface="Arial"/>
              <a:buChar char="•"/>
            </a:pPr>
            <a:r>
              <a:rPr lang="en-GB" sz="2000" b="1" dirty="0">
                <a:solidFill>
                  <a:srgbClr val="161616"/>
                </a:solidFill>
                <a:highlight>
                  <a:srgbClr val="FFFFFF"/>
                </a:highlight>
                <a:latin typeface="Times New Roman"/>
                <a:cs typeface="Times New Roman"/>
              </a:rPr>
              <a:t>Generative AI:</a:t>
            </a:r>
            <a:r>
              <a:rPr lang="en-GB" sz="2000" dirty="0">
                <a:solidFill>
                  <a:srgbClr val="161616"/>
                </a:solidFill>
                <a:highlight>
                  <a:srgbClr val="FFFFFF"/>
                </a:highlight>
                <a:latin typeface="Times New Roman"/>
                <a:cs typeface="Times New Roman"/>
              </a:rPr>
              <a:t> Sampling from learned high-dimensional distributions is fundamental to models like generative adversarial networks (GAN) and VAEs.</a:t>
            </a:r>
            <a:endParaRPr lang="en-GB" sz="2000" dirty="0">
              <a:latin typeface="Times New Roman"/>
              <a:cs typeface="Times New Roman"/>
            </a:endParaRPr>
          </a:p>
        </p:txBody>
      </p:sp>
      <p:sp>
        <p:nvSpPr>
          <p:cNvPr id="3" name="TextBox 2">
            <a:extLst>
              <a:ext uri="{FF2B5EF4-FFF2-40B4-BE49-F238E27FC236}">
                <a16:creationId xmlns:a16="http://schemas.microsoft.com/office/drawing/2014/main" id="{77E758CC-50C1-7606-D73A-89E06913E9DE}"/>
              </a:ext>
            </a:extLst>
          </p:cNvPr>
          <p:cNvSpPr txBox="1"/>
          <p:nvPr/>
        </p:nvSpPr>
        <p:spPr>
          <a:xfrm>
            <a:off x="473364" y="254000"/>
            <a:ext cx="980209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Distributions: Modelling how data behave</a:t>
            </a:r>
            <a:endParaRPr lang="en-GB" sz="2400">
              <a:solidFill>
                <a:schemeClr val="accent3">
                  <a:lumMod val="76000"/>
                </a:schemeClr>
              </a:solidFill>
              <a:latin typeface="Times New Roman"/>
              <a:cs typeface="Times New Roman"/>
            </a:endParaRPr>
          </a:p>
          <a:p>
            <a:pPr algn="l"/>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092C9A-A220-B82A-FDE1-CF65C018FFCA}"/>
              </a:ext>
            </a:extLst>
          </p:cNvPr>
          <p:cNvSpPr txBox="1"/>
          <p:nvPr/>
        </p:nvSpPr>
        <p:spPr>
          <a:xfrm>
            <a:off x="484908" y="300181"/>
            <a:ext cx="974436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highlight>
                  <a:srgbClr val="FFFFFF"/>
                </a:highlight>
                <a:latin typeface="Times New Roman"/>
                <a:cs typeface="Times New Roman"/>
              </a:rPr>
              <a:t>Example of discrete distribution: Bernoulli trials</a:t>
            </a:r>
            <a:endParaRPr lang="en-US" sz="2400" b="1">
              <a:solidFill>
                <a:schemeClr val="accent3">
                  <a:lumMod val="76000"/>
                </a:schemeClr>
              </a:solidFill>
              <a:latin typeface="Times New Roman"/>
              <a:cs typeface="Times New Roman"/>
            </a:endParaRPr>
          </a:p>
          <a:p>
            <a:pPr algn="ctr"/>
            <a:endParaRPr lang="en-GB" sz="2400" b="1" dirty="0">
              <a:solidFill>
                <a:schemeClr val="accent3">
                  <a:lumMod val="76000"/>
                </a:schemeClr>
              </a:solidFill>
              <a:latin typeface="Times New Roman"/>
              <a:cs typeface="Times New Roman"/>
            </a:endParaRPr>
          </a:p>
        </p:txBody>
      </p:sp>
      <p:sp>
        <p:nvSpPr>
          <p:cNvPr id="3" name="TextBox 2">
            <a:extLst>
              <a:ext uri="{FF2B5EF4-FFF2-40B4-BE49-F238E27FC236}">
                <a16:creationId xmlns:a16="http://schemas.microsoft.com/office/drawing/2014/main" id="{514E3F2F-4F36-23F1-6E5E-CB05E551C115}"/>
              </a:ext>
            </a:extLst>
          </p:cNvPr>
          <p:cNvSpPr txBox="1"/>
          <p:nvPr/>
        </p:nvSpPr>
        <p:spPr>
          <a:xfrm>
            <a:off x="658090" y="1627909"/>
            <a:ext cx="6326909"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GB" sz="2000" dirty="0">
                <a:solidFill>
                  <a:srgbClr val="161616"/>
                </a:solidFill>
                <a:highlight>
                  <a:srgbClr val="FFFFFF"/>
                </a:highlight>
                <a:latin typeface="Times New Roman"/>
                <a:cs typeface="Times New Roman"/>
              </a:rPr>
              <a:t>The Bernoulli distribution models the probability of success or failure in a single trial of a discrete random event. </a:t>
            </a:r>
            <a:endParaRPr lang="en-US" sz="2000">
              <a:solidFill>
                <a:srgbClr val="000000"/>
              </a:solidFill>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That is, it only has two outcomes: 1 (success) or 0 (failure). It's the simplest type of distribution used in statistics, yet it forms the foundation of many classification problems in machine learning. </a:t>
            </a:r>
            <a:endParaRPr lang="en-US" sz="2000">
              <a:solidFill>
                <a:srgbClr val="000000"/>
              </a:solidFill>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For example, if you were to flip a coin 10 times, and you get 7 heads (success) and 3 tails (failure), the probability mass function (PMF) can be graphed as:</a:t>
            </a:r>
            <a:endParaRPr lang="en-US" sz="2000">
              <a:latin typeface="Times New Roman"/>
              <a:cs typeface="Times New Roman"/>
            </a:endParaRPr>
          </a:p>
        </p:txBody>
      </p:sp>
      <p:pic>
        <p:nvPicPr>
          <p:cNvPr id="4" name="Picture 3" descr="A graph with red and blue bars&#10;&#10;AI-generated content may be incorrect.">
            <a:extLst>
              <a:ext uri="{FF2B5EF4-FFF2-40B4-BE49-F238E27FC236}">
                <a16:creationId xmlns:a16="http://schemas.microsoft.com/office/drawing/2014/main" id="{0BBCE198-A8A5-19F8-CFCD-666EEB172381}"/>
              </a:ext>
            </a:extLst>
          </p:cNvPr>
          <p:cNvPicPr>
            <a:picLocks noChangeAspect="1"/>
          </p:cNvPicPr>
          <p:nvPr/>
        </p:nvPicPr>
        <p:blipFill>
          <a:blip r:embed="rId2"/>
          <a:stretch>
            <a:fillRect/>
          </a:stretch>
        </p:blipFill>
        <p:spPr>
          <a:xfrm>
            <a:off x="7092517" y="1402340"/>
            <a:ext cx="4841875" cy="388013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DBF0B9-43AB-5A55-2210-7BAD225031FB}"/>
              </a:ext>
            </a:extLst>
          </p:cNvPr>
          <p:cNvSpPr txBox="1"/>
          <p:nvPr/>
        </p:nvSpPr>
        <p:spPr>
          <a:xfrm>
            <a:off x="437764" y="1327727"/>
            <a:ext cx="6325947"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Arial"/>
              <a:buChar char="•"/>
            </a:pPr>
            <a:r>
              <a:rPr lang="en-GB" sz="2000" dirty="0">
                <a:solidFill>
                  <a:srgbClr val="161616"/>
                </a:solidFill>
                <a:highlight>
                  <a:srgbClr val="FFFFFF"/>
                </a:highlight>
                <a:latin typeface="Times New Roman"/>
                <a:cs typeface="Times New Roman"/>
              </a:rPr>
              <a:t>The normal distribution describes a continuous random variable whose values tend to cluster around a central mean, with symmetric variability in both directions. </a:t>
            </a:r>
            <a:endParaRPr lang="en-GB" sz="2000">
              <a:solidFill>
                <a:srgbClr val="000000"/>
              </a:solidFill>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It's ubiquitous in statistics because many natural phenomena (height, test scores, measurement errors) follow this pattern, especially when aggregated across samples.</a:t>
            </a:r>
            <a:endParaRPr lang="en-GB" sz="2000" dirty="0">
              <a:latin typeface="Times New Roman"/>
              <a:cs typeface="Times New Roman"/>
            </a:endParaRPr>
          </a:p>
          <a:p>
            <a:pPr marL="342900" indent="-342900" algn="just">
              <a:buFont typeface="Arial"/>
              <a:buChar char="•"/>
            </a:pPr>
            <a:endParaRPr lang="en-GB" sz="2000" dirty="0">
              <a:solidFill>
                <a:srgbClr val="161616"/>
              </a:solidFill>
              <a:highlight>
                <a:srgbClr val="FFFFFF"/>
              </a:highlight>
              <a:latin typeface="Times New Roman"/>
              <a:cs typeface="Times New Roman"/>
            </a:endParaRPr>
          </a:p>
          <a:p>
            <a:pPr marL="342900" indent="-342900" algn="just">
              <a:buFont typeface="Arial"/>
              <a:buChar char="•"/>
            </a:pPr>
            <a:r>
              <a:rPr lang="en-GB" sz="2000" dirty="0">
                <a:solidFill>
                  <a:srgbClr val="161616"/>
                </a:solidFill>
                <a:highlight>
                  <a:srgbClr val="FFFFFF"/>
                </a:highlight>
                <a:latin typeface="Times New Roman"/>
                <a:cs typeface="Times New Roman"/>
              </a:rPr>
              <a:t>Imagine you record the heights of 1,000 adults. Plotting this data reveals a bell-shaped curve: most people are close to the average, with fewer at the extremes. This shape is captured by the probability density function (PDF) of the normal distribution.</a:t>
            </a:r>
          </a:p>
        </p:txBody>
      </p:sp>
      <p:sp>
        <p:nvSpPr>
          <p:cNvPr id="4" name="TextBox 3">
            <a:extLst>
              <a:ext uri="{FF2B5EF4-FFF2-40B4-BE49-F238E27FC236}">
                <a16:creationId xmlns:a16="http://schemas.microsoft.com/office/drawing/2014/main" id="{46016FF8-6166-BFA6-6760-CF4FD72822EC}"/>
              </a:ext>
            </a:extLst>
          </p:cNvPr>
          <p:cNvSpPr txBox="1"/>
          <p:nvPr/>
        </p:nvSpPr>
        <p:spPr>
          <a:xfrm>
            <a:off x="438727" y="277090"/>
            <a:ext cx="976745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Example of continuous distribution: Gaussian (normal) distribution</a:t>
            </a:r>
            <a:endParaRPr lang="en-US" sz="2400" b="1">
              <a:solidFill>
                <a:schemeClr val="accent3">
                  <a:lumMod val="76000"/>
                </a:schemeClr>
              </a:solidFill>
              <a:latin typeface="Times New Roman"/>
              <a:cs typeface="Times New Roman"/>
            </a:endParaRPr>
          </a:p>
        </p:txBody>
      </p:sp>
      <p:pic>
        <p:nvPicPr>
          <p:cNvPr id="6" name="Picture 5" descr="A purple line graph with numbers&#10;&#10;AI-generated content may be incorrect.">
            <a:extLst>
              <a:ext uri="{FF2B5EF4-FFF2-40B4-BE49-F238E27FC236}">
                <a16:creationId xmlns:a16="http://schemas.microsoft.com/office/drawing/2014/main" id="{8EC11E71-8E82-E390-60AA-118F0E74BDE5}"/>
              </a:ext>
            </a:extLst>
          </p:cNvPr>
          <p:cNvPicPr>
            <a:picLocks noChangeAspect="1"/>
          </p:cNvPicPr>
          <p:nvPr/>
        </p:nvPicPr>
        <p:blipFill>
          <a:blip r:embed="rId2"/>
          <a:stretch>
            <a:fillRect/>
          </a:stretch>
        </p:blipFill>
        <p:spPr>
          <a:xfrm>
            <a:off x="7070291" y="1792865"/>
            <a:ext cx="5117236" cy="365327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0542F3-4A74-CC09-C87C-29675AE3021E}"/>
              </a:ext>
            </a:extLst>
          </p:cNvPr>
          <p:cNvSpPr txBox="1"/>
          <p:nvPr/>
        </p:nvSpPr>
        <p:spPr>
          <a:xfrm>
            <a:off x="346364" y="254000"/>
            <a:ext cx="997527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ea typeface="+mn-lt"/>
                <a:cs typeface="+mn-lt"/>
              </a:rPr>
              <a:t>Hypothesis Testing</a:t>
            </a:r>
            <a:endParaRPr lang="en-US" sz="2400" b="1" dirty="0">
              <a:solidFill>
                <a:schemeClr val="accent3">
                  <a:lumMod val="76000"/>
                </a:schemeClr>
              </a:solidFill>
              <a:latin typeface="Times New Roman"/>
              <a:cs typeface="Times New Roman"/>
            </a:endParaRPr>
          </a:p>
        </p:txBody>
      </p:sp>
      <p:sp>
        <p:nvSpPr>
          <p:cNvPr id="3" name="TextBox 2">
            <a:extLst>
              <a:ext uri="{FF2B5EF4-FFF2-40B4-BE49-F238E27FC236}">
                <a16:creationId xmlns:a16="http://schemas.microsoft.com/office/drawing/2014/main" id="{D65A7992-18DD-CFE8-49CC-60A71BADA685}"/>
              </a:ext>
            </a:extLst>
          </p:cNvPr>
          <p:cNvSpPr txBox="1"/>
          <p:nvPr/>
        </p:nvSpPr>
        <p:spPr>
          <a:xfrm>
            <a:off x="182803" y="1105477"/>
            <a:ext cx="11427113" cy="53245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dirty="0">
                <a:latin typeface="Times New Roman"/>
                <a:ea typeface="+mn-lt"/>
                <a:cs typeface="+mn-lt"/>
              </a:rPr>
              <a:t>Hypothesis testing</a:t>
            </a:r>
            <a:r>
              <a:rPr lang="en-GB" sz="2000" dirty="0">
                <a:latin typeface="Times New Roman"/>
                <a:ea typeface="+mn-lt"/>
                <a:cs typeface="+mn-lt"/>
              </a:rPr>
              <a:t> is a method that compares two opposite assumptions about a population and uses data from a sample to determine which assumption is more likely to be true.</a:t>
            </a:r>
            <a:endParaRPr lang="en-US" sz="2000" dirty="0">
              <a:latin typeface="Times New Roman"/>
              <a:cs typeface="Times New Roman"/>
            </a:endParaRPr>
          </a:p>
          <a:p>
            <a:endParaRPr lang="en-GB" sz="2000" dirty="0">
              <a:latin typeface="Times New Roman"/>
              <a:ea typeface="+mn-lt"/>
              <a:cs typeface="+mn-lt"/>
            </a:endParaRPr>
          </a:p>
          <a:p>
            <a:pPr marL="285750" indent="-285750">
              <a:buFont typeface="Arial"/>
              <a:buChar char="•"/>
            </a:pPr>
            <a:r>
              <a:rPr lang="en-GB" sz="2000" b="1" dirty="0">
                <a:latin typeface="Times New Roman"/>
                <a:ea typeface="+mn-lt"/>
                <a:cs typeface="+mn-lt"/>
              </a:rPr>
              <a:t>Null</a:t>
            </a:r>
            <a:r>
              <a:rPr lang="en-GB" sz="2000" dirty="0">
                <a:latin typeface="Times New Roman"/>
                <a:ea typeface="+mn-lt"/>
                <a:cs typeface="+mn-lt"/>
              </a:rPr>
              <a:t> (</a:t>
            </a:r>
            <a:r>
              <a:rPr lang="en-GB" sz="2000" b="1" i="1" dirty="0">
                <a:highlight>
                  <a:srgbClr val="FFFFFF"/>
                </a:highlight>
                <a:latin typeface="Times New Roman"/>
                <a:ea typeface="+mn-lt"/>
                <a:cs typeface="+mn-lt"/>
              </a:rPr>
              <a:t>H</a:t>
            </a:r>
            <a:r>
              <a:rPr lang="en-GB" sz="2000" b="1" baseline="-25000" dirty="0">
                <a:highlight>
                  <a:srgbClr val="FFFFFF"/>
                </a:highlight>
                <a:latin typeface="Times New Roman"/>
                <a:ea typeface="+mn-lt"/>
                <a:cs typeface="+mn-lt"/>
              </a:rPr>
              <a:t>0</a:t>
            </a:r>
            <a:r>
              <a:rPr lang="en-GB" sz="2000" dirty="0">
                <a:latin typeface="Times New Roman"/>
                <a:ea typeface="+mn-lt"/>
                <a:cs typeface="+mn-lt"/>
              </a:rPr>
              <a:t>) vs. </a:t>
            </a:r>
            <a:r>
              <a:rPr lang="en-GB" sz="2000" b="1" dirty="0">
                <a:latin typeface="Times New Roman"/>
                <a:ea typeface="+mn-lt"/>
                <a:cs typeface="+mn-lt"/>
              </a:rPr>
              <a:t>Alternative</a:t>
            </a:r>
            <a:r>
              <a:rPr lang="en-GB" sz="2000" dirty="0">
                <a:latin typeface="Times New Roman"/>
                <a:ea typeface="+mn-lt"/>
                <a:cs typeface="+mn-lt"/>
              </a:rPr>
              <a:t> (</a:t>
            </a:r>
            <a:r>
              <a:rPr lang="en-GB" sz="2000" b="1" i="1" dirty="0">
                <a:highlight>
                  <a:srgbClr val="FFFFFF"/>
                </a:highlight>
                <a:latin typeface="Times New Roman"/>
                <a:ea typeface="+mn-lt"/>
                <a:cs typeface="+mn-lt"/>
              </a:rPr>
              <a:t>H</a:t>
            </a:r>
            <a:r>
              <a:rPr lang="en-GB" sz="2000" b="1" baseline="-25000" dirty="0">
                <a:highlight>
                  <a:srgbClr val="FFFFFF"/>
                </a:highlight>
                <a:latin typeface="Times New Roman"/>
                <a:ea typeface="+mn-lt"/>
                <a:cs typeface="+mn-lt"/>
              </a:rPr>
              <a:t>a</a:t>
            </a:r>
            <a:r>
              <a:rPr lang="en-GB" sz="2000" dirty="0">
                <a:latin typeface="Times New Roman"/>
                <a:ea typeface="+mn-lt"/>
                <a:cs typeface="+mn-lt"/>
              </a:rPr>
              <a:t>) :</a:t>
            </a:r>
          </a:p>
          <a:p>
            <a:pPr marL="742950" lvl="1" indent="-285750">
              <a:buFont typeface="Courier New"/>
              <a:buChar char="o"/>
            </a:pPr>
            <a:r>
              <a:rPr lang="en-GB" sz="2000" dirty="0">
                <a:latin typeface="Times New Roman"/>
                <a:ea typeface="+mn-lt"/>
                <a:cs typeface="+mn-lt"/>
              </a:rPr>
              <a:t> </a:t>
            </a:r>
            <a:r>
              <a:rPr lang="en-GB" sz="2000" b="1" i="1" dirty="0">
                <a:highlight>
                  <a:srgbClr val="FFFFFF"/>
                </a:highlight>
                <a:latin typeface="Times New Roman"/>
                <a:ea typeface="+mn-lt"/>
                <a:cs typeface="+mn-lt"/>
              </a:rPr>
              <a:t>H</a:t>
            </a:r>
            <a:r>
              <a:rPr lang="en-GB" sz="2000" b="1" baseline="-25000" dirty="0">
                <a:latin typeface="Times New Roman"/>
                <a:ea typeface="+mn-lt"/>
                <a:cs typeface="+mn-lt"/>
              </a:rPr>
              <a:t>0 </a:t>
            </a:r>
            <a:r>
              <a:rPr lang="en-GB" sz="2000" dirty="0">
                <a:latin typeface="Times New Roman"/>
                <a:ea typeface="+mn-lt"/>
                <a:cs typeface="+mn-lt"/>
              </a:rPr>
              <a:t>assumes there is no effect or relationship in the population.</a:t>
            </a:r>
          </a:p>
          <a:p>
            <a:pPr marL="742950" lvl="1" indent="-285750">
              <a:buFont typeface="Courier New"/>
              <a:buChar char="o"/>
            </a:pPr>
            <a:r>
              <a:rPr lang="en-GB" sz="2000" dirty="0">
                <a:latin typeface="Times New Roman"/>
                <a:ea typeface="+mn-lt"/>
                <a:cs typeface="+mn-lt"/>
              </a:rPr>
              <a:t> </a:t>
            </a:r>
            <a:r>
              <a:rPr lang="en-GB" sz="2000" b="1" i="1" dirty="0">
                <a:highlight>
                  <a:srgbClr val="FFFFFF"/>
                </a:highlight>
                <a:latin typeface="Times New Roman"/>
                <a:ea typeface="+mn-lt"/>
                <a:cs typeface="+mn-lt"/>
              </a:rPr>
              <a:t>H</a:t>
            </a:r>
            <a:r>
              <a:rPr lang="en-GB" sz="2000" b="1" baseline="-25000" dirty="0">
                <a:latin typeface="Times New Roman"/>
                <a:ea typeface="+mn-lt"/>
                <a:cs typeface="+mn-lt"/>
              </a:rPr>
              <a:t>a </a:t>
            </a:r>
            <a:r>
              <a:rPr lang="en-GB" sz="2000" dirty="0">
                <a:latin typeface="Times New Roman"/>
                <a:ea typeface="+mn-lt"/>
                <a:cs typeface="+mn-lt"/>
              </a:rPr>
              <a:t>suggests t</a:t>
            </a:r>
            <a:r>
              <a:rPr lang="en-GB" sz="2000" dirty="0">
                <a:highlight>
                  <a:srgbClr val="FFFFFF"/>
                </a:highlight>
                <a:latin typeface="Times New Roman"/>
                <a:ea typeface="+mn-lt"/>
                <a:cs typeface="+mn-lt"/>
              </a:rPr>
              <a:t>here’s an effect </a:t>
            </a:r>
            <a:r>
              <a:rPr lang="en-GB" sz="2000" dirty="0">
                <a:highlight>
                  <a:srgbClr val="FFFFFF"/>
                </a:highlight>
                <a:latin typeface="Times New Roman"/>
                <a:ea typeface="+mn-lt"/>
                <a:cs typeface="Times New Roman"/>
              </a:rPr>
              <a:t>or relationship </a:t>
            </a:r>
            <a:r>
              <a:rPr lang="en-GB" sz="2000" dirty="0">
                <a:highlight>
                  <a:srgbClr val="FFFFFF"/>
                </a:highlight>
                <a:latin typeface="Times New Roman"/>
                <a:ea typeface="+mn-lt"/>
                <a:cs typeface="+mn-lt"/>
              </a:rPr>
              <a:t>in the population</a:t>
            </a:r>
            <a:r>
              <a:rPr lang="en-GB" sz="2000" dirty="0">
                <a:latin typeface="Times New Roman"/>
                <a:ea typeface="+mn-lt"/>
                <a:cs typeface="+mn-lt"/>
              </a:rPr>
              <a:t>.</a:t>
            </a:r>
            <a:endParaRPr lang="en-GB" sz="2000" dirty="0">
              <a:latin typeface="Times New Roman"/>
              <a:cs typeface="Times New Roman"/>
            </a:endParaRPr>
          </a:p>
          <a:p>
            <a:pPr lvl="1"/>
            <a:endParaRPr lang="en-GB" sz="2000" dirty="0">
              <a:latin typeface="Times New Roman"/>
              <a:ea typeface="+mn-lt"/>
              <a:cs typeface="+mn-lt"/>
            </a:endParaRPr>
          </a:p>
          <a:p>
            <a:pPr marL="285750" indent="-285750">
              <a:buFont typeface="Arial"/>
              <a:buChar char="•"/>
            </a:pPr>
            <a:r>
              <a:rPr lang="en-GB" sz="2000" b="1" dirty="0">
                <a:latin typeface="Times New Roman"/>
                <a:ea typeface="+mn-lt"/>
                <a:cs typeface="+mn-lt"/>
              </a:rPr>
              <a:t>Type I and Type II Errors: </a:t>
            </a:r>
            <a:endParaRPr lang="en-GB" sz="2000">
              <a:latin typeface="Times New Roman"/>
              <a:ea typeface="+mn-lt"/>
              <a:cs typeface="Times New Roman"/>
            </a:endParaRPr>
          </a:p>
          <a:p>
            <a:pPr marL="742950" lvl="1" indent="-285750">
              <a:buFont typeface="Courier New"/>
              <a:buChar char="o"/>
            </a:pPr>
            <a:r>
              <a:rPr lang="en-GB" sz="2000" b="1" dirty="0">
                <a:latin typeface="Times New Roman"/>
                <a:ea typeface="+mn-lt"/>
                <a:cs typeface="+mn-lt"/>
              </a:rPr>
              <a:t>Type I</a:t>
            </a:r>
            <a:r>
              <a:rPr lang="en-GB" sz="2000" dirty="0">
                <a:latin typeface="Times New Roman"/>
                <a:ea typeface="+mn-lt"/>
                <a:cs typeface="+mn-lt"/>
              </a:rPr>
              <a:t> error is rejecting a true null hypothesis</a:t>
            </a:r>
            <a:endParaRPr lang="en-GB" sz="2000" dirty="0">
              <a:latin typeface="Times New Roman"/>
              <a:ea typeface="+mn-lt"/>
              <a:cs typeface="Times New Roman"/>
            </a:endParaRPr>
          </a:p>
          <a:p>
            <a:pPr marL="742950" lvl="1" indent="-285750">
              <a:buFont typeface="Courier New"/>
              <a:buChar char="o"/>
            </a:pPr>
            <a:r>
              <a:rPr lang="en-GB" sz="2000" b="1" dirty="0">
                <a:latin typeface="Times New Roman"/>
                <a:ea typeface="+mn-lt"/>
                <a:cs typeface="+mn-lt"/>
              </a:rPr>
              <a:t>Type II</a:t>
            </a:r>
            <a:r>
              <a:rPr lang="en-GB" sz="2000" dirty="0">
                <a:latin typeface="Times New Roman"/>
                <a:ea typeface="+mn-lt"/>
                <a:cs typeface="+mn-lt"/>
              </a:rPr>
              <a:t> is failing to reject a false null hypothesis.</a:t>
            </a:r>
            <a:endParaRPr lang="en-GB" sz="2000" dirty="0">
              <a:latin typeface="Times New Roman"/>
              <a:cs typeface="Times New Roman"/>
            </a:endParaRPr>
          </a:p>
          <a:p>
            <a:pPr lvl="1"/>
            <a:endParaRPr lang="en-GB" sz="2000" dirty="0">
              <a:latin typeface="Times New Roman"/>
              <a:ea typeface="+mn-lt"/>
              <a:cs typeface="+mn-lt"/>
            </a:endParaRPr>
          </a:p>
          <a:p>
            <a:pPr marL="342900" indent="-342900">
              <a:buFont typeface="Arial"/>
              <a:buChar char="•"/>
            </a:pPr>
            <a:r>
              <a:rPr lang="en-GB" sz="2000" b="1" dirty="0">
                <a:latin typeface="Times New Roman"/>
                <a:ea typeface="+mn-lt"/>
                <a:cs typeface="+mn-lt"/>
              </a:rPr>
              <a:t>p-values:</a:t>
            </a:r>
            <a:r>
              <a:rPr lang="en-GB" sz="2000" dirty="0">
                <a:latin typeface="Times New Roman"/>
                <a:ea typeface="+mn-lt"/>
                <a:cs typeface="+mn-lt"/>
              </a:rPr>
              <a:t> Measure the probability of obtaining the observed results under the null hypothesis.</a:t>
            </a:r>
            <a:endParaRPr lang="en-GB" sz="2000" dirty="0">
              <a:latin typeface="Times New Roman"/>
              <a:ea typeface="+mn-lt"/>
              <a:cs typeface="Times New Roman"/>
            </a:endParaRPr>
          </a:p>
          <a:p>
            <a:pPr lvl="1">
              <a:buFont typeface="Courier New"/>
              <a:buChar char="o"/>
            </a:pPr>
            <a:r>
              <a:rPr lang="en-GB" sz="2000" dirty="0">
                <a:latin typeface="Times New Roman"/>
                <a:ea typeface="+mn-lt"/>
                <a:cs typeface="+mn-lt"/>
              </a:rPr>
              <a:t> The "Surprise Meter." If the </a:t>
            </a:r>
            <a:r>
              <a:rPr lang="en-GB" sz="2000" b="1" i="1" dirty="0">
                <a:highlight>
                  <a:srgbClr val="FFFFFF"/>
                </a:highlight>
                <a:latin typeface="Times New Roman"/>
                <a:ea typeface="+mn-lt"/>
                <a:cs typeface="Times New Roman"/>
              </a:rPr>
              <a:t>H</a:t>
            </a:r>
            <a:r>
              <a:rPr lang="en-GB" sz="1300" b="1" baseline="-25000" dirty="0">
                <a:latin typeface="Times New Roman"/>
                <a:ea typeface="+mn-lt"/>
                <a:cs typeface="Times New Roman"/>
              </a:rPr>
              <a:t>0</a:t>
            </a:r>
            <a:r>
              <a:rPr lang="en-GB" sz="2000" dirty="0">
                <a:latin typeface="Times New Roman"/>
                <a:ea typeface="+mn-lt"/>
                <a:cs typeface="+mn-lt"/>
              </a:rPr>
              <a:t> is true, how weird is our data?</a:t>
            </a:r>
          </a:p>
          <a:p>
            <a:pPr lvl="2">
              <a:buFont typeface="Wingdings"/>
              <a:buChar char="§"/>
            </a:pPr>
            <a:r>
              <a:rPr lang="en-GB" sz="2000" i="1" dirty="0">
                <a:latin typeface="Times New Roman"/>
                <a:ea typeface="+mn-lt"/>
                <a:cs typeface="+mn-lt"/>
              </a:rPr>
              <a:t> Small p-value (&lt; 0.05):</a:t>
            </a:r>
            <a:r>
              <a:rPr lang="en-GB" sz="2000" dirty="0">
                <a:latin typeface="Times New Roman"/>
                <a:ea typeface="+mn-lt"/>
                <a:cs typeface="+mn-lt"/>
              </a:rPr>
              <a:t> "This is too weird to be a coincidence. Reject </a:t>
            </a:r>
            <a:r>
              <a:rPr lang="en-GB" sz="2000" b="1" i="1" dirty="0">
                <a:highlight>
                  <a:srgbClr val="FFFFFF"/>
                </a:highlight>
                <a:latin typeface="Times New Roman"/>
                <a:ea typeface="+mn-lt"/>
                <a:cs typeface="Times New Roman"/>
              </a:rPr>
              <a:t>H</a:t>
            </a:r>
            <a:r>
              <a:rPr lang="en-GB" sz="1300" b="1" baseline="-25000" dirty="0">
                <a:latin typeface="Times New Roman"/>
                <a:ea typeface="+mn-lt"/>
                <a:cs typeface="Times New Roman"/>
              </a:rPr>
              <a:t>0</a:t>
            </a:r>
            <a:r>
              <a:rPr lang="en-GB" sz="2000" dirty="0">
                <a:latin typeface="Times New Roman"/>
                <a:ea typeface="+mn-lt"/>
                <a:cs typeface="+mn-lt"/>
              </a:rPr>
              <a:t>."</a:t>
            </a:r>
            <a:endParaRPr lang="en-GB" dirty="0">
              <a:latin typeface="Times New Roman"/>
              <a:cs typeface="Times New Roman"/>
            </a:endParaRPr>
          </a:p>
          <a:p>
            <a:pPr lvl="2">
              <a:buFont typeface="Wingdings"/>
              <a:buChar char="§"/>
            </a:pPr>
            <a:r>
              <a:rPr lang="en-GB" sz="2000" i="1" dirty="0">
                <a:latin typeface="Times New Roman"/>
                <a:ea typeface="+mn-lt"/>
                <a:cs typeface="Times New Roman"/>
              </a:rPr>
              <a:t> Large p-value (&gt; 0.05): </a:t>
            </a:r>
            <a:r>
              <a:rPr lang="en-GB" sz="2000" dirty="0">
                <a:latin typeface="Times New Roman"/>
                <a:ea typeface="+mn-lt"/>
                <a:cs typeface="Times New Roman"/>
              </a:rPr>
              <a:t>"</a:t>
            </a:r>
            <a:r>
              <a:rPr lang="en-GB" sz="2000" dirty="0">
                <a:latin typeface="Times New Roman"/>
                <a:ea typeface="+mn-lt"/>
                <a:cs typeface="+mn-lt"/>
              </a:rPr>
              <a:t>There's a 50% chance this size difference happened by random luck. Keep</a:t>
            </a:r>
            <a:r>
              <a:rPr lang="en-GB" sz="2000" dirty="0">
                <a:latin typeface="Times New Roman"/>
                <a:ea typeface="+mn-lt"/>
                <a:cs typeface="Times New Roman"/>
              </a:rPr>
              <a:t> </a:t>
            </a:r>
            <a:r>
              <a:rPr lang="en-GB" sz="2000" b="1" i="1" dirty="0">
                <a:highlight>
                  <a:srgbClr val="FFFFFF"/>
                </a:highlight>
                <a:latin typeface="Times New Roman"/>
                <a:ea typeface="+mn-lt"/>
                <a:cs typeface="Times New Roman"/>
              </a:rPr>
              <a:t>H</a:t>
            </a:r>
            <a:r>
              <a:rPr lang="en-GB" sz="900" b="1" baseline="-25000" dirty="0">
                <a:latin typeface="Times New Roman"/>
                <a:ea typeface="+mn-lt"/>
                <a:cs typeface="Times New Roman"/>
              </a:rPr>
              <a:t>0</a:t>
            </a:r>
            <a:r>
              <a:rPr lang="en-GB" sz="2000" dirty="0">
                <a:latin typeface="Times New Roman"/>
                <a:ea typeface="+mn-lt"/>
                <a:cs typeface="Times New Roman"/>
              </a:rPr>
              <a:t>."</a:t>
            </a:r>
          </a:p>
          <a:p>
            <a:endParaRPr lang="en-GB" sz="2000" dirty="0">
              <a:latin typeface="Times New Roman"/>
              <a:ea typeface="+mn-lt"/>
              <a:cs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A54CCD-F0A0-790C-42FC-7B62A310F793}"/>
              </a:ext>
            </a:extLst>
          </p:cNvPr>
          <p:cNvSpPr txBox="1"/>
          <p:nvPr/>
        </p:nvSpPr>
        <p:spPr>
          <a:xfrm>
            <a:off x="1258454" y="242454"/>
            <a:ext cx="8243454" cy="7389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Confidence Intervals</a:t>
            </a:r>
            <a:endParaRPr lang="en-GB" sz="2400" dirty="0">
              <a:solidFill>
                <a:schemeClr val="accent3">
                  <a:lumMod val="76000"/>
                </a:schemeClr>
              </a:solidFill>
              <a:latin typeface="Times New Roman"/>
              <a:cs typeface="Times New Roman"/>
            </a:endParaRPr>
          </a:p>
          <a:p>
            <a:pPr algn="l"/>
            <a:endParaRPr lang="en-GB" dirty="0"/>
          </a:p>
        </p:txBody>
      </p:sp>
      <p:sp>
        <p:nvSpPr>
          <p:cNvPr id="4" name="TextBox 3">
            <a:extLst>
              <a:ext uri="{FF2B5EF4-FFF2-40B4-BE49-F238E27FC236}">
                <a16:creationId xmlns:a16="http://schemas.microsoft.com/office/drawing/2014/main" id="{A656CF82-F995-34A8-A1A8-B7F6EFD42A32}"/>
              </a:ext>
            </a:extLst>
          </p:cNvPr>
          <p:cNvSpPr txBox="1"/>
          <p:nvPr/>
        </p:nvSpPr>
        <p:spPr>
          <a:xfrm>
            <a:off x="473364" y="1177636"/>
            <a:ext cx="1111827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000" b="1" dirty="0">
                <a:latin typeface="Times New Roman"/>
                <a:ea typeface="+mn-lt"/>
                <a:cs typeface="+mn-lt"/>
              </a:rPr>
              <a:t>Estimation</a:t>
            </a:r>
            <a:r>
              <a:rPr lang="en-GB" sz="2000" dirty="0">
                <a:latin typeface="Times New Roman"/>
                <a:ea typeface="+mn-lt"/>
                <a:cs typeface="+mn-lt"/>
              </a:rPr>
              <a:t> is the process of making inference on unknown population parameters from sample data. </a:t>
            </a:r>
            <a:endParaRPr lang="en-US" sz="2000">
              <a:latin typeface="Times New Roman"/>
              <a:cs typeface="Times New Roman"/>
            </a:endParaRPr>
          </a:p>
          <a:p>
            <a:pPr marL="800100" lvl="1" indent="-342900">
              <a:buFont typeface="Courier New"/>
              <a:buChar char="o"/>
            </a:pPr>
            <a:r>
              <a:rPr lang="en-GB" sz="2000" b="1" dirty="0">
                <a:latin typeface="Times New Roman"/>
                <a:ea typeface="+mn-lt"/>
                <a:cs typeface="+mn-lt"/>
              </a:rPr>
              <a:t>Point estimate</a:t>
            </a:r>
            <a:r>
              <a:rPr lang="en-GB" sz="2000" dirty="0">
                <a:latin typeface="Times New Roman"/>
                <a:ea typeface="+mn-lt"/>
                <a:cs typeface="+mn-lt"/>
              </a:rPr>
              <a:t> is a single value that represents our best approximate value for an unknown population parameter. </a:t>
            </a:r>
          </a:p>
          <a:p>
            <a:pPr marL="800100" lvl="1" indent="-342900">
              <a:buFont typeface="Courier New"/>
              <a:buChar char="o"/>
            </a:pPr>
            <a:r>
              <a:rPr lang="en-GB" sz="2000" b="1" dirty="0">
                <a:latin typeface="Times New Roman"/>
                <a:ea typeface="+mn-lt"/>
                <a:cs typeface="+mn-lt"/>
              </a:rPr>
              <a:t>Interval estimate</a:t>
            </a:r>
            <a:r>
              <a:rPr lang="en-GB" sz="2000" dirty="0">
                <a:latin typeface="Times New Roman"/>
                <a:ea typeface="+mn-lt"/>
                <a:cs typeface="+mn-lt"/>
              </a:rPr>
              <a:t> is a range of values that is likely to contain the true value of a population parameter. </a:t>
            </a:r>
          </a:p>
          <a:p>
            <a:pPr marL="342900" indent="-342900">
              <a:buFont typeface="Arial"/>
              <a:buChar char="•"/>
            </a:pPr>
            <a:r>
              <a:rPr lang="en-GB" sz="2000" b="1" dirty="0">
                <a:highlight>
                  <a:srgbClr val="FFFFFF"/>
                </a:highlight>
                <a:latin typeface="Times New Roman"/>
                <a:ea typeface="+mn-lt"/>
                <a:cs typeface="+mn-lt"/>
              </a:rPr>
              <a:t>A confidence interval</a:t>
            </a:r>
            <a:r>
              <a:rPr lang="en-GB" sz="2000" dirty="0">
                <a:highlight>
                  <a:srgbClr val="FFFFFF"/>
                </a:highlight>
                <a:latin typeface="Times New Roman"/>
                <a:ea typeface="+mn-lt"/>
                <a:cs typeface="+mn-lt"/>
              </a:rPr>
              <a:t> is an estimate of the range in which the true population mean is likely to lie. It is based on the sample mean and standard deviation and provides a measure of the uncertainty in the estimate. </a:t>
            </a:r>
            <a:endParaRPr lang="en-GB" sz="2000">
              <a:highlight>
                <a:srgbClr val="FFFFFF"/>
              </a:highlight>
              <a:latin typeface="Times New Roman"/>
              <a:ea typeface="+mn-lt"/>
              <a:cs typeface="Times New Roman"/>
            </a:endParaRPr>
          </a:p>
          <a:p>
            <a:pPr marL="800100" lvl="1" indent="-342900">
              <a:buFont typeface="Courier New"/>
              <a:buChar char="o"/>
            </a:pPr>
            <a:r>
              <a:rPr lang="en-GB" sz="2000" b="1" dirty="0">
                <a:highlight>
                  <a:srgbClr val="FFFFFF"/>
                </a:highlight>
                <a:latin typeface="Times New Roman"/>
                <a:ea typeface="+mn-lt"/>
                <a:cs typeface="+mn-lt"/>
              </a:rPr>
              <a:t>Wide interval:</a:t>
            </a:r>
            <a:r>
              <a:rPr lang="en-GB" sz="2000" dirty="0">
                <a:highlight>
                  <a:srgbClr val="FFFFFF"/>
                </a:highlight>
                <a:latin typeface="Times New Roman"/>
                <a:ea typeface="+mn-lt"/>
                <a:cs typeface="+mn-lt"/>
              </a:rPr>
              <a:t> " The estimate is too </a:t>
            </a:r>
            <a:r>
              <a:rPr lang="en-GB" sz="2000" b="1" dirty="0">
                <a:highlight>
                  <a:srgbClr val="FFFFFF"/>
                </a:highlight>
                <a:latin typeface="Times New Roman"/>
                <a:ea typeface="+mn-lt"/>
                <a:cs typeface="+mn-lt"/>
              </a:rPr>
              <a:t>uncertain, </a:t>
            </a:r>
            <a:r>
              <a:rPr lang="en-GB" sz="2000" dirty="0">
                <a:highlight>
                  <a:srgbClr val="FFFFFF"/>
                </a:highlight>
                <a:latin typeface="Times New Roman"/>
                <a:ea typeface="+mn-lt"/>
                <a:cs typeface="+mn-lt"/>
              </a:rPr>
              <a:t>so it could be anything."</a:t>
            </a:r>
            <a:endParaRPr lang="en-GB" sz="2000" dirty="0">
              <a:latin typeface="Times New Roman"/>
              <a:ea typeface="+mn-lt"/>
              <a:cs typeface="+mn-lt"/>
            </a:endParaRPr>
          </a:p>
          <a:p>
            <a:pPr marL="800100" lvl="1" indent="-342900">
              <a:buFont typeface="Courier New"/>
              <a:buChar char="o"/>
            </a:pPr>
            <a:r>
              <a:rPr lang="en-GB" sz="2000" b="1" dirty="0">
                <a:highlight>
                  <a:srgbClr val="FFFFFF"/>
                </a:highlight>
                <a:latin typeface="Times New Roman"/>
                <a:ea typeface="+mn-lt"/>
                <a:cs typeface="+mn-lt"/>
              </a:rPr>
              <a:t>Narrow interval: </a:t>
            </a:r>
            <a:r>
              <a:rPr lang="en-GB" sz="2000" dirty="0">
                <a:highlight>
                  <a:srgbClr val="FFFFFF"/>
                </a:highlight>
                <a:latin typeface="Times New Roman"/>
                <a:ea typeface="+mn-lt"/>
                <a:cs typeface="+mn-lt"/>
              </a:rPr>
              <a:t>"The estimate is very </a:t>
            </a:r>
            <a:r>
              <a:rPr lang="en-GB" sz="2000" b="1" dirty="0">
                <a:highlight>
                  <a:srgbClr val="FFFFFF"/>
                </a:highlight>
                <a:latin typeface="Times New Roman"/>
                <a:ea typeface="+mn-lt"/>
                <a:cs typeface="+mn-lt"/>
              </a:rPr>
              <a:t>reliable</a:t>
            </a:r>
            <a:r>
              <a:rPr lang="en-GB" sz="2000" dirty="0">
                <a:highlight>
                  <a:srgbClr val="FFFFFF"/>
                </a:highlight>
                <a:latin typeface="Times New Roman"/>
                <a:ea typeface="+mn-lt"/>
                <a:cs typeface="+mn-lt"/>
              </a:rPr>
              <a:t>."</a:t>
            </a:r>
            <a:endParaRPr lang="en-GB" sz="2000" dirty="0">
              <a:latin typeface="Times New Roman"/>
              <a:cs typeface="Times New Roman"/>
            </a:endParaRPr>
          </a:p>
          <a:p>
            <a:pPr marL="342900" indent="-342900">
              <a:buFont typeface="Arial"/>
              <a:buChar char="•"/>
            </a:pPr>
            <a:endParaRPr lang="en-GB" sz="2000" dirty="0">
              <a:highlight>
                <a:srgbClr val="FFFFFF"/>
              </a:highlight>
              <a:latin typeface="Times New Roman"/>
              <a:cs typeface="Times New Roman"/>
            </a:endParaRPr>
          </a:p>
          <a:p>
            <a:endParaRPr lang="en-GB" sz="2000" dirty="0">
              <a:latin typeface="Times New Roman"/>
              <a:cs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08E040-5A72-53CB-8C7B-3B6650F19872}"/>
              </a:ext>
            </a:extLst>
          </p:cNvPr>
          <p:cNvSpPr txBox="1"/>
          <p:nvPr/>
        </p:nvSpPr>
        <p:spPr>
          <a:xfrm>
            <a:off x="1477818" y="323272"/>
            <a:ext cx="81741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ea typeface="+mn-lt"/>
                <a:cs typeface="+mn-lt"/>
              </a:rPr>
              <a:t>The Testing Toolbox</a:t>
            </a:r>
            <a:endParaRPr lang="en-US" sz="2400" b="1">
              <a:solidFill>
                <a:schemeClr val="accent3">
                  <a:lumMod val="76000"/>
                </a:schemeClr>
              </a:solidFill>
              <a:latin typeface="Times New Roman"/>
              <a:cs typeface="Times New Roman"/>
            </a:endParaRPr>
          </a:p>
        </p:txBody>
      </p:sp>
      <p:graphicFrame>
        <p:nvGraphicFramePr>
          <p:cNvPr id="4" name="Table 3">
            <a:extLst>
              <a:ext uri="{FF2B5EF4-FFF2-40B4-BE49-F238E27FC236}">
                <a16:creationId xmlns:a16="http://schemas.microsoft.com/office/drawing/2014/main" id="{8DF91EFC-3215-E1F5-0472-ECF6638A3DFE}"/>
              </a:ext>
            </a:extLst>
          </p:cNvPr>
          <p:cNvGraphicFramePr>
            <a:graphicFrameLocks noGrp="1"/>
          </p:cNvGraphicFramePr>
          <p:nvPr>
            <p:extLst>
              <p:ext uri="{D42A27DB-BD31-4B8C-83A1-F6EECF244321}">
                <p14:modId xmlns:p14="http://schemas.microsoft.com/office/powerpoint/2010/main" val="1219147379"/>
              </p:ext>
            </p:extLst>
          </p:nvPr>
        </p:nvGraphicFramePr>
        <p:xfrm>
          <a:off x="369454" y="1166090"/>
          <a:ext cx="11287806" cy="3148475"/>
        </p:xfrm>
        <a:graphic>
          <a:graphicData uri="http://schemas.openxmlformats.org/drawingml/2006/table">
            <a:tbl>
              <a:tblPr firstRow="1" bandRow="1">
                <a:tableStyleId>{5C22544A-7EE6-4342-B048-85BDC9FD1C3A}</a:tableStyleId>
              </a:tblPr>
              <a:tblGrid>
                <a:gridCol w="3082636">
                  <a:extLst>
                    <a:ext uri="{9D8B030D-6E8A-4147-A177-3AD203B41FA5}">
                      <a16:colId xmlns:a16="http://schemas.microsoft.com/office/drawing/2014/main" val="1931337091"/>
                    </a:ext>
                  </a:extLst>
                </a:gridCol>
                <a:gridCol w="3675348">
                  <a:extLst>
                    <a:ext uri="{9D8B030D-6E8A-4147-A177-3AD203B41FA5}">
                      <a16:colId xmlns:a16="http://schemas.microsoft.com/office/drawing/2014/main" val="558075305"/>
                    </a:ext>
                  </a:extLst>
                </a:gridCol>
                <a:gridCol w="4529822">
                  <a:extLst>
                    <a:ext uri="{9D8B030D-6E8A-4147-A177-3AD203B41FA5}">
                      <a16:colId xmlns:a16="http://schemas.microsoft.com/office/drawing/2014/main" val="2406306702"/>
                    </a:ext>
                  </a:extLst>
                </a:gridCol>
              </a:tblGrid>
              <a:tr h="324627">
                <a:tc>
                  <a:txBody>
                    <a:bodyPr/>
                    <a:lstStyle/>
                    <a:p>
                      <a:pPr lvl="0" algn="ctr">
                        <a:buNone/>
                      </a:pPr>
                      <a:r>
                        <a:rPr lang="en-US" sz="1800" b="1" i="0" u="none" strike="noStrike" noProof="0" dirty="0">
                          <a:solidFill>
                            <a:schemeClr val="tx1"/>
                          </a:solidFill>
                          <a:latin typeface="Neue Haas Grotesk Text Pro"/>
                        </a:rPr>
                        <a:t>Test</a:t>
                      </a:r>
                      <a:endParaRPr lang="en-US" b="1">
                        <a:solidFill>
                          <a:schemeClr val="tx1"/>
                        </a:solidFill>
                      </a:endParaRPr>
                    </a:p>
                  </a:txBody>
                  <a:tcPr/>
                </a:tc>
                <a:tc>
                  <a:txBody>
                    <a:bodyPr/>
                    <a:lstStyle/>
                    <a:p>
                      <a:pPr lvl="0" algn="ctr">
                        <a:buNone/>
                      </a:pPr>
                      <a:r>
                        <a:rPr lang="en-US" sz="1800" b="1" i="0" u="none" strike="noStrike" noProof="0" dirty="0">
                          <a:solidFill>
                            <a:schemeClr val="tx1"/>
                          </a:solidFill>
                          <a:latin typeface="Neue Haas Grotesk Text Pro"/>
                        </a:rPr>
                        <a:t>When to Use it</a:t>
                      </a:r>
                      <a:endParaRPr lang="en-US" b="1">
                        <a:solidFill>
                          <a:schemeClr val="tx1"/>
                        </a:solidFill>
                      </a:endParaRPr>
                    </a:p>
                  </a:txBody>
                  <a:tcPr/>
                </a:tc>
                <a:tc>
                  <a:txBody>
                    <a:bodyPr/>
                    <a:lstStyle/>
                    <a:p>
                      <a:pPr lvl="0" algn="ctr">
                        <a:buNone/>
                      </a:pPr>
                      <a:r>
                        <a:rPr lang="en-US" sz="1800" b="1" i="0" u="none" strike="noStrike" noProof="0" dirty="0">
                          <a:solidFill>
                            <a:schemeClr val="tx1"/>
                          </a:solidFill>
                          <a:latin typeface="Neue Haas Grotesk Text Pro"/>
                        </a:rPr>
                        <a:t>Example</a:t>
                      </a:r>
                      <a:endParaRPr lang="en-US" b="1" dirty="0">
                        <a:solidFill>
                          <a:schemeClr val="tx1"/>
                        </a:solidFill>
                      </a:endParaRPr>
                    </a:p>
                  </a:txBody>
                  <a:tcPr/>
                </a:tc>
                <a:extLst>
                  <a:ext uri="{0D108BD9-81ED-4DB2-BD59-A6C34878D82A}">
                    <a16:rowId xmlns:a16="http://schemas.microsoft.com/office/drawing/2014/main" val="4052089223"/>
                  </a:ext>
                </a:extLst>
              </a:tr>
              <a:tr h="608676">
                <a:tc>
                  <a:txBody>
                    <a:bodyPr/>
                    <a:lstStyle/>
                    <a:p>
                      <a:pPr lvl="0">
                        <a:buNone/>
                      </a:pPr>
                      <a:r>
                        <a:rPr lang="en-US" sz="2000" b="1" i="0" u="none" strike="noStrike" noProof="0" dirty="0">
                          <a:solidFill>
                            <a:srgbClr val="000000"/>
                          </a:solidFill>
                          <a:latin typeface="Times New Roman"/>
                        </a:rPr>
                        <a:t>t-Test</a:t>
                      </a:r>
                      <a:endParaRPr lang="en-US" sz="2000">
                        <a:latin typeface="Times New Roman"/>
                      </a:endParaRPr>
                    </a:p>
                  </a:txBody>
                  <a:tcPr/>
                </a:tc>
                <a:tc>
                  <a:txBody>
                    <a:bodyPr/>
                    <a:lstStyle/>
                    <a:p>
                      <a:pPr lvl="0">
                        <a:buNone/>
                      </a:pPr>
                      <a:r>
                        <a:rPr lang="en-US" sz="2000" b="0" i="0" u="none" strike="noStrike" noProof="0" dirty="0">
                          <a:solidFill>
                            <a:srgbClr val="000000"/>
                          </a:solidFill>
                          <a:latin typeface="Times New Roman"/>
                        </a:rPr>
                        <a:t>Small sample, unknown variance.</a:t>
                      </a:r>
                      <a:endParaRPr lang="en-US" sz="2000">
                        <a:latin typeface="Times New Roman"/>
                      </a:endParaRPr>
                    </a:p>
                  </a:txBody>
                  <a:tcPr/>
                </a:tc>
                <a:tc>
                  <a:txBody>
                    <a:bodyPr/>
                    <a:lstStyle/>
                    <a:p>
                      <a:pPr lvl="0">
                        <a:buNone/>
                      </a:pPr>
                      <a:r>
                        <a:rPr lang="en-US" sz="2000" b="0" i="0" u="none" strike="noStrike" noProof="0" dirty="0">
                          <a:solidFill>
                            <a:srgbClr val="000000"/>
                          </a:solidFill>
                          <a:latin typeface="Times New Roman"/>
                        </a:rPr>
                        <a:t>Comparing the test scores of Class A vs. Class B.</a:t>
                      </a:r>
                      <a:endParaRPr lang="en-US" sz="2000">
                        <a:latin typeface="Times New Roman"/>
                      </a:endParaRPr>
                    </a:p>
                  </a:txBody>
                  <a:tcPr/>
                </a:tc>
                <a:extLst>
                  <a:ext uri="{0D108BD9-81ED-4DB2-BD59-A6C34878D82A}">
                    <a16:rowId xmlns:a16="http://schemas.microsoft.com/office/drawing/2014/main" val="1691925014"/>
                  </a:ext>
                </a:extLst>
              </a:tr>
              <a:tr h="608676">
                <a:tc>
                  <a:txBody>
                    <a:bodyPr/>
                    <a:lstStyle/>
                    <a:p>
                      <a:pPr lvl="0">
                        <a:buNone/>
                      </a:pPr>
                      <a:r>
                        <a:rPr lang="en-US" sz="2000" b="1" i="0" u="none" strike="noStrike" noProof="0" dirty="0">
                          <a:solidFill>
                            <a:srgbClr val="000000"/>
                          </a:solidFill>
                          <a:latin typeface="Times New Roman"/>
                        </a:rPr>
                        <a:t>z-Test</a:t>
                      </a:r>
                      <a:endParaRPr lang="en-US" sz="2000">
                        <a:latin typeface="Times New Roman"/>
                      </a:endParaRPr>
                    </a:p>
                  </a:txBody>
                  <a:tcPr/>
                </a:tc>
                <a:tc>
                  <a:txBody>
                    <a:bodyPr/>
                    <a:lstStyle/>
                    <a:p>
                      <a:pPr lvl="0">
                        <a:buNone/>
                      </a:pPr>
                      <a:r>
                        <a:rPr lang="en-US" sz="2000" b="0" i="0" u="none" strike="noStrike" noProof="0" dirty="0">
                          <a:solidFill>
                            <a:srgbClr val="000000"/>
                          </a:solidFill>
                          <a:latin typeface="Times New Roman"/>
                        </a:rPr>
                        <a:t>Large sample (n &gt; 30), known variance</a:t>
                      </a:r>
                      <a:endParaRPr lang="en-US" sz="2000">
                        <a:latin typeface="Times New Roman"/>
                      </a:endParaRPr>
                    </a:p>
                  </a:txBody>
                  <a:tcPr/>
                </a:tc>
                <a:tc>
                  <a:txBody>
                    <a:bodyPr/>
                    <a:lstStyle/>
                    <a:p>
                      <a:pPr lvl="0">
                        <a:buNone/>
                      </a:pPr>
                      <a:r>
                        <a:rPr lang="en-US" sz="2000" b="0" i="0" u="none" strike="noStrike" noProof="0" dirty="0">
                          <a:solidFill>
                            <a:srgbClr val="000000"/>
                          </a:solidFill>
                          <a:latin typeface="Times New Roman"/>
                        </a:rPr>
                        <a:t>Testing if the average height of a whole country is exactly 175cm.</a:t>
                      </a:r>
                      <a:endParaRPr lang="en-US" sz="2000">
                        <a:latin typeface="Times New Roman"/>
                      </a:endParaRPr>
                    </a:p>
                  </a:txBody>
                  <a:tcPr/>
                </a:tc>
                <a:extLst>
                  <a:ext uri="{0D108BD9-81ED-4DB2-BD59-A6C34878D82A}">
                    <a16:rowId xmlns:a16="http://schemas.microsoft.com/office/drawing/2014/main" val="3134512398"/>
                  </a:ext>
                </a:extLst>
              </a:tr>
              <a:tr h="568097">
                <a:tc>
                  <a:txBody>
                    <a:bodyPr/>
                    <a:lstStyle/>
                    <a:p>
                      <a:pPr lvl="0">
                        <a:buNone/>
                      </a:pPr>
                      <a:r>
                        <a:rPr lang="en-US" sz="1800" b="1" i="0" u="none" strike="noStrike" noProof="0" dirty="0">
                          <a:solidFill>
                            <a:srgbClr val="000000"/>
                          </a:solidFill>
                        </a:rPr>
                        <a:t>ANOVA</a:t>
                      </a:r>
                      <a:endParaRPr lang="en-US" dirty="0"/>
                    </a:p>
                  </a:txBody>
                  <a:tcPr/>
                </a:tc>
                <a:tc>
                  <a:txBody>
                    <a:bodyPr/>
                    <a:lstStyle/>
                    <a:p>
                      <a:pPr lvl="0">
                        <a:buNone/>
                      </a:pPr>
                      <a:r>
                        <a:rPr lang="en-US" sz="1800" b="0" i="0" u="none" strike="noStrike" noProof="0" dirty="0">
                          <a:solidFill>
                            <a:srgbClr val="000000"/>
                          </a:solidFill>
                        </a:rPr>
                        <a:t>Comparing </a:t>
                      </a:r>
                      <a:r>
                        <a:rPr lang="en-US" sz="1800" b="1" i="0" u="none" strike="noStrike" noProof="0" dirty="0">
                          <a:solidFill>
                            <a:srgbClr val="000000"/>
                          </a:solidFill>
                        </a:rPr>
                        <a:t>3+ groups</a:t>
                      </a:r>
                      <a:r>
                        <a:rPr lang="en-US" sz="1800" b="0" i="0" u="none" strike="noStrike" noProof="0" dirty="0">
                          <a:solidFill>
                            <a:srgbClr val="000000"/>
                          </a:solidFill>
                        </a:rPr>
                        <a:t>.</a:t>
                      </a:r>
                      <a:endParaRPr lang="en-US" dirty="0"/>
                    </a:p>
                  </a:txBody>
                  <a:tcPr/>
                </a:tc>
                <a:tc>
                  <a:txBody>
                    <a:bodyPr/>
                    <a:lstStyle/>
                    <a:p>
                      <a:pPr lvl="0">
                        <a:buNone/>
                      </a:pPr>
                      <a:r>
                        <a:rPr lang="en-US" sz="1800" b="0" i="0" u="none" strike="noStrike" noProof="0" dirty="0">
                          <a:solidFill>
                            <a:srgbClr val="000000"/>
                          </a:solidFill>
                        </a:rPr>
                        <a:t>Do three different diets result in different weight loss amounts?</a:t>
                      </a:r>
                      <a:endParaRPr lang="en-US" dirty="0"/>
                    </a:p>
                  </a:txBody>
                  <a:tcPr/>
                </a:tc>
                <a:extLst>
                  <a:ext uri="{0D108BD9-81ED-4DB2-BD59-A6C34878D82A}">
                    <a16:rowId xmlns:a16="http://schemas.microsoft.com/office/drawing/2014/main" val="60254812"/>
                  </a:ext>
                </a:extLst>
              </a:tr>
              <a:tr h="740555">
                <a:tc>
                  <a:txBody>
                    <a:bodyPr/>
                    <a:lstStyle/>
                    <a:p>
                      <a:pPr lvl="0">
                        <a:buNone/>
                      </a:pPr>
                      <a:r>
                        <a:rPr lang="en-US" sz="1800" b="1" i="0" u="none" strike="noStrike" noProof="0" dirty="0">
                          <a:solidFill>
                            <a:srgbClr val="000000"/>
                          </a:solidFill>
                        </a:rPr>
                        <a:t>Chi-Square </a:t>
                      </a:r>
                      <a:endParaRPr lang="en-US" dirty="0"/>
                    </a:p>
                  </a:txBody>
                  <a:tcPr/>
                </a:tc>
                <a:tc>
                  <a:txBody>
                    <a:bodyPr/>
                    <a:lstStyle/>
                    <a:p>
                      <a:pPr lvl="0">
                        <a:buNone/>
                      </a:pPr>
                      <a:r>
                        <a:rPr lang="en-US" sz="1800" b="0" i="0" u="none" strike="noStrike" noProof="0" dirty="0">
                          <a:solidFill>
                            <a:srgbClr val="000000"/>
                          </a:solidFill>
                          <a:latin typeface="Neue Haas Grotesk Text Pro"/>
                        </a:rPr>
                        <a:t>Categorical data (Labels).</a:t>
                      </a:r>
                      <a:endParaRPr lang="en-US" dirty="0"/>
                    </a:p>
                  </a:txBody>
                  <a:tcPr/>
                </a:tc>
                <a:tc>
                  <a:txBody>
                    <a:bodyPr/>
                    <a:lstStyle/>
                    <a:p>
                      <a:pPr lvl="0" algn="l">
                        <a:lnSpc>
                          <a:spcPct val="100000"/>
                        </a:lnSpc>
                        <a:spcBef>
                          <a:spcPts val="0"/>
                        </a:spcBef>
                        <a:spcAft>
                          <a:spcPts val="0"/>
                        </a:spcAft>
                        <a:buNone/>
                      </a:pPr>
                      <a:r>
                        <a:rPr lang="en-US" sz="1800" b="0" i="0" u="none" strike="noStrike" noProof="0" dirty="0">
                          <a:solidFill>
                            <a:srgbClr val="000000"/>
                          </a:solidFill>
                        </a:rPr>
                        <a:t>Is there a link between "Gender" and "Preference for Sci-Fi movies"?</a:t>
                      </a:r>
                      <a:endParaRPr lang="en-GB" sz="1800" b="0" i="0" u="none" strike="noStrike" noProof="0" dirty="0">
                        <a:solidFill>
                          <a:srgbClr val="000000"/>
                        </a:solidFill>
                      </a:endParaRPr>
                    </a:p>
                  </a:txBody>
                  <a:tcPr/>
                </a:tc>
                <a:extLst>
                  <a:ext uri="{0D108BD9-81ED-4DB2-BD59-A6C34878D82A}">
                    <a16:rowId xmlns:a16="http://schemas.microsoft.com/office/drawing/2014/main" val="2323532364"/>
                  </a:ext>
                </a:extLst>
              </a:tr>
            </a:tbl>
          </a:graphicData>
        </a:graphic>
      </p:graphicFrame>
      <p:sp>
        <p:nvSpPr>
          <p:cNvPr id="6" name="TextBox 5">
            <a:extLst>
              <a:ext uri="{FF2B5EF4-FFF2-40B4-BE49-F238E27FC236}">
                <a16:creationId xmlns:a16="http://schemas.microsoft.com/office/drawing/2014/main" id="{4820321F-F774-49E0-2A50-944C194C5483}"/>
              </a:ext>
            </a:extLst>
          </p:cNvPr>
          <p:cNvSpPr txBox="1"/>
          <p:nvPr/>
        </p:nvSpPr>
        <p:spPr>
          <a:xfrm>
            <a:off x="369454" y="4445001"/>
            <a:ext cx="1129145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GB" sz="2000" b="1" dirty="0">
                <a:latin typeface="Times New Roman"/>
                <a:ea typeface="+mn-lt"/>
                <a:cs typeface="+mn-lt"/>
              </a:rPr>
              <a:t>t-Tests and z-Tests:</a:t>
            </a:r>
            <a:r>
              <a:rPr lang="en-GB" sz="2000" dirty="0">
                <a:latin typeface="Times New Roman"/>
                <a:ea typeface="+mn-lt"/>
                <a:cs typeface="+mn-lt"/>
              </a:rPr>
              <a:t> Compare means to assess statistical significance. </a:t>
            </a:r>
            <a:endParaRPr lang="en-GB">
              <a:latin typeface="Times New Roman"/>
              <a:ea typeface="+mn-lt"/>
              <a:cs typeface="+mn-lt"/>
            </a:endParaRPr>
          </a:p>
          <a:p>
            <a:pPr marL="342900" indent="-342900">
              <a:buFont typeface="Arial"/>
              <a:buChar char="•"/>
            </a:pPr>
            <a:r>
              <a:rPr lang="en-GB" sz="2000" b="1" dirty="0">
                <a:latin typeface="Times New Roman"/>
                <a:ea typeface="+mn-lt"/>
                <a:cs typeface="+mn-lt"/>
              </a:rPr>
              <a:t>ANOVA (Analysis of Variance):</a:t>
            </a:r>
            <a:r>
              <a:rPr lang="en-GB" sz="2000" dirty="0">
                <a:latin typeface="Times New Roman"/>
                <a:ea typeface="+mn-lt"/>
                <a:cs typeface="+mn-lt"/>
              </a:rPr>
              <a:t> Compares means across multiple groups to determine if they differ significantly. </a:t>
            </a:r>
            <a:endParaRPr lang="en-GB" sz="2000" dirty="0">
              <a:latin typeface="Times New Roman"/>
            </a:endParaRPr>
          </a:p>
          <a:p>
            <a:pPr marL="342900" indent="-342900">
              <a:buFont typeface="Arial"/>
              <a:buChar char="•"/>
            </a:pPr>
            <a:r>
              <a:rPr lang="en-GB" sz="2000" b="1" dirty="0">
                <a:latin typeface="Times New Roman"/>
                <a:ea typeface="+mn-lt"/>
                <a:cs typeface="+mn-lt"/>
              </a:rPr>
              <a:t>Chi-Square Tests:</a:t>
            </a:r>
            <a:r>
              <a:rPr lang="en-GB" sz="2000" dirty="0">
                <a:latin typeface="Times New Roman"/>
                <a:ea typeface="+mn-lt"/>
                <a:cs typeface="+mn-lt"/>
              </a:rPr>
              <a:t> Assess the association between categorical variables.</a:t>
            </a:r>
            <a:endParaRPr lang="en-GB" sz="2000" dirty="0">
              <a:latin typeface="Times New Roman"/>
              <a:cs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2077AD-7BCA-77B5-929B-7257E0F1289E}"/>
              </a:ext>
            </a:extLst>
          </p:cNvPr>
          <p:cNvSpPr txBox="1"/>
          <p:nvPr/>
        </p:nvSpPr>
        <p:spPr>
          <a:xfrm>
            <a:off x="565726" y="1119908"/>
            <a:ext cx="10217727" cy="42780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b="1" dirty="0">
                <a:latin typeface="Times New Roman"/>
                <a:ea typeface="+mn-lt"/>
                <a:cs typeface="+mn-lt"/>
              </a:rPr>
              <a:t>Covariance vs Correlation in ML</a:t>
            </a:r>
            <a:endParaRPr lang="en-US" sz="1600" b="1" dirty="0">
              <a:latin typeface="Times New Roman"/>
              <a:cs typeface="Times New Roman"/>
            </a:endParaRPr>
          </a:p>
          <a:p>
            <a:pPr marL="285750" indent="-285750">
              <a:buFont typeface="Arial"/>
              <a:buChar char="•"/>
            </a:pPr>
            <a:r>
              <a:rPr lang="en-GB" sz="1600" b="1" dirty="0">
                <a:latin typeface="Times New Roman"/>
                <a:ea typeface="+mn-lt"/>
                <a:cs typeface="+mn-lt"/>
              </a:rPr>
              <a:t>Covariance:</a:t>
            </a:r>
          </a:p>
          <a:p>
            <a:pPr marL="800100" lvl="1" indent="-342900">
              <a:buFont typeface="Courier New"/>
              <a:buChar char="o"/>
            </a:pPr>
            <a:r>
              <a:rPr lang="en-GB" sz="1600" dirty="0">
                <a:latin typeface="Times New Roman"/>
                <a:ea typeface="+mn-lt"/>
                <a:cs typeface="+mn-lt"/>
              </a:rPr>
              <a:t>Measures whether two variables move together.</a:t>
            </a:r>
          </a:p>
          <a:p>
            <a:pPr marL="800100" lvl="1" indent="-342900">
              <a:buFont typeface="Courier New"/>
              <a:buChar char="o"/>
            </a:pPr>
            <a:r>
              <a:rPr lang="en-GB" sz="1600" dirty="0">
                <a:latin typeface="Times New Roman"/>
                <a:ea typeface="+mn-lt"/>
                <a:cs typeface="+mn-lt"/>
              </a:rPr>
              <a:t>Positive means they increase together. Negative means one increases while the other decreases.</a:t>
            </a:r>
          </a:p>
          <a:p>
            <a:pPr marL="800100" lvl="1" indent="-342900">
              <a:buFont typeface="Courier New"/>
              <a:buChar char="o"/>
            </a:pPr>
            <a:r>
              <a:rPr lang="en-GB" sz="1600" dirty="0">
                <a:latin typeface="Times New Roman"/>
                <a:ea typeface="+mn-lt"/>
                <a:cs typeface="+mn-lt"/>
              </a:rPr>
              <a:t>Covariance tells you </a:t>
            </a:r>
            <a:r>
              <a:rPr lang="en-GB" sz="1600" b="1" i="1" dirty="0">
                <a:latin typeface="Times New Roman"/>
                <a:ea typeface="+mn-lt"/>
                <a:cs typeface="+mn-lt"/>
              </a:rPr>
              <a:t>direction of relationship</a:t>
            </a:r>
            <a:r>
              <a:rPr lang="en-GB" sz="1600" dirty="0">
                <a:latin typeface="Times New Roman"/>
                <a:ea typeface="+mn-lt"/>
                <a:cs typeface="+mn-lt"/>
              </a:rPr>
              <a:t>, but the scale depends on units, so the number itself is hard to interpret.</a:t>
            </a:r>
            <a:endParaRPr lang="en-GB" sz="1600" dirty="0">
              <a:latin typeface="Times New Roman"/>
              <a:cs typeface="Times New Roman"/>
            </a:endParaRPr>
          </a:p>
          <a:p>
            <a:pPr marL="285750" indent="-285750">
              <a:buFont typeface="Arial"/>
              <a:buChar char="•"/>
            </a:pPr>
            <a:r>
              <a:rPr lang="en-GB" sz="1600" b="1" dirty="0">
                <a:latin typeface="Times New Roman"/>
                <a:ea typeface="+mn-lt"/>
                <a:cs typeface="+mn-lt"/>
              </a:rPr>
              <a:t>Correlation:</a:t>
            </a:r>
            <a:endParaRPr lang="en-GB" sz="1600" b="1">
              <a:latin typeface="Times New Roman"/>
              <a:ea typeface="+mn-lt"/>
              <a:cs typeface="Times New Roman"/>
            </a:endParaRPr>
          </a:p>
          <a:p>
            <a:pPr marL="285750" indent="-285750">
              <a:buFont typeface="Arial"/>
              <a:buChar char="•"/>
            </a:pPr>
            <a:r>
              <a:rPr lang="en-GB" sz="1600" dirty="0">
                <a:latin typeface="Times New Roman"/>
                <a:ea typeface="+mn-lt"/>
                <a:cs typeface="+mn-lt"/>
              </a:rPr>
              <a:t>Is a standardized version of covariance.</a:t>
            </a:r>
            <a:endParaRPr lang="en-GB" sz="1600" dirty="0">
              <a:latin typeface="Times New Roman"/>
              <a:ea typeface="+mn-lt"/>
              <a:cs typeface="Times New Roman"/>
            </a:endParaRPr>
          </a:p>
          <a:p>
            <a:pPr marL="285750" indent="-285750">
              <a:buFont typeface="Arial"/>
              <a:buChar char="•"/>
            </a:pPr>
            <a:r>
              <a:rPr lang="en-GB" sz="1600" dirty="0">
                <a:latin typeface="Times New Roman"/>
                <a:ea typeface="+mn-lt"/>
                <a:cs typeface="+mn-lt"/>
              </a:rPr>
              <a:t>It measures both </a:t>
            </a:r>
            <a:r>
              <a:rPr lang="en-GB" sz="1600" b="1" dirty="0">
                <a:latin typeface="Times New Roman"/>
                <a:ea typeface="+mn-lt"/>
                <a:cs typeface="+mn-lt"/>
              </a:rPr>
              <a:t>direction and strength</a:t>
            </a:r>
            <a:r>
              <a:rPr lang="en-GB" sz="1600" dirty="0">
                <a:latin typeface="Times New Roman"/>
                <a:ea typeface="+mn-lt"/>
                <a:cs typeface="+mn-lt"/>
              </a:rPr>
              <a:t>, always between minus one and one.</a:t>
            </a:r>
            <a:endParaRPr lang="en-GB" sz="1600">
              <a:latin typeface="Times New Roman"/>
              <a:ea typeface="+mn-lt"/>
              <a:cs typeface="Times New Roman"/>
            </a:endParaRPr>
          </a:p>
          <a:p>
            <a:pPr marL="285750" indent="-285750">
              <a:buFont typeface="Arial"/>
              <a:buChar char="•"/>
            </a:pPr>
            <a:r>
              <a:rPr lang="en-GB" sz="1600" dirty="0">
                <a:latin typeface="Times New Roman"/>
                <a:ea typeface="+mn-lt"/>
                <a:cs typeface="+mn-lt"/>
              </a:rPr>
              <a:t>Correlation lets you compare relationships across features and decide which variables are more strongly related to a target or to each other.</a:t>
            </a:r>
            <a:endParaRPr lang="en-GB" sz="1600">
              <a:latin typeface="Times New Roman"/>
              <a:ea typeface="+mn-lt"/>
              <a:cs typeface="Times New Roman"/>
            </a:endParaRPr>
          </a:p>
          <a:p>
            <a:pPr marL="285750" indent="-285750">
              <a:buFont typeface="Arial"/>
              <a:buChar char="•"/>
            </a:pPr>
            <a:endParaRPr lang="en-GB" sz="1600" dirty="0">
              <a:latin typeface="Times New Roman"/>
              <a:ea typeface="+mn-lt"/>
              <a:cs typeface="+mn-lt"/>
            </a:endParaRPr>
          </a:p>
          <a:p>
            <a:r>
              <a:rPr lang="en-GB" sz="1600" b="1" dirty="0">
                <a:latin typeface="Times New Roman"/>
                <a:cs typeface="Times New Roman"/>
              </a:rPr>
              <a:t>Correlation vs Causation in ML</a:t>
            </a:r>
          </a:p>
          <a:p>
            <a:pPr marL="285750" indent="-285750">
              <a:buFont typeface="Arial"/>
              <a:buChar char="•"/>
            </a:pPr>
            <a:r>
              <a:rPr lang="en-GB" sz="1600" dirty="0">
                <a:latin typeface="Times New Roman"/>
                <a:ea typeface="+mn-lt"/>
                <a:cs typeface="+mn-lt"/>
              </a:rPr>
              <a:t>Correlation does not imply causation.</a:t>
            </a:r>
            <a:endParaRPr lang="en-GB" sz="1600" dirty="0">
              <a:latin typeface="Times New Roman"/>
              <a:cs typeface="Times New Roman"/>
            </a:endParaRPr>
          </a:p>
          <a:p>
            <a:pPr marL="285750" indent="-285750">
              <a:buFont typeface="Arial"/>
              <a:buChar char="•"/>
            </a:pPr>
            <a:r>
              <a:rPr lang="en-GB" sz="1600" dirty="0">
                <a:latin typeface="Times New Roman"/>
                <a:ea typeface="+mn-lt"/>
                <a:cs typeface="+mn-lt"/>
              </a:rPr>
              <a:t>Models learn correlations, not causes.</a:t>
            </a:r>
            <a:endParaRPr lang="en-GB" sz="1600" dirty="0">
              <a:latin typeface="Times New Roman"/>
              <a:ea typeface="+mn-lt"/>
              <a:cs typeface="Times New Roman"/>
            </a:endParaRPr>
          </a:p>
          <a:p>
            <a:pPr marL="285750" indent="-285750">
              <a:buFont typeface="Arial"/>
              <a:buChar char="•"/>
            </a:pPr>
            <a:r>
              <a:rPr lang="en-GB" sz="1600" dirty="0">
                <a:latin typeface="Times New Roman"/>
                <a:ea typeface="+mn-lt"/>
                <a:cs typeface="+mn-lt"/>
              </a:rPr>
              <a:t>A feature can improve predictions without being the true driver.</a:t>
            </a:r>
            <a:endParaRPr lang="en-GB" sz="1600" dirty="0">
              <a:latin typeface="Times New Roman"/>
              <a:cs typeface="Times New Roman"/>
            </a:endParaRPr>
          </a:p>
          <a:p>
            <a:pPr marL="285750" indent="-285750">
              <a:buFont typeface="Arial"/>
              <a:buChar char="•"/>
            </a:pPr>
            <a:r>
              <a:rPr lang="en-GB" sz="1600" dirty="0">
                <a:latin typeface="Times New Roman"/>
                <a:ea typeface="+mn-lt"/>
                <a:cs typeface="+mn-lt"/>
              </a:rPr>
              <a:t>Risk: Using correlated but non causal features can break models when data distributions change.</a:t>
            </a:r>
          </a:p>
        </p:txBody>
      </p:sp>
      <p:sp>
        <p:nvSpPr>
          <p:cNvPr id="3" name="TextBox 2">
            <a:extLst>
              <a:ext uri="{FF2B5EF4-FFF2-40B4-BE49-F238E27FC236}">
                <a16:creationId xmlns:a16="http://schemas.microsoft.com/office/drawing/2014/main" id="{523BE8CF-24E0-E712-0DC3-887C6103DEC1}"/>
              </a:ext>
            </a:extLst>
          </p:cNvPr>
          <p:cNvSpPr txBox="1"/>
          <p:nvPr/>
        </p:nvSpPr>
        <p:spPr>
          <a:xfrm>
            <a:off x="715818" y="230909"/>
            <a:ext cx="957118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2400" b="1" dirty="0">
                <a:solidFill>
                  <a:schemeClr val="accent3">
                    <a:lumMod val="76000"/>
                  </a:schemeClr>
                </a:solidFill>
                <a:latin typeface="Times New Roman"/>
                <a:cs typeface="Times New Roman"/>
              </a:rPr>
              <a:t>Covariance vs Correlation &amp; Correlation vs. Causation </a:t>
            </a:r>
            <a:endParaRPr lang="en-US" sz="2400" b="1" dirty="0">
              <a:solidFill>
                <a:schemeClr val="accent3">
                  <a:lumMod val="76000"/>
                </a:schemeClr>
              </a:solidFill>
              <a:latin typeface="Times New Roman"/>
              <a:cs typeface="Times New Roman"/>
            </a:endParaRPr>
          </a:p>
        </p:txBody>
      </p:sp>
    </p:spTree>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Words>
  <Application>Microsoft Office PowerPoint</Application>
  <PresentationFormat>Widescreen</PresentationFormat>
  <Paragraphs>4</Paragraphs>
  <Slides>20</Slides>
  <Notes>3</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PunchcardVTI</vt:lpstr>
      <vt:lpstr>PowerPoint Presentation</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Liberty</dc:creator>
  <cp:lastModifiedBy>Tolulope Kehinde</cp:lastModifiedBy>
  <cp:revision>1053</cp:revision>
  <dcterms:created xsi:type="dcterms:W3CDTF">2025-11-05T12:47:00Z</dcterms:created>
  <dcterms:modified xsi:type="dcterms:W3CDTF">2026-02-02T00:30:16Z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448BF34DDA5D4604A6E5E58B330A1B12_12</vt:lpwstr>
  </property>
  <property fmtid="{D5CDD505-2E9C-101B-9397-08002B2CF9AE}" pid="3" name="KSOProductBuildVer">
    <vt:lpwstr>1033-12.9.0.21549</vt:lpwstr>
  </property>
</Properties>
</file>