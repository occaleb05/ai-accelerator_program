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9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4651041" y="0"/>
            <a:ext cx="4492959" cy="51435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863" y="576251"/>
            <a:ext cx="3799501" cy="2149804"/>
          </a:xfrm>
        </p:spPr>
        <p:txBody>
          <a:bodyPr anchor="t"/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863" y="3212430"/>
            <a:ext cx="3799501" cy="1106383"/>
          </a:xfrm>
        </p:spPr>
        <p:txBody>
          <a:bodyPr anchor="b"/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5196" y="342900"/>
            <a:ext cx="2706154" cy="273844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13001" y="4605814"/>
            <a:ext cx="610362" cy="273844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37995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9E91172A-D17D-C180-F3B1-0141247E2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206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5377" y="4605814"/>
            <a:ext cx="610362" cy="273844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logo&#10;&#10;AI-generated content may be incorrect.">
            <a:extLst>
              <a:ext uri="{FF2B5EF4-FFF2-40B4-BE49-F238E27FC236}">
                <a16:creationId xmlns:a16="http://schemas.microsoft.com/office/drawing/2014/main" id="{7EC6D666-5D0B-8C45-3F9D-885CF1083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187" y="342900"/>
            <a:ext cx="637941" cy="460594"/>
          </a:xfrm>
          <a:prstGeom prst="rect">
            <a:avLst/>
          </a:prstGeom>
        </p:spPr>
      </p:pic>
      <p:pic>
        <p:nvPicPr>
          <p:cNvPr id="10" name="Picture 9" descr="A blue and orange lines&#10;&#10;AI-generated content may be incorrect.">
            <a:extLst>
              <a:ext uri="{FF2B5EF4-FFF2-40B4-BE49-F238E27FC236}">
                <a16:creationId xmlns:a16="http://schemas.microsoft.com/office/drawing/2014/main" id="{BB434980-A235-A835-9CA9-3906FF866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4282916" y="282416"/>
            <a:ext cx="578168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45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6263"/>
            <a:ext cx="3799501" cy="1751076"/>
          </a:xfrm>
        </p:spPr>
        <p:txBody>
          <a:bodyPr anchor="t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863" y="3191590"/>
            <a:ext cx="3799501" cy="1125140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13001" y="4605814"/>
            <a:ext cx="610362" cy="273844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37995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9497C09-89AE-6371-9DD4-75A5AF8DBC69}"/>
              </a:ext>
            </a:extLst>
          </p:cNvPr>
          <p:cNvGrpSpPr/>
          <p:nvPr/>
        </p:nvGrpSpPr>
        <p:grpSpPr>
          <a:xfrm>
            <a:off x="4651041" y="0"/>
            <a:ext cx="4492959" cy="5143501"/>
            <a:chOff x="6201388" y="0"/>
            <a:chExt cx="5990612" cy="685800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6198FF7-E543-F648-F22D-7A5A5F2906F4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5" name="Freeform 46">
              <a:extLst>
                <a:ext uri="{FF2B5EF4-FFF2-40B4-BE49-F238E27FC236}">
                  <a16:creationId xmlns:a16="http://schemas.microsoft.com/office/drawing/2014/main" id="{07271CCF-0DC3-3BF8-249C-3411FA74D96D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6" name="Freeform 48">
              <a:extLst>
                <a:ext uri="{FF2B5EF4-FFF2-40B4-BE49-F238E27FC236}">
                  <a16:creationId xmlns:a16="http://schemas.microsoft.com/office/drawing/2014/main" id="{CABBBCC2-237F-CBEA-84B0-1079062AC561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6B8E4F2-524D-24A8-86F4-1792F6E50E8B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E0BD260-421F-B483-B4A0-37FEFB3374F9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7D44ADD-B4C5-FBF7-10B0-325421A0D6C9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5" name="Freeform 63">
              <a:extLst>
                <a:ext uri="{FF2B5EF4-FFF2-40B4-BE49-F238E27FC236}">
                  <a16:creationId xmlns:a16="http://schemas.microsoft.com/office/drawing/2014/main" id="{5593C120-03DA-0B74-3A14-C5E66EDC4F9C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66" name="Freeform 64">
              <a:extLst>
                <a:ext uri="{FF2B5EF4-FFF2-40B4-BE49-F238E27FC236}">
                  <a16:creationId xmlns:a16="http://schemas.microsoft.com/office/drawing/2014/main" id="{2E836D48-4A84-EAB5-F726-7655BEFF3EB4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A3C7E49-0C95-45AB-FF02-F449805F0F82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9F28514-8A8B-6BB2-9BC7-3D9A99443AA9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6FC6122-5293-4627-86DE-6601FA92141B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D443DE6D-7BB4-A4DD-F128-91CF73CEBFBE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DA35F092-ECC3-7737-485B-16E2C5DBBD9C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03BEB774-3617-CD14-3987-72B21781DF42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5958338-951C-A8ED-487F-7A180F97702A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AAD3E28-B829-0A7D-41FB-9F6EC11DF07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0446E0C-7C6F-48A3-9347-464A70687F1E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3E242CA4-6284-C376-4F9A-836D395DD50F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95B8F67F-0DC3-A4B2-71FF-A3483FA75FC1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290C650-6E01-A169-3427-A0621B17A73B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36D4EC3C-D579-E8BB-FE8E-09E88C14B686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55D23B81-F939-BBDA-DD0D-632F19F07160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80FE3946-719E-8689-941C-2DA992DE45D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10F47F19-AA93-0318-795C-11AA315F23CD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pic>
        <p:nvPicPr>
          <p:cNvPr id="83" name="Picture 82" descr="A close up of a logo&#10;&#10;AI-generated content may be incorrect.">
            <a:extLst>
              <a:ext uri="{FF2B5EF4-FFF2-40B4-BE49-F238E27FC236}">
                <a16:creationId xmlns:a16="http://schemas.microsoft.com/office/drawing/2014/main" id="{5AB071D6-F70F-FC27-1E58-03B4EB9BF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35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2138" y="1774317"/>
            <a:ext cx="3929634" cy="2546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92229" y="1774317"/>
            <a:ext cx="3929634" cy="2546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17E75DCB-E0A9-8AE4-118D-B64726840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383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" y="576072"/>
            <a:ext cx="5500116" cy="9532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612" y="1774317"/>
            <a:ext cx="3929634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612" y="2392251"/>
            <a:ext cx="3929634" cy="1928668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87300" y="1774317"/>
            <a:ext cx="3929634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7300" y="2392251"/>
            <a:ext cx="3929634" cy="1928668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logo&#10;&#10;AI-generated content may be incorrect.">
            <a:extLst>
              <a:ext uri="{FF2B5EF4-FFF2-40B4-BE49-F238E27FC236}">
                <a16:creationId xmlns:a16="http://schemas.microsoft.com/office/drawing/2014/main" id="{A284F8FC-5CB3-2BD1-2B02-652458337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97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AI-generated content may be incorrect.">
            <a:extLst>
              <a:ext uri="{FF2B5EF4-FFF2-40B4-BE49-F238E27FC236}">
                <a16:creationId xmlns:a16="http://schemas.microsoft.com/office/drawing/2014/main" id="{46350139-760A-2B49-EEAB-39A916ACA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134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50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3730"/>
            <a:ext cx="2707487" cy="1046282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624" y="578167"/>
            <a:ext cx="4584388" cy="360042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2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63" y="1620012"/>
            <a:ext cx="2707487" cy="2781729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94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8167"/>
            <a:ext cx="2707487" cy="1041845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917879" y="668113"/>
            <a:ext cx="4545102" cy="365280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63" y="1620013"/>
            <a:ext cx="2707487" cy="270090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535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6696396" y="0"/>
            <a:ext cx="2447604" cy="51435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4860" y="4605814"/>
            <a:ext cx="610362" cy="273844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423862" y="4565333"/>
            <a:ext cx="55013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808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12572" y="732472"/>
            <a:ext cx="1701380" cy="35884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23863" y="732472"/>
            <a:ext cx="6198043" cy="35884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586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8168"/>
            <a:ext cx="5501876" cy="951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863" y="1620012"/>
            <a:ext cx="5501876" cy="2700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5196" y="342900"/>
            <a:ext cx="27061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863" y="4605814"/>
            <a:ext cx="27061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07259" y="4605814"/>
            <a:ext cx="61036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ue and orange lines&#10;&#10;AI-generated content may be incorrect.">
            <a:extLst>
              <a:ext uri="{FF2B5EF4-FFF2-40B4-BE49-F238E27FC236}">
                <a16:creationId xmlns:a16="http://schemas.microsoft.com/office/drawing/2014/main" id="{80D6B0B6-8C6F-4710-95FF-F06B0F57577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4282916" y="282416"/>
            <a:ext cx="578168" cy="9144000"/>
          </a:xfrm>
          <a:prstGeom prst="rect">
            <a:avLst/>
          </a:prstGeom>
        </p:spPr>
      </p:pic>
      <p:pic>
        <p:nvPicPr>
          <p:cNvPr id="8" name="Picture 7" descr="A close up of a logo&#10;&#10;AI-generated content may be incorrect.">
            <a:extLst>
              <a:ext uri="{FF2B5EF4-FFF2-40B4-BE49-F238E27FC236}">
                <a16:creationId xmlns:a16="http://schemas.microsoft.com/office/drawing/2014/main" id="{58764405-FE06-46CB-BE16-19C852E94A3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187" y="342900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3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05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9114" y="1463040"/>
            <a:ext cx="6325771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accent3">
                    <a:lumMod val="75000"/>
                  </a:schemeClr>
                </a:solidFill>
              </a:rPr>
              <a:t>ML System Design &amp;</a:t>
            </a:r>
          </a:p>
          <a:p>
            <a:pPr algn="ctr"/>
            <a:r>
              <a:rPr dirty="0">
                <a:solidFill>
                  <a:schemeClr val="accent3">
                    <a:lumMod val="75000"/>
                  </a:schemeClr>
                </a:solidFill>
              </a:rPr>
              <a:t>Project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29000" y="2926080"/>
            <a:ext cx="388599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2C39A"/>
                </a:solidFill>
              </a:defRPr>
            </a:pPr>
            <a:r>
              <a:rPr dirty="0"/>
              <a:t>Production-Ready ML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Session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2030819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2377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63636"/>
                </a:solidFill>
              </a:defRPr>
            </a:pPr>
            <a:r>
              <a:rPr dirty="0"/>
              <a:t>ML System Design</a:t>
            </a:r>
          </a:p>
          <a:p>
            <a:pPr algn="ctr"/>
            <a:r>
              <a:rPr dirty="0"/>
              <a:t>Workshop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371600"/>
            <a:ext cx="2560320" cy="2030819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2194560"/>
            <a:ext cx="2377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63636"/>
                </a:solidFill>
              </a:defRPr>
            </a:pPr>
            <a:r>
              <a:rPr dirty="0"/>
              <a:t>Open Project</a:t>
            </a:r>
          </a:p>
          <a:p>
            <a:pPr algn="ctr"/>
            <a:r>
              <a:rPr dirty="0"/>
              <a:t>Development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371600"/>
            <a:ext cx="2560320" cy="2030819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0" y="2194560"/>
            <a:ext cx="2377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63636"/>
                </a:solidFill>
              </a:defRPr>
            </a:pPr>
            <a:r>
              <a:rPr dirty="0"/>
              <a:t>Module Wrap-up &amp;</a:t>
            </a:r>
          </a:p>
          <a:p>
            <a:pPr algn="ctr"/>
            <a:r>
              <a:rPr dirty="0"/>
              <a:t>Capstone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17293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rPr dirty="0">
                <a:solidFill>
                  <a:schemeClr val="accent5"/>
                </a:solidFill>
                <a:highlight>
                  <a:srgbClr val="000000"/>
                </a:highlight>
              </a:rPr>
              <a:t>Learning Objectives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508760"/>
            <a:ext cx="137160" cy="1371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63636"/>
                </a:solidFill>
              </a:defRPr>
            </a:pPr>
            <a:r>
              <a:t>Design end-to-end ML systems for production environments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103120"/>
            <a:ext cx="137160" cy="1371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21196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63636"/>
                </a:solidFill>
              </a:defRPr>
            </a:pPr>
            <a:r>
              <a:t>Address production constraints: latency, scale, reliability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97479"/>
            <a:ext cx="137160" cy="1371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63636"/>
                </a:solidFill>
              </a:defRPr>
            </a:pPr>
            <a:r>
              <a:t>Implement CI/CD pipelines for ML workflows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91839"/>
            <a:ext cx="137160" cy="1371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63636"/>
                </a:solidFill>
              </a:defRPr>
            </a:pPr>
            <a:r>
              <a:t>Build monitoring systems to detect model degradation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886200"/>
            <a:ext cx="137160" cy="1371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63636"/>
                </a:solidFill>
              </a:defRPr>
            </a:pPr>
            <a:r>
              <a:t>Apply system design to real-world Nigerian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2C39A"/>
                </a:solidFill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End-to-End ML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ML System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280160" cy="731520"/>
          </a:xfrm>
          <a:prstGeom prst="rect">
            <a:avLst/>
          </a:prstGeom>
          <a:solidFill>
            <a:srgbClr val="00A8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280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Data</a:t>
            </a:r>
          </a:p>
          <a:p>
            <a:r>
              <a:t>Ingestion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828800"/>
            <a:ext cx="1280160" cy="731520"/>
          </a:xfrm>
          <a:prstGeom prst="rect">
            <a:avLst/>
          </a:prstGeom>
          <a:solidFill>
            <a:srgbClr val="00A8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1828800"/>
            <a:ext cx="1280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Feature</a:t>
            </a:r>
          </a:p>
          <a:p>
            <a:r>
              <a:t>Store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828800"/>
            <a:ext cx="1280160" cy="731520"/>
          </a:xfrm>
          <a:prstGeom prst="rect">
            <a:avLst/>
          </a:prstGeom>
          <a:solidFill>
            <a:srgbClr val="02809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1280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Training</a:t>
            </a:r>
          </a:p>
          <a:p>
            <a:r>
              <a:t>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828800"/>
            <a:ext cx="1280160" cy="731520"/>
          </a:xfrm>
          <a:prstGeom prst="rect">
            <a:avLst/>
          </a:prstGeom>
          <a:solidFill>
            <a:srgbClr val="02809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0640" y="1828800"/>
            <a:ext cx="1280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Model</a:t>
            </a:r>
          </a:p>
          <a:p>
            <a:r>
              <a:t>Registry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828800"/>
            <a:ext cx="1280160" cy="731520"/>
          </a:xfrm>
          <a:prstGeom prst="rect">
            <a:avLst/>
          </a:prstGeom>
          <a:solidFill>
            <a:srgbClr val="02C39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1280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Serving</a:t>
            </a:r>
          </a:p>
          <a:p>
            <a:r>
              <a:t>Infra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2834640"/>
            <a:ext cx="1280160" cy="731520"/>
          </a:xfrm>
          <a:prstGeom prst="rect">
            <a:avLst/>
          </a:prstGeom>
          <a:solidFill>
            <a:srgbClr val="1E276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51960" y="2834640"/>
            <a:ext cx="1280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Monitoring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37360" y="2194560"/>
            <a:ext cx="274320" cy="0"/>
          </a:xfrm>
          <a:prstGeom prst="line">
            <a:avLst/>
          </a:prstGeom>
          <a:ln w="25400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91840" y="2194560"/>
            <a:ext cx="274320" cy="0"/>
          </a:xfrm>
          <a:prstGeom prst="line">
            <a:avLst/>
          </a:prstGeom>
          <a:ln w="25400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46320" y="2194560"/>
            <a:ext cx="274320" cy="0"/>
          </a:xfrm>
          <a:prstGeom prst="line">
            <a:avLst/>
          </a:prstGeom>
          <a:ln w="25400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00800" y="2194560"/>
            <a:ext cx="274320" cy="0"/>
          </a:xfrm>
          <a:prstGeom prst="line">
            <a:avLst/>
          </a:prstGeom>
          <a:ln w="25400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66468" y="2194560"/>
            <a:ext cx="0" cy="640080"/>
          </a:xfrm>
          <a:prstGeom prst="line">
            <a:avLst/>
          </a:prstGeom>
          <a:ln w="25400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57200" y="3771900"/>
            <a:ext cx="8229600" cy="548640"/>
          </a:xfrm>
          <a:prstGeom prst="rect">
            <a:avLst/>
          </a:prstGeom>
          <a:solidFill>
            <a:srgbClr val="FFFADC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7274" y="3900026"/>
            <a:ext cx="7863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63636"/>
                </a:solidFill>
              </a:defRPr>
            </a:pPr>
            <a:r>
              <a:rPr b="1" dirty="0"/>
              <a:t>ML code = 5-10% of production systems</a:t>
            </a:r>
            <a:r>
              <a:rPr lang="en-US" b="1" dirty="0"/>
              <a:t>; </a:t>
            </a:r>
            <a:r>
              <a:rPr b="1" dirty="0"/>
              <a:t>Infrastructure = 90-95%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1780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rPr>
                <a:solidFill>
                  <a:schemeClr val="accent5"/>
                </a:solidFill>
              </a:rPr>
              <a:t>Data Ingestion &amp; Storage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0876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99464"/>
            <a:ext cx="7132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rPr dirty="0">
                <a:solidFill>
                  <a:schemeClr val="accent5"/>
                </a:solidFill>
                <a:highlight>
                  <a:srgbClr val="000000"/>
                </a:highlight>
              </a:rPr>
              <a:t>Batch Processing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92024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Historical data &amp; scheduled updates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Technologies: Airflow, Spark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8036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775857"/>
            <a:ext cx="22881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rPr dirty="0">
                <a:solidFill>
                  <a:schemeClr val="accent5"/>
                </a:solidFill>
                <a:highlight>
                  <a:srgbClr val="000000"/>
                </a:highlight>
              </a:rPr>
              <a:t>Stream Processing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29184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Real-time events as they occur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36445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rPr dirty="0"/>
              <a:t>Technologies: Kafka, Kinesis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150876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0" y="1403530"/>
            <a:ext cx="28346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rPr b="1" dirty="0">
                <a:solidFill>
                  <a:schemeClr val="accent5"/>
                </a:solidFill>
                <a:highlight>
                  <a:srgbClr val="000000"/>
                </a:highlight>
              </a:rPr>
              <a:t>Storage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87452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rPr dirty="0"/>
              <a:t>Cold: S3, GCS (historical)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28600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rPr dirty="0"/>
              <a:t>Hot: Redis (features)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rPr dirty="0"/>
              <a:t>Operational: PostgreSQL (recent)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3886" y="3519100"/>
            <a:ext cx="388837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rPr dirty="0"/>
              <a:t>Strategy: Use all three for optimal</a:t>
            </a:r>
          </a:p>
          <a:p>
            <a:r>
              <a:rPr dirty="0"/>
              <a:t>cost-performance balance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15264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rPr dirty="0">
                <a:solidFill>
                  <a:schemeClr val="accent3">
                    <a:lumMod val="75000"/>
                  </a:schemeClr>
                </a:solidFill>
              </a:rPr>
              <a:t>Training Pipeline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7172" y="941831"/>
            <a:ext cx="640080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80052" y="987551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Data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0052" y="1197863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Schema checks, drift detection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497572" y="1490471"/>
            <a:ext cx="0" cy="182880"/>
          </a:xfrm>
          <a:prstGeom prst="line">
            <a:avLst/>
          </a:prstGeom>
          <a:ln w="25400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297172" y="1673351"/>
            <a:ext cx="6400800" cy="5029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80052" y="171907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Feature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0052" y="1929383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Transform &amp; prepare features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97572" y="2221991"/>
            <a:ext cx="0" cy="182879"/>
          </a:xfrm>
          <a:prstGeom prst="line">
            <a:avLst/>
          </a:prstGeom>
          <a:ln w="25400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297172" y="2404871"/>
            <a:ext cx="640080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80052" y="2450591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Model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0052" y="2660903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Distributed compute &amp; tuning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97572" y="2953511"/>
            <a:ext cx="0" cy="182880"/>
          </a:xfrm>
          <a:prstGeom prst="line">
            <a:avLst/>
          </a:prstGeom>
          <a:ln w="25400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297172" y="3136391"/>
            <a:ext cx="6400800" cy="5029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80052" y="318211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Model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0052" y="3392422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Holdout sets, metrics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97572" y="3685031"/>
            <a:ext cx="0" cy="182880"/>
          </a:xfrm>
          <a:prstGeom prst="line">
            <a:avLst/>
          </a:prstGeom>
          <a:ln w="25400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297172" y="3867911"/>
            <a:ext cx="640080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80052" y="3913631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Model Registry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0052" y="4123943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Version, metadata, lineage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Model Serving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63248"/>
            <a:ext cx="3931920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63248"/>
            <a:ext cx="393192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54688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Online Inference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49048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03328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REST APIs / gRPC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06248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160528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Low latency (&lt;100ms)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63448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617728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Autoscaling required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120648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074928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User-facing applications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063248"/>
            <a:ext cx="3931920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54880" y="1063248"/>
            <a:ext cx="393192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0" y="1154688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Batch Inference</a:t>
            </a:r>
          </a:p>
        </p:txBody>
      </p:sp>
      <p:sp>
        <p:nvSpPr>
          <p:cNvPr id="18" name="Oval 17"/>
          <p:cNvSpPr/>
          <p:nvPr/>
        </p:nvSpPr>
        <p:spPr>
          <a:xfrm>
            <a:off x="4937760" y="1749048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0" y="1703328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Scheduled jobs</a:t>
            </a:r>
          </a:p>
        </p:txBody>
      </p:sp>
      <p:sp>
        <p:nvSpPr>
          <p:cNvPr id="20" name="Oval 19"/>
          <p:cNvSpPr/>
          <p:nvPr/>
        </p:nvSpPr>
        <p:spPr>
          <a:xfrm>
            <a:off x="4937760" y="2206248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2160528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Large datasets</a:t>
            </a:r>
          </a:p>
        </p:txBody>
      </p:sp>
      <p:sp>
        <p:nvSpPr>
          <p:cNvPr id="22" name="Oval 21"/>
          <p:cNvSpPr/>
          <p:nvPr/>
        </p:nvSpPr>
        <p:spPr>
          <a:xfrm>
            <a:off x="4937760" y="2663448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0640" y="2617728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Cost-optimized</a:t>
            </a:r>
          </a:p>
        </p:txBody>
      </p:sp>
      <p:sp>
        <p:nvSpPr>
          <p:cNvPr id="24" name="Oval 23"/>
          <p:cNvSpPr/>
          <p:nvPr/>
        </p:nvSpPr>
        <p:spPr>
          <a:xfrm>
            <a:off x="4937760" y="3120648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0" y="3074928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Email recommendations, reports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845" y="3810709"/>
            <a:ext cx="8229600" cy="548640"/>
          </a:xfrm>
          <a:prstGeom prst="rect">
            <a:avLst/>
          </a:prstGeom>
          <a:solidFill>
            <a:srgbClr val="FFFADC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3959565"/>
            <a:ext cx="8046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63636"/>
                </a:solidFill>
              </a:defRPr>
            </a:pPr>
            <a:r>
              <a:rPr b="1" dirty="0"/>
              <a:t>Deployment: Microservices | Serverless | Edge | Container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Production Considerations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Latency Requirements &amp; SLAs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Service Level Objectives (SLOs)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7863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Define P50, P95, P99 latency + availability targets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148839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8388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Latency Percentiles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31302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rPr dirty="0"/>
              <a:t>P50: Typical user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30193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P95: 1 in 20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37560"/>
            <a:ext cx="29250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rPr dirty="0"/>
              <a:t>P99: Worst-case scenarios</a:t>
            </a:r>
          </a:p>
        </p:txBody>
      </p:sp>
      <p:sp>
        <p:nvSpPr>
          <p:cNvPr id="12" name="Oval 11"/>
          <p:cNvSpPr/>
          <p:nvPr/>
        </p:nvSpPr>
        <p:spPr>
          <a:xfrm>
            <a:off x="4251960" y="2206255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2160535"/>
            <a:ext cx="35335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Optimization Strategies</a:t>
            </a:r>
          </a:p>
        </p:txBody>
      </p:sp>
      <p:sp>
        <p:nvSpPr>
          <p:cNvPr id="14" name="Oval 13"/>
          <p:cNvSpPr/>
          <p:nvPr/>
        </p:nvSpPr>
        <p:spPr>
          <a:xfrm>
            <a:off x="4479168" y="2669304"/>
            <a:ext cx="91440" cy="9087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2572015"/>
            <a:ext cx="33921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Model quantization &amp; pruning</a:t>
            </a:r>
          </a:p>
        </p:txBody>
      </p:sp>
      <p:sp>
        <p:nvSpPr>
          <p:cNvPr id="16" name="Oval 15"/>
          <p:cNvSpPr/>
          <p:nvPr/>
        </p:nvSpPr>
        <p:spPr>
          <a:xfrm>
            <a:off x="4526280" y="3029215"/>
            <a:ext cx="91440" cy="119615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9160" y="2983495"/>
            <a:ext cx="33921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Feature caching</a:t>
            </a:r>
          </a:p>
        </p:txBody>
      </p:sp>
      <p:sp>
        <p:nvSpPr>
          <p:cNvPr id="18" name="Oval 17"/>
          <p:cNvSpPr/>
          <p:nvPr/>
        </p:nvSpPr>
        <p:spPr>
          <a:xfrm>
            <a:off x="4526280" y="3440694"/>
            <a:ext cx="91440" cy="119615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9160" y="3394975"/>
            <a:ext cx="33921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rPr dirty="0"/>
              <a:t>Hardware acceleration (GPU/TPU)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Failure Handling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20726"/>
            <a:ext cx="6400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1020726"/>
            <a:ext cx="73152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54480" y="1112166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63636"/>
                </a:solidFill>
              </a:defRPr>
            </a:pPr>
            <a:r>
              <a:t>Graceful Degradation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386486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Fallback to simpler models or rules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889406"/>
            <a:ext cx="6400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889406"/>
            <a:ext cx="73152" cy="6400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1980846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63636"/>
                </a:solidFill>
              </a:defRPr>
            </a:pPr>
            <a:r>
              <a:t>Circuit Breakers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255166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Stop calling failing services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758086"/>
            <a:ext cx="6400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371600" y="2758086"/>
            <a:ext cx="73152" cy="6400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54480" y="2849526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63636"/>
                </a:solidFill>
              </a:defRPr>
            </a:pPr>
            <a:r>
              <a:t>Retry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123846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Exponential backoff with jitter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626766"/>
            <a:ext cx="6400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371600" y="3626766"/>
            <a:ext cx="73152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54480" y="3718206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63636"/>
                </a:solidFill>
              </a:defRPr>
            </a:pPr>
            <a:r>
              <a:t>Health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92526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Readiness &amp; liveness probes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Database Design for ML Applications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18872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Feature Store</a:t>
            </a:r>
          </a:p>
        </p:txBody>
      </p:sp>
      <p:sp>
        <p:nvSpPr>
          <p:cNvPr id="6" name="Oval 5"/>
          <p:cNvSpPr/>
          <p:nvPr/>
        </p:nvSpPr>
        <p:spPr>
          <a:xfrm>
            <a:off x="1188720" y="160020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Centralized repository</a:t>
            </a:r>
          </a:p>
        </p:txBody>
      </p:sp>
      <p:sp>
        <p:nvSpPr>
          <p:cNvPr id="8" name="Oval 7"/>
          <p:cNvSpPr/>
          <p:nvPr/>
        </p:nvSpPr>
        <p:spPr>
          <a:xfrm>
            <a:off x="1188720" y="201168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Point-in-time correctness</a:t>
            </a:r>
          </a:p>
        </p:txBody>
      </p:sp>
      <p:sp>
        <p:nvSpPr>
          <p:cNvPr id="10" name="Oval 9"/>
          <p:cNvSpPr/>
          <p:nvPr/>
        </p:nvSpPr>
        <p:spPr>
          <a:xfrm>
            <a:off x="1188720" y="242316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2377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Online/offline consistency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97180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9260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Training Data</a:t>
            </a:r>
          </a:p>
        </p:txBody>
      </p:sp>
      <p:sp>
        <p:nvSpPr>
          <p:cNvPr id="14" name="Oval 13"/>
          <p:cNvSpPr/>
          <p:nvPr/>
        </p:nvSpPr>
        <p:spPr>
          <a:xfrm>
            <a:off x="1188720" y="338328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33375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Versioned datasets</a:t>
            </a:r>
          </a:p>
        </p:txBody>
      </p:sp>
      <p:sp>
        <p:nvSpPr>
          <p:cNvPr id="16" name="Oval 15"/>
          <p:cNvSpPr/>
          <p:nvPr/>
        </p:nvSpPr>
        <p:spPr>
          <a:xfrm>
            <a:off x="1188720" y="379476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37490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Data lineage tracking</a:t>
            </a:r>
          </a:p>
        </p:txBody>
      </p:sp>
      <p:sp>
        <p:nvSpPr>
          <p:cNvPr id="18" name="Oval 17"/>
          <p:cNvSpPr/>
          <p:nvPr/>
        </p:nvSpPr>
        <p:spPr>
          <a:xfrm>
            <a:off x="5212080" y="118872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94960" y="114300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Prediction Storage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0" y="160020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Inference logs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0" y="201168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Ground truth labels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0" y="242316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Time-series databases</a:t>
            </a:r>
          </a:p>
        </p:txBody>
      </p:sp>
      <p:sp>
        <p:nvSpPr>
          <p:cNvPr id="26" name="Oval 25"/>
          <p:cNvSpPr/>
          <p:nvPr/>
        </p:nvSpPr>
        <p:spPr>
          <a:xfrm>
            <a:off x="5212080" y="297180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94960" y="292608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Metadata Store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0" y="338328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0" y="3337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Model versions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0" y="379476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0" y="3749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Experiment tracking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Caching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371600"/>
            <a:ext cx="548640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463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Feature Cache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Pre-computed features</a:t>
            </a:r>
          </a:p>
          <a:p>
            <a:r>
              <a:t>Redis/Memcached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306468"/>
            <a:ext cx="5486400" cy="6400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239790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Prediction Cache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3979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Identical requests</a:t>
            </a:r>
          </a:p>
          <a:p>
            <a:r>
              <a:t>Cache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259411"/>
            <a:ext cx="5486400" cy="6400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11680" y="3350851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Model Cache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350851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rPr dirty="0"/>
              <a:t>Load once</a:t>
            </a:r>
          </a:p>
          <a:p>
            <a:r>
              <a:rPr dirty="0"/>
              <a:t>Reuse across requests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05231"/>
            <a:ext cx="8229600" cy="365760"/>
          </a:xfrm>
          <a:prstGeom prst="rect">
            <a:avLst/>
          </a:prstGeom>
          <a:solidFill>
            <a:srgbClr val="FFFADC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4150951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63636"/>
                </a:solidFill>
              </a:defRPr>
            </a:pPr>
            <a:r>
              <a:t>Cache Invalidation: Time-based TTL + Event-driven updates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2C39A"/>
                </a:solidFill>
              </a:defRPr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Monitoring &amp; Observability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Monitoring Dashboards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90954"/>
            <a:ext cx="3931920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990954"/>
            <a:ext cx="393192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82394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Infrastructure Metrics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676754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31034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CPU, memory, disk usage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133954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088234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Request rate &amp; latency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591154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545434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Error rates &amp; timeouts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048354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002634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Network I/O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990954"/>
            <a:ext cx="3931920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54880" y="990954"/>
            <a:ext cx="393192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0" y="1082394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Model Performance</a:t>
            </a:r>
          </a:p>
        </p:txBody>
      </p:sp>
      <p:sp>
        <p:nvSpPr>
          <p:cNvPr id="18" name="Oval 17"/>
          <p:cNvSpPr/>
          <p:nvPr/>
        </p:nvSpPr>
        <p:spPr>
          <a:xfrm>
            <a:off x="4937760" y="1676754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0" y="1631034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Accuracy, precision, recall</a:t>
            </a:r>
          </a:p>
        </p:txBody>
      </p:sp>
      <p:sp>
        <p:nvSpPr>
          <p:cNvPr id="20" name="Oval 19"/>
          <p:cNvSpPr/>
          <p:nvPr/>
        </p:nvSpPr>
        <p:spPr>
          <a:xfrm>
            <a:off x="4937760" y="2133954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2088234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Confidence distributions</a:t>
            </a:r>
          </a:p>
        </p:txBody>
      </p:sp>
      <p:sp>
        <p:nvSpPr>
          <p:cNvPr id="22" name="Oval 21"/>
          <p:cNvSpPr/>
          <p:nvPr/>
        </p:nvSpPr>
        <p:spPr>
          <a:xfrm>
            <a:off x="4937760" y="2591154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0640" y="2545434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Business KPIs</a:t>
            </a:r>
          </a:p>
        </p:txBody>
      </p:sp>
      <p:sp>
        <p:nvSpPr>
          <p:cNvPr id="24" name="Oval 23"/>
          <p:cNvSpPr/>
          <p:nvPr/>
        </p:nvSpPr>
        <p:spPr>
          <a:xfrm>
            <a:off x="4937760" y="3048354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0" y="3002634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Revenue impact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49040"/>
            <a:ext cx="8229600" cy="548640"/>
          </a:xfrm>
          <a:prstGeom prst="rect">
            <a:avLst/>
          </a:prstGeom>
          <a:solidFill>
            <a:srgbClr val="FFFADC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7947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63636"/>
                </a:solidFill>
              </a:defRPr>
            </a:pPr>
            <a:r>
              <a:t>Tools: Grafana, DataDog, CloudWatch, Prometheus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Detecting Model Drift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39"/>
            <a:ext cx="8314660" cy="6400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78991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Model Drift = Performance Degradation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79"/>
            <a:ext cx="7863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Data changes → predictions become less accurate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002855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5713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Data Drift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414336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36861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Input distributions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0096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Detection: PSI, KS test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37296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19157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Feature-level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021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Example: User demographics</a:t>
            </a:r>
          </a:p>
          <a:p>
            <a:r>
              <a:t>shift over time</a:t>
            </a:r>
          </a:p>
        </p:txBody>
      </p:sp>
      <p:sp>
        <p:nvSpPr>
          <p:cNvPr id="15" name="Oval 14"/>
          <p:cNvSpPr/>
          <p:nvPr/>
        </p:nvSpPr>
        <p:spPr>
          <a:xfrm>
            <a:off x="4937760" y="2002855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1957136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Concept Drift</a:t>
            </a:r>
          </a:p>
        </p:txBody>
      </p:sp>
      <p:sp>
        <p:nvSpPr>
          <p:cNvPr id="17" name="Oval 16"/>
          <p:cNvSpPr/>
          <p:nvPr/>
        </p:nvSpPr>
        <p:spPr>
          <a:xfrm>
            <a:off x="5212080" y="2414336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94960" y="236861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X→Y relationship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7800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Detection: Accuracy drop</a:t>
            </a:r>
          </a:p>
        </p:txBody>
      </p:sp>
      <p:sp>
        <p:nvSpPr>
          <p:cNvPr id="20" name="Oval 19"/>
          <p:cNvSpPr/>
          <p:nvPr/>
        </p:nvSpPr>
        <p:spPr>
          <a:xfrm>
            <a:off x="5212080" y="3237296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94960" y="319157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Requires ground truth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74021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Example: Pandemic changes</a:t>
            </a:r>
          </a:p>
          <a:p>
            <a:r>
              <a:t>buying behavior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245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Logging &amp; Debugging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50876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4002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Structured Logging (JSON format)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192024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874520"/>
            <a:ext cx="31918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rPr dirty="0"/>
              <a:t>Correlation IDs for request tracing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33172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286000"/>
            <a:ext cx="34577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Prediction inputs &amp; outputs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74320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2697480"/>
            <a:ext cx="25752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rPr dirty="0"/>
              <a:t>Model version metadata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15468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108960"/>
            <a:ext cx="25752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rPr dirty="0"/>
              <a:t>Error traces &amp; exceptions</a:t>
            </a:r>
          </a:p>
        </p:txBody>
      </p:sp>
      <p:sp>
        <p:nvSpPr>
          <p:cNvPr id="14" name="Oval 13"/>
          <p:cNvSpPr/>
          <p:nvPr/>
        </p:nvSpPr>
        <p:spPr>
          <a:xfrm>
            <a:off x="4646428" y="1592702"/>
            <a:ext cx="52653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29308" y="1512966"/>
            <a:ext cx="3949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rPr dirty="0"/>
              <a:t>Log Aggregation</a:t>
            </a:r>
          </a:p>
        </p:txBody>
      </p:sp>
      <p:sp>
        <p:nvSpPr>
          <p:cNvPr id="16" name="Oval 15"/>
          <p:cNvSpPr/>
          <p:nvPr/>
        </p:nvSpPr>
        <p:spPr>
          <a:xfrm>
            <a:off x="4920748" y="2004182"/>
            <a:ext cx="52653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03628" y="1958462"/>
            <a:ext cx="3791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ELK Stack, CloudWatch, DataDog</a:t>
            </a:r>
          </a:p>
        </p:txBody>
      </p:sp>
      <p:sp>
        <p:nvSpPr>
          <p:cNvPr id="18" name="Oval 17"/>
          <p:cNvSpPr/>
          <p:nvPr/>
        </p:nvSpPr>
        <p:spPr>
          <a:xfrm>
            <a:off x="4920748" y="2415662"/>
            <a:ext cx="52653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03628" y="2369942"/>
            <a:ext cx="3791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Searchable, queryable interface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6428" y="2918582"/>
            <a:ext cx="40543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Debug Mode: Sample detailed logs (1%) for investigation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A/B Testing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Traffic</a:t>
            </a:r>
          </a:p>
          <a:p>
            <a:r>
              <a:t>100%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188720"/>
            <a:ext cx="182880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0" y="118872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Control (50%)</a:t>
            </a:r>
          </a:p>
          <a:p>
            <a:r>
              <a:t>Current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103120"/>
            <a:ext cx="1828800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Treatment (50%)</a:t>
            </a:r>
          </a:p>
          <a:p>
            <a:r>
              <a:t>New Model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286000" y="1417320"/>
            <a:ext cx="1371600" cy="228600"/>
          </a:xfrm>
          <a:prstGeom prst="line">
            <a:avLst/>
          </a:prstGeom>
          <a:ln w="25400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286000" y="1645920"/>
            <a:ext cx="1371600" cy="685800"/>
          </a:xfrm>
          <a:prstGeom prst="line">
            <a:avLst/>
          </a:prstGeom>
          <a:ln w="25400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858000" y="1371600"/>
            <a:ext cx="18288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0" y="1463040"/>
            <a:ext cx="1645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Compare:</a:t>
            </a:r>
          </a:p>
          <a:p>
            <a:r>
              <a:t>• Conversion</a:t>
            </a:r>
          </a:p>
          <a:p>
            <a:r>
              <a:t>• Revenue</a:t>
            </a:r>
          </a:p>
          <a:p>
            <a:r>
              <a:t>• Engagement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0" y="1417320"/>
            <a:ext cx="1371600" cy="228600"/>
          </a:xfrm>
          <a:prstGeom prst="line">
            <a:avLst/>
          </a:prstGeom>
          <a:ln w="25400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486400" y="2011680"/>
            <a:ext cx="1371600" cy="320040"/>
          </a:xfrm>
          <a:prstGeom prst="line">
            <a:avLst/>
          </a:prstGeom>
          <a:ln w="25400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2824007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Experimental Design: Control vs Treatment groups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281207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235487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rPr dirty="0"/>
              <a:t>Statistical power analysis for sample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46967"/>
            <a:ext cx="7040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rPr dirty="0"/>
              <a:t>Traffic splitting: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50/50, 90/10, multi-armed bandits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58447"/>
            <a:ext cx="7040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rPr dirty="0"/>
              <a:t>Success Metrics: Business KPIs, not just model accuracy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2C39A"/>
                </a:solidFill>
              </a:defRPr>
            </a:pPr>
            <a: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CI/CD for ML Systems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CI/CD for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88720" cy="1371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9240" y="2222212"/>
            <a:ext cx="1024639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Code</a:t>
            </a:r>
          </a:p>
          <a:p>
            <a:r>
              <a:rPr dirty="0">
                <a:solidFill>
                  <a:schemeClr val="bg1"/>
                </a:solidFill>
              </a:rPr>
              <a:t>Commit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45920" y="2514600"/>
            <a:ext cx="182880" cy="0"/>
          </a:xfrm>
          <a:prstGeom prst="line">
            <a:avLst/>
          </a:prstGeom>
          <a:ln w="25400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828800" y="1828800"/>
            <a:ext cx="1188720" cy="13716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01836" y="2222212"/>
            <a:ext cx="1242648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Data</a:t>
            </a:r>
          </a:p>
          <a:p>
            <a:r>
              <a:rPr dirty="0">
                <a:solidFill>
                  <a:schemeClr val="bg1"/>
                </a:solidFill>
              </a:rPr>
              <a:t>Validation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2514600"/>
            <a:ext cx="182880" cy="0"/>
          </a:xfrm>
          <a:prstGeom prst="line">
            <a:avLst/>
          </a:prstGeom>
          <a:ln w="25400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200400" y="1828800"/>
            <a:ext cx="1188720" cy="1371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66410" y="2222212"/>
            <a:ext cx="1056700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Model</a:t>
            </a:r>
          </a:p>
          <a:p>
            <a:r>
              <a:rPr dirty="0">
                <a:solidFill>
                  <a:schemeClr val="bg1"/>
                </a:solidFill>
              </a:rPr>
              <a:t>Training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89120" y="2514600"/>
            <a:ext cx="182880" cy="0"/>
          </a:xfrm>
          <a:prstGeom prst="line">
            <a:avLst/>
          </a:prstGeom>
          <a:ln w="25400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0" y="1828800"/>
            <a:ext cx="1188720" cy="13716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5036" y="2222212"/>
            <a:ext cx="1242648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Model</a:t>
            </a:r>
          </a:p>
          <a:p>
            <a:r>
              <a:rPr dirty="0">
                <a:solidFill>
                  <a:schemeClr val="bg1"/>
                </a:solidFill>
              </a:rPr>
              <a:t>Validation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720" y="2514600"/>
            <a:ext cx="182880" cy="0"/>
          </a:xfrm>
          <a:prstGeom prst="line">
            <a:avLst/>
          </a:prstGeom>
          <a:ln w="25400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943600" y="1828800"/>
            <a:ext cx="1188720" cy="13716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1828800"/>
            <a:ext cx="118872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Deploy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32320" y="2514600"/>
            <a:ext cx="182880" cy="0"/>
          </a:xfrm>
          <a:prstGeom prst="line">
            <a:avLst/>
          </a:prstGeom>
          <a:ln w="25400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315200" y="1828800"/>
            <a:ext cx="118872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0" y="1828800"/>
            <a:ext cx="118872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Monitor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solidFill>
            <a:srgbClr val="FFFADC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63636"/>
                </a:solidFill>
              </a:defRPr>
            </a:pPr>
            <a:r>
              <a:t>Automated pipeline with validation gates at each stage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Automated Testing for ML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1" y="1440180"/>
            <a:ext cx="2011680" cy="2103120"/>
          </a:xfrm>
          <a:prstGeom prst="rect">
            <a:avLst/>
          </a:prstGeom>
          <a:solidFill>
            <a:srgbClr val="FFFFFF"/>
          </a:solidFill>
          <a:ln w="381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1" y="16230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28090"/>
                </a:solidFill>
              </a:defRPr>
            </a:pPr>
            <a:r>
              <a:t>Code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1" y="2171700"/>
            <a:ext cx="1828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>
                <a:solidFill>
                  <a:srgbClr val="363636"/>
                </a:solidFill>
              </a:defRPr>
            </a:pPr>
            <a:r>
              <a:t>Unit &amp; integration tests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1" y="1440180"/>
            <a:ext cx="2011680" cy="21031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1" y="16230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A896"/>
                </a:solidFill>
              </a:defRPr>
            </a:pPr>
            <a:r>
              <a:t>Data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1" y="2171700"/>
            <a:ext cx="1828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>
                <a:solidFill>
                  <a:srgbClr val="363636"/>
                </a:solidFill>
              </a:defRPr>
            </a:pPr>
            <a:r>
              <a:t>Schema, distribution, quality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1" y="1440180"/>
            <a:ext cx="2011680" cy="2103120"/>
          </a:xfrm>
          <a:prstGeom prst="rect">
            <a:avLst/>
          </a:prstGeom>
          <a:solidFill>
            <a:srgbClr val="FFFFFF"/>
          </a:solidFill>
          <a:ln w="381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6230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2C39A"/>
                </a:solidFill>
              </a:defRPr>
            </a:pPr>
            <a:r>
              <a:t>Model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71700"/>
            <a:ext cx="1828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>
                <a:solidFill>
                  <a:srgbClr val="363636"/>
                </a:solidFill>
              </a:defRPr>
            </a:pPr>
            <a:r>
              <a:t>Accuracy thresholds, latency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440180"/>
            <a:ext cx="2011680" cy="2103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16230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</a:defRPr>
            </a:pPr>
            <a:r>
              <a:t>Fairness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171700"/>
            <a:ext cx="1828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>
                <a:solidFill>
                  <a:srgbClr val="363636"/>
                </a:solidFill>
              </a:defRPr>
            </a:pPr>
            <a:r>
              <a:t>Bias detection across groups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solidFill>
            <a:srgbClr val="FFFADC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63636"/>
                </a:solidFill>
              </a:defRPr>
            </a:pPr>
            <a:r>
              <a:t>Tools: pytest, Great Expectations, deepchecks, Fairlearn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Model Validation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Champion vs Challenger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7863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New model must outperform current production baseline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1828800"/>
            <a:ext cx="274320" cy="27432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37360" y="1828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63636"/>
                </a:solidFill>
              </a:defRPr>
            </a:pPr>
            <a: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Accuracy &gt; baseline + threshold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2377440"/>
            <a:ext cx="274320" cy="27432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37360" y="2377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63636"/>
                </a:solidFill>
              </a:defRPr>
            </a:pPr>
            <a:r>
              <a:t>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77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P95 latency &lt; SLA target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2926080"/>
            <a:ext cx="274320" cy="27432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37360" y="29260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63636"/>
                </a:solidFill>
              </a:defRPr>
            </a:pPr>
            <a:r>
              <a:t>Resource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9260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Fits in available memory/GPU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3474719"/>
            <a:ext cx="274320" cy="27432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37360" y="347471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63636"/>
                </a:solidFill>
              </a:defRPr>
            </a:pPr>
            <a:r>
              <a:t>Fairness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47471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No bias in protected groups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4023359"/>
            <a:ext cx="274320" cy="27432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737360" y="402335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63636"/>
                </a:solidFill>
              </a:defRPr>
            </a:pPr>
            <a:r>
              <a:t>Significance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02335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Statistical validation of improvement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Deployment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1" y="1074420"/>
            <a:ext cx="3931920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1" y="12573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28090"/>
                </a:solidFill>
              </a:defRPr>
            </a:pPr>
            <a:r>
              <a:t>Blue-Green Deployment</a:t>
            </a:r>
          </a:p>
        </p:txBody>
      </p:sp>
      <p:sp>
        <p:nvSpPr>
          <p:cNvPr id="6" name="Oval 5"/>
          <p:cNvSpPr/>
          <p:nvPr/>
        </p:nvSpPr>
        <p:spPr>
          <a:xfrm>
            <a:off x="640081" y="1851659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1" y="180594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Two identical environments</a:t>
            </a:r>
          </a:p>
        </p:txBody>
      </p:sp>
      <p:sp>
        <p:nvSpPr>
          <p:cNvPr id="8" name="Oval 7"/>
          <p:cNvSpPr/>
          <p:nvPr/>
        </p:nvSpPr>
        <p:spPr>
          <a:xfrm>
            <a:off x="640081" y="226314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1" y="221742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Instant traffic switch</a:t>
            </a:r>
          </a:p>
        </p:txBody>
      </p:sp>
      <p:sp>
        <p:nvSpPr>
          <p:cNvPr id="10" name="Oval 9"/>
          <p:cNvSpPr/>
          <p:nvPr/>
        </p:nvSpPr>
        <p:spPr>
          <a:xfrm>
            <a:off x="640081" y="267462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1" y="262890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Easy rollback</a:t>
            </a:r>
          </a:p>
        </p:txBody>
      </p:sp>
      <p:sp>
        <p:nvSpPr>
          <p:cNvPr id="12" name="Oval 11"/>
          <p:cNvSpPr/>
          <p:nvPr/>
        </p:nvSpPr>
        <p:spPr>
          <a:xfrm>
            <a:off x="640081" y="308610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1" y="304038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Higher cost (2x resources)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1" y="1074420"/>
            <a:ext cx="3931920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1" y="12573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A896"/>
                </a:solidFill>
              </a:defRPr>
            </a:pPr>
            <a:r>
              <a:t>Canary Deployment</a:t>
            </a:r>
          </a:p>
        </p:txBody>
      </p:sp>
      <p:sp>
        <p:nvSpPr>
          <p:cNvPr id="16" name="Oval 15"/>
          <p:cNvSpPr/>
          <p:nvPr/>
        </p:nvSpPr>
        <p:spPr>
          <a:xfrm>
            <a:off x="4937761" y="1851659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1" y="180594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Gradual traffic increase</a:t>
            </a:r>
          </a:p>
        </p:txBody>
      </p:sp>
      <p:sp>
        <p:nvSpPr>
          <p:cNvPr id="18" name="Oval 17"/>
          <p:cNvSpPr/>
          <p:nvPr/>
        </p:nvSpPr>
        <p:spPr>
          <a:xfrm>
            <a:off x="4937761" y="2263140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1" y="221742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5% → 25% → 50% → 100%</a:t>
            </a:r>
          </a:p>
        </p:txBody>
      </p:sp>
      <p:sp>
        <p:nvSpPr>
          <p:cNvPr id="20" name="Oval 19"/>
          <p:cNvSpPr/>
          <p:nvPr/>
        </p:nvSpPr>
        <p:spPr>
          <a:xfrm>
            <a:off x="4937761" y="2674620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1" y="262890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Monitor at each stage</a:t>
            </a:r>
          </a:p>
        </p:txBody>
      </p:sp>
      <p:sp>
        <p:nvSpPr>
          <p:cNvPr id="22" name="Oval 21"/>
          <p:cNvSpPr/>
          <p:nvPr/>
        </p:nvSpPr>
        <p:spPr>
          <a:xfrm>
            <a:off x="4937761" y="3086100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0641" y="304038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Auto-rollback on issues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31920"/>
            <a:ext cx="8229600" cy="548640"/>
          </a:xfrm>
          <a:prstGeom prst="rect">
            <a:avLst/>
          </a:prstGeom>
          <a:solidFill>
            <a:srgbClr val="FFFADC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39776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63636"/>
                </a:solidFill>
              </a:defRPr>
            </a:pPr>
            <a:r>
              <a:t>Shadow Mode: Run new model in parallel without serving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Rollback Procedures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When to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7863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Error rate spikes | Latency violations | Business metric drops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148839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Automated Rollback Triggers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56032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Error rate &gt; 2x baseline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297180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292608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P95 latency &gt; SLA + 20%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38328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333756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Conversion rate drop &gt; 5%</a:t>
            </a:r>
          </a:p>
        </p:txBody>
      </p:sp>
      <p:sp>
        <p:nvSpPr>
          <p:cNvPr id="15" name="Oval 14"/>
          <p:cNvSpPr/>
          <p:nvPr/>
        </p:nvSpPr>
        <p:spPr>
          <a:xfrm>
            <a:off x="3921287" y="2148840"/>
            <a:ext cx="63569" cy="457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04167" y="2046802"/>
            <a:ext cx="47676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rPr dirty="0"/>
              <a:t>Rollback Mechanism</a:t>
            </a:r>
          </a:p>
        </p:txBody>
      </p:sp>
      <p:sp>
        <p:nvSpPr>
          <p:cNvPr id="17" name="Oval 16"/>
          <p:cNvSpPr/>
          <p:nvPr/>
        </p:nvSpPr>
        <p:spPr>
          <a:xfrm>
            <a:off x="4195607" y="2560320"/>
            <a:ext cx="63569" cy="457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400" y="2470546"/>
            <a:ext cx="45769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rPr dirty="0"/>
              <a:t>Instant traffic switch to previous version</a:t>
            </a:r>
          </a:p>
        </p:txBody>
      </p:sp>
      <p:sp>
        <p:nvSpPr>
          <p:cNvPr id="19" name="Oval 18"/>
          <p:cNvSpPr/>
          <p:nvPr/>
        </p:nvSpPr>
        <p:spPr>
          <a:xfrm>
            <a:off x="4195607" y="2971800"/>
            <a:ext cx="63569" cy="457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43400" y="2884117"/>
            <a:ext cx="45769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rPr dirty="0"/>
              <a:t>Keep last 3 versions production-ready</a:t>
            </a:r>
          </a:p>
        </p:txBody>
      </p:sp>
      <p:sp>
        <p:nvSpPr>
          <p:cNvPr id="21" name="Oval 20"/>
          <p:cNvSpPr/>
          <p:nvPr/>
        </p:nvSpPr>
        <p:spPr>
          <a:xfrm>
            <a:off x="4195607" y="3383280"/>
            <a:ext cx="63569" cy="457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43400" y="3287372"/>
            <a:ext cx="45769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rPr dirty="0"/>
              <a:t>Manual override capability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68510" y="3821891"/>
            <a:ext cx="62240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rPr dirty="0"/>
              <a:t>Post-Rollback: Blameless postmortem to improve process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2C39A"/>
                </a:solidFill>
              </a:defRPr>
            </a:pPr>
            <a:r>
              <a:t>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Nigerian Credit Scoring System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The Challenge: Financial Inclusion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165860"/>
            <a:ext cx="3108960" cy="15773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1506" y="1264680"/>
            <a:ext cx="28176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/>
              <a:t>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7266" y="2087180"/>
            <a:ext cx="23774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sz="1400" dirty="0">
                <a:solidFill>
                  <a:schemeClr val="bg1"/>
                </a:solidFill>
              </a:rPr>
              <a:t>of Nigerian adults</a:t>
            </a:r>
          </a:p>
          <a:p>
            <a:r>
              <a:rPr sz="1400" dirty="0">
                <a:solidFill>
                  <a:schemeClr val="bg1"/>
                </a:solidFill>
              </a:rPr>
              <a:t>underbanked/unbanked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234440"/>
            <a:ext cx="2743200" cy="1508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0" y="1291856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/>
              <a:t>87-95%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034491"/>
            <a:ext cx="23774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sz="1400" dirty="0">
                <a:solidFill>
                  <a:schemeClr val="bg1"/>
                </a:solidFill>
              </a:rPr>
              <a:t>ML model accuracy</a:t>
            </a:r>
          </a:p>
          <a:p>
            <a:r>
              <a:rPr sz="1400" dirty="0">
                <a:solidFill>
                  <a:schemeClr val="bg1"/>
                </a:solidFill>
              </a:rPr>
              <a:t>with alt data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4612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Traditional credit scoring excludes millions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986685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rPr dirty="0"/>
              <a:t>ML Solution: Alternative data sources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584666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51306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rPr dirty="0"/>
              <a:t>Mobile money transaction history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996146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856809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rPr dirty="0"/>
              <a:t>Utility payment records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407626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294059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rPr dirty="0"/>
              <a:t>Airtime purchase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610321"/>
            <a:ext cx="3520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rPr dirty="0"/>
              <a:t>Models: Random Forest, </a:t>
            </a:r>
            <a:r>
              <a:rPr dirty="0" err="1"/>
              <a:t>XGBoost</a:t>
            </a:r>
            <a:r>
              <a:rPr dirty="0"/>
              <a:t> for tabular data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343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Design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05254"/>
            <a:ext cx="6400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80" y="1196694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196694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10,000+ applications/day | 99.9% availability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973934"/>
            <a:ext cx="6400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2065374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A896"/>
                </a:solidFill>
              </a:defRPr>
            </a:pPr>
            <a: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065374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&lt;500ms latency (P95) | Handle traffic spikes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842614"/>
            <a:ext cx="6400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2934054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C39A"/>
                </a:solidFill>
              </a:defRPr>
            </a:pPr>
            <a:r>
              <a:t>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934054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Cloud infrastructure | Serverless for efficiency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711294"/>
            <a:ext cx="6400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54480" y="3802734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761"/>
                </a:solidFill>
              </a:defRPr>
            </a:pPr>
            <a:r>
              <a:t>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802734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NDPR data privacy | Model explainability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828800" cy="10972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82880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dirty="0"/>
              <a:t>Data Sources</a:t>
            </a:r>
          </a:p>
          <a:p>
            <a:endParaRPr sz="1200" dirty="0">
              <a:solidFill>
                <a:schemeClr val="bg1"/>
              </a:solidFill>
            </a:endParaRPr>
          </a:p>
          <a:p>
            <a:r>
              <a:rPr sz="1200" dirty="0">
                <a:solidFill>
                  <a:schemeClr val="bg1"/>
                </a:solidFill>
              </a:rPr>
              <a:t>• Mobile money</a:t>
            </a:r>
          </a:p>
          <a:p>
            <a:r>
              <a:rPr sz="1200" dirty="0">
                <a:solidFill>
                  <a:schemeClr val="bg1"/>
                </a:solidFill>
              </a:rPr>
              <a:t>• Utility bills</a:t>
            </a:r>
          </a:p>
          <a:p>
            <a:r>
              <a:rPr sz="1200" dirty="0">
                <a:solidFill>
                  <a:schemeClr val="bg1"/>
                </a:solidFill>
              </a:rPr>
              <a:t>•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554480"/>
            <a:ext cx="1371600" cy="7315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1597075"/>
            <a:ext cx="811441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dirty="0"/>
              <a:t>Training</a:t>
            </a:r>
          </a:p>
          <a:p>
            <a:r>
              <a:rPr sz="1200" dirty="0">
                <a:solidFill>
                  <a:schemeClr val="bg1"/>
                </a:solidFill>
              </a:rPr>
              <a:t>Pipeline</a:t>
            </a:r>
          </a:p>
          <a:p>
            <a:r>
              <a:rPr sz="1200" dirty="0">
                <a:solidFill>
                  <a:schemeClr val="bg1"/>
                </a:solidFill>
              </a:rPr>
              <a:t>(Weekly)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554480"/>
            <a:ext cx="1188720" cy="7315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0868" y="1635546"/>
            <a:ext cx="915635" cy="5693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dirty="0" err="1"/>
              <a:t>XGBoost</a:t>
            </a:r>
            <a:endParaRPr dirty="0"/>
          </a:p>
          <a:p>
            <a:r>
              <a:rPr dirty="0"/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1280160" cy="193512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832394"/>
            <a:ext cx="110789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dirty="0">
                <a:solidFill>
                  <a:schemeClr val="bg1"/>
                </a:solidFill>
              </a:rPr>
              <a:t>REST API</a:t>
            </a:r>
          </a:p>
          <a:p>
            <a:r>
              <a:rPr sz="1200" dirty="0">
                <a:solidFill>
                  <a:schemeClr val="bg1"/>
                </a:solidFill>
              </a:rPr>
              <a:t>(Lambda)</a:t>
            </a:r>
          </a:p>
          <a:p>
            <a:endParaRPr sz="1200" dirty="0">
              <a:solidFill>
                <a:schemeClr val="bg1"/>
              </a:solidFill>
            </a:endParaRPr>
          </a:p>
          <a:p>
            <a:r>
              <a:rPr sz="1200" dirty="0"/>
              <a:t>&lt;500ms</a:t>
            </a:r>
          </a:p>
          <a:p>
            <a:r>
              <a:rPr sz="1200" dirty="0"/>
              <a:t>P95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199" y="2880359"/>
            <a:ext cx="3017513" cy="809131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1" y="3099926"/>
            <a:ext cx="2560319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Monitoring &amp; Drift Detection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554480"/>
            <a:ext cx="1097280" cy="7315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1554480"/>
            <a:ext cx="1097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Redis</a:t>
            </a:r>
          </a:p>
          <a:p>
            <a:r>
              <a:t>Cache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86000" y="1920240"/>
            <a:ext cx="457200" cy="0"/>
          </a:xfrm>
          <a:prstGeom prst="line">
            <a:avLst/>
          </a:prstGeom>
          <a:ln w="25400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114800" y="1920240"/>
            <a:ext cx="457200" cy="0"/>
          </a:xfrm>
          <a:prstGeom prst="line">
            <a:avLst/>
          </a:prstGeom>
          <a:ln w="25400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760720" y="1920240"/>
            <a:ext cx="457200" cy="0"/>
          </a:xfrm>
          <a:prstGeom prst="line">
            <a:avLst/>
          </a:prstGeom>
          <a:ln w="25400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98079" y="1920240"/>
            <a:ext cx="274321" cy="0"/>
          </a:xfrm>
          <a:prstGeom prst="line">
            <a:avLst/>
          </a:prstGeom>
          <a:ln w="25400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cxnSpLocks/>
          </p:cNvCxnSpPr>
          <p:nvPr/>
        </p:nvCxnSpPr>
        <p:spPr>
          <a:xfrm>
            <a:off x="4433777" y="1920240"/>
            <a:ext cx="0" cy="960119"/>
          </a:xfrm>
          <a:prstGeom prst="line">
            <a:avLst/>
          </a:prstGeom>
          <a:ln w="25400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Results &amp; Lessons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59"/>
            <a:ext cx="8229600" cy="685799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Production Reality: 92% accuracy vs 95% offline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7863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Data quality issues &amp; edge cases reduce live performance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240279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144374"/>
            <a:ext cx="2315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rPr dirty="0"/>
              <a:t>Successes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280ms P95 latency (target: 500ms)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06324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35% more approvals vs rules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47472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Same default rates maintained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77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Impact: Thousands gain credit access</a:t>
            </a:r>
          </a:p>
        </p:txBody>
      </p:sp>
      <p:sp>
        <p:nvSpPr>
          <p:cNvPr id="15" name="Oval 14"/>
          <p:cNvSpPr/>
          <p:nvPr/>
        </p:nvSpPr>
        <p:spPr>
          <a:xfrm>
            <a:off x="4754880" y="2240279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0" y="2119388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rPr dirty="0"/>
              <a:t>Challenges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0" y="256032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0" y="2514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Rural area performance gaps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0" y="297180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1208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Monthly retraining required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0" y="338328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2080" y="3337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Fairness audit revealed age bias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977640"/>
            <a:ext cx="35172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rPr dirty="0"/>
              <a:t>Learning: Production is iterative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2C39A"/>
                </a:solidFill>
              </a:defRPr>
            </a:pPr>
            <a:r>
              <a:t>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Design Your ML System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Workshop Activity (60 mins)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874" y="871870"/>
            <a:ext cx="8335926" cy="64008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3754" y="945022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Task: Design ML system architecture for your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754" y="1191910"/>
            <a:ext cx="7863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Think end-to-end: data → training → serving → monitoring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1554480"/>
            <a:ext cx="320040" cy="3200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1554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63636"/>
                </a:solidFill>
              </a:defRPr>
            </a:pPr>
            <a:r>
              <a:t>Architecture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55448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Components + data flow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2240280"/>
            <a:ext cx="320040" cy="3200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0" y="22402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63636"/>
                </a:solidFill>
              </a:defRPr>
            </a:pPr>
            <a:r>
              <a:t>Component Descriptions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4028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Technologies &amp; rationale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2926080"/>
            <a:ext cx="320040" cy="3200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0" y="29260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63636"/>
                </a:solidFill>
              </a:defRPr>
            </a:pPr>
            <a:r>
              <a:t>Production Considerations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92608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Scale, cost, reliability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3611880"/>
            <a:ext cx="320040" cy="3200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2880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63636"/>
                </a:solidFill>
              </a:defRPr>
            </a:pPr>
            <a:r>
              <a:t>Deployment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61188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rPr dirty="0"/>
              <a:t>CI/CD + monitoring plan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88750"/>
            <a:ext cx="8229600" cy="365760"/>
          </a:xfrm>
          <a:prstGeom prst="rect">
            <a:avLst/>
          </a:prstGeom>
          <a:solidFill>
            <a:srgbClr val="FFFADC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13447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63636"/>
                </a:solidFill>
              </a:defRPr>
            </a:pPr>
            <a:r>
              <a:t>Peer Review: 15 mins for feedback exchange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Module 4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005840"/>
            <a:ext cx="69494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2999" y="11430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1051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63636"/>
                </a:solidFill>
              </a:defRPr>
            </a:pPr>
            <a:r>
              <a:t>ML systems = 90% infrastructure + 10% ML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645920"/>
            <a:ext cx="69494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2999" y="1783079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169163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63636"/>
                </a:solidFill>
              </a:defRPr>
            </a:pPr>
            <a:r>
              <a:t>Production readiness requires monitoring, testing, CI/CD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286000"/>
            <a:ext cx="69494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42999" y="24231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2331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63636"/>
                </a:solidFill>
              </a:defRPr>
            </a:pPr>
            <a:r>
              <a:t>Design for failure: fallbacks, circuit breakers, rollback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926080"/>
            <a:ext cx="69494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42999" y="306324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2971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63636"/>
                </a:solidFill>
              </a:defRPr>
            </a:pPr>
            <a:r>
              <a:t>Real-world constraints shape architecture decisions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566160"/>
            <a:ext cx="69494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42999" y="370332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63040" y="3611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63636"/>
                </a:solidFill>
              </a:defRPr>
            </a:pPr>
            <a:r>
              <a:t>Continuous iteration: monitor → learn → improve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Additional Resources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00584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Books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41732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21796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rPr dirty="0"/>
              <a:t>'Designing ML Systems'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82880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22753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rPr dirty="0"/>
              <a:t>- Chip </a:t>
            </a:r>
            <a:r>
              <a:rPr dirty="0" err="1"/>
              <a:t>Huyen</a:t>
            </a:r>
            <a:endParaRPr dirty="0"/>
          </a:p>
        </p:txBody>
      </p:sp>
      <p:sp>
        <p:nvSpPr>
          <p:cNvPr id="10" name="Oval 9"/>
          <p:cNvSpPr/>
          <p:nvPr/>
        </p:nvSpPr>
        <p:spPr>
          <a:xfrm>
            <a:off x="731520" y="224028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rPr dirty="0"/>
              <a:t>'ML System Design'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65176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9972" y="2555004"/>
            <a:ext cx="26049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- Babushkin &amp; Kravchenko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20040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154680"/>
            <a:ext cx="2804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Online 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33832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Made With ML: madewithml.com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02336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977640"/>
            <a:ext cx="28388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Google MLOps Guide</a:t>
            </a:r>
          </a:p>
        </p:txBody>
      </p:sp>
      <p:sp>
        <p:nvSpPr>
          <p:cNvPr id="19" name="Oval 18"/>
          <p:cNvSpPr/>
          <p:nvPr/>
        </p:nvSpPr>
        <p:spPr>
          <a:xfrm>
            <a:off x="4754880" y="100584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0" y="96012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Tools &amp; Frameworks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1371600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: Experiment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199" y="1783080"/>
            <a:ext cx="30302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Kubeflow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: ML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194560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rPr sz="1200">
                <a:latin typeface="Arial" panose="020B0604020202020204" pitchFamily="34" charset="0"/>
                <a:cs typeface="Arial" panose="020B0604020202020204" pitchFamily="34" charset="0"/>
              </a:rPr>
              <a:t>TFX: Production pipelines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606040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SageMaker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: End-to-end AWS</a:t>
            </a:r>
          </a:p>
        </p:txBody>
      </p:sp>
      <p:sp>
        <p:nvSpPr>
          <p:cNvPr id="25" name="Oval 24"/>
          <p:cNvSpPr/>
          <p:nvPr/>
        </p:nvSpPr>
        <p:spPr>
          <a:xfrm>
            <a:off x="4754880" y="320040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60" y="3106281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Practice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0" y="3517761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12080" y="347204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Build, deploy, monitor</a:t>
            </a:r>
          </a:p>
        </p:txBody>
      </p:sp>
      <p:sp>
        <p:nvSpPr>
          <p:cNvPr id="29" name="Oval 28"/>
          <p:cNvSpPr/>
          <p:nvPr/>
        </p:nvSpPr>
        <p:spPr>
          <a:xfrm>
            <a:off x="5029200" y="3929241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12080" y="388352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Learn from production issues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Capstone Project (Weeks 11-12)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2999"/>
            <a:ext cx="8229600" cy="6858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41351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Build an End-to-End Production ML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22581"/>
            <a:ext cx="7863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rPr dirty="0"/>
              <a:t>Demonstrate everything you've learned in this program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148839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25501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Requirements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56032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Production-ready code + comprehensive testing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297180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292608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System design document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38328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333756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Deployed demo or MVP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79476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374904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Clear documentation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2C39A"/>
                </a:solidFill>
              </a:defRPr>
            </a:pPr>
            <a:r>
              <a:t>Let's build production ML systems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4SID theme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4SID theme" id="{B984A8E7-233D-4992-8743-41EAFFF94261}" vid="{D8C495CA-6F99-401E-AE3B-AE8955379D7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AI4SID theme</Template>
  <TotalTime>32</TotalTime>
  <Words>1224</Words>
  <Application>Microsoft Office PowerPoint</Application>
  <PresentationFormat>On-screen Show (16:9)</PresentationFormat>
  <Paragraphs>332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Neue Haas Grotesk Text Pro</vt:lpstr>
      <vt:lpstr>AI4SID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Uthman AbdulRahman</dc:creator>
  <cp:keywords/>
  <dc:description>generated using python-pptx</dc:description>
  <cp:lastModifiedBy>Uthman Abdulrahman</cp:lastModifiedBy>
  <cp:revision>5</cp:revision>
  <dcterms:created xsi:type="dcterms:W3CDTF">2013-01-27T09:14:16Z</dcterms:created>
  <dcterms:modified xsi:type="dcterms:W3CDTF">2026-02-04T14:05:46Z</dcterms:modified>
  <cp:category/>
</cp:coreProperties>
</file>